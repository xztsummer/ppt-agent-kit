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各位领导、各位专家，大家下午好！我是中国电子云的李化名，非常荣幸向各位做一次汇报与分享。</a:t>
            </a:r>
          </a:p>
          <a:p/>
          <a:p>
            <a:r>
              <a:t>前面有专家介绍了 TRE 在国外的应用；国内面向数据流通利用，也有自己的技术路线——可信数据空间。</a:t>
            </a:r>
          </a:p>
          <a:p/>
          <a:p>
            <a:r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/>
          <a:p>
            <a:r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“可信研究环境”，走向跨机构的“可信科研协同网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（翻页）先看一眼国家大势。很多专家会问：医疗数据安全管得这么严，我们搞跨院协同合规吗？</a:t>
            </a:r>
          </a:p>
          <a:p/>
          <a:p>
            <a:r>
              <a:t>请看这张政策脉络图。从顶层的“数据 20 条”——数据领域的宪法，到国家数据局的《国家数据基础设施建设指引》和《可信数据空间发展行动计划》，国家已明确把“可信数据空间”定为核心技术路线。信号很清楚：不是让大家冒着违规风险“私下拷硬盘”，而是用国家标准的可信数据基础设施，既守住安全红线，又名正言顺地支撑科研与临床创新。</a:t>
            </a:r>
          </a:p>
          <a:p/>
          <a:p>
            <a:r>
              <a:t>那什么是可信数据空间？打个比方，就是一张“有严格门禁、有统一规则、还能自动记账的数据流通高速路网”，有三个核心能力：</a:t>
            </a:r>
          </a:p>
          <a:p/>
          <a:p>
            <a:r>
              <a:t>一是可信管控：靠共识规则、数字合约和使用控制，让医院对自己的数据有绝对控制权；</a:t>
            </a:r>
          </a:p>
          <a:p>
            <a:r>
              <a:t>二是资源交互：用标准连接器把数据孤岛连成网——但连网绝不等于搬空医院的库房；</a:t>
            </a:r>
          </a:p>
          <a:p>
            <a:r>
              <a:t>三是价值共创：医院、高校、实验室、药企和算法团队协同做科研，成果按贡献清清楚楚分配权益。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（翻页）再看今天的两位主角：TRE，可信研究环境；TDS，可信数据空间。它们以前沿两条线各自演进。</a:t>
            </a:r>
          </a:p>
          <a:p/>
          <a:p>
            <a:r>
              <a:t>左边 TRE，各位在国际顶刊里经常看到：最早像医院自建的“全封闭安全实验室”，做隔离计算和成果审核；后来走向云化 AI 训练；今天单靠一家样本不够用了，正在走向“联邦化”，多个节点互联做跨机构联合分析。右边 TDS，从早期的数据目录共享，到 2024 年的可信数据空间，再到 2025 年跨空间的“身份互认、规则互认、跨域协作”。</a:t>
            </a:r>
          </a:p>
          <a:p/>
          <a:p>
            <a:r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/>
          <a:p>
            <a:r>
              <a:t>那已经有 TRE，为什么还要融合可信数据空间？两者都有可信身份、细粒度授权和隐私保护的基础，但能力层级不同：</a:t>
            </a:r>
          </a:p>
          <a:p/>
          <a:p>
            <a:r>
              <a:t>TRE 管环境、研究、计算、输出，解决“敏感数据怎么算”——遵循国际五安全原则，原始病历死死留在环境内，研究员在虚拟桌面里算完，只能导出经审查的统计表、图表或模型参数，连一个病人的明细都带不走；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r>
              <a:t>可信数据空间管连接、规则、流通、价值，解决“数据怎么流通”——十几家医院各有一间保密实验室，怎么连起来？怎么签联合研究合约？怎么监管履约、分配收益？</a:t>
            </a:r>
          </a:p>
          <a:p/>
          <a:p>
            <a:r>
              <a:t>两者一组合，就从“单点的安全研究环境”升级成“跨机构的科研协作网络”。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（翻页）融合之后，发起一项多中心科研分几步？我们总结了“五步闭环”：</a:t>
            </a:r>
          </a:p>
          <a:p/>
          <a:p>
            <a:r>
              <a:t>第一步，主体接入与资源发布：医院通过连接器接入，不上传任何病人原始数据，只发布一条目录——“我院有 5000 例某呼吸疾病脱敏队列数据，可用于科研”；</a:t>
            </a:r>
          </a:p>
          <a:p>
            <a:r>
              <a:t>第二步，项目申请与供需匹配：课题牵头方提出需求，在目录里匹配到合适的几家医院；</a:t>
            </a:r>
          </a:p>
          <a:p>
            <a:r>
              <a:t>第三步，规则约定与授权：签署“数字合约”，允许哪几个人、什么期限、用什么工具、输出什么要求、责任边界，全部写成系统强制执行的规则；</a:t>
            </a:r>
          </a:p>
          <a:p>
            <a:r>
              <a:t>第四步，进入 TRE 开展计算：数据不脱离医院控制，研究人员在受控环境做分析、训练与验证；</a:t>
            </a:r>
          </a:p>
          <a:p>
            <a:r>
              <a:t>第五步，输出审查与成果交付：结果经风险披露审查才能导出；全程履约存证、计量、评价，作为收益与成果分配的依据。</a:t>
            </a:r>
          </a:p>
          <a:p/>
          <a:p>
            <a:r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的受控工作区做本地计算，经输出审查后，只有合规的汇总结果往上走。中间层是可信数据空间协同服务平台，用“机构接入连接器 + 中心服务平台”把身份、目录、项目、授权、任务、审计全部管起来。</a:t>
            </a:r>
          </a:p>
          <a:p/>
          <a:p>
            <a:r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（翻页）要支撑这套闭环，需要五项关键技术，我用五个关键词概括：认得准、找得到、管得住、送不出、算得了。这一页先讲前三项。</a:t>
            </a:r>
          </a:p>
          <a:p/>
          <a:p>
            <a:r>
              <a:t>① 融合身份认证——认得准：把权威 CA 数字证书和区块链分布式身份（DID）结合，做到“权威签发、链上存证、跨域互认”。过去 10 家医院协同就有 10 套账号体系，重复登录、重复认证；现在患者、医生和机构统一身份认证一次、所有机构互认，既免去重复建号，又严防冒名调阅，打通“数据敢于供得出”的第一道信任门槛。</a:t>
            </a:r>
          </a:p>
          <a:p>
            <a:r>
              <a:t>② 智能检索推荐——找得到：A 医院写“慢阻肺”、B 医院写“COPD”，关键词搜半天也匹配不上。我们把大模型 RAG 检索增强生成和医学知识图谱结合，医生用自然语言输入“COPD + 肺功能下降 + 近 3 年”，系统直接推荐匹配的脱敏病例集。</a:t>
            </a:r>
          </a:p>
          <a:p>
            <a:r>
              <a:t>③ 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“仅限研究用途、限 100 次调用”自动控量，“付没付钱、能不能用、用多少次”全部变成机器执行的铁律。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（翻页）后两项技术，解决“数据进来以后”的安全问题。</a:t>
            </a:r>
          </a:p>
          <a:p/>
          <a:p>
            <a:r>
              <a:t>④ 安全数据交付——送不出：权限批了，研究人员进来分析住院病历，怎么防止复制走、U 盘拷走、截屏流出去？我们用“云桌面 + 数据沙箱”双重隔离：沙箱在底层用容器、虚拟化和硬件隔离（如 Intel SGX）保护数据处理，云桌面在前端控制访问会话。真实数据只在服务端运行，传到研究员屏幕上的只是一串加密的“画面像素流”——禁止复制粘贴、U 盘自动禁用、截屏自带溯源水印，做到“可用不可见、终端不落地”，一条原始数据都带不出医院。</a:t>
            </a:r>
          </a:p>
          <a:p>
            <a:r>
              <a:t>⑤ 安全数据计算——算得了：如果多家医院的数据连进同一个沙箱都不允许，怎么一起算？这就用隐私保护计算：联邦学习、多方安全计算、差分隐私和同态加密。比如联合训练“肺癌早期筛查 AI 模型”：一家样本太少，模型泛化差、容易看走眼；集中训练又有极大隐私风险。现在各家 CT 影像和病历不出本院，只交换加密后的模型参数，实现“数据不动模型动”。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（翻页）讲到这儿，搞医疗 AI 的专家一定会问最灵魂的问题：数据留在本地、只传参数合练，模型会变笨吗？比得上把所有数据堆在一起练吗？</a:t>
            </a:r>
          </a:p>
          <a:p/>
          <a:p>
            <a:r>
              <a:t>为此我们研发了“异步本地更新的模型融合技术”：A、B 两家医院各自用私域临床数据在本地训练模型副本，数据完全不互通；再通过“梯度融合器”定期把两边学到的本地梯度同步融合，升级成全局行业模型——数据不出域，价值可流转，模型共同成长。</a:t>
            </a:r>
          </a:p>
          <a:p/>
          <a:p>
            <a:r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/>
          <a:p>
            <a:r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/>
          <a:p>
            <a:r>
              <a:t>综合来看，效果达成度在 82% 到 133% 之间。数据留在本地，不仅安全合规，效果也完全能支撑顶尖的大科研！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（翻页）接下来汇报两个已经跑通的标杆案例，都建在深圳数据基础设施与可信数据空间之上。</a:t>
            </a:r>
          </a:p>
          <a:p/>
          <a:p>
            <a:r>
              <a:t>第一个，统一授权推动个人医疗数据合规流通——“商保理赔”。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HIS、卫健委人口健康平台与保险公司，并按“准许成本 + 合理收益”为医院构建定价与收益分配机制。</a:t>
            </a:r>
          </a:p>
          <a:p/>
          <a:p>
            <a:r>
              <a:t>据公开报道，南山区通过公共数据授权运营，联合微信、微保落成深圳首个“商保直付”通道：覆盖公立医院就诊人群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  <a:p/>
          <a:p>
            <a:r>
              <a:t>第二个，“心脏病 AI 密文风险诊断模型”。针对多院数据难共享、安全风险高、基层诊断能力不均、真实世界研究难开展四大痛点：医院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（翻页）再往前看一步：我们不仅要在国内医院之间协同，更要跟港澳、跟国际顶尖科研机构做跨境联合研究，而数据出境管得更严，怎么办？</a:t>
            </a:r>
          </a:p>
          <a:p/>
          <a:p>
            <a:r>
              <a:t>“TREMAC + 可信数据空间”天生就是破解跨境医工科研难题的金钥匙。国际上广泛使用 TRE 标准，国内正在推广可信数据空间标准。用这套融合架构，内地数据留在内地机房，港澳和海外数据留在当地，不做敏感的原始数据跨境搬运，只做“跨境身份互认、规则互认、任务跨境分发、合规结果跨境共享”，就能在符合国家数据出境安全监管的前提下，把大湾区乃至全球的医疗科研网络连成一体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（翻页）各位领导、各位专家：TREMAC 与可信数据空间的融合，归根结底是给实验室和医院打造一套“既能干得成大事，又能睡得着觉”的科研基座——</a:t>
            </a:r>
          </a:p>
          <a:p/>
          <a:p>
            <a:r>
              <a:t>第一，数据稳稳留在本地，守住各家的核心资产；</a:t>
            </a:r>
          </a:p>
          <a:p>
            <a:r>
              <a:t>第二，患者隐私全栈保护，不触碰法律与伦理红线；</a:t>
            </a:r>
          </a:p>
          <a:p>
            <a:r>
              <a:t>第三，每一次数据使用清晰可控，数据持有方握着总开关；</a:t>
            </a:r>
          </a:p>
          <a:p>
            <a:r>
              <a:t>最终，把各家医院和科研机构连接成网，一起做出具有国际影响力的大科研、大成果！</a:t>
            </a:r>
          </a:p>
          <a:p/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TREMAC 与可信数据空间技术融合探索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4864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Microsoft YaHei"/>
              </a:rPr>
              <a:t>中国电子云　·　医疗科研数据基础设施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630936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6583680" cy="1737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900" b="1" i="0">
                <a:solidFill>
                  <a:srgbClr val="0B1220"/>
                </a:solidFill>
                <a:latin typeface="Arial"/>
                <a:ea typeface="Microsoft YaHei"/>
              </a:rPr>
              <a:t>TREMAC 与可信数据空间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900" b="1" i="0">
                <a:solidFill>
                  <a:srgbClr val="0B1220"/>
                </a:solidFill>
                <a:latin typeface="Arial"/>
                <a:ea typeface="Microsoft YaHei"/>
              </a:rPr>
              <a:t>技术融合探索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346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529584"/>
            <a:ext cx="658368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58FF"/>
                </a:solidFill>
                <a:latin typeface="Arial"/>
                <a:ea typeface="Microsoft YaHei"/>
              </a:rPr>
              <a:t>从可信研究环境到可信科研协同网络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41648"/>
            <a:ext cx="6400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数据不出域　·　隐私可保护　·　使用可管控　·　科研可协同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138928"/>
            <a:ext cx="598932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285232"/>
            <a:ext cx="603504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  <a:ea typeface="Microsoft YaHei"/>
              </a:rPr>
              <a:t>演讲人　</a:t>
            </a: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李化名　·　中国电子云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77840"/>
            <a:ext cx="603504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Arial"/>
                <a:ea typeface="Microsoft YaHei"/>
              </a:rPr>
              <a:t>主办　</a:t>
            </a:r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广州实验室 × 澳门科技大学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88736"/>
            <a:ext cx="6035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面向　医院科研与信息管理者</a:t>
            </a:r>
          </a:p>
        </p:txBody>
      </p:sp>
      <p:sp>
        <p:nvSpPr>
          <p:cNvPr id="13" name="Oval 12"/>
          <p:cNvSpPr/>
          <p:nvPr/>
        </p:nvSpPr>
        <p:spPr>
          <a:xfrm>
            <a:off x="7891271" y="1865376"/>
            <a:ext cx="3328416" cy="3328416"/>
          </a:xfrm>
          <a:prstGeom prst="ellipse">
            <a:avLst/>
          </a:prstGeom>
          <a:solidFill>
            <a:srgbClr val="F4F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91271" y="1865376"/>
            <a:ext cx="3328416" cy="3328416"/>
          </a:xfrm>
          <a:prstGeom prst="ellipse">
            <a:avLst/>
          </a:prstGeom>
          <a:noFill/>
          <a:ln w="11430">
            <a:solidFill>
              <a:srgbClr val="DCE4F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525380" y="4499484"/>
            <a:ext cx="123817" cy="123817"/>
          </a:xfrm>
          <a:prstGeom prst="line">
            <a:avLst/>
          </a:prstGeom>
          <a:ln w="10160">
            <a:solidFill>
              <a:srgbClr val="DCE4F2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8461762" y="4499484"/>
            <a:ext cx="123817" cy="123817"/>
          </a:xfrm>
          <a:prstGeom prst="line">
            <a:avLst/>
          </a:prstGeom>
          <a:ln w="10160">
            <a:solidFill>
              <a:srgbClr val="DCE4F2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10525380" y="2435866"/>
            <a:ext cx="123817" cy="123817"/>
          </a:xfrm>
          <a:prstGeom prst="line">
            <a:avLst/>
          </a:prstGeom>
          <a:ln w="10160">
            <a:solidFill>
              <a:srgbClr val="DCE4F2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 flipH="1" flipV="1">
            <a:off x="8461762" y="2435866"/>
            <a:ext cx="123817" cy="123817"/>
          </a:xfrm>
          <a:prstGeom prst="line">
            <a:avLst/>
          </a:prstGeom>
          <a:ln w="10160">
            <a:solidFill>
              <a:srgbClr val="DCE4F2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9555480" y="1865376"/>
            <a:ext cx="0" cy="865022"/>
          </a:xfrm>
          <a:prstGeom prst="line">
            <a:avLst/>
          </a:prstGeom>
          <a:ln w="11430">
            <a:solidFill>
              <a:srgbClr val="0058FF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9500615" y="1810512"/>
            <a:ext cx="109728" cy="10972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389412" y="3529584"/>
            <a:ext cx="830276" cy="0"/>
          </a:xfrm>
          <a:prstGeom prst="line">
            <a:avLst/>
          </a:prstGeom>
          <a:ln w="11430">
            <a:solidFill>
              <a:srgbClr val="0058FF"/>
            </a:solidFill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11164824" y="3474720"/>
            <a:ext cx="109728" cy="10972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55480" y="4328769"/>
            <a:ext cx="0" cy="865023"/>
          </a:xfrm>
          <a:prstGeom prst="line">
            <a:avLst/>
          </a:prstGeom>
          <a:ln w="11430">
            <a:solidFill>
              <a:srgbClr val="0058FF"/>
            </a:solidFill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9500615" y="5138928"/>
            <a:ext cx="109728" cy="10972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7891271" y="3529584"/>
            <a:ext cx="830276" cy="0"/>
          </a:xfrm>
          <a:prstGeom prst="line">
            <a:avLst/>
          </a:prstGeom>
          <a:ln w="11430">
            <a:solidFill>
              <a:srgbClr val="0058FF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7836407" y="3474720"/>
            <a:ext cx="109728" cy="10972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14232" y="3108960"/>
            <a:ext cx="1682496" cy="841248"/>
          </a:xfrm>
          <a:prstGeom prst="rect">
            <a:avLst/>
          </a:prstGeom>
          <a:solidFill>
            <a:srgbClr val="FFFFFF"/>
          </a:solidFill>
          <a:ln w="8382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3108960"/>
            <a:ext cx="1682496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可信科研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协同网络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1316736"/>
            <a:ext cx="182880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数据在本地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1554480"/>
            <a:ext cx="18288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数据主权属地化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33304" y="3072384"/>
            <a:ext cx="69494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隐私保护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4" y="3310128"/>
            <a:ext cx="694944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全栈隐私内生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5358383"/>
            <a:ext cx="182880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能做大科研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5596128"/>
            <a:ext cx="18288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跨域协同大科研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1" y="3246120"/>
            <a:ext cx="1261872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可管控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1" y="3483864"/>
            <a:ext cx="1261872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细粒度使用控制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可信数据空间，已是国家技术路线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02　政策与定义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可信数据空间，已是国家技术路线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从顶层制度到专项行动，跨院科研的数据流通有了统一底座。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4572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673352"/>
            <a:ext cx="10332720" cy="3017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220"/>
                </a:solidFill>
                <a:latin typeface="Arial"/>
                <a:ea typeface="Microsoft YaHei"/>
              </a:rPr>
              <a:t>一张有严格门禁、统一规则、还能自动记账的数据流通高速路网。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615184"/>
            <a:ext cx="9098280" cy="12801"/>
          </a:xfrm>
          <a:prstGeom prst="rect">
            <a:avLst/>
          </a:prstGeom>
          <a:solidFill>
            <a:srgbClr val="728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2176272"/>
            <a:ext cx="26517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01　顶层制度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2542032"/>
            <a:ext cx="146304" cy="1463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779776"/>
            <a:ext cx="3200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220"/>
                </a:solidFill>
                <a:latin typeface="Arial"/>
                <a:ea typeface="Microsoft YaHei"/>
              </a:rPr>
              <a:t>数据二十条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3090672"/>
            <a:ext cx="27432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数据基础制度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76272"/>
            <a:ext cx="26517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02　基础设施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16168" y="2542032"/>
            <a:ext cx="146304" cy="1463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79776"/>
            <a:ext cx="3200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220"/>
                </a:solidFill>
                <a:latin typeface="Arial"/>
                <a:ea typeface="Microsoft YaHei"/>
              </a:rPr>
              <a:t>国家数据基础设施建设指引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90672"/>
            <a:ext cx="27432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国家数据局牵头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76272"/>
            <a:ext cx="26517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03　专项行动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73768" y="2542032"/>
            <a:ext cx="146304" cy="1463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779776"/>
            <a:ext cx="3200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220"/>
                </a:solidFill>
                <a:latin typeface="Arial"/>
                <a:ea typeface="Microsoft YaHei"/>
              </a:rPr>
              <a:t>可信数据空间发展行动计划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90672"/>
            <a:ext cx="27432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明确核心技术路线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30752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886200"/>
            <a:ext cx="914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C8ED0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15968"/>
            <a:ext cx="2926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Arial"/>
                <a:ea typeface="Microsoft YaHei"/>
              </a:rPr>
              <a:t>可信管控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626864"/>
            <a:ext cx="30632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58FF"/>
                </a:solidFill>
                <a:latin typeface="Arial"/>
                <a:ea typeface="Microsoft YaHei"/>
              </a:rPr>
              <a:t>共识规则 · 数字合约 · 使用控制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937760"/>
            <a:ext cx="30632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657"/>
                </a:solidFill>
                <a:latin typeface="Arial"/>
                <a:ea typeface="Microsoft YaHei"/>
              </a:rPr>
              <a:t>让医院对自己的数据拥有绝对控制权。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931920"/>
            <a:ext cx="10972" cy="1700784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886200"/>
            <a:ext cx="914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C8ED0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315968"/>
            <a:ext cx="2926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Arial"/>
                <a:ea typeface="Microsoft YaHei"/>
              </a:rPr>
              <a:t>资源交互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626864"/>
            <a:ext cx="30632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58FF"/>
                </a:solidFill>
                <a:latin typeface="Arial"/>
                <a:ea typeface="Microsoft YaHei"/>
              </a:rPr>
              <a:t>标准连接器 · 数据目录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937760"/>
            <a:ext cx="30632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657"/>
                </a:solidFill>
                <a:latin typeface="Arial"/>
                <a:ea typeface="Microsoft YaHei"/>
              </a:rPr>
              <a:t>把数据孤岛连成网；连网不等于搬空医院库房。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5552" y="3931920"/>
            <a:ext cx="10972" cy="1700784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3886200"/>
            <a:ext cx="9144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C8ED0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4315968"/>
            <a:ext cx="2926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Arial"/>
                <a:ea typeface="Microsoft YaHei"/>
              </a:rPr>
              <a:t>价值共创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4626864"/>
            <a:ext cx="30632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58FF"/>
                </a:solidFill>
                <a:latin typeface="Arial"/>
                <a:ea typeface="Microsoft YaHei"/>
              </a:rPr>
              <a:t>多方协同 · 按贡献分配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4937760"/>
            <a:ext cx="30632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D4657"/>
                </a:solidFill>
                <a:latin typeface="Arial"/>
                <a:ea typeface="Microsoft YaHei"/>
              </a:rPr>
              <a:t>医院、高校、实验室、药企与算法团队共同做科研。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TRE 管怎么算，TDS 管怎么流通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03　两条路径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TRE 管怎么算，TDS 管怎么流通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两条技术路线正在医疗科研场景交汇，能力层级互补而非替代。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12344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Microsoft YaHei"/>
              </a:rPr>
              <a:t>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14173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可信研究环境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07792"/>
            <a:ext cx="12344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Microsoft YaHei"/>
              </a:rPr>
              <a:t>TDS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14173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可信数据空间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8" y="2340864"/>
            <a:ext cx="5532120" cy="12801"/>
          </a:xfrm>
          <a:prstGeom prst="rect">
            <a:avLst/>
          </a:prstGeom>
          <a:solidFill>
            <a:srgbClr val="728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2827" y="2290572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1" y="2487168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封闭安全实验室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1" y="2724912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隔离计算 · 成果审核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5988" y="2290572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487168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云化 AI 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24912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弹性算力 · 模型训练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3428" y="2290572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2487168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联邦化联合分析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2724912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多节点互联 · 联合分析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9968" y="3273552"/>
            <a:ext cx="5532120" cy="12801"/>
          </a:xfrm>
          <a:prstGeom prst="rect">
            <a:avLst/>
          </a:prstGeom>
          <a:solidFill>
            <a:srgbClr val="728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2827" y="3223260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1" y="3419856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数据目录共享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1" y="3657600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目录发布 · 供需匹配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75988" y="3223260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3419856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可信数据空间（2024）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3657600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规则 · 合约 · 授权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3428" y="3223260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1" y="3419856"/>
            <a:ext cx="1874519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跨空间互认（2025）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1031" y="3657600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身份互认 · 规则互认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71231" y="2340864"/>
            <a:ext cx="1389889" cy="393192"/>
          </a:xfrm>
          <a:prstGeom prst="line">
            <a:avLst/>
          </a:prstGeom>
          <a:ln w="15240">
            <a:solidFill>
              <a:srgbClr val="0058FF"/>
            </a:solidFill>
            <a:tailEnd type="triangle" w="med" len="med"/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7571231" y="2880360"/>
            <a:ext cx="1389889" cy="393192"/>
          </a:xfrm>
          <a:prstGeom prst="line">
            <a:avLst/>
          </a:prstGeom>
          <a:ln w="1524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9015984" y="2468880"/>
            <a:ext cx="2395728" cy="10058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2560320"/>
            <a:ext cx="239572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</a:rPr>
              <a:t>可信科研协同网络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8904" y="2907792"/>
            <a:ext cx="1389888" cy="10972"/>
          </a:xfrm>
          <a:prstGeom prst="rect">
            <a:avLst/>
          </a:prstGeom>
          <a:solidFill>
            <a:srgbClr val="7FA9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2999232"/>
            <a:ext cx="239572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  <a:ea typeface="Microsoft YaHei"/>
              </a:rPr>
              <a:t>数据不出域 · 跨机构联合研究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133088"/>
            <a:ext cx="10872215" cy="402336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133088"/>
            <a:ext cx="1261872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7085"/>
                </a:solidFill>
                <a:latin typeface="Arial"/>
                <a:ea typeface="Microsoft YaHei"/>
              </a:rPr>
              <a:t>能力层级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2848" y="4133088"/>
            <a:ext cx="4370832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Arial"/>
                <a:ea typeface="Microsoft YaHei"/>
              </a:rPr>
              <a:t>TRE　可信研究环境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4133088"/>
            <a:ext cx="4407407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Arial"/>
                <a:ea typeface="Microsoft YaHei"/>
              </a:rPr>
              <a:t>TDS　可信数据空间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645152"/>
            <a:ext cx="126187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管什么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2848" y="4645152"/>
            <a:ext cx="433425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1220"/>
                </a:solidFill>
                <a:latin typeface="Arial"/>
                <a:ea typeface="Microsoft YaHei"/>
              </a:rPr>
              <a:t>环境 · 研究 · 计算 · 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645152"/>
            <a:ext cx="4370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1220"/>
                </a:solidFill>
                <a:latin typeface="Arial"/>
                <a:ea typeface="Microsoft YaHei"/>
              </a:rPr>
              <a:t>连接 · 规则 · 流通 · 价值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010912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120640"/>
            <a:ext cx="1261872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解决什么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2848" y="5120640"/>
            <a:ext cx="4334256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07F"/>
                </a:solidFill>
                <a:latin typeface="Arial"/>
                <a:ea typeface="Microsoft YaHei"/>
              </a:rPr>
              <a:t>敏感数据怎么算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5120640"/>
            <a:ext cx="4370831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307F"/>
                </a:solidFill>
                <a:latin typeface="Arial"/>
                <a:ea typeface="Microsoft YaHei"/>
              </a:rPr>
              <a:t>数据怎么流通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522976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632704"/>
            <a:ext cx="126187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边界与产物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12848" y="5632704"/>
            <a:ext cx="433425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B1220"/>
                </a:solidFill>
                <a:latin typeface="Arial"/>
                <a:ea typeface="Microsoft YaHei"/>
              </a:rPr>
              <a:t>原始病历不出环境，只导出经审查的统计表、图表与模型参数。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5632704"/>
            <a:ext cx="4370831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B1220"/>
                </a:solidFill>
                <a:latin typeface="Arial"/>
                <a:ea typeface="Microsoft YaHei"/>
              </a:rPr>
              <a:t>跨机构数字合约、履约监管与收益分配。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6181344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五步闭环，协作在规则内自动跑起来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04　运行机制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五步闭环，协作在规则内自动跑起来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资源跨机构发现，授权按项目协同，计算在可信环境执行，结果经审查共享。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993392"/>
            <a:ext cx="10552176" cy="12801"/>
          </a:xfrm>
          <a:prstGeom prst="rect">
            <a:avLst/>
          </a:prstGeom>
          <a:solidFill>
            <a:srgbClr val="728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247120" y="1993392"/>
            <a:ext cx="128016" cy="0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58368" y="1773936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947672"/>
            <a:ext cx="91440" cy="914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1938528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B1220"/>
                </a:solidFill>
                <a:latin typeface="Arial"/>
                <a:ea typeface="Microsoft YaHei"/>
              </a:rPr>
              <a:t>主体接入与资源发布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938528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4657"/>
                </a:solidFill>
                <a:latin typeface="Arial"/>
                <a:ea typeface="Microsoft YaHei"/>
              </a:rPr>
              <a:t>连接器接入，只发布目录，不传原始数据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73936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8064" y="1947672"/>
            <a:ext cx="91440" cy="914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121408"/>
            <a:ext cx="1938528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B1220"/>
                </a:solidFill>
                <a:latin typeface="Arial"/>
                <a:ea typeface="Microsoft YaHei"/>
              </a:rPr>
              <a:t>项目申请与供需匹配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95728"/>
            <a:ext cx="1938528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4657"/>
                </a:solidFill>
                <a:latin typeface="Arial"/>
                <a:ea typeface="Microsoft YaHei"/>
              </a:rPr>
              <a:t>牵头方提需求，在目录中匹配合作医院。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1773936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1947672"/>
            <a:ext cx="91440" cy="914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2121408"/>
            <a:ext cx="1938528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B1220"/>
                </a:solidFill>
                <a:latin typeface="Arial"/>
                <a:ea typeface="Microsoft YaHei"/>
              </a:rPr>
              <a:t>规则约定与授权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2395728"/>
            <a:ext cx="1938528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4657"/>
                </a:solidFill>
                <a:latin typeface="Arial"/>
                <a:ea typeface="Microsoft YaHei"/>
              </a:rPr>
              <a:t>数字合约写清人员、期限、工具与责任。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1773936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8" y="1947672"/>
            <a:ext cx="91440" cy="914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2121408"/>
            <a:ext cx="1938528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B1220"/>
                </a:solidFill>
                <a:latin typeface="Arial"/>
                <a:ea typeface="Microsoft YaHei"/>
              </a:rPr>
              <a:t>进入 TRE 开展计算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0024" y="2395728"/>
            <a:ext cx="1938528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4657"/>
                </a:solidFill>
                <a:latin typeface="Arial"/>
                <a:ea typeface="Microsoft YaHei"/>
              </a:rPr>
              <a:t>数据不脱离医院控制，在受控环境分析。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1773936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947672"/>
            <a:ext cx="91440" cy="9144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121408"/>
            <a:ext cx="1938528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B1220"/>
                </a:solidFill>
                <a:latin typeface="Arial"/>
                <a:ea typeface="Microsoft YaHei"/>
              </a:rPr>
              <a:t>输出审查与成果交付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395728"/>
            <a:ext cx="1938528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4657"/>
                </a:solidFill>
                <a:latin typeface="Arial"/>
                <a:ea typeface="Microsoft YaHei"/>
              </a:rPr>
              <a:t>结果经风险审查后导出，全程存证计量。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64992"/>
            <a:ext cx="731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协同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498848"/>
            <a:ext cx="731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596128"/>
            <a:ext cx="731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本地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3312" y="3108960"/>
            <a:ext cx="1014984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7904" y="3108960"/>
            <a:ext cx="5120640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rial"/>
                <a:ea typeface="Microsoft YaHei"/>
              </a:rPr>
              <a:t>跨机构联合研究　·　多中心课题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3108960"/>
            <a:ext cx="4498848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TRE 受控计算　·　输出审查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108192" y="3712464"/>
            <a:ext cx="0" cy="530352"/>
          </a:xfrm>
          <a:prstGeom prst="line">
            <a:avLst/>
          </a:prstGeom>
          <a:ln w="1397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6272783" y="3767328"/>
            <a:ext cx="25603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58FF"/>
                </a:solidFill>
                <a:latin typeface="Arial"/>
                <a:ea typeface="Microsoft YaHei"/>
              </a:rPr>
              <a:t>仅合规汇总结果上浮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53312" y="4242816"/>
            <a:ext cx="10149840" cy="859536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7904" y="4297680"/>
            <a:ext cx="56692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rial"/>
                <a:ea typeface="Microsoft YaHei"/>
              </a:rPr>
              <a:t>可信数据空间协同服务平台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17904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17904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身份互认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90672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0672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数据目录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项目协同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授权合约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08976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6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任务调度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81744" y="4608576"/>
            <a:ext cx="1463040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3D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1744" y="4608576"/>
            <a:ext cx="1463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307F"/>
                </a:solidFill>
                <a:latin typeface="Arial"/>
                <a:ea typeface="Microsoft YaHei"/>
              </a:rPr>
              <a:t>全程审计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3312" y="6089904"/>
            <a:ext cx="85953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原始数据 100% 留在各家本地，在自家 TRE 受控工作区完成计算。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53312" y="5449824"/>
            <a:ext cx="3261360" cy="548640"/>
          </a:xfrm>
          <a:prstGeom prst="rect">
            <a:avLst/>
          </a:prstGeom>
          <a:solidFill>
            <a:srgbClr val="FFFFFF"/>
          </a:solidFill>
          <a:ln w="6858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81328" y="5513832"/>
            <a:ext cx="3005327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医院 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1328" y="5742432"/>
            <a:ext cx="3005327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临床诊疗数据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2983992" y="5138928"/>
            <a:ext cx="0" cy="310896"/>
          </a:xfrm>
          <a:prstGeom prst="line">
            <a:avLst/>
          </a:prstGeom>
          <a:ln w="1016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4797551" y="5449824"/>
            <a:ext cx="3261360" cy="548640"/>
          </a:xfrm>
          <a:prstGeom prst="rect">
            <a:avLst/>
          </a:prstGeom>
          <a:solidFill>
            <a:srgbClr val="FFFFFF"/>
          </a:solidFill>
          <a:ln w="6858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25567" y="5513832"/>
            <a:ext cx="3005327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医院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5567" y="5742432"/>
            <a:ext cx="3005327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医学影像数据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6428231" y="5138928"/>
            <a:ext cx="0" cy="310896"/>
          </a:xfrm>
          <a:prstGeom prst="line">
            <a:avLst/>
          </a:prstGeom>
          <a:ln w="1016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62" name="Rectangle 61"/>
          <p:cNvSpPr/>
          <p:nvPr/>
        </p:nvSpPr>
        <p:spPr>
          <a:xfrm>
            <a:off x="8241792" y="5449824"/>
            <a:ext cx="3261360" cy="548640"/>
          </a:xfrm>
          <a:prstGeom prst="rect">
            <a:avLst/>
          </a:prstGeom>
          <a:solidFill>
            <a:srgbClr val="FFFFFF"/>
          </a:solidFill>
          <a:ln w="6858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9808" y="5513832"/>
            <a:ext cx="3005327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科研机构 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9808" y="5742432"/>
            <a:ext cx="3005327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科研队列数据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9872472" y="5138928"/>
            <a:ext cx="0" cy="310896"/>
          </a:xfrm>
          <a:prstGeom prst="line">
            <a:avLst/>
          </a:prstGeom>
          <a:ln w="10160">
            <a:solidFill>
              <a:srgbClr val="0058FF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认得准 · 找得到 · 管得住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05　关键技术 Ⅰ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认得准 · 找得到 · 管得住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五项关键技术支撑闭环，本页先讲前三项。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122529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  <a:ea typeface="Microsoft YaHei"/>
              </a:rPr>
              <a:t>认得准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1" y="1700784"/>
            <a:ext cx="122529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1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  <a:ea typeface="Microsoft YaHei"/>
              </a:rPr>
              <a:t>找得到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5" y="1700784"/>
            <a:ext cx="122529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5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  <a:ea typeface="Microsoft YaHei"/>
              </a:rPr>
              <a:t>管得住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700784"/>
            <a:ext cx="1225296" cy="274320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送不出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700784"/>
            <a:ext cx="1225296" cy="274320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算得了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737360"/>
            <a:ext cx="347472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五项关键技术 · 逐项落地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176272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286000"/>
            <a:ext cx="713232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C8ED0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2322576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220"/>
                </a:solidFill>
                <a:latin typeface="Arial"/>
                <a:ea typeface="Microsoft YaHei"/>
              </a:rPr>
              <a:t>融合身份认证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2615184"/>
            <a:ext cx="18288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认得准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852928"/>
            <a:ext cx="5303520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D4657"/>
                </a:solidFill>
                <a:latin typeface="Arial"/>
                <a:ea typeface="Microsoft YaHei"/>
              </a:rPr>
              <a:t>CA 证书 + 区块链 DID，权威签发、链上存证、跨域互认。一次认证，全机构互认，严防冒名调阅。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432304"/>
            <a:ext cx="932688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432304"/>
            <a:ext cx="93268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B1220"/>
                </a:solidFill>
                <a:latin typeface="Arial"/>
                <a:ea typeface="Microsoft YaHei"/>
              </a:rPr>
              <a:t>CA 证书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7848" y="2432304"/>
            <a:ext cx="932688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432304"/>
            <a:ext cx="93268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B1220"/>
                </a:solidFill>
                <a:latin typeface="Arial"/>
                <a:ea typeface="Microsoft YaHei"/>
              </a:rPr>
              <a:t>DID 身份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36408" y="2587752"/>
            <a:ext cx="91440" cy="0"/>
          </a:xfrm>
          <a:prstGeom prst="line">
            <a:avLst/>
          </a:prstGeom>
          <a:ln w="10160">
            <a:solidFill>
              <a:srgbClr val="0058FF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8860536" y="2587752"/>
            <a:ext cx="292608" cy="0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31" name="Rectangle 30"/>
          <p:cNvSpPr/>
          <p:nvPr/>
        </p:nvSpPr>
        <p:spPr>
          <a:xfrm>
            <a:off x="9189720" y="2377440"/>
            <a:ext cx="2194560" cy="42062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377440"/>
            <a:ext cx="2194560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  <a:ea typeface="Microsoft YaHei"/>
              </a:rPr>
              <a:t>一次认证 · 跨域互认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889504"/>
            <a:ext cx="44805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权威签发　·　链上存证　·　机构互认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465576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75304"/>
            <a:ext cx="713232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C8ED0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3611880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220"/>
                </a:solidFill>
                <a:latin typeface="Arial"/>
                <a:ea typeface="Microsoft YaHei"/>
              </a:rPr>
              <a:t>智能检索推荐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4752" y="3904487"/>
            <a:ext cx="18288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找得到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4752" y="4142232"/>
            <a:ext cx="5303520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D4657"/>
                </a:solidFill>
                <a:latin typeface="Arial"/>
                <a:ea typeface="Microsoft YaHei"/>
              </a:rPr>
              <a:t>大模型 RAG + 医学知识图谱，对齐“慢阻肺 / COPD”等不同表述；自然语言直接定位脱敏队列。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685032"/>
            <a:ext cx="2057400" cy="493776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59" y="3685032"/>
            <a:ext cx="1874519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B1220"/>
                </a:solidFill>
                <a:latin typeface="Arial"/>
                <a:ea typeface="Microsoft YaHei"/>
              </a:rPr>
              <a:t>“COPD + 肺功能下降
+ 近 3 年”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0" y="3931920"/>
            <a:ext cx="274320" cy="0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9281160" y="3685032"/>
            <a:ext cx="2103120" cy="493776"/>
          </a:xfrm>
          <a:prstGeom prst="rect">
            <a:avLst/>
          </a:prstGeom>
          <a:solidFill>
            <a:srgbClr val="FFFFFF"/>
          </a:solidFill>
          <a:ln w="6858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685032"/>
            <a:ext cx="2103120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058FF"/>
                </a:solidFill>
                <a:latin typeface="Arial"/>
                <a:ea typeface="Microsoft YaHei"/>
              </a:rPr>
              <a:t>匹配脱敏病例集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251960"/>
            <a:ext cx="44805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大模型 RAG　+　医学知识图谱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754880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864608"/>
            <a:ext cx="713232" cy="4389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C8ED0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4752" y="4901184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220"/>
                </a:solidFill>
                <a:latin typeface="Arial"/>
                <a:ea typeface="Microsoft YaHei"/>
              </a:rPr>
              <a:t>数字合约与使用控制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52" y="5193792"/>
            <a:ext cx="18288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管得住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4752" y="5431536"/>
            <a:ext cx="5303520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3D4657"/>
                </a:solidFill>
                <a:latin typeface="Arial"/>
                <a:ea typeface="Microsoft YaHei"/>
              </a:rPr>
              <a:t>规则写进区块链数字合约，使用控制引擎按用途、期限与调用次数强制执行，超限即止。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956048"/>
            <a:ext cx="2103120" cy="530352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59" y="4956048"/>
            <a:ext cx="1920240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B1220"/>
                </a:solidFill>
                <a:latin typeface="Arial"/>
                <a:ea typeface="Microsoft YaHei"/>
              </a:rPr>
              <a:t>仅限研究用途
限 100 次调用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882896"/>
            <a:ext cx="777240" cy="420624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58FF"/>
                </a:solidFill>
                <a:latin typeface="Arial"/>
                <a:ea typeface="Microsoft YaHei"/>
              </a:rP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4392" y="5029200"/>
            <a:ext cx="12801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次 / 调用上限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10878" y="5388102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93758" y="5388102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76638" y="5388102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59518" y="5388102"/>
            <a:ext cx="50292" cy="5029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42398" y="5388102"/>
            <a:ext cx="50292" cy="50292"/>
          </a:xfrm>
          <a:prstGeom prst="rect">
            <a:avLst/>
          </a:prstGeom>
          <a:solidFill>
            <a:srgbClr val="6C8E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03720" y="5559552"/>
            <a:ext cx="44805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到期即停　·　超限即止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044183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送不出 · 算得了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06　关键技术 Ⅱ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送不出 · 算得了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数据进来之后，既要防得住，也要算得动。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1225296" cy="274320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认得准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1" y="1700784"/>
            <a:ext cx="1225296" cy="274320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1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找得到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5" y="1700784"/>
            <a:ext cx="1225296" cy="274320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8415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管得住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700784"/>
            <a:ext cx="122529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  <a:ea typeface="Microsoft YaHei"/>
              </a:rPr>
              <a:t>送不出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700784"/>
            <a:ext cx="122529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8464" y="1700784"/>
            <a:ext cx="1225296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  <a:ea typeface="Microsoft YaHei"/>
              </a:rPr>
              <a:t>算得了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737360"/>
            <a:ext cx="347472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五项关键技术 · 逐项落地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31089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220"/>
                </a:solidFill>
                <a:latin typeface="Arial"/>
                <a:ea typeface="Microsoft YaHei"/>
              </a:rPr>
              <a:t>安全数据交付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505456"/>
            <a:ext cx="40233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058FF"/>
                </a:solidFill>
                <a:latin typeface="Arial"/>
                <a:ea typeface="Microsoft YaHei"/>
              </a:rPr>
              <a:t>云桌面 + 数据沙箱 · 双重隔离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231136"/>
            <a:ext cx="1078992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231136"/>
            <a:ext cx="1078992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Microsoft YaHei"/>
              </a:rPr>
              <a:t>④ 送不出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2852928"/>
            <a:ext cx="1481328" cy="786384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852928"/>
            <a:ext cx="1481328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Arial"/>
                <a:ea typeface="Microsoft YaHei"/>
              </a:rPr>
              <a:t>服务端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rial"/>
                <a:ea typeface="Microsoft YaHei"/>
              </a:rPr>
              <a:t>真实数据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3246120"/>
            <a:ext cx="1280160" cy="0"/>
          </a:xfrm>
          <a:prstGeom prst="line">
            <a:avLst/>
          </a:prstGeom>
          <a:ln w="1524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2286000" y="2916936"/>
            <a:ext cx="12801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0058FF"/>
                </a:solidFill>
                <a:latin typeface="Arial"/>
                <a:ea typeface="Microsoft YaHei"/>
              </a:rPr>
              <a:t>加密像素流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21024" y="2852928"/>
            <a:ext cx="1572768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1024" y="2852928"/>
            <a:ext cx="1572768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Arial"/>
                <a:ea typeface="Microsoft YaHei"/>
              </a:rPr>
              <a:t>研究员屏幕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220"/>
                </a:solidFill>
                <a:latin typeface="Arial"/>
                <a:ea typeface="Microsoft YaHei"/>
              </a:rPr>
              <a:t>仅画面像素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3913632"/>
            <a:ext cx="1517904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913632"/>
            <a:ext cx="1517904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D4657"/>
                </a:solidFill>
                <a:latin typeface="Arial"/>
                <a:ea typeface="Microsoft YaHei"/>
              </a:rPr>
              <a:t>×  禁止复制粘贴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0592" y="3913632"/>
            <a:ext cx="1517904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3913632"/>
            <a:ext cx="1517904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D4657"/>
                </a:solidFill>
                <a:latin typeface="Arial"/>
                <a:ea typeface="Microsoft YaHei"/>
              </a:rPr>
              <a:t>×  U 盘自动禁用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96512" y="3913632"/>
            <a:ext cx="1517904" cy="292608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6512" y="3913632"/>
            <a:ext cx="1517904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D4657"/>
                </a:solidFill>
                <a:latin typeface="Arial"/>
                <a:ea typeface="Microsoft YaHei"/>
              </a:rPr>
              <a:t>×  截屏溯源水印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425696"/>
            <a:ext cx="438912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58FF"/>
                </a:solidFill>
                <a:latin typeface="Arial"/>
                <a:ea typeface="Microsoft YaHei"/>
              </a:rPr>
              <a:t>可用不可见 · 终端不落地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48056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3D4657"/>
                </a:solidFill>
                <a:latin typeface="Arial"/>
                <a:ea typeface="Microsoft YaHei"/>
              </a:rPr>
              <a:t>真实数据只在服务端运行，屏幕上只有加密的画面像素流；原始数据一条都带不走。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2286000"/>
            <a:ext cx="10972" cy="3127248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2249424"/>
            <a:ext cx="3291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220"/>
                </a:solidFill>
                <a:latin typeface="Arial"/>
                <a:ea typeface="Microsoft YaHei"/>
              </a:rPr>
              <a:t>安全数据计算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14432" y="2231136"/>
            <a:ext cx="1078992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14432" y="2231136"/>
            <a:ext cx="1078992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  <a:ea typeface="Microsoft YaHei"/>
              </a:rPr>
              <a:t>⑤ 算得了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94192" y="2944368"/>
            <a:ext cx="1463040" cy="6035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2944368"/>
            <a:ext cx="1463040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  <a:ea typeface="Microsoft YaHei"/>
              </a:rPr>
              <a:t>联邦学习 · MPC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FFFFF"/>
                </a:solidFill>
                <a:latin typeface="Arial"/>
                <a:ea typeface="Microsoft YaHei"/>
              </a:rPr>
              <a:t>差分隐私 · 同态加密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48272" y="2761488"/>
            <a:ext cx="768096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8272" y="2761488"/>
            <a:ext cx="7680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B1220"/>
                </a:solidFill>
                <a:latin typeface="Arial"/>
                <a:ea typeface="Microsoft YaHei"/>
              </a:rPr>
              <a:t>医院 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16368" y="2916936"/>
            <a:ext cx="877824" cy="173736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10625328" y="2761488"/>
            <a:ext cx="768096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25328" y="2761488"/>
            <a:ext cx="7680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B1220"/>
                </a:solidFill>
                <a:latin typeface="Arial"/>
                <a:ea typeface="Microsoft YaHei"/>
              </a:rPr>
              <a:t>医院 B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9857232" y="2916936"/>
            <a:ext cx="768096" cy="173736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6748272" y="3730752"/>
            <a:ext cx="768096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3730752"/>
            <a:ext cx="7680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B1220"/>
                </a:solidFill>
                <a:latin typeface="Arial"/>
                <a:ea typeface="Microsoft YaHei"/>
              </a:rPr>
              <a:t>医院 C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516368" y="3401568"/>
            <a:ext cx="877824" cy="484632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10625328" y="3730752"/>
            <a:ext cx="768096" cy="310896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25328" y="3730752"/>
            <a:ext cx="7680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B1220"/>
                </a:solidFill>
                <a:latin typeface="Arial"/>
                <a:ea typeface="Microsoft YaHei"/>
              </a:rPr>
              <a:t>医院 D</a:t>
            </a:r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9857232" y="3401568"/>
            <a:ext cx="768096" cy="484632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6693408" y="4187952"/>
            <a:ext cx="46634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58FF"/>
                </a:solidFill>
                <a:latin typeface="Arial"/>
                <a:ea typeface="Microsoft YaHei"/>
              </a:rPr>
              <a:t>只交换加密后的模型参数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93408" y="4425696"/>
            <a:ext cx="46634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58FF"/>
                </a:solidFill>
                <a:latin typeface="Arial"/>
                <a:ea typeface="Microsoft YaHei"/>
              </a:rPr>
              <a:t>数据不动模型动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3408" y="4809744"/>
            <a:ext cx="466344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3D4657"/>
                </a:solidFill>
                <a:latin typeface="Arial"/>
                <a:ea typeface="Microsoft YaHei"/>
              </a:rPr>
              <a:t>各家影像与病历不出本院，模型在加密参数层面共同成长。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5742432"/>
            <a:ext cx="10872215" cy="420624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" y="5742432"/>
            <a:ext cx="45720" cy="42062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" y="5742432"/>
            <a:ext cx="10597895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原始数据一条都带不出医院，计算能力却能跨院流动。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数据不出域，模型不会变笨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07　效果验证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数据不出域，模型不会变笨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异步本地更新的模型融合：各自训练，只融合梯度。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12848"/>
            <a:ext cx="54864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异步本地更新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96896"/>
            <a:ext cx="1664208" cy="65836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1664208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医院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本地训练 · 64 万条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624" y="2596896"/>
            <a:ext cx="1664208" cy="65836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596896"/>
            <a:ext cx="1664208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医院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本地训练 · 64 万条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55064" y="3255264"/>
            <a:ext cx="484632" cy="347472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cxnSp>
        <p:nvCxnSpPr>
          <p:cNvPr id="15" name="Connector 14"/>
          <p:cNvCxnSpPr/>
          <p:nvPr/>
        </p:nvCxnSpPr>
        <p:spPr>
          <a:xfrm flipH="1">
            <a:off x="3108960" y="3255264"/>
            <a:ext cx="429768" cy="347472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1719072" y="3639312"/>
            <a:ext cx="175564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639312"/>
            <a:ext cx="175564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梯度融合器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定期同步 · 融合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96896" y="4206240"/>
            <a:ext cx="0" cy="219456"/>
          </a:xfrm>
          <a:prstGeom prst="line">
            <a:avLst/>
          </a:prstGeom>
          <a:ln w="1397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1719072" y="4462272"/>
            <a:ext cx="1755648" cy="6035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4462272"/>
            <a:ext cx="1755648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  <a:ea typeface="Microsoft YaHei"/>
              </a:rPr>
              <a:t>全局行业模型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FFFFF"/>
                </a:solidFill>
                <a:latin typeface="Arial"/>
                <a:ea typeface="Microsoft YaHei"/>
              </a:rPr>
              <a:t>持续升级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30368"/>
            <a:ext cx="35661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两家医院数据完全不互通，只同步本地梯度。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68112"/>
            <a:ext cx="914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综合效果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0136"/>
            <a:ext cx="3474720" cy="4572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58FF"/>
                </a:solidFill>
                <a:latin typeface="Arial"/>
                <a:ea typeface="Microsoft YaHei"/>
              </a:rPr>
              <a:t>82%–133%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26480"/>
            <a:ext cx="347472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67085"/>
                </a:solidFill>
                <a:latin typeface="Arial"/>
                <a:ea typeface="Microsoft YaHei"/>
              </a:rPr>
              <a:t>不同任务与参数规模的效果达成度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700784"/>
            <a:ext cx="6272784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220"/>
                </a:solidFill>
                <a:latin typeface="Arial"/>
                <a:ea typeface="Microsoft YaHei"/>
              </a:rPr>
              <a:t>相对“全量合并”基准（=100%）的效果达成度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06640" y="2286000"/>
            <a:ext cx="0" cy="2761488"/>
          </a:xfrm>
          <a:prstGeom prst="line">
            <a:avLst/>
          </a:prstGeom>
          <a:ln w="10160">
            <a:solidFill>
              <a:srgbClr val="EEF2F8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8656320" y="2286000"/>
            <a:ext cx="0" cy="2761488"/>
          </a:xfrm>
          <a:prstGeom prst="line">
            <a:avLst/>
          </a:prstGeom>
          <a:ln w="10160">
            <a:solidFill>
              <a:srgbClr val="EEF2F8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9905999" y="2286000"/>
            <a:ext cx="0" cy="2761488"/>
          </a:xfrm>
          <a:prstGeom prst="line">
            <a:avLst/>
          </a:prstGeom>
          <a:ln w="10160">
            <a:solidFill>
              <a:srgbClr val="EEF2F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1155680" y="2286000"/>
            <a:ext cx="0" cy="2761488"/>
          </a:xfrm>
          <a:prstGeom prst="line">
            <a:avLst/>
          </a:prstGeom>
          <a:ln w="10160">
            <a:solidFill>
              <a:srgbClr val="EEF2F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8656320" y="2194560"/>
            <a:ext cx="0" cy="2852928"/>
          </a:xfrm>
          <a:prstGeom prst="line">
            <a:avLst/>
          </a:prstGeom>
          <a:ln w="11430">
            <a:solidFill>
              <a:srgbClr val="0058FF"/>
            </a:solidFill>
            <a:prstDash val="dash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7741920" y="1956816"/>
            <a:ext cx="18288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0058FF"/>
                </a:solidFill>
                <a:latin typeface="Arial"/>
                <a:ea typeface="Microsoft YaHei"/>
              </a:rPr>
              <a:t>全量合并 = 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2359152"/>
            <a:ext cx="2066543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Arial"/>
                <a:ea typeface="Microsoft YaHei"/>
              </a:rPr>
              <a:t>medical_zh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2569464"/>
            <a:ext cx="21031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中文医疗对话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9267" y="2546604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0879" y="2386584"/>
            <a:ext cx="777240" cy="20116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58FF"/>
                </a:solidFill>
                <a:latin typeface="Arial"/>
                <a:ea typeface="Microsoft YaHei"/>
              </a:rPr>
              <a:t>92.85%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3017520"/>
            <a:ext cx="2066543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Arial"/>
                <a:ea typeface="Microsoft YaHei"/>
              </a:rPr>
              <a:t>多任务 + 预训练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227832"/>
            <a:ext cx="21031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多任务与预训练语料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8396" y="3204972"/>
            <a:ext cx="100584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0128" y="3044952"/>
            <a:ext cx="1005840" cy="20116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58FF"/>
                </a:solidFill>
                <a:latin typeface="Arial"/>
                <a:ea typeface="Microsoft YaHei"/>
              </a:rPr>
              <a:t>108.2%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3675888"/>
            <a:ext cx="2066543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Arial"/>
                <a:ea typeface="Microsoft YaHei"/>
              </a:rPr>
              <a:t>14B / 8B / 4B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3886200"/>
            <a:ext cx="21031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不同参数尺寸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6191" y="3899916"/>
            <a:ext cx="1562100" cy="32004"/>
          </a:xfrm>
          <a:prstGeom prst="rect">
            <a:avLst/>
          </a:prstGeom>
          <a:solidFill>
            <a:srgbClr val="6C8E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56191" y="3849624"/>
            <a:ext cx="27432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90860" y="3849624"/>
            <a:ext cx="27432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9731" y="3703320"/>
            <a:ext cx="1005840" cy="20116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58FF"/>
                </a:solidFill>
                <a:latin typeface="Arial"/>
                <a:ea typeface="Microsoft YaHei"/>
              </a:rPr>
              <a:t>108–133%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4334256"/>
            <a:ext cx="2066543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220"/>
                </a:solidFill>
                <a:latin typeface="Arial"/>
                <a:ea typeface="Microsoft YaHei"/>
              </a:rPr>
              <a:t>综合效果区间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4544568"/>
            <a:ext cx="21031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全部任务与模型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31608" y="4558284"/>
            <a:ext cx="3186683" cy="32004"/>
          </a:xfrm>
          <a:prstGeom prst="rect">
            <a:avLst/>
          </a:prstGeom>
          <a:solidFill>
            <a:srgbClr val="6C8E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1608" y="4507992"/>
            <a:ext cx="27432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90860" y="4507992"/>
            <a:ext cx="27432" cy="10058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09731" y="4361688"/>
            <a:ext cx="1005840" cy="20116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58FF"/>
                </a:solidFill>
                <a:latin typeface="Arial"/>
                <a:ea typeface="Microsoft YaHei"/>
              </a:rPr>
              <a:t>82–133%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102352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80%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1999" y="5102352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100%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31679" y="5102352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120%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59" y="5102352"/>
            <a:ext cx="5486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140%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0368" y="5358384"/>
            <a:ext cx="6272784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67085"/>
                </a:solidFill>
                <a:latin typeface="Arial"/>
                <a:ea typeface="Microsoft YaHei"/>
              </a:rPr>
              <a:t>不同数据集、不同任务、五种参数尺寸的大模型对比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0368" y="5614416"/>
            <a:ext cx="627278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rial"/>
                <a:ea typeface="Microsoft YaHei"/>
              </a:rPr>
              <a:t>数据留在本地，效果完全能支撑顶尖大科研。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两个已跑通的标杆案例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08　实践案例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两个已跑通的标杆案例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都建在深圳数据基础设施与可信数据空间之上。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700784"/>
            <a:ext cx="10972" cy="3749039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82496"/>
            <a:ext cx="310896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55064"/>
            <a:ext cx="47548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220"/>
                </a:solidFill>
                <a:latin typeface="Arial"/>
                <a:ea typeface="Microsoft YaHei"/>
              </a:rPr>
              <a:t>统一授权 · 商保直付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484632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深圳南山 · 公共数据授权运营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86000"/>
            <a:ext cx="1417320" cy="38404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14173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B1220"/>
                </a:solidFill>
                <a:latin typeface="Arial"/>
                <a:ea typeface="Microsoft YaHei"/>
              </a:rPr>
              <a:t>挂号采集授权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5688" y="2478024"/>
            <a:ext cx="164592" cy="0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2267712" y="2286000"/>
            <a:ext cx="1417320" cy="384048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2286000"/>
            <a:ext cx="141732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B1220"/>
                </a:solidFill>
                <a:latin typeface="Arial"/>
                <a:ea typeface="Microsoft YaHei"/>
              </a:rPr>
              <a:t>线上理赔授权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478024"/>
            <a:ext cx="164592" cy="0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877056" y="2286000"/>
            <a:ext cx="2011680" cy="384048"/>
          </a:xfrm>
          <a:prstGeom prst="rect">
            <a:avLst/>
          </a:prstGeom>
          <a:solidFill>
            <a:srgbClr val="FFFFFF"/>
          </a:solidFill>
          <a:ln w="5714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2286000"/>
            <a:ext cx="201168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B1220"/>
                </a:solidFill>
                <a:latin typeface="Arial"/>
                <a:ea typeface="Microsoft YaHei"/>
              </a:rPr>
              <a:t>HIS / 卫健委 / 保司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79776"/>
            <a:ext cx="539496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7085"/>
                </a:solidFill>
                <a:latin typeface="Arial"/>
                <a:ea typeface="Microsoft YaHei"/>
              </a:rPr>
              <a:t>采集端 + 使用端双重个人授权，按“准许成本 + 合理收益”分配。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108960"/>
            <a:ext cx="544068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218688"/>
            <a:ext cx="621792" cy="38404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Microsoft YaHei"/>
              </a:rPr>
              <a:t>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01568"/>
            <a:ext cx="56692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611880"/>
            <a:ext cx="17830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覆盖公立医院就诊人群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218688"/>
            <a:ext cx="384048" cy="38404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Microsoft YaHe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3401568"/>
            <a:ext cx="56692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611880"/>
            <a:ext cx="17830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住院人群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3218688"/>
            <a:ext cx="402336" cy="38404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Microsoft YaHei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401568"/>
            <a:ext cx="56692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611880"/>
            <a:ext cx="17830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保险机构降本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39" y="3200400"/>
            <a:ext cx="10972" cy="731520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2" y="3200400"/>
            <a:ext cx="10972" cy="731520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3968496"/>
            <a:ext cx="544068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78224"/>
            <a:ext cx="384048" cy="38404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Microsoft YaHei"/>
              </a:rPr>
              <a:t>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5" y="4261104"/>
            <a:ext cx="56692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分钟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471416"/>
            <a:ext cx="210312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门诊平均理赔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4078224"/>
            <a:ext cx="201168" cy="384048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5576" y="4261104"/>
            <a:ext cx="56692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Arial"/>
                <a:ea typeface="Microsoft YaHei"/>
              </a:rPr>
              <a:t>小时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4408" y="4471416"/>
            <a:ext cx="210312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住院最快理赔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5440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67085"/>
                </a:solidFill>
                <a:latin typeface="Arial"/>
                <a:ea typeface="Microsoft YaHei"/>
              </a:rPr>
              <a:t>来源：据公开报道 · 南山区公共数据授权运营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157216"/>
            <a:ext cx="54406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Microsoft YaHei"/>
              </a:rPr>
              <a:t>老百姓少跑腿　·　医院合规获益　·　保司成本下降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596128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705856"/>
            <a:ext cx="36576" cy="2743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" y="5669280"/>
            <a:ext cx="106070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220"/>
                </a:solidFill>
                <a:latin typeface="Arial"/>
                <a:ea typeface="Microsoft YaHei"/>
              </a:rPr>
              <a:t>两个案例，同一条底线：原始数据不出域，价值可以跨机构流动。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1682496"/>
            <a:ext cx="6400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1655064"/>
            <a:ext cx="44805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220"/>
                </a:solidFill>
                <a:latin typeface="Arial"/>
                <a:ea typeface="Microsoft YaHei"/>
              </a:rPr>
              <a:t>心脏病 AI 密文风险诊断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1938528"/>
            <a:ext cx="4297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医院 A / B / C 多院联合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286000"/>
            <a:ext cx="1325880" cy="457200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286000"/>
            <a:ext cx="13258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rial"/>
                <a:ea typeface="Microsoft YaHei"/>
              </a:rPr>
              <a:t>医院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67085"/>
                </a:solidFill>
                <a:latin typeface="Arial"/>
                <a:ea typeface="Microsoft YaHei"/>
              </a:rPr>
              <a:t>本院加密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33488" y="2743200"/>
            <a:ext cx="0" cy="292608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8183879" y="2286000"/>
            <a:ext cx="1325880" cy="457200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79" y="2286000"/>
            <a:ext cx="13258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rial"/>
                <a:ea typeface="Microsoft YaHei"/>
              </a:rPr>
              <a:t>医院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67085"/>
                </a:solidFill>
                <a:latin typeface="Arial"/>
                <a:ea typeface="Microsoft YaHei"/>
              </a:rPr>
              <a:t>本院加密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42248" y="2743200"/>
            <a:ext cx="0" cy="292608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9692640" y="2286000"/>
            <a:ext cx="1325880" cy="457200"/>
          </a:xfrm>
          <a:prstGeom prst="rect">
            <a:avLst/>
          </a:prstGeom>
          <a:solidFill>
            <a:srgbClr val="FFFFFF"/>
          </a:solidFill>
          <a:ln w="6096">
            <a:solidFill>
              <a:srgbClr val="DCE4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0" y="2286000"/>
            <a:ext cx="13258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220"/>
                </a:solidFill>
                <a:latin typeface="Arial"/>
                <a:ea typeface="Microsoft YaHei"/>
              </a:rPr>
              <a:t>医院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67085"/>
                </a:solidFill>
                <a:latin typeface="Arial"/>
                <a:ea typeface="Microsoft YaHei"/>
              </a:rPr>
              <a:t>本院加密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351008" y="2743200"/>
            <a:ext cx="0" cy="292608"/>
          </a:xfrm>
          <a:prstGeom prst="line">
            <a:avLst/>
          </a:prstGeom>
          <a:ln w="1143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58" name="Rectangle 57"/>
          <p:cNvSpPr/>
          <p:nvPr/>
        </p:nvSpPr>
        <p:spPr>
          <a:xfrm>
            <a:off x="6675120" y="3072384"/>
            <a:ext cx="4526280" cy="73152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3136" y="3108960"/>
            <a:ext cx="425196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1220"/>
                </a:solidFill>
                <a:latin typeface="Arial"/>
                <a:ea typeface="Microsoft YaHei"/>
              </a:rPr>
              <a:t>可信数据空间 · 隐私计算环境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3364992"/>
            <a:ext cx="425196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D4657"/>
                </a:solidFill>
                <a:latin typeface="Arial"/>
                <a:ea typeface="Microsoft YaHei"/>
              </a:rPr>
              <a:t>多方安全融合　·　联合建模　·　密文计算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42832" y="3803904"/>
            <a:ext cx="0" cy="256032"/>
          </a:xfrm>
          <a:prstGeom prst="line">
            <a:avLst/>
          </a:prstGeom>
          <a:ln w="1270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62" name="Rectangle 61"/>
          <p:cNvSpPr/>
          <p:nvPr/>
        </p:nvSpPr>
        <p:spPr>
          <a:xfrm>
            <a:off x="6675120" y="4096512"/>
            <a:ext cx="2139696" cy="493776"/>
          </a:xfrm>
          <a:prstGeom prst="rect">
            <a:avLst/>
          </a:prstGeom>
          <a:solidFill>
            <a:srgbClr val="FFFFFF"/>
          </a:solidFill>
          <a:ln w="6858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4096512"/>
            <a:ext cx="2139696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临床风险预测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61704" y="4096512"/>
            <a:ext cx="2139696" cy="493776"/>
          </a:xfrm>
          <a:prstGeom prst="rect">
            <a:avLst/>
          </a:prstGeom>
          <a:solidFill>
            <a:srgbClr val="FFFFFF"/>
          </a:solidFill>
          <a:ln w="6858">
            <a:solidFill>
              <a:srgbClr val="0058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61704" y="4096512"/>
            <a:ext cx="2139696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Microsoft YaHei"/>
              </a:rPr>
              <a:t>真实世界研究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4736592"/>
            <a:ext cx="452628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原始数据留在本院，只有密文进入计算环境；既辅助基层诊疗，也支撑跨院研究。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原始数据不跨境，科研能力可协同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09　国际化展望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原始数据不跨境，科研能力可协同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TREMAC 与可信数据空间，是破解跨境医工科研难题的融合底座。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2615184"/>
            <a:ext cx="1700784" cy="96926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3248" y="2724912"/>
            <a:ext cx="170078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Microsoft YaHei"/>
              </a:rPr>
              <a:t>TREMAC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2990088"/>
            <a:ext cx="1700784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Arial"/>
                <a:ea typeface="Microsoft YaHei"/>
              </a:rPr>
              <a:t>+ 可信数据空间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3236976"/>
            <a:ext cx="1700784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E1E9FF"/>
                </a:solidFill>
                <a:latin typeface="Arial"/>
                <a:ea typeface="Microsoft YaHei"/>
              </a:rPr>
              <a:t>跨域协同枢纽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3694176"/>
            <a:ext cx="2249424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58FF"/>
                </a:solidFill>
                <a:latin typeface="Arial"/>
                <a:ea typeface="Microsoft YaHei"/>
              </a:rPr>
              <a:t>连接，不是搬运。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157984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2267712"/>
            <a:ext cx="1499616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rial"/>
                <a:ea typeface="Microsoft YaHei"/>
              </a:rPr>
              <a:t>内地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2542032"/>
            <a:ext cx="153619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本地机房 · 原始数据留存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286000"/>
            <a:ext cx="73152" cy="7315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" y="3730752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3840480"/>
            <a:ext cx="1499616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rial"/>
                <a:ea typeface="Microsoft YaHei"/>
              </a:rPr>
              <a:t>港澳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114800"/>
            <a:ext cx="153619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本地机房 · 数据不出当地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858768"/>
            <a:ext cx="73152" cy="7315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93808" y="2944368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3054096"/>
            <a:ext cx="1499616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rial"/>
                <a:ea typeface="Microsoft YaHei"/>
              </a:rPr>
              <a:t>海外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4" y="3328416"/>
            <a:ext cx="153619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67085"/>
                </a:solidFill>
                <a:latin typeface="Arial"/>
                <a:ea typeface="Microsoft YaHei"/>
              </a:rPr>
              <a:t>当地机房 · 原始数据留存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48288" y="3072384"/>
            <a:ext cx="73152" cy="73152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715768" y="2578608"/>
            <a:ext cx="2697480" cy="310896"/>
          </a:xfrm>
          <a:prstGeom prst="line">
            <a:avLst/>
          </a:prstGeom>
          <a:ln w="12700">
            <a:solidFill>
              <a:srgbClr val="7289B5"/>
            </a:solidFill>
            <a:tailEnd type="triangle" w="med" len="med"/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715768" y="3346704"/>
            <a:ext cx="2697480" cy="804672"/>
          </a:xfrm>
          <a:prstGeom prst="line">
            <a:avLst/>
          </a:prstGeom>
          <a:ln w="12700">
            <a:solidFill>
              <a:srgbClr val="7289B5"/>
            </a:solidFill>
            <a:tailEnd type="triangle" w="med" len="med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114032" y="3099816"/>
            <a:ext cx="2779776" cy="265176"/>
          </a:xfrm>
          <a:prstGeom prst="line">
            <a:avLst/>
          </a:prstGeom>
          <a:ln w="12700">
            <a:solidFill>
              <a:srgbClr val="7289B5"/>
            </a:solidFill>
            <a:tailEnd type="triangle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3310128" y="2212848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rial"/>
                <a:ea typeface="Microsoft YaHei"/>
              </a:rPr>
              <a:t>原始数据不出域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68496"/>
            <a:ext cx="1874519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67085"/>
                </a:solidFill>
                <a:latin typeface="Arial"/>
                <a:ea typeface="Microsoft YaHei"/>
              </a:rPr>
              <a:t>原始数据留在本地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96528" y="2066544"/>
            <a:ext cx="0" cy="2450592"/>
          </a:xfrm>
          <a:prstGeom prst="line">
            <a:avLst/>
          </a:prstGeom>
          <a:ln w="11430">
            <a:solidFill>
              <a:srgbClr val="7289B5"/>
            </a:solidFill>
            <a:prstDash val="dash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8138159" y="1883664"/>
            <a:ext cx="1316736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058FF"/>
                </a:solidFill>
                <a:latin typeface="Arial"/>
                <a:ea typeface="Microsoft YaHei"/>
              </a:rPr>
              <a:t>数据出境边界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099816"/>
            <a:ext cx="1243584" cy="237744"/>
          </a:xfrm>
          <a:prstGeom prst="rect">
            <a:avLst/>
          </a:prstGeom>
          <a:solidFill>
            <a:srgbClr val="FFFFFF"/>
          </a:solidFill>
          <a:ln w="5714">
            <a:solidFill>
              <a:srgbClr val="C9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099816"/>
            <a:ext cx="1243584" cy="2377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058FF"/>
                </a:solidFill>
                <a:latin typeface="Arial"/>
                <a:ea typeface="Microsoft YaHei"/>
              </a:rPr>
              <a:t>仅合规结果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120640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248655"/>
            <a:ext cx="3657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468112"/>
            <a:ext cx="25146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身份互认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760720"/>
            <a:ext cx="248716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跨境主体可信身份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4136" y="5248655"/>
            <a:ext cx="3657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4136" y="5468112"/>
            <a:ext cx="25146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规则互认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4136" y="5760720"/>
            <a:ext cx="248716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跨境合约与使用规则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9544" y="5248655"/>
            <a:ext cx="10972" cy="731520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4" y="5248655"/>
            <a:ext cx="3657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5468112"/>
            <a:ext cx="25146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任务跨境分发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9904" y="5760720"/>
            <a:ext cx="248716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计算任务按规则路由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25312" y="5248655"/>
            <a:ext cx="10972" cy="731520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05672" y="5248655"/>
            <a:ext cx="3657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05672" y="5468112"/>
            <a:ext cx="25146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1220"/>
                </a:solidFill>
                <a:latin typeface="Arial"/>
                <a:ea typeface="Microsoft YaHei"/>
              </a:rPr>
              <a:t>合规结果共享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5672" y="5760720"/>
            <a:ext cx="2487168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Arial"/>
                <a:ea typeface="Microsoft YaHei"/>
              </a:rPr>
              <a:t>只共享审查后的结果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5248655"/>
            <a:ext cx="10972" cy="731520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1000" b="0" i="0">
                <a:solidFill>
                  <a:srgbClr val="0B1220"/>
                </a:solidFill>
                <a:latin typeface="Arial"/>
                <a:ea typeface="Microsoft YaHei"/>
              </a:rPr>
              <a:t>既能干得成大事，又能睡得着觉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58FF"/>
                </a:solidFill>
                <a:latin typeface="Arial"/>
                <a:ea typeface="Microsoft YaHei"/>
              </a:rPr>
              <a:t>10　总结</a:t>
            </a:r>
          </a:p>
        </p:txBody>
      </p:sp>
      <p:sp>
        <p:nvSpPr>
          <p:cNvPr id="4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220"/>
                </a:solidFill>
                <a:latin typeface="Arial"/>
                <a:ea typeface="Microsoft YaHei"/>
              </a:rPr>
              <a:t>既能干得成大事，又能睡得着觉</a:t>
            </a:r>
          </a:p>
        </p:txBody>
      </p:sp>
      <p:sp>
        <p:nvSpPr>
          <p:cNvPr id="5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71016"/>
            <a:ext cx="10881360" cy="246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Arial"/>
                <a:ea typeface="Microsoft YaHei"/>
              </a:rPr>
              <a:t>TREMAC 与可信数据空间的融合，是给医院和实验室的科研基座。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中国电子云　·　TREMAC × 可信数据空间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468880" cy="1828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83664"/>
            <a:ext cx="4572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39696"/>
            <a:ext cx="24871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220"/>
                </a:solidFill>
                <a:latin typeface="Arial"/>
                <a:ea typeface="Microsoft YaHei"/>
              </a:rPr>
              <a:t>数据在本地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05456"/>
            <a:ext cx="248716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D4657"/>
                </a:solidFill>
                <a:latin typeface="Arial"/>
                <a:ea typeface="Microsoft YaHei"/>
              </a:rPr>
              <a:t>核心资产留在各家机房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4136" y="1737360"/>
            <a:ext cx="246888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883664"/>
            <a:ext cx="4572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139696"/>
            <a:ext cx="24871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220"/>
                </a:solidFill>
                <a:latin typeface="Arial"/>
                <a:ea typeface="Microsoft YaHei"/>
              </a:rPr>
              <a:t>隐私保护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505456"/>
            <a:ext cx="248716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D4657"/>
                </a:solidFill>
                <a:latin typeface="Arial"/>
                <a:ea typeface="Microsoft YaHei"/>
              </a:rPr>
              <a:t>全栈隐私内生，守住红线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737360"/>
            <a:ext cx="246888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883664"/>
            <a:ext cx="4572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139696"/>
            <a:ext cx="24871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220"/>
                </a:solidFill>
                <a:latin typeface="Arial"/>
                <a:ea typeface="Microsoft YaHei"/>
              </a:rPr>
              <a:t>可管控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2505456"/>
            <a:ext cx="248716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D4657"/>
                </a:solidFill>
                <a:latin typeface="Arial"/>
                <a:ea typeface="Microsoft YaHei"/>
              </a:rPr>
              <a:t>每一次使用清晰可控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05672" y="1737360"/>
            <a:ext cx="2468880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1883664"/>
            <a:ext cx="4572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58FF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139696"/>
            <a:ext cx="2487168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220"/>
                </a:solidFill>
                <a:latin typeface="Arial"/>
                <a:ea typeface="Microsoft YaHei"/>
              </a:rPr>
              <a:t>能做大科研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505456"/>
            <a:ext cx="248716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D4657"/>
                </a:solidFill>
                <a:latin typeface="Arial"/>
                <a:ea typeface="Microsoft YaHei"/>
              </a:rPr>
              <a:t>连成网络，做出国际成果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072384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023360"/>
            <a:ext cx="10872215" cy="10972"/>
          </a:xfrm>
          <a:prstGeom prst="rect">
            <a:avLst/>
          </a:prstGeom>
          <a:solidFill>
            <a:srgbClr val="DCE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072384"/>
            <a:ext cx="27432" cy="95097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072384"/>
            <a:ext cx="2834640" cy="9692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220"/>
                </a:solidFill>
                <a:latin typeface="Arial"/>
                <a:ea typeface="Microsoft YaHei"/>
              </a:rPr>
              <a:t>可信研究环境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11880" y="3557016"/>
            <a:ext cx="1920240" cy="0"/>
          </a:xfrm>
          <a:prstGeom prst="line">
            <a:avLst/>
          </a:prstGeom>
          <a:ln w="20320">
            <a:solidFill>
              <a:srgbClr val="0058FF"/>
            </a:solidFill>
            <a:tailEnd type="triangle" w="med" len="med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806440" y="3072384"/>
            <a:ext cx="5303520" cy="9692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58FF"/>
                </a:solidFill>
                <a:latin typeface="Arial"/>
                <a:ea typeface="Microsoft YaHei"/>
              </a:rPr>
              <a:t>可信科研协同网络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285232"/>
            <a:ext cx="457200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B1220"/>
                </a:solidFill>
                <a:latin typeface="Arial"/>
                <a:ea typeface="Microsoft YaHei"/>
              </a:rPr>
              <a:t>谢谢大家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70448"/>
            <a:ext cx="502920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1220"/>
                </a:solidFill>
                <a:latin typeface="Arial"/>
                <a:ea typeface="Microsoft YaHei"/>
              </a:rPr>
              <a:t>李化名　·　中国电子云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26480"/>
            <a:ext cx="50292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67085"/>
                </a:solidFill>
                <a:latin typeface="Arial"/>
                <a:ea typeface="Microsoft YaHei"/>
              </a:rPr>
              <a:t>广州实验室 × 澳门科技大学</a:t>
            </a:r>
          </a:p>
        </p:txBody>
      </p:sp>
      <p:sp>
        <p:nvSpPr>
          <p:cNvPr id="34" name="Oval 33"/>
          <p:cNvSpPr/>
          <p:nvPr/>
        </p:nvSpPr>
        <p:spPr>
          <a:xfrm>
            <a:off x="9747504" y="4974336"/>
            <a:ext cx="1133856" cy="1133856"/>
          </a:xfrm>
          <a:prstGeom prst="ellipse">
            <a:avLst/>
          </a:prstGeom>
          <a:noFill/>
          <a:ln w="10160">
            <a:solidFill>
              <a:srgbClr val="DCE4F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314432" y="4974336"/>
            <a:ext cx="0" cy="566928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10280142" y="4940046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0314432" y="5541264"/>
            <a:ext cx="566927" cy="0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10847069" y="5506974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314432" y="5541264"/>
            <a:ext cx="0" cy="566928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40" name="Rectangle 39"/>
          <p:cNvSpPr/>
          <p:nvPr/>
        </p:nvSpPr>
        <p:spPr>
          <a:xfrm>
            <a:off x="10280142" y="6073902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>
            <a:off x="9747504" y="5541264"/>
            <a:ext cx="566928" cy="0"/>
          </a:xfrm>
          <a:prstGeom prst="line">
            <a:avLst/>
          </a:prstGeom>
          <a:ln w="10160">
            <a:solidFill>
              <a:srgbClr val="7289B5"/>
            </a:solidFill>
          </a:ln>
          <a:effectLst/>
        </p:spPr>
      </p:cxnSp>
      <p:sp>
        <p:nvSpPr>
          <p:cNvPr id="42" name="Rectangle 41"/>
          <p:cNvSpPr/>
          <p:nvPr/>
        </p:nvSpPr>
        <p:spPr>
          <a:xfrm>
            <a:off x="9713214" y="5506974"/>
            <a:ext cx="68580" cy="685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59567" y="5486400"/>
            <a:ext cx="109728" cy="10972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5458968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Arial"/>
                <a:ea typeface="Microsoft YaHei"/>
              </a:rPr>
              <a:t>四锚点 · 一张网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
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各位领导、各位专家，大家下午好！我是中国电子云的李化名，非常荣幸向各位做一次汇报与分享。</a:t>
            </a:r>
          </a:p>
          <a:p/>
          <a:p>
            <a:r>
              <a:t>前面有专家介绍了 TRE 在国外的应用；国内面向数据流通利用，也有自己的技术路线——可信数据空间。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汇报分三层：先看国家路线与医院的真问题，再看融合架构与五项技术，最后用指标、案例与跨境展望回答“行不行、能不能复制”。全程约 13 分半，最后用四大锚点收束。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进入第一章。先回答一个前置问题：为什么此刻要用“可信的连接”，替代拷贝硬盘式的共享。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/>
          <a:p>
            <a:r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"可信研究环境"，走向跨机构的"可信科研协同网络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先看一眼国家大势。很多专家会问：医疗数据安全管得这么严，我们搞跨院协同合规吗？</a:t>
            </a:r>
          </a:p>
          <a:p/>
          <a:p>
            <a:r>
              <a:t>请看这张政策脉络图。从顶层的"数据 20 条"——数据领域的宪法，到国家数据局的《国家数据基础设施建设指引》和《可信数据空间发展行动计划》，国家已明确把"可信数据空间"定为核心技术路线。信号很清楚：不是让大家冒着违规风险"私下拷硬盘"，而是用国家标准的可信数据基础设施，既守住安全红线，又名正言顺地支撑科研与临床创新。</a:t>
            </a:r>
          </a:p>
          <a:p/>
          <a:p>
            <a:r>
              <a:t>那什么是可信数据空间？打个比方，就是一张"有严格门禁、有统一规则、还能自动记账的数据流通高速路网"，有三个核心能力：</a:t>
            </a:r>
          </a:p>
          <a:p/>
          <a:p>
            <a:r>
              <a:t>- 一是可信管控：靠共识规则、数字合约和使用控制，让医院对自己的数据有绝对控制权；</a:t>
            </a:r>
          </a:p>
          <a:p>
            <a:r>
              <a:t>- 二是资源交互：用标准连接器把数据孤岛连成网——但连网绝不等于搬空医院的库房；</a:t>
            </a:r>
          </a:p>
          <a:p>
            <a:r>
              <a:t>- 三是价值共创：医院、高校、实验室、药企和算法团队协同做科研，成果按贡献清清楚楚分配权益。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再看今天的两位主角：TRE，可信研究环境；TDS，可信数据空间。它们以前沿两条线各自演进。</a:t>
            </a:r>
          </a:p>
          <a:p/>
          <a:p>
            <a:r>
              <a:t>左边 TRE，各位在国际顶刊里经常看到：最早像医院自建的"全封闭安全实验室"，做隔离计算和成果审核；后来走向云化 AI 训练；今天单靠一家样本不够用了，正在走向"联邦化"，多个节点互联做跨机构联合分析。右边 TDS，从早期的数据目录共享，到 2024 年的可信数据空间，再到 2025 年跨空间的"身份互认、规则互认、跨域协作"。</a:t>
            </a:r>
          </a:p>
          <a:p/>
          <a:p>
            <a:r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/>
          <a:p>
            <a:r>
              <a:t>那已经有 TRE，为什么还要融合可信数据空间？两者都有可信身份、细粒度授权和隐私保护的基础，但能力层级不同：</a:t>
            </a:r>
          </a:p>
          <a:p/>
          <a:p>
            <a:r>
              <a:t>- TRE 管环境、研究、计算、输出，解决"敏感数据怎么算"——遵循国际五安全原则，原始病历死死留在环境内，研究员在虚拟桌面里算完，只能导出经审查的统计表、图表或模型参数，连一个病人的明细都带不走；</a:t>
            </a:r>
          </a:p>
          <a:p>
            <a:r>
              <a:t>- 可信数据空间管连接、规则、流通、价值，解决"数据怎么流通"——十几家医院各有一间保密实验室，怎么连起来？怎么签联合研究合约？怎么监管履约、分配收益？</a:t>
            </a:r>
          </a:p>
          <a:p/>
          <a:p>
            <a:r>
              <a:t>两者一组合，就从"单点的安全研究环境"升级成"跨机构的科研协作网络"。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第二章讲融合怎么落地：先拆成五步闭环，再放进三层架构，最后看支撑闭环的五项关键技术。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融合之后，发起一项多中心科研分几步？我们总结了"五步闭环"：</a:t>
            </a:r>
          </a:p>
          <a:p/>
          <a:p>
            <a:r>
              <a:t>- 第一步，主体接入与资源发布：医院通过连接器接入，不上传任何病人原始数据，只发布一条目录——"我院有 5000 例某呼吸疾病脱敏队列数据，可用于科研"；</a:t>
            </a:r>
          </a:p>
          <a:p>
            <a:r>
              <a:t>- 第二步，项目申请与供需匹配：课题牵头方提出需求，在目录里匹配到合适的几家医院；</a:t>
            </a:r>
          </a:p>
          <a:p>
            <a:r>
              <a:t>- 第三步，规则约定与授权：签署"数字合约"，允许哪几个人、什么期限、用什么工具、输出什么要求、责任边界，全部写成系统强制执行的规则；</a:t>
            </a:r>
          </a:p>
          <a:p>
            <a:r>
              <a:t>- 第四步，进入 TRE 开展计算：数据不脱离医院控制，研究人员在受控环境做分析、训练与验证；</a:t>
            </a:r>
          </a:p>
          <a:p>
            <a:r>
              <a:t>- 第五步，输出审查与成果交付：结果经风险披露审查才能导出；全程履约存证、计量、评价，作为收益与成果分配的依据。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的受控工作区做本地计算，经输出审查后，只有合规的汇总结果往上走。中间层是可信数据空间协同服务平台，用"机构接入连接器 + 中心服务平台"把身份、目录、项目、授权、任务、审计全部管起来。</a:t>
            </a:r>
          </a:p>
          <a:p/>
          <a:p>
            <a:r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五项技术分别守住身份、发现、控制、交付与计算五个关口。先看整体，再分两页展开。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要支撑这套闭环，需要五项关键技术，我用五个关键词概括：认得准、找得到、管得住、送不出、算得了。这一页先讲前三项。</a:t>
            </a:r>
          </a:p>
          <a:p/>
          <a:p>
            <a:r>
              <a:t>- ① 融合身份认证——认得准：把权威 CA 数字证书和区块链分布式身份（DID）结合，做到"权威签发、链上存证、跨域互认"。过去 10 家医院协同就有 10 套账号体系，重复登录、重复认证；现在患者、医生和机构统一身份认证一次、所有机构互认，既免去重复建号，又严防冒名调阅，打通"数据敢于供得出"的第一道信任门槛。</a:t>
            </a:r>
          </a:p>
          <a:p>
            <a:r>
              <a:t>- ② 智能检索推荐——找得到：A 医院写"慢阻肺"、B 医院写"COPD"，关键词搜半天也匹配不上。我们把大模型 RAG 检索增强生成和医学知识图谱结合，医生用自然语言输入"COPD + 肺功能下降 + 近 3 年"，系统直接推荐匹配的脱敏病例集。</a:t>
            </a:r>
          </a:p>
          <a:p>
            <a:r>
              <a:t>- ③ 数字合约与使用控制——管得住：这是可信数据空间的核心。过去签完纸质协议，对方用了几次、有没有超期乱用，医院很难实时掌握。现在把规则写进区块链数字合约，配合使用控制引擎：药企申请某批脱敏数据，系统严格按"仅限研究用途、限 100 次调用"自动控量，"付没付钱、能不能用、用多少次"全部变成机器执行的铁律。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后两项技术，解决"数据进来以后"的安全问题。</a:t>
            </a:r>
          </a:p>
          <a:p/>
          <a:p>
            <a:r>
              <a:t>- ④ 安全数据交付——送不出：权限批了，研究人员进来分析住院病历，怎么防止复制走、U 盘拷走、截屏流出去？我们用"云桌面 + 数据沙箱"双重隔离：沙箱在底层用容器、虚拟化和硬件隔离（如 Intel SGX）保护数据处理，云桌面在前端控制访问会话。真实数据只在服务端运行，传到研究员屏幕上的只是一串加密的"画面像素流"——禁止复制粘贴、U 盘自动禁用、截屏自带溯源水印，做到"可用不可见、终端不落地"，一条原始数据都带不出医院。</a:t>
            </a:r>
          </a:p>
          <a:p>
            <a:r>
              <a:t>- ⑤ 安全数据计算——算得了：如果多家医院的数据连进同一个沙箱都不允许，怎么一起算？这就用隐私保护计算：联邦学习、多方安全计算、差分隐私和同态加密。比如联合训练"肺癌早期筛查 AI 模型"：一家样本太少，模型泛化差、容易看走眼；集中训练又有极大隐私风险。现在各家 CT 影像和病历不出本院，只交换加密后的模型参数，实现"数据不动模型动"。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第三章用证据说话：先看数据不合并时的真实效果，再看两个已经跑通的标杆案例，最后把视线放到跨境协作。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讲到这儿，搞医疗 AI 的专家一定会问最灵魂的问题：数据留在本地、只传参数合练，模型会变笨吗？比得上把所有数据堆在一起练吗？</a:t>
            </a:r>
          </a:p>
          <a:p/>
          <a:p>
            <a:r>
              <a:t>为此我们研发了"异步本地更新的模型融合技术"：A、B 两家医院各自用私域临床数据在本地训练模型副本，数据完全不互通；再通过"梯度融合器"定期把两边学到的本地梯度同步融合，升级成全局行业模型——数据不出域，价值可流转，模型共同成长。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/>
          <a:p>
            <a:r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/>
          <a:p>
            <a:r>
              <a:t>综合来看，效果达成度在 82% 到 133% 之间。数据留在本地，不仅安全合规，效果也完全能支撑顶尖的大科研！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接下来汇报两个已经跑通的标杆案例，都建在深圳数据基础设施与可信数据空间之上。</a:t>
            </a:r>
          </a:p>
          <a:p/>
          <a:p>
            <a:r>
              <a:t>第一个，统一授权推动个人医疗数据合规流通——"商保理赔"。 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HIS、卫健委人口健康平台与保险公司，并按"准许成本 + 合理收益"为医院构建定价与收益分配机制。</a:t>
            </a:r>
          </a:p>
          <a:p/>
          <a:p>
            <a:r>
              <a:t>据公开报道，南山区通过公共数据授权运营，联合微信、微保落成深圳首个"商保直付"通道：覆盖公立医院就诊人群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第二个，"心脏病 AI 密文风险诊断模型"。 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再往前看一步：我们不仅要在国内医院之间协同，更要跟港澳、跟国际顶尖科研机构做跨境联合研究，而数据出境管得更严，怎么办？</a:t>
            </a:r>
          </a:p>
          <a:p/>
          <a:p>
            <a:r>
              <a:t>"TREMAC + 可信数据空间"天生就是破解跨境医工科研难题的金钥匙。国际上广泛使用 TRE 标准，国内正在推广可信数据空间标准。用这套融合架构，内地数据留在内地机房，港澳和海外数据留在当地，不做敏感的原始数据跨境搬运，只做"跨境身份互认、规则互认、任务跨境分发、合规结果跨境共享"，就能在符合国家数据出境安全监管的前提下，把大湾区乃至全球的医疗科研网络连成一体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各位领导、各位专家：TREMAC 与可信数据空间的融合，归根结底是给实验室和医院打造一套"既能干得成大事，又能睡得着觉"的科研基座——</a:t>
            </a:r>
          </a:p>
          <a:p/>
          <a:p>
            <a:r>
              <a:t>- 第一，数据稳稳留在本地，守住各家的核心资产；</a:t>
            </a:r>
          </a:p>
          <a:p>
            <a:r>
              <a:t>- 第二，患者隐私全栈保护，不触碰法律与伦理红线；</a:t>
            </a:r>
          </a:p>
          <a:p>
            <a:r>
              <a:t>- 第三，每一次数据使用清晰可控，数据持有方握着总开关；</a:t>
            </a:r>
          </a:p>
          <a:p>
            <a:r>
              <a:t>- 最终，把各家医院和科研机构连接成网，一起做出具有国际影响力的大科研、大成果！</a:t>
            </a:r>
          </a:p>
          <a:p/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10896" y="310896"/>
            <a:ext cx="384048" cy="0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0896" y="310896"/>
            <a:ext cx="0" cy="384048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1496751" y="310896"/>
            <a:ext cx="384048" cy="0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880799" y="310896"/>
            <a:ext cx="0" cy="384048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0896" y="6547104"/>
            <a:ext cx="384048" cy="0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0896" y="6163056"/>
            <a:ext cx="0" cy="384048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1496751" y="6547104"/>
            <a:ext cx="384048" cy="0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880799" y="6163056"/>
            <a:ext cx="0" cy="384048"/>
          </a:xfrm>
          <a:prstGeom prst="line">
            <a:avLst/>
          </a:prstGeom>
          <a:ln w="10160">
            <a:solidFill>
              <a:srgbClr val="C8A45C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2960" y="420624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ECF1F8"/>
                </a:solidFill>
                <a:latin typeface="Arial"/>
                <a:ea typeface="微软雅黑"/>
              </a:rPr>
              <a:t>中国电子云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956816" y="502920"/>
            <a:ext cx="201168" cy="0"/>
          </a:xfrm>
          <a:prstGeom prst="line">
            <a:avLst/>
          </a:prstGeom>
          <a:ln w="1270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249424" y="45720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0" i="0" spc="80">
                <a:solidFill>
                  <a:srgbClr val="8293AB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438912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19" b="0" i="0" spc="80">
                <a:solidFill>
                  <a:srgbClr val="8293AB"/>
                </a:solidFill>
                <a:latin typeface="Arial"/>
                <a:ea typeface="微软雅黑"/>
              </a:rPr>
              <a:t>广州实验室 × 澳门科技大学</a:t>
            </a:r>
          </a:p>
        </p:txBody>
      </p:sp>
      <p:sp>
        <p:nvSpPr>
          <p:cNvPr id="61" name="Oval 60"/>
          <p:cNvSpPr/>
          <p:nvPr/>
        </p:nvSpPr>
        <p:spPr>
          <a:xfrm rot="20640000">
            <a:off x="7287768" y="1490472"/>
            <a:ext cx="4718304" cy="3566160"/>
          </a:xfrm>
          <a:prstGeom prst="ellipse">
            <a:avLst/>
          </a:prstGeom>
          <a:noFill/>
          <a:ln w="8890">
            <a:solidFill>
              <a:srgbClr val="C8A45C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 rot="20640000">
            <a:off x="7948330" y="1989734"/>
            <a:ext cx="3397178" cy="2567635"/>
          </a:xfrm>
          <a:prstGeom prst="ellipse">
            <a:avLst/>
          </a:prstGeom>
          <a:noFill/>
          <a:ln w="6350">
            <a:solidFill>
              <a:srgbClr val="C8A45C">
                <a:alpha val="416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 rot="20640000">
            <a:off x="6627205" y="991209"/>
            <a:ext cx="6039429" cy="4564684"/>
          </a:xfrm>
          <a:prstGeom prst="ellipse">
            <a:avLst/>
          </a:prstGeom>
          <a:noFill/>
          <a:ln w="6350">
            <a:solidFill>
              <a:srgbClr val="C8A45C">
                <a:alpha val="18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9873003" y="2544533"/>
            <a:ext cx="2017603" cy="2511318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7338882" y="3495274"/>
            <a:ext cx="2534121" cy="1560577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338882" y="1428144"/>
            <a:ext cx="2738890" cy="2067130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077772" y="1428144"/>
            <a:ext cx="1754551" cy="2148943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7761198" y="2469349"/>
            <a:ext cx="3318992" cy="2043920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649353" y="1743438"/>
            <a:ext cx="3587182" cy="2707366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8594037" y="1698753"/>
            <a:ext cx="188179" cy="3333811"/>
          </a:xfrm>
          <a:prstGeom prst="line">
            <a:avLst/>
          </a:prstGeom>
          <a:ln w="5715">
            <a:solidFill>
              <a:srgbClr val="7DB7D9">
                <a:alpha val="286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11137274" y="2759103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178422" y="2800251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19570" y="2841399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260718" y="2882547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279006" y="2900835"/>
            <a:ext cx="45720" cy="4572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672455" y="3793241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791195" y="4668678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543429" y="4558152"/>
            <a:ext cx="68580" cy="6858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53482" y="4772977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194630" y="4814125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35778" y="4855273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276926" y="4896421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295214" y="4914709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472951" y="4207191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988810" y="3225153"/>
            <a:ext cx="45720" cy="4572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931032" y="2211653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24208" y="1415472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965356" y="1456620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006504" y="1497768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047652" y="1538916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65940" y="1557204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147271" y="1927640"/>
            <a:ext cx="68580" cy="6858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431537" y="1879161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988552" y="2615184"/>
            <a:ext cx="1316736" cy="1316736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098280" y="2724912"/>
            <a:ext cx="1097280" cy="1097280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208008" y="2834640"/>
            <a:ext cx="877824" cy="877824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317736" y="2944368"/>
            <a:ext cx="658368" cy="658368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427464" y="3054096"/>
            <a:ext cx="438912" cy="438912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537192" y="3163824"/>
            <a:ext cx="219456" cy="219456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500616" y="3127248"/>
            <a:ext cx="292608" cy="292608"/>
          </a:xfrm>
          <a:prstGeom prst="ellipse">
            <a:avLst/>
          </a:prstGeom>
          <a:noFill/>
          <a:ln w="12700">
            <a:solidFill>
              <a:srgbClr val="ECD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596628" y="3223260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9600" y="53949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300">
                <a:solidFill>
                  <a:srgbClr val="C8A45C"/>
                </a:solidFill>
                <a:latin typeface="Arial"/>
                <a:ea typeface="微软雅黑"/>
              </a:rPr>
              <a:t>TRUSTED RESEARCH NETWORK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1444752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1" i="0" spc="320">
                <a:solidFill>
                  <a:srgbClr val="C8A45C"/>
                </a:solidFill>
                <a:latin typeface="Arial"/>
                <a:ea typeface="微软雅黑"/>
              </a:rPr>
              <a:t>TREMAC  ×  TRUSTED DATA SPACE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" y="1792224"/>
            <a:ext cx="69494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600" b="1" i="0">
                <a:solidFill>
                  <a:srgbClr val="ECD29C"/>
                </a:solidFill>
                <a:latin typeface="Georgia"/>
                <a:ea typeface="微软雅黑"/>
              </a:rPr>
              <a:t>TREMAC</a:t>
            </a:r>
            <a:r>
              <a:rPr sz="3200" b="1" i="0">
                <a:solidFill>
                  <a:srgbClr val="ECF1F8"/>
                </a:solidFill>
                <a:latin typeface="Arial"/>
                <a:ea typeface="微软雅黑"/>
              </a:rPr>
              <a:t> 与可信数据空间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ECF1F8"/>
                </a:solidFill>
                <a:latin typeface="Arial"/>
                <a:ea typeface="微软雅黑"/>
              </a:rPr>
              <a:t>技术融合探索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32918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ECD29C"/>
                </a:solidFill>
                <a:latin typeface="Arial"/>
                <a:ea typeface="微软雅黑"/>
              </a:rPr>
              <a:t>从可信研究环境，到可信科研协同网络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3675887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C2CEDF"/>
                </a:solidFill>
                <a:latin typeface="Arial"/>
                <a:ea typeface="微软雅黑"/>
              </a:rPr>
              <a:t>面向医疗科研协同的技术路径、关键能力与实践验证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22960" y="4133087"/>
            <a:ext cx="6720840" cy="0"/>
          </a:xfrm>
          <a:prstGeom prst="line">
            <a:avLst/>
          </a:prstGeom>
          <a:ln w="7620">
            <a:solidFill>
              <a:srgbClr val="273953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22960" y="4279392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30" b="0" i="0" spc="140">
                <a:solidFill>
                  <a:srgbClr val="8293AB"/>
                </a:solidFill>
                <a:latin typeface="Arial"/>
                <a:ea typeface="微软雅黑"/>
              </a:rPr>
              <a:t>演讲人 / SPEAKER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李化名　中国电子云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11880" y="4279392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30" b="0" i="0" spc="140">
                <a:solidFill>
                  <a:srgbClr val="8293AB"/>
                </a:solidFill>
                <a:latin typeface="Arial"/>
                <a:ea typeface="微软雅黑"/>
              </a:rPr>
              <a:t>主办 / HOSTS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11880" y="4480560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广州实验室 × 澳门科技大学</a:t>
            </a:r>
          </a:p>
        </p:txBody>
      </p:sp>
      <p:sp>
        <p:nvSpPr>
          <p:cNvPr id="112" name="Hexagon 111"/>
          <p:cNvSpPr/>
          <p:nvPr/>
        </p:nvSpPr>
        <p:spPr>
          <a:xfrm>
            <a:off x="822960" y="5221224"/>
            <a:ext cx="347472" cy="347472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C8A45C"/>
                </a:solidFill>
                <a:latin typeface="微软雅黑"/>
                <a:ea typeface="微软雅黑"/>
              </a:rPr>
              <a:t>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43584" y="522122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43584" y="54498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70" b="0" i="0">
                <a:solidFill>
                  <a:srgbClr val="8293AB"/>
                </a:solidFill>
                <a:latin typeface="Arial"/>
                <a:ea typeface="微软雅黑"/>
              </a:rPr>
              <a:t>数据主权属地化</a:t>
            </a:r>
          </a:p>
        </p:txBody>
      </p:sp>
      <p:sp>
        <p:nvSpPr>
          <p:cNvPr id="115" name="Hexagon 114"/>
          <p:cNvSpPr/>
          <p:nvPr/>
        </p:nvSpPr>
        <p:spPr>
          <a:xfrm>
            <a:off x="2487168" y="5221224"/>
            <a:ext cx="347472" cy="347472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C8A45C"/>
                </a:solidFill>
                <a:latin typeface="微软雅黑"/>
                <a:ea typeface="微软雅黑"/>
              </a:rPr>
              <a:t>隐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07792" y="522122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07792" y="54498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70" b="0" i="0">
                <a:solidFill>
                  <a:srgbClr val="8293AB"/>
                </a:solidFill>
                <a:latin typeface="Arial"/>
                <a:ea typeface="微软雅黑"/>
              </a:rPr>
              <a:t>全栈隐私内生</a:t>
            </a:r>
          </a:p>
        </p:txBody>
      </p:sp>
      <p:sp>
        <p:nvSpPr>
          <p:cNvPr id="118" name="Hexagon 117"/>
          <p:cNvSpPr/>
          <p:nvPr/>
        </p:nvSpPr>
        <p:spPr>
          <a:xfrm>
            <a:off x="4151376" y="5221224"/>
            <a:ext cx="347472" cy="347472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C8A45C"/>
                </a:solidFill>
                <a:latin typeface="微软雅黑"/>
                <a:ea typeface="微软雅黑"/>
              </a:rPr>
              <a:t>控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0" y="522122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0" y="54498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70" b="0" i="0">
                <a:solidFill>
                  <a:srgbClr val="8293AB"/>
                </a:solidFill>
                <a:latin typeface="Arial"/>
                <a:ea typeface="微软雅黑"/>
              </a:rPr>
              <a:t>细粒度使用控制</a:t>
            </a:r>
          </a:p>
        </p:txBody>
      </p:sp>
      <p:sp>
        <p:nvSpPr>
          <p:cNvPr id="121" name="Hexagon 120"/>
          <p:cNvSpPr/>
          <p:nvPr/>
        </p:nvSpPr>
        <p:spPr>
          <a:xfrm>
            <a:off x="5815584" y="5221224"/>
            <a:ext cx="347472" cy="347472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C8A45C"/>
                </a:solidFill>
                <a:latin typeface="微软雅黑"/>
                <a:ea typeface="微软雅黑"/>
              </a:rPr>
              <a:t>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522122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36208" y="54498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70" b="0" i="0">
                <a:solidFill>
                  <a:srgbClr val="8293AB"/>
                </a:solidFill>
                <a:latin typeface="Arial"/>
                <a:ea typeface="微软雅黑"/>
              </a:rPr>
              <a:t>跨域协同大科研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2960" y="6144768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 spc="60">
                <a:solidFill>
                  <a:srgbClr val="5A6B82"/>
                </a:solidFill>
                <a:latin typeface="Arial"/>
                <a:ea typeface="微软雅黑"/>
              </a:rPr>
              <a:t>医疗科研协同　·　多中心联合研究　·　数据要素价值释放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09960" y="6108192"/>
            <a:ext cx="3200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1" i="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CONTENTS  /  汇报脉络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02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ECF1F8"/>
                </a:solidFill>
                <a:latin typeface="Arial"/>
                <a:ea typeface="微软雅黑"/>
              </a:rPr>
              <a:t>从国家路线，到院内落地，三层递进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1627632"/>
            <a:ext cx="3675887" cy="422452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" y="1627632"/>
            <a:ext cx="457200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" y="182880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C8A45C"/>
                </a:solidFill>
                <a:latin typeface="Arial"/>
                <a:ea typeface="微软雅黑"/>
              </a:rPr>
              <a:t>核心判断  /  KEY JUDGEMENT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5" y="2103120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520" b="1" i="0">
                <a:solidFill>
                  <a:srgbClr val="ECF1F8"/>
                </a:solidFill>
                <a:latin typeface="Arial"/>
                <a:ea typeface="微软雅黑"/>
              </a:rPr>
              <a:t>医疗科研的下一站，不是把数据搬到一起，而是让数据在各自可信的边界内协同。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42415" y="3822191"/>
            <a:ext cx="3108961" cy="0"/>
          </a:xfrm>
          <a:prstGeom prst="line">
            <a:avLst/>
          </a:prstGeom>
          <a:ln w="6350">
            <a:solidFill>
              <a:srgbClr val="273953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42415" y="3986784"/>
            <a:ext cx="10972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0" i="0">
                <a:solidFill>
                  <a:srgbClr val="ECD29C"/>
                </a:solidFill>
                <a:latin typeface="Georgia"/>
                <a:ea typeface="微软雅黑"/>
              </a:rPr>
              <a:t>13′27″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5" y="457200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8293AB"/>
                </a:solidFill>
                <a:latin typeface="Arial"/>
                <a:ea typeface="微软雅黑"/>
              </a:rPr>
              <a:t>建议演讲时长  ·  10 页发言稿 / 20 页演示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5" y="4956048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860" b="0" i="0">
                <a:solidFill>
                  <a:srgbClr val="C2CEDF"/>
                </a:solidFill>
                <a:latin typeface="Arial"/>
                <a:ea typeface="微软雅黑"/>
              </a:rPr>
              <a:t>四个锚点贯穿全场：数据在本地、隐私保护、可管控、能做大科研。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1664208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700" b="0" i="0">
                <a:solidFill>
                  <a:srgbClr val="C8A45C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42432" y="168249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ECF1F8"/>
                </a:solidFill>
                <a:latin typeface="Arial"/>
                <a:ea typeface="微软雅黑"/>
              </a:rPr>
              <a:t>时代命题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42432" y="20025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 i="0">
                <a:solidFill>
                  <a:srgbClr val="C2CEDF"/>
                </a:solidFill>
                <a:latin typeface="Arial"/>
                <a:ea typeface="微软雅黑"/>
              </a:rPr>
              <a:t>政策把可信数据空间定为核心路线；TRE 与 TDS 在医疗科研场景交汇。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42432" y="2450592"/>
            <a:ext cx="720547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国家政策脉络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26987" y="2450592"/>
            <a:ext cx="720547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医院真实痛点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1542" y="2450592"/>
            <a:ext cx="1016812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两条路径的能力互补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78440" y="168249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5A6B82"/>
                </a:solidFill>
                <a:latin typeface="Arial"/>
                <a:ea typeface="微软雅黑"/>
              </a:rPr>
              <a:t>P04 — 06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892040" y="2889504"/>
            <a:ext cx="6473952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92040" y="3008376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700" b="0" i="0">
                <a:solidFill>
                  <a:srgbClr val="C8A45C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42432" y="302666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ECF1F8"/>
                </a:solidFill>
                <a:latin typeface="Arial"/>
                <a:ea typeface="微软雅黑"/>
              </a:rPr>
              <a:t>融合架构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42432" y="334670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 i="0">
                <a:solidFill>
                  <a:srgbClr val="C2CEDF"/>
                </a:solidFill>
                <a:latin typeface="Arial"/>
                <a:ea typeface="微软雅黑"/>
              </a:rPr>
              <a:t>把一次多中心科研拆成五个可执行、可监管、可计量的步骤。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42432" y="3794760"/>
            <a:ext cx="523036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五步闭环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29476" y="3794760"/>
            <a:ext cx="720547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三层全景架构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14032" y="3794760"/>
            <a:ext cx="720547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五项关键技术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78440" y="3026664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5A6B82"/>
                </a:solidFill>
                <a:latin typeface="Arial"/>
                <a:ea typeface="微软雅黑"/>
              </a:rPr>
              <a:t>P08 — 12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892040" y="4233672"/>
            <a:ext cx="6473952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892040" y="4352544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700" b="0" i="0">
                <a:solidFill>
                  <a:srgbClr val="C8A45C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42432" y="437083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ECF1F8"/>
                </a:solidFill>
                <a:latin typeface="Arial"/>
                <a:ea typeface="微软雅黑"/>
              </a:rPr>
              <a:t>实践验证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42432" y="46908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 i="0">
                <a:solidFill>
                  <a:srgbClr val="C2CEDF"/>
                </a:solidFill>
                <a:latin typeface="Arial"/>
                <a:ea typeface="微软雅黑"/>
              </a:rPr>
              <a:t>用可复现的指标与已跑通的案例，回答“效果行不行、能不能复制”。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42432" y="5138928"/>
            <a:ext cx="720547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模型融合实测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526987" y="5138928"/>
            <a:ext cx="720547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深圳商保直付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1542" y="5138928"/>
            <a:ext cx="1214323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心脏病 AI 密文诊断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89873" y="5138928"/>
            <a:ext cx="523036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跨境协作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78440" y="4370831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5A6B82"/>
                </a:solidFill>
                <a:latin typeface="Arial"/>
                <a:ea typeface="微软雅黑"/>
              </a:rPr>
              <a:t>P14 — 18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892040" y="5577840"/>
            <a:ext cx="6473952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892040" y="5870448"/>
            <a:ext cx="649224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ECD29C"/>
                </a:solidFill>
                <a:latin typeface="Arial"/>
                <a:ea typeface="微软雅黑"/>
              </a:rPr>
              <a:t>结语　四大锚点，构成一套能落地、可监管、可扩展的科研基座。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28016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0000"/>
              </a:lnSpc>
              <a:spcAft>
                <a:spcPts val="0"/>
              </a:spcAft>
            </a:pPr>
            <a:r>
              <a:rPr sz="23000" b="1" i="0">
                <a:solidFill>
                  <a:srgbClr val="101D2F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120700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 spc="400">
                <a:solidFill>
                  <a:srgbClr val="C8A45C"/>
                </a:solidFill>
                <a:latin typeface="Arial"/>
                <a:ea typeface="微软雅黑"/>
              </a:rPr>
              <a:t>CHAPTER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1481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ECD29C"/>
                </a:solidFill>
                <a:latin typeface="Georgia"/>
                <a:ea typeface="微软雅黑"/>
              </a:rPr>
              <a:t>01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2960" y="2212848"/>
            <a:ext cx="1005840" cy="0"/>
          </a:xfrm>
          <a:prstGeom prst="line">
            <a:avLst/>
          </a:prstGeom>
          <a:ln w="1270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22960" y="2487168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 i="0">
                <a:solidFill>
                  <a:srgbClr val="ECF1F8"/>
                </a:solidFill>
                <a:latin typeface="Arial"/>
                <a:ea typeface="微软雅黑"/>
              </a:rPr>
              <a:t>时代命题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3364992"/>
            <a:ext cx="6537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C2CEDF"/>
                </a:solidFill>
                <a:latin typeface="Arial"/>
                <a:ea typeface="微软雅黑"/>
              </a:rPr>
              <a:t>当数据成为生产要素，医疗科研需要的不是更大胆的搬运，而是更可信的连接。</a:t>
            </a:r>
          </a:p>
        </p:txBody>
      </p:sp>
      <p:sp>
        <p:nvSpPr>
          <p:cNvPr id="55" name="Rectangle 54"/>
          <p:cNvSpPr/>
          <p:nvPr/>
        </p:nvSpPr>
        <p:spPr>
          <a:xfrm rot="2700000">
            <a:off x="822960" y="462686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52628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国家为什么把可信数据空间定为核心路线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97280" y="487375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 rot="2700000">
            <a:off x="822960" y="512978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50292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医院为什么“不敢供、不愿供”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97280" y="537667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 rot="2700000">
            <a:off x="822960" y="563270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" y="553212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TRE 与 TDS 为什么在此刻交汇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97280" y="587959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509760" y="589788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 spc="160">
                <a:solidFill>
                  <a:srgbClr val="5A6B82"/>
                </a:solidFill>
                <a:latin typeface="Arial"/>
                <a:ea typeface="微软雅黑"/>
              </a:rPr>
              <a:t>03 / 20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WHY NOW  /  医院的真问题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04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ECF1F8"/>
                </a:solidFill>
                <a:latin typeface="Arial"/>
                <a:ea typeface="微软雅黑"/>
              </a:rPr>
              <a:t>想做顶尖大科研，为什么数据总是“拿不出来”？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单家医院的样本撑不起大科研；一旦谈共享，隐私责任与数据主权又让决策者望而却步。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55648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0E1A2C">
              <a:alpha val="82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" y="1938528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C8A45C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72768" y="192024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 i="0">
                <a:solidFill>
                  <a:srgbClr val="ECF1F8"/>
                </a:solidFill>
                <a:latin typeface="Arial"/>
                <a:ea typeface="微软雅黑"/>
              </a:rPr>
              <a:t>样本之困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72768" y="2212848"/>
            <a:ext cx="576072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C2CEDF"/>
                </a:solidFill>
                <a:latin typeface="Arial"/>
                <a:ea typeface="微软雅黑"/>
              </a:rPr>
              <a:t>顶尖研究需要多中心、大样本；单家医院病种与例数有限，模型难以泛化。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19385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 spc="140">
                <a:solidFill>
                  <a:srgbClr val="5A6B82"/>
                </a:solidFill>
                <a:latin typeface="Arial"/>
                <a:ea typeface="微软雅黑"/>
              </a:rPr>
              <a:t>SAMPLE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" y="2999232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0E1A2C">
              <a:alpha val="82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2415" y="3182112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C8A45C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72768" y="316382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 i="0">
                <a:solidFill>
                  <a:srgbClr val="ECF1F8"/>
                </a:solidFill>
                <a:latin typeface="Arial"/>
                <a:ea typeface="微软雅黑"/>
              </a:rPr>
              <a:t>责任之困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72768" y="3456432"/>
            <a:ext cx="576072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C2CEDF"/>
                </a:solidFill>
                <a:latin typeface="Arial"/>
                <a:ea typeface="微软雅黑"/>
              </a:rPr>
              <a:t>患者隐私一旦泄露，谁负责？现有共享方式难以证明“谁在什么时候用了什么”。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3182112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 spc="140">
                <a:solidFill>
                  <a:srgbClr val="5A6B82"/>
                </a:solidFill>
                <a:latin typeface="Arial"/>
                <a:ea typeface="微软雅黑"/>
              </a:rPr>
              <a:t>LIABILITY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" y="4242816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0E1A2C">
              <a:alpha val="82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5" y="442569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C8A45C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2768" y="4407408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 i="0">
                <a:solidFill>
                  <a:srgbClr val="ECF1F8"/>
                </a:solidFill>
                <a:latin typeface="Arial"/>
                <a:ea typeface="微软雅黑"/>
              </a:rPr>
              <a:t>主权之困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72768" y="4700016"/>
            <a:ext cx="576072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C2CEDF"/>
                </a:solidFill>
                <a:latin typeface="Arial"/>
                <a:ea typeface="微软雅黑"/>
              </a:rPr>
              <a:t>十几年积累的数据资产，一旦被拷走就失控；医院不敢把核心资产交出去。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5080" y="4425696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 spc="140">
                <a:solidFill>
                  <a:srgbClr val="5A6B82"/>
                </a:solidFill>
                <a:latin typeface="Arial"/>
                <a:ea typeface="微软雅黑"/>
              </a:rPr>
              <a:t>SOVEREIGNTY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18120" y="1755648"/>
            <a:ext cx="3538728" cy="4160520"/>
          </a:xfrm>
          <a:prstGeom prst="roundRect">
            <a:avLst>
              <a:gd name="adj" fmla="val 4500"/>
            </a:avLst>
          </a:prstGeom>
          <a:solidFill>
            <a:srgbClr val="13233A">
              <a:alpha val="92000"/>
            </a:srgbClr>
          </a:solidFill>
          <a:ln w="889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0" y="192024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C8A45C"/>
                </a:solidFill>
                <a:latin typeface="Arial"/>
                <a:ea typeface="微软雅黑"/>
              </a:rPr>
              <a:t>破局点  /  THE SHIFT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219456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1" i="0">
                <a:solidFill>
                  <a:srgbClr val="ECD29C"/>
                </a:solidFill>
                <a:latin typeface="Arial"/>
                <a:ea typeface="微软雅黑"/>
              </a:rPr>
              <a:t>不是把数据交出去，
而是把信任建起来。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3127248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8293AB"/>
                </a:solidFill>
                <a:latin typeface="Arial"/>
                <a:ea typeface="微软雅黑"/>
              </a:rPr>
              <a:t>由此确立四个不可退让的目标：</a:t>
            </a:r>
          </a:p>
        </p:txBody>
      </p:sp>
      <p:sp>
        <p:nvSpPr>
          <p:cNvPr id="77" name="Hexagon 76"/>
          <p:cNvSpPr/>
          <p:nvPr/>
        </p:nvSpPr>
        <p:spPr>
          <a:xfrm>
            <a:off x="8110727" y="3419856"/>
            <a:ext cx="292608" cy="292608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8A45C"/>
                </a:solidFill>
                <a:latin typeface="微软雅黑"/>
                <a:ea typeface="微软雅黑"/>
              </a:rPr>
              <a:t>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03920" y="340156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ECF1F8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920" y="3602736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原始数据 100% 留在院内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503920" y="3931920"/>
            <a:ext cx="26060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Hexagon 80"/>
          <p:cNvSpPr/>
          <p:nvPr/>
        </p:nvSpPr>
        <p:spPr>
          <a:xfrm>
            <a:off x="8110727" y="4023359"/>
            <a:ext cx="292608" cy="292608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8A45C"/>
                </a:solidFill>
                <a:latin typeface="微软雅黑"/>
                <a:ea typeface="微软雅黑"/>
              </a:rPr>
              <a:t>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03920" y="4005072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ECF1F8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2062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全栈隐私内生，可用不可见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503920" y="4535424"/>
            <a:ext cx="26060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Hexagon 84"/>
          <p:cNvSpPr/>
          <p:nvPr/>
        </p:nvSpPr>
        <p:spPr>
          <a:xfrm>
            <a:off x="8110727" y="4626864"/>
            <a:ext cx="292608" cy="292608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8A45C"/>
                </a:solidFill>
                <a:latin typeface="微软雅黑"/>
                <a:ea typeface="微软雅黑"/>
              </a:rPr>
              <a:t>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20" y="460857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ECF1F8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480974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给谁用、怎么用、用多久全程受控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503920" y="5138928"/>
            <a:ext cx="26060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Hexagon 88"/>
          <p:cNvSpPr/>
          <p:nvPr/>
        </p:nvSpPr>
        <p:spPr>
          <a:xfrm>
            <a:off x="8110727" y="5230368"/>
            <a:ext cx="292608" cy="292608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8A45C"/>
                </a:solidFill>
                <a:latin typeface="微软雅黑"/>
                <a:ea typeface="微软雅黑"/>
              </a:rPr>
              <a:t>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03920" y="52120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ECF1F8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54132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足不出户联合国家级、国际级研究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503920" y="5742432"/>
            <a:ext cx="26060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22960" y="61264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ECD29C"/>
                </a:solidFill>
                <a:latin typeface="Arial"/>
                <a:ea typeface="微软雅黑"/>
              </a:rPr>
              <a:t>这就是从单点“可信研究环境”，走向跨机构“可信科研协同网络”。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POLICY  /  国家路线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05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ECF1F8"/>
                </a:solidFill>
                <a:latin typeface="Arial"/>
                <a:ea typeface="微软雅黑"/>
              </a:rPr>
              <a:t>可信数据空间，已被明确为数据流通利用的核心技术路线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从顶层制度到基础设施蓝图，再到专项行动计划，国家的信号很清楚：用标准化的可信基础设施，替代灰色的数据搬运。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234440" y="2395728"/>
            <a:ext cx="9784080" cy="0"/>
          </a:xfrm>
          <a:prstGeom prst="line">
            <a:avLst/>
          </a:prstGeom>
          <a:ln w="12700">
            <a:solidFill>
              <a:srgbClr val="273953">
                <a:alpha val="9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77239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140">
                <a:solidFill>
                  <a:srgbClr val="C8A45C"/>
                </a:solidFill>
                <a:latin typeface="Arial"/>
                <a:ea typeface="微软雅黑"/>
              </a:rPr>
              <a:t>01  ·  顶层制度</a:t>
            </a:r>
          </a:p>
        </p:txBody>
      </p:sp>
      <p:sp>
        <p:nvSpPr>
          <p:cNvPr id="60" name="Oval 59"/>
          <p:cNvSpPr/>
          <p:nvPr/>
        </p:nvSpPr>
        <p:spPr>
          <a:xfrm>
            <a:off x="2194560" y="2258568"/>
            <a:ext cx="274320" cy="274320"/>
          </a:xfrm>
          <a:prstGeom prst="ellipse">
            <a:avLst/>
          </a:prstGeom>
          <a:solidFill>
            <a:srgbClr val="0A1425"/>
          </a:solidFill>
          <a:ln w="1524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95144" y="2359152"/>
            <a:ext cx="73152" cy="73152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020824" y="2084832"/>
            <a:ext cx="621792" cy="621792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083003" y="2147011"/>
            <a:ext cx="497433" cy="497433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45182" y="2209190"/>
            <a:ext cx="373075" cy="373075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07361" y="2271369"/>
            <a:ext cx="248716" cy="248716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69540" y="2333548"/>
            <a:ext cx="124358" cy="124358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19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ECF1F8"/>
                </a:solidFill>
                <a:latin typeface="Arial"/>
                <a:ea typeface="微软雅黑"/>
              </a:rPr>
              <a:t>数据二十条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19" y="2926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数据基础制度的“四梁八柱”，</a:t>
            </a:r>
          </a:p>
          <a:p>
            <a:pPr algn="ctr">
              <a:lnSpc>
                <a:spcPct val="145000"/>
              </a:lnSpc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确立数据要素市场化配置方向。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140">
                <a:solidFill>
                  <a:srgbClr val="C8A45C"/>
                </a:solidFill>
                <a:latin typeface="Arial"/>
                <a:ea typeface="微软雅黑"/>
              </a:rPr>
              <a:t>02  ·  设施蓝图</a:t>
            </a:r>
          </a:p>
        </p:txBody>
      </p:sp>
      <p:sp>
        <p:nvSpPr>
          <p:cNvPr id="70" name="Oval 69"/>
          <p:cNvSpPr/>
          <p:nvPr/>
        </p:nvSpPr>
        <p:spPr>
          <a:xfrm>
            <a:off x="5989320" y="2258568"/>
            <a:ext cx="274320" cy="274320"/>
          </a:xfrm>
          <a:prstGeom prst="ellipse">
            <a:avLst/>
          </a:prstGeom>
          <a:solidFill>
            <a:srgbClr val="0A1425"/>
          </a:solidFill>
          <a:ln w="1524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089904" y="2359152"/>
            <a:ext cx="73152" cy="73152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815584" y="2084832"/>
            <a:ext cx="621792" cy="621792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877763" y="2147011"/>
            <a:ext cx="497433" cy="497433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939942" y="2209190"/>
            <a:ext cx="373075" cy="373075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02121" y="2271369"/>
            <a:ext cx="248716" cy="248716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064300" y="2333548"/>
            <a:ext cx="124358" cy="124358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2628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ECF1F8"/>
                </a:solidFill>
                <a:latin typeface="Arial"/>
                <a:ea typeface="微软雅黑"/>
              </a:rPr>
              <a:t>国家数据基础设施建设指引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2926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明确数据基础设施的建设路径，</a:t>
            </a:r>
          </a:p>
          <a:p>
            <a:pPr algn="ctr">
              <a:lnSpc>
                <a:spcPct val="145000"/>
              </a:lnSpc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提出可信流通的能力要求。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66760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140">
                <a:solidFill>
                  <a:srgbClr val="C8A45C"/>
                </a:solidFill>
                <a:latin typeface="Arial"/>
                <a:ea typeface="微软雅黑"/>
              </a:rPr>
              <a:t>03  ·  行动路线</a:t>
            </a:r>
          </a:p>
        </p:txBody>
      </p:sp>
      <p:sp>
        <p:nvSpPr>
          <p:cNvPr id="80" name="Oval 79"/>
          <p:cNvSpPr/>
          <p:nvPr/>
        </p:nvSpPr>
        <p:spPr>
          <a:xfrm>
            <a:off x="9784080" y="2258568"/>
            <a:ext cx="274320" cy="274320"/>
          </a:xfrm>
          <a:prstGeom prst="ellipse">
            <a:avLst/>
          </a:prstGeom>
          <a:solidFill>
            <a:srgbClr val="0A1425"/>
          </a:solidFill>
          <a:ln w="1524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884664" y="2359152"/>
            <a:ext cx="73152" cy="73152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610344" y="2084832"/>
            <a:ext cx="621792" cy="621792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672523" y="2147011"/>
            <a:ext cx="497433" cy="497433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734702" y="2209190"/>
            <a:ext cx="373075" cy="373075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796881" y="2271369"/>
            <a:ext cx="248716" cy="248716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859060" y="2333548"/>
            <a:ext cx="124358" cy="124358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2104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ECF1F8"/>
                </a:solidFill>
                <a:latin typeface="Arial"/>
                <a:ea typeface="微软雅黑"/>
              </a:rPr>
              <a:t>可信数据空间发展行动计划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2926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把可信数据空间确立为</a:t>
            </a:r>
          </a:p>
          <a:p>
            <a:pPr algn="ctr">
              <a:lnSpc>
                <a:spcPct val="145000"/>
              </a:lnSpc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核心技术路线与落地抓手。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" y="347472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C8A45C"/>
                </a:solidFill>
                <a:latin typeface="Arial"/>
                <a:ea typeface="微软雅黑"/>
              </a:rPr>
              <a:t>可信数据空间的三大核心能力  /  THREE CAPABILITIES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023360" y="3566160"/>
            <a:ext cx="736092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822960" y="3749039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0E1A2C">
              <a:alpha val="84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7552" y="3749039"/>
            <a:ext cx="384048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4128" y="39136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2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4128" y="4133087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ECF1F8"/>
                </a:solidFill>
                <a:latin typeface="Arial"/>
                <a:ea typeface="微软雅黑"/>
              </a:rPr>
              <a:t>可信管控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4128" y="45171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40">
                <a:solidFill>
                  <a:srgbClr val="ECD29C"/>
                </a:solidFill>
                <a:latin typeface="Arial"/>
                <a:ea typeface="微软雅黑"/>
              </a:rPr>
              <a:t>规则 · 数字合约 · 使用控制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" y="47548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医院对数据拥有绝对控制权，规则由系统强制执行。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89120" y="3749039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0E1A2C">
              <a:alpha val="84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53712" y="3749039"/>
            <a:ext cx="384048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90288" y="39136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20">
                <a:solidFill>
                  <a:srgbClr val="C8A45C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90288" y="4133087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ECF1F8"/>
                </a:solidFill>
                <a:latin typeface="Arial"/>
                <a:ea typeface="微软雅黑"/>
              </a:rPr>
              <a:t>资源交互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90288" y="45171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40">
                <a:solidFill>
                  <a:srgbClr val="ECD29C"/>
                </a:solidFill>
                <a:latin typeface="Arial"/>
                <a:ea typeface="微软雅黑"/>
              </a:rPr>
              <a:t>标准连接器 · 统一目录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90288" y="47548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把数据孤岛连成网，但连网不等于搬空医院的库房。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955279" y="3749039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0E1A2C">
              <a:alpha val="84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119871" y="3749039"/>
            <a:ext cx="384048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56448" y="39136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20">
                <a:solidFill>
                  <a:srgbClr val="C8A45C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56448" y="4133087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ECF1F8"/>
                </a:solidFill>
                <a:latin typeface="Arial"/>
                <a:ea typeface="微软雅黑"/>
              </a:rPr>
              <a:t>价值共创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56448" y="45171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40">
                <a:solidFill>
                  <a:srgbClr val="ECD29C"/>
                </a:solidFill>
                <a:latin typeface="Arial"/>
                <a:ea typeface="微软雅黑"/>
              </a:rPr>
              <a:t>多方协同 · 贡献计量 · 权益分配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56448" y="47548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医院、高校、实验室、药企协同，成果按贡献分配。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5559552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13233A"/>
          </a:solidFill>
          <a:ln w="889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22960" y="5559552"/>
            <a:ext cx="36576" cy="65836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4128" y="5669280"/>
            <a:ext cx="10149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60" b="1" i="0">
                <a:solidFill>
                  <a:srgbClr val="C8A45C"/>
                </a:solidFill>
                <a:latin typeface="Arial"/>
                <a:ea typeface="微软雅黑"/>
              </a:rPr>
              <a:t>一句话　</a:t>
            </a:r>
            <a:r>
              <a:rPr sz="919" b="0" i="0">
                <a:solidFill>
                  <a:srgbClr val="ECF1F8"/>
                </a:solidFill>
                <a:latin typeface="Arial"/>
                <a:ea typeface="微软雅黑"/>
              </a:rPr>
              <a:t>不是冒着违规风险“私下拷硬盘”，而是在国家标准下，名正言顺地支撑科研与临床创新。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CONVERGENCE  /  路径交汇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06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50" b="1" i="0">
                <a:solidFill>
                  <a:srgbClr val="ECF1F8"/>
                </a:solidFill>
                <a:latin typeface="Arial"/>
                <a:ea typeface="微软雅黑"/>
              </a:rPr>
              <a:t>TRE 与 TDS：两条路径，正在医疗科研场景交汇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一条从“安全计算”走向联邦协作，一条从“目录共享”走向空间互联；能力层级互补，而非彼此替代。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37360"/>
            <a:ext cx="4114800" cy="2148840"/>
          </a:xfrm>
          <a:prstGeom prst="roundRect">
            <a:avLst>
              <a:gd name="adj" fmla="val 4500"/>
            </a:avLst>
          </a:prstGeom>
          <a:solidFill>
            <a:srgbClr val="0E1A2C">
              <a:alpha val="82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" y="184708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C8A45C"/>
                </a:solidFill>
                <a:latin typeface="Georgia"/>
                <a:ea typeface="微软雅黑"/>
              </a:rPr>
              <a:t>TRE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37360" y="1892807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可信研究环境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" y="2139696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8293AB"/>
                </a:solidFill>
                <a:latin typeface="Arial"/>
                <a:ea typeface="微软雅黑"/>
              </a:rPr>
              <a:t>管环境、研究、计算、输出</a:t>
            </a:r>
          </a:p>
        </p:txBody>
      </p:sp>
      <p:sp>
        <p:nvSpPr>
          <p:cNvPr id="62" name="Oval 61"/>
          <p:cNvSpPr/>
          <p:nvPr/>
        </p:nvSpPr>
        <p:spPr>
          <a:xfrm>
            <a:off x="1083564" y="2500884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15568" y="2587752"/>
            <a:ext cx="0" cy="283464"/>
          </a:xfrm>
          <a:prstGeom prst="line">
            <a:avLst/>
          </a:prstGeom>
          <a:ln w="7620">
            <a:solidFill>
              <a:srgbClr val="C8A45C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61872" y="24323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F1F8"/>
                </a:solidFill>
                <a:latin typeface="Arial"/>
                <a:ea typeface="微软雅黑"/>
              </a:rPr>
              <a:t>封闭安全实验室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97479" y="24414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隔离计算、成果审核</a:t>
            </a:r>
          </a:p>
        </p:txBody>
      </p:sp>
      <p:sp>
        <p:nvSpPr>
          <p:cNvPr id="66" name="Oval 65"/>
          <p:cNvSpPr/>
          <p:nvPr/>
        </p:nvSpPr>
        <p:spPr>
          <a:xfrm>
            <a:off x="1083564" y="2958084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115568" y="3044952"/>
            <a:ext cx="0" cy="283464"/>
          </a:xfrm>
          <a:prstGeom prst="line">
            <a:avLst/>
          </a:prstGeom>
          <a:ln w="7620">
            <a:solidFill>
              <a:srgbClr val="C8A45C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261872" y="28895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F1F8"/>
                </a:solidFill>
                <a:latin typeface="Arial"/>
                <a:ea typeface="微软雅黑"/>
              </a:rPr>
              <a:t>云化 AI 训练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97479" y="28986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弹性算力、受控工作区</a:t>
            </a:r>
          </a:p>
        </p:txBody>
      </p:sp>
      <p:sp>
        <p:nvSpPr>
          <p:cNvPr id="70" name="Oval 69"/>
          <p:cNvSpPr/>
          <p:nvPr/>
        </p:nvSpPr>
        <p:spPr>
          <a:xfrm>
            <a:off x="1083564" y="3415284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61872" y="33467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F1F8"/>
                </a:solidFill>
                <a:latin typeface="Arial"/>
                <a:ea typeface="微软雅黑"/>
              </a:rPr>
              <a:t>联邦化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97479" y="33558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多节点互联、联合分析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166360" y="1737360"/>
            <a:ext cx="4114800" cy="2148840"/>
          </a:xfrm>
          <a:prstGeom prst="roundRect">
            <a:avLst>
              <a:gd name="adj" fmla="val 4500"/>
            </a:avLst>
          </a:prstGeom>
          <a:solidFill>
            <a:srgbClr val="0E1A2C">
              <a:alpha val="82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7528" y="184708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5ED3C6"/>
                </a:solidFill>
                <a:latin typeface="Georgia"/>
                <a:ea typeface="微软雅黑"/>
              </a:rPr>
              <a:t>TDS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1892807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可信数据空间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67528" y="2139696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8293AB"/>
                </a:solidFill>
                <a:latin typeface="Arial"/>
                <a:ea typeface="微软雅黑"/>
              </a:rPr>
              <a:t>管连接、规则、流通、价值</a:t>
            </a:r>
          </a:p>
        </p:txBody>
      </p:sp>
      <p:sp>
        <p:nvSpPr>
          <p:cNvPr id="77" name="Oval 76"/>
          <p:cNvSpPr/>
          <p:nvPr/>
        </p:nvSpPr>
        <p:spPr>
          <a:xfrm>
            <a:off x="5426964" y="2500884"/>
            <a:ext cx="64008" cy="64008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5458968" y="2587752"/>
            <a:ext cx="0" cy="283464"/>
          </a:xfrm>
          <a:prstGeom prst="line">
            <a:avLst/>
          </a:prstGeom>
          <a:ln w="7620">
            <a:solidFill>
              <a:srgbClr val="5ED3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05272" y="24323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F1F8"/>
                </a:solidFill>
                <a:latin typeface="Arial"/>
                <a:ea typeface="微软雅黑"/>
              </a:rPr>
              <a:t>数据目录共享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0" y="24414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解决资源“找得到”</a:t>
            </a:r>
          </a:p>
        </p:txBody>
      </p:sp>
      <p:sp>
        <p:nvSpPr>
          <p:cNvPr id="81" name="Oval 80"/>
          <p:cNvSpPr/>
          <p:nvPr/>
        </p:nvSpPr>
        <p:spPr>
          <a:xfrm>
            <a:off x="5426964" y="2958084"/>
            <a:ext cx="64008" cy="64008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5458968" y="3044952"/>
            <a:ext cx="0" cy="283464"/>
          </a:xfrm>
          <a:prstGeom prst="line">
            <a:avLst/>
          </a:prstGeom>
          <a:ln w="7620">
            <a:solidFill>
              <a:srgbClr val="5ED3C6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05272" y="28895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F1F8"/>
                </a:solidFill>
                <a:latin typeface="Arial"/>
                <a:ea typeface="微软雅黑"/>
              </a:rPr>
              <a:t>可信数据空间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0" y="28986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规则、合约、使用控制</a:t>
            </a:r>
          </a:p>
        </p:txBody>
      </p:sp>
      <p:sp>
        <p:nvSpPr>
          <p:cNvPr id="85" name="Oval 84"/>
          <p:cNvSpPr/>
          <p:nvPr/>
        </p:nvSpPr>
        <p:spPr>
          <a:xfrm>
            <a:off x="5426964" y="3415284"/>
            <a:ext cx="64008" cy="64008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05272" y="33467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F1F8"/>
                </a:solidFill>
                <a:latin typeface="Arial"/>
                <a:ea typeface="微软雅黑"/>
              </a:rPr>
              <a:t>空间互联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40880" y="33558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身份互认、规则互认、跨域协作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18319" y="2084831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 spc="180">
                <a:solidFill>
                  <a:srgbClr val="C8A45C"/>
                </a:solidFill>
                <a:latin typeface="Arial"/>
                <a:ea typeface="微软雅黑"/>
              </a:rPr>
              <a:t>交汇点  /  CONVERGENCE</a:t>
            </a:r>
          </a:p>
        </p:txBody>
      </p:sp>
      <p:sp>
        <p:nvSpPr>
          <p:cNvPr id="89" name="Oval 88"/>
          <p:cNvSpPr/>
          <p:nvPr/>
        </p:nvSpPr>
        <p:spPr>
          <a:xfrm>
            <a:off x="9372600" y="1874520"/>
            <a:ext cx="1737359" cy="1737359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517380" y="2019300"/>
            <a:ext cx="1447800" cy="1447800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662160" y="2164080"/>
            <a:ext cx="1158240" cy="1158240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806940" y="2308860"/>
            <a:ext cx="868679" cy="868679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951720" y="2453640"/>
            <a:ext cx="579120" cy="579120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096500" y="2598420"/>
            <a:ext cx="289560" cy="289560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738359" y="2240280"/>
            <a:ext cx="1005840" cy="1005840"/>
          </a:xfrm>
          <a:prstGeom prst="ellipse">
            <a:avLst/>
          </a:prstGeom>
          <a:noFill/>
          <a:ln w="12700">
            <a:solidFill>
              <a:srgbClr val="C8A45C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893807" y="2395728"/>
            <a:ext cx="694944" cy="694944"/>
          </a:xfrm>
          <a:prstGeom prst="ellipse">
            <a:avLst/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93807" y="2679192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ECD29C"/>
                </a:solidFill>
                <a:latin typeface="Arial"/>
                <a:ea typeface="微软雅黑"/>
              </a:rPr>
              <a:t>TRE × TDS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81159" y="3346704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ECF1F8"/>
                </a:solidFill>
                <a:latin typeface="Arial"/>
                <a:ea typeface="微软雅黑"/>
              </a:rPr>
              <a:t>可信科研协同网络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299448" y="2743200"/>
            <a:ext cx="411480" cy="0"/>
          </a:xfrm>
          <a:prstGeom prst="line">
            <a:avLst/>
          </a:prstGeom>
          <a:ln w="8890">
            <a:solidFill>
              <a:srgbClr val="5ED3C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822960" y="4114800"/>
            <a:ext cx="10561320" cy="365760"/>
          </a:xfrm>
          <a:prstGeom prst="rect">
            <a:avLst/>
          </a:prstGeom>
          <a:solidFill>
            <a:srgbClr val="13233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822960" y="4480560"/>
            <a:ext cx="1056132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87552" y="420624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>
                <a:solidFill>
                  <a:srgbClr val="ECD29C"/>
                </a:solidFill>
                <a:latin typeface="Arial"/>
                <a:ea typeface="微软雅黑"/>
              </a:rPr>
              <a:t>能力层级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04872" y="420624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D29C"/>
                </a:solidFill>
                <a:latin typeface="Arial"/>
                <a:ea typeface="微软雅黑"/>
              </a:rPr>
              <a:t>TRE  ·  可信研究环境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76872" y="420624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5ED3C6"/>
                </a:solidFill>
                <a:latin typeface="Arial"/>
                <a:ea typeface="微软雅黑"/>
              </a:rPr>
              <a:t>TDS  ·  可信数据空间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22960" y="4846320"/>
            <a:ext cx="1056132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87552" y="457200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8293AB"/>
                </a:solidFill>
                <a:latin typeface="Arial"/>
                <a:ea typeface="微软雅黑"/>
              </a:rPr>
              <a:t>管什么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04872" y="457200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环境、研究、计算、输出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76872" y="457200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连接、规则、流通、价值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22960" y="5212080"/>
            <a:ext cx="1056132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87552" y="493776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8293AB"/>
                </a:solidFill>
                <a:latin typeface="Arial"/>
                <a:ea typeface="微软雅黑"/>
              </a:rPr>
              <a:t>回答的问题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04872" y="493776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敏感数据怎么算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76872" y="493776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数据怎么流通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22960" y="5577840"/>
            <a:ext cx="1056132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87552" y="530352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8293AB"/>
                </a:solidFill>
                <a:latin typeface="Arial"/>
                <a:ea typeface="微软雅黑"/>
              </a:rPr>
              <a:t>关键机制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04872" y="530352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五安全原则、受控工作区、输出审查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76872" y="530352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连接器、数字合约、使用控制、权益分配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22960" y="5943600"/>
            <a:ext cx="1056132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87552" y="566928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8293AB"/>
                </a:solidFill>
                <a:latin typeface="Arial"/>
                <a:ea typeface="微软雅黑"/>
              </a:rPr>
              <a:t>组合效果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04872" y="566928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单点安全研究环境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976872" y="566928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EDF"/>
                </a:solidFill>
                <a:latin typeface="Arial"/>
                <a:ea typeface="微软雅黑"/>
              </a:rPr>
              <a:t>跨机构科研协作网络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240280" y="4114800"/>
            <a:ext cx="0" cy="1828800"/>
          </a:xfrm>
          <a:prstGeom prst="line">
            <a:avLst/>
          </a:prstGeom>
          <a:ln w="6350">
            <a:solidFill>
              <a:srgbClr val="273953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812280" y="4114800"/>
            <a:ext cx="0" cy="1828800"/>
          </a:xfrm>
          <a:prstGeom prst="line">
            <a:avLst/>
          </a:prstGeom>
          <a:ln w="6350">
            <a:solidFill>
              <a:srgbClr val="273953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822960" y="6053328"/>
            <a:ext cx="105613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>
                <a:solidFill>
                  <a:srgbClr val="ECD29C"/>
                </a:solidFill>
                <a:latin typeface="Arial"/>
                <a:ea typeface="微软雅黑"/>
              </a:rPr>
              <a:t>两者一组合，就从“单点的安全研究环境”，升级为“跨机构的科研协作网络”。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28016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0000"/>
              </a:lnSpc>
              <a:spcAft>
                <a:spcPts val="0"/>
              </a:spcAft>
            </a:pPr>
            <a:r>
              <a:rPr sz="23000" b="1" i="0">
                <a:solidFill>
                  <a:srgbClr val="101D2F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120700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 spc="400">
                <a:solidFill>
                  <a:srgbClr val="C8A45C"/>
                </a:solidFill>
                <a:latin typeface="Arial"/>
                <a:ea typeface="微软雅黑"/>
              </a:rPr>
              <a:t>CHAPTER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1481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ECD29C"/>
                </a:solidFill>
                <a:latin typeface="Georgia"/>
                <a:ea typeface="微软雅黑"/>
              </a:rPr>
              <a:t>02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2960" y="2212848"/>
            <a:ext cx="1005840" cy="0"/>
          </a:xfrm>
          <a:prstGeom prst="line">
            <a:avLst/>
          </a:prstGeom>
          <a:ln w="1270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22960" y="2487168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 i="0">
                <a:solidFill>
                  <a:srgbClr val="ECF1F8"/>
                </a:solidFill>
                <a:latin typeface="Arial"/>
                <a:ea typeface="微软雅黑"/>
              </a:rPr>
              <a:t>融合架构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3364992"/>
            <a:ext cx="6537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C2CEDF"/>
                </a:solidFill>
                <a:latin typeface="Arial"/>
                <a:ea typeface="微软雅黑"/>
              </a:rPr>
              <a:t>把一次多中心科研拆成五个可执行、可监管、可计量的步骤，再放进一张三层架构里。</a:t>
            </a:r>
          </a:p>
        </p:txBody>
      </p:sp>
      <p:sp>
        <p:nvSpPr>
          <p:cNvPr id="55" name="Rectangle 54"/>
          <p:cNvSpPr/>
          <p:nvPr/>
        </p:nvSpPr>
        <p:spPr>
          <a:xfrm rot="2700000">
            <a:off x="822960" y="462686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52628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五步闭环：从资源发布到成果交付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97280" y="487375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 rot="2700000">
            <a:off x="822960" y="512978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50292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三层架构：机构、平台、联合研究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97280" y="537667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 rot="2700000">
            <a:off x="822960" y="563270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" y="553212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五项技术：认得准、找得到、管得住、送不出、算得了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97280" y="587959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509760" y="589788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 spc="160">
                <a:solidFill>
                  <a:srgbClr val="5A6B82"/>
                </a:solidFill>
                <a:latin typeface="Arial"/>
                <a:ea typeface="微软雅黑"/>
              </a:rPr>
              <a:t>07 / 20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WORKFLOW  /  五步闭环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08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50" b="1" i="0">
                <a:solidFill>
                  <a:srgbClr val="ECF1F8"/>
                </a:solidFill>
                <a:latin typeface="Arial"/>
                <a:ea typeface="微软雅黑"/>
              </a:rPr>
              <a:t>融合之后怎么跑：一项多中心科研的五个步骤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从“医院发布一条目录”开始，到“合规结果交付”结束；原始数据始终不离开医院。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170078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 spc="120">
                <a:solidFill>
                  <a:srgbClr val="C8A45C"/>
                </a:solidFill>
                <a:latin typeface="Arial"/>
                <a:ea typeface="微软雅黑"/>
              </a:rPr>
              <a:t>发起一项多中心科研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170078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20">
                <a:solidFill>
                  <a:srgbClr val="C8A45C"/>
                </a:solidFill>
                <a:latin typeface="Arial"/>
                <a:ea typeface="微软雅黑"/>
              </a:rPr>
              <a:t>交付合规结果与分配依据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188720" y="2048256"/>
            <a:ext cx="9829800" cy="0"/>
          </a:xfrm>
          <a:prstGeom prst="line">
            <a:avLst/>
          </a:prstGeom>
          <a:ln w="10160">
            <a:solidFill>
              <a:srgbClr val="8A6C33">
                <a:alpha val="8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755648" y="1997964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659636" y="1901952"/>
            <a:ext cx="292608" cy="292608"/>
          </a:xfrm>
          <a:prstGeom prst="ellipse">
            <a:avLst/>
          </a:prstGeom>
          <a:solidFill>
            <a:srgbClr val="0A1425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59636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E1A2C">
              <a:alpha val="86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7552" y="2377440"/>
            <a:ext cx="365760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C8A45C"/>
                </a:solidFill>
                <a:latin typeface="Arial"/>
                <a:ea typeface="微软雅黑"/>
              </a:rPr>
              <a:t>STEP 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主体接入与资源发布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医院通过连接器接入，只发布目录，不上传原始数据。例：5000 例某呼吸疾病脱敏队列。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7552" y="4590288"/>
            <a:ext cx="1627632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87552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5A6B82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可被发现的数据目录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816351" y="2048256"/>
            <a:ext cx="146305" cy="0"/>
          </a:xfrm>
          <a:prstGeom prst="line">
            <a:avLst/>
          </a:prstGeom>
          <a:ln w="7620">
            <a:solidFill>
              <a:srgbClr val="C8A45C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922776" y="1997964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26763" y="1901952"/>
            <a:ext cx="292608" cy="292608"/>
          </a:xfrm>
          <a:prstGeom prst="ellipse">
            <a:avLst/>
          </a:prstGeom>
          <a:solidFill>
            <a:srgbClr val="0A1425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26763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C8A45C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990088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E1A2C">
              <a:alpha val="86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154680" y="2377440"/>
            <a:ext cx="365760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54680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C8A45C"/>
                </a:solidFill>
                <a:latin typeface="Arial"/>
                <a:ea typeface="微软雅黑"/>
              </a:rPr>
              <a:t>STEP 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54680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项目申请与供需匹配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54680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课题牵头方提出研究需求，在目录中匹配具备条件的医院，形成多中心方案。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154680" y="4590288"/>
            <a:ext cx="1627632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154680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5A6B82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54680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多中心研究方案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983480" y="2048256"/>
            <a:ext cx="146303" cy="0"/>
          </a:xfrm>
          <a:prstGeom prst="line">
            <a:avLst/>
          </a:prstGeom>
          <a:ln w="7620">
            <a:solidFill>
              <a:srgbClr val="C8A45C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6089904" y="1997964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993892" y="1901952"/>
            <a:ext cx="292608" cy="292608"/>
          </a:xfrm>
          <a:prstGeom prst="ellipse">
            <a:avLst/>
          </a:prstGeom>
          <a:solidFill>
            <a:srgbClr val="0A1425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93892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C8A45C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157216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E1A2C">
              <a:alpha val="86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321808" y="2377440"/>
            <a:ext cx="365760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21808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C8A45C"/>
                </a:solidFill>
                <a:latin typeface="Arial"/>
                <a:ea typeface="微软雅黑"/>
              </a:rPr>
              <a:t>STEP 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1808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规则约定与授权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21808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数字合约写清人员、期限、工具、输出要求与责任边界，由系统强制执行。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321808" y="4590288"/>
            <a:ext cx="1627632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321808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5A6B82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21808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可执行的数字合约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150608" y="2048256"/>
            <a:ext cx="146304" cy="0"/>
          </a:xfrm>
          <a:prstGeom prst="line">
            <a:avLst/>
          </a:prstGeom>
          <a:ln w="7620">
            <a:solidFill>
              <a:srgbClr val="C8A45C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257031" y="1997964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161019" y="1901952"/>
            <a:ext cx="292608" cy="292608"/>
          </a:xfrm>
          <a:prstGeom prst="ellipse">
            <a:avLst/>
          </a:prstGeom>
          <a:solidFill>
            <a:srgbClr val="0A1425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61019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C8A45C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24344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E1A2C">
              <a:alpha val="86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488936" y="2377440"/>
            <a:ext cx="365760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88936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C8A45C"/>
                </a:solidFill>
                <a:latin typeface="Arial"/>
                <a:ea typeface="微软雅黑"/>
              </a:rPr>
              <a:t>STEP 04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88936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进入 TRE 开展计算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88936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数据不脱离医院控制，研究人员在受控工作区完成分析、训练与验证。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7488936" y="4590288"/>
            <a:ext cx="1627631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488936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5A6B82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88936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受控计算任务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9317736" y="2048256"/>
            <a:ext cx="146304" cy="0"/>
          </a:xfrm>
          <a:prstGeom prst="line">
            <a:avLst/>
          </a:prstGeom>
          <a:ln w="7620">
            <a:solidFill>
              <a:srgbClr val="C8A45C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24160" y="1997964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328148" y="1901952"/>
            <a:ext cx="292608" cy="292608"/>
          </a:xfrm>
          <a:prstGeom prst="ellipse">
            <a:avLst/>
          </a:prstGeom>
          <a:solidFill>
            <a:srgbClr val="0A1425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328148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C8A45C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491472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E1A2C">
              <a:alpha val="86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56064" y="2377440"/>
            <a:ext cx="365760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56064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C8A45C"/>
                </a:solidFill>
                <a:latin typeface="Arial"/>
                <a:ea typeface="微软雅黑"/>
              </a:rPr>
              <a:t>STEP 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56064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ECF1F8"/>
                </a:solidFill>
                <a:latin typeface="Arial"/>
                <a:ea typeface="微软雅黑"/>
              </a:rPr>
              <a:t>输出审查与成果交付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56064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结果通过风险披露审查后才可导出；全程存证、计量、评价，作为分配依据。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656064" y="4590288"/>
            <a:ext cx="1627632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656064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5A6B82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56064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合规结果与分配依据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22960" y="5687568"/>
            <a:ext cx="54864" cy="29260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6926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ECF1F8"/>
                </a:solidFill>
                <a:latin typeface="Arial"/>
                <a:ea typeface="微软雅黑"/>
              </a:rPr>
              <a:t>资源跨机构发现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74720" y="5687568"/>
            <a:ext cx="54864" cy="29260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2102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ECF1F8"/>
                </a:solidFill>
                <a:latin typeface="Arial"/>
                <a:ea typeface="微软雅黑"/>
              </a:rPr>
              <a:t>授权按项目协同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26480" y="5687568"/>
            <a:ext cx="54864" cy="29260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7278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ECF1F8"/>
                </a:solidFill>
                <a:latin typeface="Arial"/>
                <a:ea typeface="微软雅黑"/>
              </a:rPr>
              <a:t>计算在可信环境执行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778240" y="5687568"/>
            <a:ext cx="54864" cy="29260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2454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ECF1F8"/>
                </a:solidFill>
                <a:latin typeface="Arial"/>
                <a:ea typeface="微软雅黑"/>
              </a:rPr>
              <a:t>结果经审查共享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ARCHITECTURE  /  三层全景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09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CF1F8"/>
                </a:solidFill>
                <a:latin typeface="Arial"/>
                <a:ea typeface="微软雅黑"/>
              </a:rPr>
              <a:t>一张图看清：数据在院内，能力在平台，成果在网络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底层机构各自保留原始数据与 TRE 受控工作区；中间平台统一身份、目录、项目、授权、任务与审计；顶层形成跨机构联合研究。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19072"/>
            <a:ext cx="8366760" cy="841248"/>
          </a:xfrm>
          <a:prstGeom prst="roundRect">
            <a:avLst>
              <a:gd name="adj" fmla="val 4500"/>
            </a:avLst>
          </a:prstGeom>
          <a:solidFill>
            <a:srgbClr val="13233A">
              <a:alpha val="92000"/>
            </a:srgbClr>
          </a:solidFill>
          <a:ln w="889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" y="184708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1" i="0">
                <a:solidFill>
                  <a:srgbClr val="C8A45C"/>
                </a:solidFill>
                <a:latin typeface="Arial"/>
                <a:ea typeface="微软雅黑"/>
              </a:rPr>
              <a:t>联合研究层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204825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跨机构科研成果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61488" y="1947672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081221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ECF1F8"/>
                </a:solidFill>
                <a:latin typeface="Arial"/>
                <a:ea typeface="微软雅黑"/>
              </a:rPr>
              <a:t>多中心队列研究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08576" y="1947672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081221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ECF1F8"/>
                </a:solidFill>
                <a:latin typeface="Arial"/>
                <a:ea typeface="微软雅黑"/>
              </a:rPr>
              <a:t>联合 AI 模型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55664" y="1947672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081221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ECF1F8"/>
                </a:solidFill>
                <a:latin typeface="Arial"/>
                <a:ea typeface="微软雅黑"/>
              </a:rPr>
              <a:t>真实世界研究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9528048" y="1792224"/>
            <a:ext cx="0" cy="1042416"/>
          </a:xfrm>
          <a:prstGeom prst="line">
            <a:avLst/>
          </a:prstGeom>
          <a:ln w="1524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9217152" y="1792224"/>
            <a:ext cx="329184" cy="0"/>
          </a:xfrm>
          <a:prstGeom prst="line">
            <a:avLst/>
          </a:prstGeom>
          <a:ln w="15240">
            <a:solidFill>
              <a:srgbClr val="C8A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710928" y="1901952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0" i="0">
                <a:solidFill>
                  <a:srgbClr val="ECD29C"/>
                </a:solidFill>
                <a:latin typeface="Arial"/>
                <a:ea typeface="微软雅黑"/>
              </a:rPr>
              <a:t>仅合规汇总</a:t>
            </a:r>
          </a:p>
          <a:p>
            <a:pPr algn="l">
              <a:lnSpc>
                <a:spcPct val="135000"/>
              </a:lnSpc>
            </a:pPr>
            <a:r>
              <a:rPr sz="740" b="0" i="0">
                <a:solidFill>
                  <a:srgbClr val="ECD29C"/>
                </a:solidFill>
                <a:latin typeface="Arial"/>
                <a:ea typeface="微软雅黑"/>
              </a:rPr>
              <a:t>结果上浮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" y="2852928"/>
            <a:ext cx="10561320" cy="1417320"/>
          </a:xfrm>
          <a:prstGeom prst="roundRect">
            <a:avLst>
              <a:gd name="adj" fmla="val 4500"/>
            </a:avLst>
          </a:prstGeom>
          <a:solidFill>
            <a:srgbClr val="0E1A2C">
              <a:alpha val="90000"/>
            </a:srgbClr>
          </a:solidFill>
          <a:ln w="889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5" y="2852928"/>
            <a:ext cx="457200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5" y="296265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20" b="1" i="0">
                <a:solidFill>
                  <a:srgbClr val="ECF1F8"/>
                </a:solidFill>
                <a:latin typeface="Arial"/>
                <a:ea typeface="微软雅黑"/>
              </a:rPr>
              <a:t>可信数据空间协同服务平台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2999232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8293AB"/>
                </a:solidFill>
                <a:latin typeface="Arial"/>
                <a:ea typeface="微软雅黑"/>
              </a:rPr>
              <a:t>机构接入连接器  +  中心服务平台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2415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70431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70431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身份认证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52344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80360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C8A45C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80360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资源目录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62272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90288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C8A45C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90288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项目管理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2200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0216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C8A45C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授权合约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82128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10144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C8A45C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10144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任务调度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592056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20072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C8A45C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20072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全程审计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" y="4407408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 spc="80">
                <a:solidFill>
                  <a:srgbClr val="C8A45C"/>
                </a:solidFill>
                <a:latin typeface="Arial"/>
                <a:ea typeface="微软雅黑"/>
              </a:rPr>
              <a:t>数据源地  /  原始数据 100% 留在本地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22960" y="4645152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0E1A2C">
              <a:alpha val="85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exagon 90"/>
          <p:cNvSpPr/>
          <p:nvPr/>
        </p:nvSpPr>
        <p:spPr>
          <a:xfrm>
            <a:off x="1005840" y="4773168"/>
            <a:ext cx="329184" cy="32918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ED3C6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26464" y="47914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医疗机构 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26464" y="501091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ECD29C"/>
                </a:solidFill>
                <a:latin typeface="Arial"/>
                <a:ea typeface="微软雅黑"/>
              </a:rPr>
              <a:t>临床诊疗数据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4128" y="53218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TRE 受控工作区 · 本地计算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24128" y="557784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原始数据留存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52544" y="4645152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0E1A2C">
              <a:alpha val="85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Hexagon 96"/>
          <p:cNvSpPr/>
          <p:nvPr/>
        </p:nvSpPr>
        <p:spPr>
          <a:xfrm>
            <a:off x="4535424" y="4773168"/>
            <a:ext cx="329184" cy="32918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ED3C6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56048" y="47914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医疗机构 B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56048" y="501091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ECD29C"/>
                </a:solidFill>
                <a:latin typeface="Arial"/>
                <a:ea typeface="微软雅黑"/>
              </a:rPr>
              <a:t>医学影像数据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53712" y="53218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TRE 受控工作区 · 本地计算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53712" y="557784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原始数据留存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882127" y="4645152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0E1A2C">
              <a:alpha val="85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Hexagon 102"/>
          <p:cNvSpPr/>
          <p:nvPr/>
        </p:nvSpPr>
        <p:spPr>
          <a:xfrm>
            <a:off x="8065008" y="4773168"/>
            <a:ext cx="329184" cy="32918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ED3C6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85632" y="47914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ECF1F8"/>
                </a:solidFill>
                <a:latin typeface="Arial"/>
                <a:ea typeface="微软雅黑"/>
              </a:rPr>
              <a:t>科研机构 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85632" y="501091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ECD29C"/>
                </a:solidFill>
                <a:latin typeface="Arial"/>
                <a:ea typeface="微软雅黑"/>
              </a:rPr>
              <a:t>科研队列数据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83296" y="53218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TRE 受控工作区 · 本地计算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083296" y="557784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原始数据留存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144768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ECD29C"/>
                </a:solidFill>
                <a:latin typeface="Arial"/>
                <a:ea typeface="微软雅黑"/>
              </a:rPr>
              <a:t>资源跨机构发现　·　授权按项目协同　·　计算在可信环境执行　·　结果经审查共享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TECHNOLOGY  /  五项关键技术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10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50" b="1" i="0">
                <a:solidFill>
                  <a:srgbClr val="ECF1F8"/>
                </a:solidFill>
                <a:latin typeface="Arial"/>
                <a:ea typeface="微软雅黑"/>
              </a:rPr>
              <a:t>一条从“敢供”到“能算”的信任链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五项技术分别守住身份、发现、控制、交付与计算五个关口，缺一不可。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3401568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" y="3401568"/>
            <a:ext cx="329184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" y="352958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" y="3730752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ECD29C"/>
                </a:solidFill>
                <a:latin typeface="Arial"/>
                <a:ea typeface="微软雅黑"/>
              </a:rPr>
              <a:t>认得准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" y="4261104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ECF1F8"/>
                </a:solidFill>
                <a:latin typeface="Arial"/>
                <a:ea typeface="微软雅黑"/>
              </a:rPr>
              <a:t>融合身份认证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" y="4498848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CA × DID，权威签发、链上存证、跨域互认，杜绝冒名调阅。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62656" y="3099816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08960" y="3099816"/>
            <a:ext cx="329184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0" y="32278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C8A45C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0" y="342900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ECD29C"/>
                </a:solidFill>
                <a:latin typeface="Arial"/>
                <a:ea typeface="微软雅黑"/>
              </a:rPr>
              <a:t>找得到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395935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ECF1F8"/>
                </a:solidFill>
                <a:latin typeface="Arial"/>
                <a:ea typeface="微软雅黑"/>
              </a:rPr>
              <a:t>智能检索推荐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0" y="4197096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RAG × 医学知识图谱，自然语言直达匹配的脱敏队列。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102352" y="2798064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248656" y="2798064"/>
            <a:ext cx="329184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48656" y="292608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C8A45C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48656" y="3127248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ECD29C"/>
                </a:solidFill>
                <a:latin typeface="Arial"/>
                <a:ea typeface="微软雅黑"/>
              </a:rPr>
              <a:t>管得住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48656" y="3657600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ECF1F8"/>
                </a:solidFill>
                <a:latin typeface="Arial"/>
                <a:ea typeface="微软雅黑"/>
              </a:rPr>
              <a:t>数字合约与使用控制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48656" y="3895344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用途、次数、期限写成机器执行的规则，超范围即拦截。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42048" y="2496312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88352" y="2496312"/>
            <a:ext cx="329184" cy="18288"/>
          </a:xfrm>
          <a:prstGeom prst="rect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88352" y="262432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C8A45C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8352" y="282549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5ED3C6"/>
                </a:solidFill>
                <a:latin typeface="Arial"/>
                <a:ea typeface="微软雅黑"/>
              </a:rPr>
              <a:t>送不出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88352" y="335584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ECF1F8"/>
                </a:solidFill>
                <a:latin typeface="Arial"/>
                <a:ea typeface="微软雅黑"/>
              </a:rPr>
              <a:t>云桌面 × 数据沙箱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88352" y="3593591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可用不可见，终端不落地，复制、外设、截屏均受控。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381744" y="2194560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28048" y="2194560"/>
            <a:ext cx="329184" cy="18288"/>
          </a:xfrm>
          <a:prstGeom prst="rect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28048" y="232257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C8A45C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28048" y="252374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5ED3C6"/>
                </a:solidFill>
                <a:latin typeface="Arial"/>
                <a:ea typeface="微软雅黑"/>
              </a:rPr>
              <a:t>算得了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28048" y="3054096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ECF1F8"/>
                </a:solidFill>
                <a:latin typeface="Arial"/>
                <a:ea typeface="微软雅黑"/>
              </a:rPr>
              <a:t>隐私保护计算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28048" y="3291839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数据不动模型动，多方在密文或参数层面联合建模。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1819656" y="2825496"/>
            <a:ext cx="2139696" cy="301752"/>
          </a:xfrm>
          <a:prstGeom prst="line">
            <a:avLst/>
          </a:prstGeom>
          <a:ln w="1016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959352" y="2523744"/>
            <a:ext cx="2139696" cy="301752"/>
          </a:xfrm>
          <a:prstGeom prst="line">
            <a:avLst/>
          </a:prstGeom>
          <a:ln w="1016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099048" y="2221992"/>
            <a:ext cx="2139696" cy="301752"/>
          </a:xfrm>
          <a:prstGeom prst="line">
            <a:avLst/>
          </a:prstGeom>
          <a:ln w="1016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38744" y="1920240"/>
            <a:ext cx="2139696" cy="301752"/>
          </a:xfrm>
          <a:prstGeom prst="line">
            <a:avLst/>
          </a:prstGeom>
          <a:ln w="1016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819656" y="3127248"/>
            <a:ext cx="0" cy="274320"/>
          </a:xfrm>
          <a:prstGeom prst="line">
            <a:avLst/>
          </a:prstGeom>
          <a:ln w="635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796796" y="3104388"/>
            <a:ext cx="45720" cy="45720"/>
          </a:xfrm>
          <a:prstGeom prst="ellipse">
            <a:avLst/>
          </a:prstGeom>
          <a:solidFill>
            <a:srgbClr val="C8A45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3959352" y="2825496"/>
            <a:ext cx="0" cy="274320"/>
          </a:xfrm>
          <a:prstGeom prst="line">
            <a:avLst/>
          </a:prstGeom>
          <a:ln w="635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3936491" y="2802636"/>
            <a:ext cx="45720" cy="45720"/>
          </a:xfrm>
          <a:prstGeom prst="ellipse">
            <a:avLst/>
          </a:prstGeom>
          <a:solidFill>
            <a:srgbClr val="C8A45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6099048" y="2523744"/>
            <a:ext cx="0" cy="274320"/>
          </a:xfrm>
          <a:prstGeom prst="line">
            <a:avLst/>
          </a:prstGeom>
          <a:ln w="635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6076188" y="2500884"/>
            <a:ext cx="45720" cy="45720"/>
          </a:xfrm>
          <a:prstGeom prst="ellipse">
            <a:avLst/>
          </a:prstGeom>
          <a:solidFill>
            <a:srgbClr val="C8A45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8238744" y="2221992"/>
            <a:ext cx="0" cy="274320"/>
          </a:xfrm>
          <a:prstGeom prst="line">
            <a:avLst/>
          </a:prstGeom>
          <a:ln w="635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8215884" y="2199132"/>
            <a:ext cx="45720" cy="45720"/>
          </a:xfrm>
          <a:prstGeom prst="ellipse">
            <a:avLst/>
          </a:prstGeom>
          <a:solidFill>
            <a:srgbClr val="C8A45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10378440" y="1920240"/>
            <a:ext cx="0" cy="274320"/>
          </a:xfrm>
          <a:prstGeom prst="line">
            <a:avLst/>
          </a:prstGeom>
          <a:ln w="6350">
            <a:solidFill>
              <a:srgbClr val="C8A45C">
                <a:alpha val="3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0355580" y="1897380"/>
            <a:ext cx="45720" cy="45720"/>
          </a:xfrm>
          <a:prstGeom prst="ellipse">
            <a:avLst/>
          </a:prstGeom>
          <a:solidFill>
            <a:srgbClr val="C8A45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822960" y="5559552"/>
            <a:ext cx="1993392" cy="0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2960" y="5486400"/>
            <a:ext cx="0" cy="146304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816352" y="5486400"/>
            <a:ext cx="0" cy="146304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822960" y="563270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110">
                <a:solidFill>
                  <a:srgbClr val="C8A45C"/>
                </a:solidFill>
                <a:latin typeface="Arial"/>
                <a:ea typeface="微软雅黑"/>
              </a:rPr>
              <a:t>信任入口  /  01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962656" y="5559552"/>
            <a:ext cx="4133088" cy="0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962656" y="5486400"/>
            <a:ext cx="0" cy="146304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095744" y="5486400"/>
            <a:ext cx="0" cy="146304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2962656" y="5632704"/>
            <a:ext cx="41330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110">
                <a:solidFill>
                  <a:srgbClr val="C8A45C"/>
                </a:solidFill>
                <a:latin typeface="Arial"/>
                <a:ea typeface="微软雅黑"/>
              </a:rPr>
              <a:t>流通控制  /  02 — 03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242048" y="5559552"/>
            <a:ext cx="4126687" cy="0"/>
          </a:xfrm>
          <a:prstGeom prst="line">
            <a:avLst/>
          </a:prstGeom>
          <a:ln w="7620">
            <a:solidFill>
              <a:srgbClr val="5ED3C6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42048" y="5486400"/>
            <a:ext cx="0" cy="146304"/>
          </a:xfrm>
          <a:prstGeom prst="line">
            <a:avLst/>
          </a:prstGeom>
          <a:ln w="7620">
            <a:solidFill>
              <a:srgbClr val="5ED3C6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368735" y="5486400"/>
            <a:ext cx="0" cy="146304"/>
          </a:xfrm>
          <a:prstGeom prst="line">
            <a:avLst/>
          </a:prstGeom>
          <a:ln w="7620">
            <a:solidFill>
              <a:srgbClr val="5ED3C6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242048" y="5632704"/>
            <a:ext cx="412668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110">
                <a:solidFill>
                  <a:srgbClr val="5ED3C6"/>
                </a:solidFill>
                <a:latin typeface="Arial"/>
                <a:ea typeface="微软雅黑"/>
              </a:rPr>
              <a:t>安全使用  /  04 — 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" y="5961888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身份是入口，控制是闸门，计算是终点；五项技术共同把“人情授权”变成“系统授权”。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TECHNOLOGY 01 — 03  /  认得准 · 找得到 · 管得住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11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CF1F8"/>
                </a:solidFill>
                <a:latin typeface="Arial"/>
                <a:ea typeface="微软雅黑"/>
              </a:rPr>
              <a:t>先把“敢供、能找到、管得住”做成基础设施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身份是入口，检索是匹配，合约是闸门；三者共同把“人情授权”变成“系统授权”。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37360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5840" y="1737360"/>
            <a:ext cx="365760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exagon 59"/>
          <p:cNvSpPr/>
          <p:nvPr/>
        </p:nvSpPr>
        <p:spPr>
          <a:xfrm>
            <a:off x="1069848" y="1874519"/>
            <a:ext cx="457200" cy="457200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C8A45C"/>
                </a:solidFill>
                <a:latin typeface="Arial"/>
                <a:ea typeface="微软雅黑"/>
              </a:rPr>
              <a:t>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27632" y="19019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ECD29C"/>
                </a:solidFill>
                <a:latin typeface="Arial"/>
                <a:ea typeface="微软雅黑"/>
              </a:rPr>
              <a:t>认得准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27632" y="2331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融合身份认证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186537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5A6B82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" y="2688336"/>
            <a:ext cx="301752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850" b="0" i="0">
                <a:solidFill>
                  <a:srgbClr val="C2CEDF"/>
                </a:solidFill>
                <a:latin typeface="Arial"/>
                <a:ea typeface="微软雅黑"/>
              </a:rPr>
              <a:t>CA 权威证书 × 区块链 DID，权威签发、链上存证、跨域互认。过去 10 家医院 10 套账号；现在一次认证、全域互认，严防冒名调阅。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5840" y="3639312"/>
            <a:ext cx="3035808" cy="1828800"/>
          </a:xfrm>
          <a:prstGeom prst="roundRect">
            <a:avLst>
              <a:gd name="adj" fmla="val 5000"/>
            </a:avLst>
          </a:prstGeom>
          <a:solidFill>
            <a:srgbClr val="081221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170432" y="3822191"/>
            <a:ext cx="914400" cy="420624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9525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18288" tIns="54864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ECF1F8"/>
                </a:solidFill>
                <a:latin typeface="Arial"/>
                <a:ea typeface="微软雅黑"/>
              </a:rPr>
              <a:t>CA 证书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70432" y="4407408"/>
            <a:ext cx="914400" cy="420624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9525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18288" tIns="54864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ECF1F8"/>
                </a:solidFill>
                <a:latin typeface="Arial"/>
                <a:ea typeface="微软雅黑"/>
              </a:rPr>
              <a:t>DID 身份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084831" y="4032504"/>
            <a:ext cx="256033" cy="173736"/>
          </a:xfrm>
          <a:prstGeom prst="line">
            <a:avLst/>
          </a:prstGeom>
          <a:ln w="8890">
            <a:solidFill>
              <a:srgbClr val="C8A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084831" y="4443984"/>
            <a:ext cx="256033" cy="173736"/>
          </a:xfrm>
          <a:prstGeom prst="line">
            <a:avLst/>
          </a:prstGeom>
          <a:ln w="8890">
            <a:solidFill>
              <a:srgbClr val="C8A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Hexagon 69"/>
          <p:cNvSpPr/>
          <p:nvPr/>
        </p:nvSpPr>
        <p:spPr>
          <a:xfrm>
            <a:off x="2340864" y="4023360"/>
            <a:ext cx="749808" cy="566928"/>
          </a:xfrm>
          <a:prstGeom prst="hexagon">
            <a:avLst/>
          </a:prstGeom>
          <a:solidFill>
            <a:srgbClr val="13233A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18288" tIns="54864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ECD29C"/>
                </a:solidFill>
                <a:latin typeface="Arial"/>
                <a:ea typeface="微软雅黑"/>
              </a:rPr>
              <a:t>跨域
互认</a:t>
            </a:r>
          </a:p>
        </p:txBody>
      </p:sp>
      <p:sp>
        <p:nvSpPr>
          <p:cNvPr id="71" name="Oval 70"/>
          <p:cNvSpPr/>
          <p:nvPr/>
        </p:nvSpPr>
        <p:spPr>
          <a:xfrm>
            <a:off x="3378708" y="4055363"/>
            <a:ext cx="45720" cy="45720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93008" y="3986784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C2CEDF"/>
                </a:solidFill>
                <a:latin typeface="Arial"/>
                <a:ea typeface="微软雅黑"/>
              </a:rPr>
              <a:t>医院</a:t>
            </a:r>
          </a:p>
        </p:txBody>
      </p:sp>
      <p:sp>
        <p:nvSpPr>
          <p:cNvPr id="73" name="Oval 72"/>
          <p:cNvSpPr/>
          <p:nvPr/>
        </p:nvSpPr>
        <p:spPr>
          <a:xfrm>
            <a:off x="3378708" y="4439412"/>
            <a:ext cx="45720" cy="45720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93008" y="4370832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C2CEDF"/>
                </a:solidFill>
                <a:latin typeface="Arial"/>
                <a:ea typeface="微软雅黑"/>
              </a:rPr>
              <a:t>高校</a:t>
            </a:r>
          </a:p>
        </p:txBody>
      </p:sp>
      <p:sp>
        <p:nvSpPr>
          <p:cNvPr id="75" name="Oval 74"/>
          <p:cNvSpPr/>
          <p:nvPr/>
        </p:nvSpPr>
        <p:spPr>
          <a:xfrm>
            <a:off x="3378708" y="4823459"/>
            <a:ext cx="45720" cy="45720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93008" y="475488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C2CEDF"/>
                </a:solidFill>
                <a:latin typeface="Arial"/>
                <a:ea typeface="微软雅黑"/>
              </a:rPr>
              <a:t>药企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70432" y="5074920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8293AB"/>
                </a:solidFill>
                <a:latin typeface="Arial"/>
                <a:ea typeface="微软雅黑"/>
              </a:rPr>
              <a:t>一次认证  ·  全域互认  ·  全程留痕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5614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解决　从 10 套账号，到一次认证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407408" y="1737360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90288" y="1737360"/>
            <a:ext cx="365760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exagon 80"/>
          <p:cNvSpPr/>
          <p:nvPr/>
        </p:nvSpPr>
        <p:spPr>
          <a:xfrm>
            <a:off x="4654296" y="1874519"/>
            <a:ext cx="457200" cy="457200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C8A45C"/>
                </a:solidFill>
                <a:latin typeface="Arial"/>
                <a:ea typeface="微软雅黑"/>
              </a:rPr>
              <a:t>RAG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80" y="19019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ECD29C"/>
                </a:solidFill>
                <a:latin typeface="Arial"/>
                <a:ea typeface="微软雅黑"/>
              </a:rPr>
              <a:t>找得到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80" y="2331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智能检索推荐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4888" y="186537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5A6B82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08576" y="2688336"/>
            <a:ext cx="301752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850" b="0" i="0">
                <a:solidFill>
                  <a:srgbClr val="C2CEDF"/>
                </a:solidFill>
                <a:latin typeface="Arial"/>
                <a:ea typeface="微软雅黑"/>
              </a:rPr>
              <a:t>大模型 RAG × 医学知识图谱，理解临床语义而非只匹配关键词。“COPD + 肺功能下降 + 近 3 年”可直接推荐匹配的脱敏病例集。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90288" y="3639312"/>
            <a:ext cx="3035808" cy="1828800"/>
          </a:xfrm>
          <a:prstGeom prst="roundRect">
            <a:avLst>
              <a:gd name="adj" fmla="val 5000"/>
            </a:avLst>
          </a:prstGeom>
          <a:solidFill>
            <a:srgbClr val="081221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54880" y="3803904"/>
            <a:ext cx="2706624" cy="384048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9525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64608" y="38770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COPD + 肺功能下降 + 近 3 年</a:t>
            </a:r>
          </a:p>
        </p:txBody>
      </p:sp>
      <p:sp>
        <p:nvSpPr>
          <p:cNvPr id="89" name="Oval 88"/>
          <p:cNvSpPr/>
          <p:nvPr/>
        </p:nvSpPr>
        <p:spPr>
          <a:xfrm>
            <a:off x="7059168" y="3877056"/>
            <a:ext cx="164592" cy="164592"/>
          </a:xfrm>
          <a:prstGeom prst="ellipse">
            <a:avLst/>
          </a:prstGeom>
          <a:noFill/>
          <a:ln w="1270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7187184" y="4005072"/>
            <a:ext cx="73152" cy="73152"/>
          </a:xfrm>
          <a:prstGeom prst="line">
            <a:avLst/>
          </a:prstGeom>
          <a:ln w="1270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754880" y="43159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E1A2C"/>
          </a:solidFill>
          <a:ln w="9525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0" tIns="36576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匹配队列 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36208" y="4315968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5ED3C6"/>
                </a:solidFill>
                <a:latin typeface="Arial"/>
                <a:ea typeface="微软雅黑"/>
              </a:rPr>
              <a:t>脱敏病例集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754880" y="462686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E1A2C"/>
          </a:solidFill>
          <a:ln w="9525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0" tIns="36576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匹配队列 B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36208" y="462686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5ED3C6"/>
                </a:solidFill>
                <a:latin typeface="Arial"/>
                <a:ea typeface="微软雅黑"/>
              </a:rPr>
              <a:t>脱敏病例集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54880" y="4937759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E1A2C"/>
          </a:solidFill>
          <a:ln w="9525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0" tIns="36576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匹配队列 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36208" y="4937759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5ED3C6"/>
                </a:solidFill>
                <a:latin typeface="Arial"/>
                <a:ea typeface="微软雅黑"/>
              </a:rPr>
              <a:t>脱敏病例集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54880" y="526694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8293AB"/>
                </a:solidFill>
                <a:latin typeface="Arial"/>
                <a:ea typeface="微软雅黑"/>
              </a:rPr>
              <a:t>自然语言  →  知识图谱  →  可研究队列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08576" y="5614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解决　从关键词碰运气，到语义级匹配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991856" y="1737360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74736" y="1737360"/>
            <a:ext cx="365760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Hexagon 100"/>
          <p:cNvSpPr/>
          <p:nvPr/>
        </p:nvSpPr>
        <p:spPr>
          <a:xfrm>
            <a:off x="8238744" y="1874519"/>
            <a:ext cx="457200" cy="457200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C8A45C"/>
                </a:solidFill>
                <a:latin typeface="Arial"/>
                <a:ea typeface="微软雅黑"/>
              </a:rPr>
              <a:t>CTL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96528" y="19019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ECD29C"/>
                </a:solidFill>
                <a:latin typeface="Arial"/>
                <a:ea typeface="微软雅黑"/>
              </a:rPr>
              <a:t>管得住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96528" y="2331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数字合约与使用控制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89336" y="186537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5A6B82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93024" y="2688336"/>
            <a:ext cx="301752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850" b="0" i="0">
                <a:solidFill>
                  <a:srgbClr val="C2CEDF"/>
                </a:solidFill>
                <a:latin typeface="Arial"/>
                <a:ea typeface="微软雅黑"/>
              </a:rPr>
              <a:t>规则写入区块链数字合约，使用控制引擎按用途、次数、期限自动执行。“仅限研究、限 100 次调用”不再靠自觉，而是机器铁律。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174736" y="3639312"/>
            <a:ext cx="3035808" cy="1828800"/>
          </a:xfrm>
          <a:prstGeom prst="roundRect">
            <a:avLst>
              <a:gd name="adj" fmla="val 5000"/>
            </a:avLst>
          </a:prstGeom>
          <a:solidFill>
            <a:srgbClr val="081221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57616" y="3785615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用途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33104" y="3785615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ECF1F8"/>
                </a:solidFill>
                <a:latin typeface="Arial"/>
                <a:ea typeface="微软雅黑"/>
              </a:rPr>
              <a:t>仅限研究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357616" y="4023359"/>
            <a:ext cx="16916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8357616" y="415137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次数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33104" y="41513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ECF1F8"/>
                </a:solidFill>
                <a:latin typeface="Arial"/>
                <a:ea typeface="微软雅黑"/>
              </a:rPr>
              <a:t>100 次调用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8357616" y="4389120"/>
            <a:ext cx="16916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357616" y="451713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期限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33104" y="451713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ECF1F8"/>
                </a:solidFill>
                <a:latin typeface="Arial"/>
                <a:ea typeface="微软雅黑"/>
              </a:rPr>
              <a:t>按项目约定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8357616" y="4754879"/>
            <a:ext cx="169164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10040112" y="3931920"/>
            <a:ext cx="768096" cy="768096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116921" y="4008729"/>
            <a:ext cx="614476" cy="614476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193731" y="4085539"/>
            <a:ext cx="460857" cy="460857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270540" y="4162348"/>
            <a:ext cx="307238" cy="307238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347350" y="4239158"/>
            <a:ext cx="153619" cy="153619"/>
          </a:xfrm>
          <a:prstGeom prst="ellipse">
            <a:avLst/>
          </a:prstGeom>
          <a:solidFill>
            <a:srgbClr val="C8A45C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149840" y="4041648"/>
            <a:ext cx="548640" cy="548640"/>
          </a:xfrm>
          <a:prstGeom prst="ellipse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149840" y="4142232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ECD29C"/>
                </a:solidFill>
                <a:latin typeface="Georgia"/>
                <a:ea typeface="微软雅黑"/>
              </a:rPr>
              <a:t>100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03536" y="4626864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60" b="0" i="0">
                <a:solidFill>
                  <a:srgbClr val="8293AB"/>
                </a:solidFill>
                <a:latin typeface="Arial"/>
                <a:ea typeface="微软雅黑"/>
              </a:rPr>
              <a:t>次调用上限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57616" y="5102352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5ED3C6"/>
                </a:solidFill>
                <a:latin typeface="Arial"/>
                <a:ea typeface="微软雅黑"/>
              </a:rPr>
              <a:t>超范围即拦截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93024" y="5614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解决　从纸质协议，到机器执行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TECHNOLOGY 04 — 05  /  送不出 · 算得了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12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ECF1F8"/>
                </a:solidFill>
                <a:latin typeface="Arial"/>
                <a:ea typeface="微软雅黑"/>
              </a:rPr>
              <a:t>再守住“带不走”与“联合算”两道闸门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权限批了，还要防止复制、外设与截屏；数据不能集中，还要让多方一起训练。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37360"/>
            <a:ext cx="5166360" cy="448056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5840" y="1737360"/>
            <a:ext cx="402336" cy="20116"/>
          </a:xfrm>
          <a:prstGeom prst="rect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2416" y="188366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ED3C6"/>
                </a:solidFill>
                <a:latin typeface="Arial"/>
                <a:ea typeface="微软雅黑"/>
              </a:rPr>
              <a:t>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89888" y="18653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5ED3C6"/>
                </a:solidFill>
                <a:latin typeface="Arial"/>
                <a:ea typeface="微软雅黑"/>
              </a:rPr>
              <a:t>送不出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1460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安全数据交付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" y="2267712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40" b="0" i="0">
                <a:solidFill>
                  <a:srgbClr val="C2CEDF"/>
                </a:solidFill>
                <a:latin typeface="Arial"/>
                <a:ea typeface="微软雅黑"/>
              </a:rPr>
              <a:t>云桌面 + 数据沙箱双重隔离：沙箱底层用容器、虚拟化与硬件隔离（如 Intel SGX）保护数据处理，云桌面在前端控制访问会话。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2416" y="3063239"/>
            <a:ext cx="4709160" cy="1755648"/>
          </a:xfrm>
          <a:prstGeom prst="roundRect">
            <a:avLst>
              <a:gd name="adj" fmla="val 5000"/>
            </a:avLst>
          </a:prstGeom>
          <a:solidFill>
            <a:srgbClr val="081221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261872" y="3310128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9525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18288" t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1" i="0">
                <a:solidFill>
                  <a:srgbClr val="ECF1F8"/>
                </a:solidFill>
                <a:latin typeface="Arial"/>
                <a:ea typeface="微软雅黑"/>
              </a:rPr>
              <a:t>原始数据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293AB"/>
                </a:solidFill>
                <a:latin typeface="Arial"/>
                <a:ea typeface="微软雅黑"/>
              </a:rPr>
              <a:t>服务端只读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33088" y="3310128"/>
            <a:ext cx="1298448" cy="841248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9525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18288" t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1" i="0">
                <a:solidFill>
                  <a:srgbClr val="ECF1F8"/>
                </a:solidFill>
                <a:latin typeface="Arial"/>
                <a:ea typeface="微软雅黑"/>
              </a:rPr>
              <a:t>研究员屏幕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293AB"/>
                </a:solidFill>
                <a:latin typeface="Arial"/>
                <a:ea typeface="微软雅黑"/>
              </a:rPr>
              <a:t>仅加密像素流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313432" y="3730752"/>
            <a:ext cx="1783080" cy="0"/>
          </a:xfrm>
          <a:prstGeom prst="line">
            <a:avLst/>
          </a:prstGeom>
          <a:ln w="11430">
            <a:solidFill>
              <a:srgbClr val="C8A45C">
                <a:alpha val="9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267712" y="3493008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ECD29C"/>
                </a:solidFill>
                <a:latin typeface="Arial"/>
                <a:ea typeface="微软雅黑"/>
              </a:rPr>
              <a:t>加密画面像素流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61872" y="4334256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C2CEDF"/>
                </a:solidFill>
                <a:latin typeface="Arial"/>
                <a:ea typeface="微软雅黑"/>
              </a:rPr>
              <a:t>禁止复制粘贴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24912" y="4334256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C2CEDF"/>
                </a:solidFill>
                <a:latin typeface="Arial"/>
                <a:ea typeface="微软雅黑"/>
              </a:rPr>
              <a:t>U 盘自动禁用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87952" y="4334256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C2CEDF"/>
                </a:solidFill>
                <a:latin typeface="Arial"/>
                <a:ea typeface="微软雅黑"/>
              </a:rPr>
              <a:t>截屏溯源水印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1872" y="4617720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真实数据只在服务端运行，终端拿不到一条原始记录。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" y="4983479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结果：可用不可见、终端不落地；复制、外设、截屏三条外泄路径同时被封死。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42416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ECD29C"/>
                </a:solidFill>
                <a:latin typeface="Arial"/>
                <a:ea typeface="微软雅黑"/>
              </a:rPr>
              <a:t>可用不可见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51176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ECD29C"/>
                </a:solidFill>
                <a:latin typeface="Arial"/>
                <a:ea typeface="微软雅黑"/>
              </a:rPr>
              <a:t>终端不落地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059936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ECD29C"/>
                </a:solidFill>
                <a:latin typeface="Arial"/>
                <a:ea typeface="微软雅黑"/>
              </a:rPr>
              <a:t>原始数据不出院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99632" y="1737360"/>
            <a:ext cx="5166360" cy="448056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82512" y="1737360"/>
            <a:ext cx="402336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188366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8A45C"/>
                </a:solidFill>
                <a:latin typeface="Arial"/>
                <a:ea typeface="微软雅黑"/>
              </a:rPr>
              <a:t>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18653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ECD29C"/>
                </a:solidFill>
                <a:latin typeface="Arial"/>
                <a:ea typeface="微软雅黑"/>
              </a:rPr>
              <a:t>算得了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安全数据计算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9088" y="2267712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40" b="0" i="0">
                <a:solidFill>
                  <a:srgbClr val="C2CEDF"/>
                </a:solidFill>
                <a:latin typeface="Arial"/>
                <a:ea typeface="微软雅黑"/>
              </a:rPr>
              <a:t>隐私保护计算：联邦学习、多方安全计算、差分隐私与同态加密；各家数据不出本院，只交换加密后的模型参数。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19088" y="3063239"/>
            <a:ext cx="4709160" cy="1755648"/>
          </a:xfrm>
          <a:prstGeom prst="roundRect">
            <a:avLst>
              <a:gd name="adj" fmla="val 5000"/>
            </a:avLst>
          </a:prstGeom>
          <a:solidFill>
            <a:srgbClr val="081221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exagon 83"/>
          <p:cNvSpPr/>
          <p:nvPr/>
        </p:nvSpPr>
        <p:spPr>
          <a:xfrm>
            <a:off x="8083296" y="3474720"/>
            <a:ext cx="1371600" cy="914400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ECD29C"/>
                </a:solidFill>
                <a:latin typeface="Arial"/>
                <a:ea typeface="微软雅黑"/>
              </a:rPr>
              <a:t>加密梯度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8293AB"/>
                </a:solidFill>
                <a:latin typeface="Arial"/>
                <a:ea typeface="微软雅黑"/>
              </a:rPr>
              <a:t>融合与聚合</a:t>
            </a:r>
          </a:p>
        </p:txBody>
      </p:sp>
      <p:sp>
        <p:nvSpPr>
          <p:cNvPr id="85" name="Oval 84"/>
          <p:cNvSpPr/>
          <p:nvPr/>
        </p:nvSpPr>
        <p:spPr>
          <a:xfrm>
            <a:off x="6656832" y="3218688"/>
            <a:ext cx="566928" cy="384048"/>
          </a:xfrm>
          <a:prstGeom prst="ellipse">
            <a:avLst/>
          </a:prstGeom>
          <a:solidFill>
            <a:srgbClr val="13233A"/>
          </a:solidFill>
          <a:ln w="889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56832" y="331927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ECF1F8"/>
                </a:solidFill>
                <a:latin typeface="Arial"/>
                <a:ea typeface="微软雅黑"/>
              </a:rPr>
              <a:t>医院 A</a:t>
            </a:r>
          </a:p>
        </p:txBody>
      </p:sp>
      <p:sp>
        <p:nvSpPr>
          <p:cNvPr id="87" name="Oval 86"/>
          <p:cNvSpPr/>
          <p:nvPr/>
        </p:nvSpPr>
        <p:spPr>
          <a:xfrm>
            <a:off x="6656832" y="4206240"/>
            <a:ext cx="566928" cy="384048"/>
          </a:xfrm>
          <a:prstGeom prst="ellipse">
            <a:avLst/>
          </a:prstGeom>
          <a:solidFill>
            <a:srgbClr val="13233A"/>
          </a:solidFill>
          <a:ln w="889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56832" y="430682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ECF1F8"/>
                </a:solidFill>
                <a:latin typeface="Arial"/>
                <a:ea typeface="微软雅黑"/>
              </a:rPr>
              <a:t>医院 B</a:t>
            </a:r>
          </a:p>
        </p:txBody>
      </p:sp>
      <p:sp>
        <p:nvSpPr>
          <p:cNvPr id="89" name="Oval 88"/>
          <p:cNvSpPr/>
          <p:nvPr/>
        </p:nvSpPr>
        <p:spPr>
          <a:xfrm>
            <a:off x="10085832" y="3712464"/>
            <a:ext cx="566928" cy="384048"/>
          </a:xfrm>
          <a:prstGeom prst="ellipse">
            <a:avLst/>
          </a:prstGeom>
          <a:solidFill>
            <a:srgbClr val="13233A"/>
          </a:solidFill>
          <a:ln w="889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85832" y="381304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ECF1F8"/>
                </a:solidFill>
                <a:latin typeface="Arial"/>
                <a:ea typeface="微软雅黑"/>
              </a:rPr>
              <a:t>医院 C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223760" y="3410712"/>
            <a:ext cx="822960" cy="320040"/>
          </a:xfrm>
          <a:prstGeom prst="line">
            <a:avLst/>
          </a:prstGeom>
          <a:ln w="8890">
            <a:solidFill>
              <a:srgbClr val="5ED3C6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223760" y="4114800"/>
            <a:ext cx="822960" cy="274320"/>
          </a:xfrm>
          <a:prstGeom prst="line">
            <a:avLst/>
          </a:prstGeom>
          <a:ln w="8890">
            <a:solidFill>
              <a:srgbClr val="5ED3C6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491472" y="3904487"/>
            <a:ext cx="548640" cy="27433"/>
          </a:xfrm>
          <a:prstGeom prst="line">
            <a:avLst/>
          </a:prstGeom>
          <a:ln w="8890">
            <a:solidFill>
              <a:srgbClr val="5ED3C6">
                <a:alpha val="75000"/>
              </a:srgb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583680" y="4590288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只交换参数或密文，不交换一条原始记录。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19088" y="4983479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 i="0">
                <a:solidFill>
                  <a:srgbClr val="C2CEDF"/>
                </a:solidFill>
                <a:latin typeface="Arial"/>
                <a:ea typeface="微软雅黑"/>
              </a:rPr>
              <a:t>例：联合训练“肺癌早期筛查 AI”——单家样本少、模型易看走眼；集中训练又风险过高。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1908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联邦学习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60780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多方安全计算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79652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差分隐私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8524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同态加密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19088" y="5797296"/>
            <a:ext cx="2011680" cy="301752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数据不动，模型动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28016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0000"/>
              </a:lnSpc>
              <a:spcAft>
                <a:spcPts val="0"/>
              </a:spcAft>
            </a:pPr>
            <a:r>
              <a:rPr sz="23000" b="1" i="0">
                <a:solidFill>
                  <a:srgbClr val="101D2F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120700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 i="0" spc="400">
                <a:solidFill>
                  <a:srgbClr val="C8A45C"/>
                </a:solidFill>
                <a:latin typeface="Arial"/>
                <a:ea typeface="微软雅黑"/>
              </a:rPr>
              <a:t>CHAPTER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1481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ECD29C"/>
                </a:solidFill>
                <a:latin typeface="Georgia"/>
                <a:ea typeface="微软雅黑"/>
              </a:rPr>
              <a:t>03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2960" y="2212848"/>
            <a:ext cx="1005840" cy="0"/>
          </a:xfrm>
          <a:prstGeom prst="line">
            <a:avLst/>
          </a:prstGeom>
          <a:ln w="1270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22960" y="2487168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 i="0">
                <a:solidFill>
                  <a:srgbClr val="ECF1F8"/>
                </a:solidFill>
                <a:latin typeface="Arial"/>
                <a:ea typeface="微软雅黑"/>
              </a:rPr>
              <a:t>实践验证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3364992"/>
            <a:ext cx="6537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C2CEDF"/>
                </a:solidFill>
                <a:latin typeface="Arial"/>
                <a:ea typeface="微软雅黑"/>
              </a:rPr>
              <a:t>安全不是效果的对手。用可复现的指标、已跑通的案例，回答“行不行、能不能复制”。</a:t>
            </a:r>
          </a:p>
        </p:txBody>
      </p:sp>
      <p:sp>
        <p:nvSpPr>
          <p:cNvPr id="55" name="Rectangle 54"/>
          <p:cNvSpPr/>
          <p:nvPr/>
        </p:nvSpPr>
        <p:spPr>
          <a:xfrm rot="2700000">
            <a:off x="822960" y="462686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52628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模型融合：不合并数据，效果达成度 82%–133%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97280" y="487375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 rot="2700000">
            <a:off x="822960" y="512978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50292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深圳商保直付：覆盖 300 万人的合规流通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97280" y="537667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 rot="2700000">
            <a:off x="822960" y="563270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" y="553212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心脏病 AI：三家医院、密文联合建模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97280" y="587959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 rot="2700000">
            <a:off x="822960" y="6135624"/>
            <a:ext cx="91440" cy="9144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603504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跨境协作：不搬数据，搬信任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97280" y="6382512"/>
            <a:ext cx="6675120" cy="0"/>
          </a:xfrm>
          <a:prstGeom prst="line">
            <a:avLst/>
          </a:prstGeom>
          <a:ln w="6350">
            <a:solidFill>
              <a:srgbClr val="27395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509760" y="589788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 spc="160">
                <a:solidFill>
                  <a:srgbClr val="5A6B82"/>
                </a:solidFill>
                <a:latin typeface="Arial"/>
                <a:ea typeface="微软雅黑"/>
              </a:rPr>
              <a:t>13 / 20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METHOD  /  异步本地更新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14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ECF1F8"/>
                </a:solidFill>
                <a:latin typeface="Arial"/>
                <a:ea typeface="微软雅黑"/>
              </a:rPr>
              <a:t>数据不合并，模型能不能不变笨？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我们把“数据集中”换成“梯度融合”：各家在本地训练，只把学到的梯度送到融合器。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55648"/>
            <a:ext cx="6446520" cy="411480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" y="18836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C8A45C"/>
                </a:solidFill>
                <a:latin typeface="Arial"/>
                <a:ea typeface="微软雅黑"/>
              </a:rPr>
              <a:t>异步本地更新的模型融合  /  ASYNCHRONOUS FUSION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5568" y="2212848"/>
            <a:ext cx="1645920" cy="841248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889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43584" y="234086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医院 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3584" y="257860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私域临床数据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43584" y="27797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本地训练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15568" y="3977639"/>
            <a:ext cx="1645920" cy="841248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889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43584" y="4105655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医院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43584" y="43434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私域临床数据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43584" y="454456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本地训练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71800" y="23774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本地
梯度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971800" y="414223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本地
梯度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2779776" y="2615184"/>
            <a:ext cx="173736" cy="18288"/>
          </a:xfrm>
          <a:prstGeom prst="line">
            <a:avLst/>
          </a:prstGeom>
          <a:ln w="8890">
            <a:solidFill>
              <a:srgbClr val="C8A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779776" y="4379976"/>
            <a:ext cx="173736" cy="18288"/>
          </a:xfrm>
          <a:prstGeom prst="line">
            <a:avLst/>
          </a:prstGeom>
          <a:ln w="8890">
            <a:solidFill>
              <a:srgbClr val="C8A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069080" y="2971800"/>
            <a:ext cx="1417320" cy="1078992"/>
          </a:xfrm>
          <a:prstGeom prst="roundRect">
            <a:avLst>
              <a:gd name="adj" fmla="val 9000"/>
            </a:avLst>
          </a:prstGeom>
          <a:solidFill>
            <a:srgbClr val="13233A"/>
          </a:solidFill>
          <a:ln w="1270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18288" t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ECD29C"/>
                </a:solidFill>
                <a:latin typeface="Arial"/>
                <a:ea typeface="微软雅黑"/>
              </a:rPr>
              <a:t>梯度融合器</a:t>
            </a: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293AB"/>
                </a:solidFill>
                <a:latin typeface="Arial"/>
                <a:ea typeface="微软雅黑"/>
              </a:rPr>
              <a:t>异步 · 定期同步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904488" y="2615184"/>
            <a:ext cx="146303" cy="448056"/>
          </a:xfrm>
          <a:prstGeom prst="line">
            <a:avLst/>
          </a:prstGeom>
          <a:ln w="8890">
            <a:solidFill>
              <a:srgbClr val="C8A45C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904488" y="3959352"/>
            <a:ext cx="146303" cy="420624"/>
          </a:xfrm>
          <a:prstGeom prst="line">
            <a:avLst/>
          </a:prstGeom>
          <a:ln w="8890">
            <a:solidFill>
              <a:srgbClr val="C8A45C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114800" y="2852928"/>
            <a:ext cx="1316736" cy="1316736"/>
          </a:xfrm>
          <a:prstGeom prst="ellipse">
            <a:avLst/>
          </a:prstGeom>
          <a:solidFill>
            <a:srgbClr val="C8A45C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6473" y="2984601"/>
            <a:ext cx="1053388" cy="1053388"/>
          </a:xfrm>
          <a:prstGeom prst="ellipse">
            <a:avLst/>
          </a:prstGeom>
          <a:solidFill>
            <a:srgbClr val="C8A45C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78147" y="3116275"/>
            <a:ext cx="790041" cy="790041"/>
          </a:xfrm>
          <a:prstGeom prst="ellipse">
            <a:avLst/>
          </a:prstGeom>
          <a:solidFill>
            <a:srgbClr val="C8A45C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09820" y="3247948"/>
            <a:ext cx="526694" cy="526694"/>
          </a:xfrm>
          <a:prstGeom prst="ellipse">
            <a:avLst/>
          </a:prstGeom>
          <a:solidFill>
            <a:srgbClr val="C8A45C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641494" y="3379622"/>
            <a:ext cx="263347" cy="263347"/>
          </a:xfrm>
          <a:prstGeom prst="ellipse">
            <a:avLst/>
          </a:prstGeom>
          <a:solidFill>
            <a:srgbClr val="C8A45C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806440" y="3035808"/>
            <a:ext cx="1207008" cy="950976"/>
          </a:xfrm>
          <a:prstGeom prst="roundRect">
            <a:avLst>
              <a:gd name="adj" fmla="val 7000"/>
            </a:avLst>
          </a:prstGeom>
          <a:solidFill>
            <a:srgbClr val="13233A"/>
          </a:solidFill>
          <a:ln w="1016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全局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CF1F8"/>
                </a:solidFill>
                <a:latin typeface="Arial"/>
                <a:ea typeface="微软雅黑"/>
              </a:rPr>
              <a:t>行业模型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486400" y="3511296"/>
            <a:ext cx="301752" cy="0"/>
          </a:xfrm>
          <a:prstGeom prst="line">
            <a:avLst/>
          </a:prstGeom>
          <a:ln w="11430">
            <a:solidFill>
              <a:srgbClr val="C8A4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733288" y="40690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8293AB"/>
                </a:solidFill>
                <a:latin typeface="Arial"/>
                <a:ea typeface="微软雅黑"/>
              </a:rPr>
              <a:t>下发各院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409944" y="4005072"/>
            <a:ext cx="0" cy="1069848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938528" y="5074920"/>
            <a:ext cx="4471416" cy="0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938528" y="4846320"/>
            <a:ext cx="0" cy="228600"/>
          </a:xfrm>
          <a:prstGeom prst="line">
            <a:avLst/>
          </a:prstGeom>
          <a:ln w="7620">
            <a:solidFill>
              <a:srgbClr val="C8A45C">
                <a:alpha val="55000"/>
              </a:srgb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97280" y="5175504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ECD29C"/>
                </a:solidFill>
                <a:latin typeface="Arial"/>
                <a:ea typeface="微软雅黑"/>
              </a:rPr>
              <a:t>原始数据不出域　·　只交换加密梯度　·　模型持续共同成长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79792" y="175564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C8A45C"/>
                </a:solidFill>
                <a:latin typeface="Arial"/>
                <a:ea typeface="微软雅黑"/>
              </a:rPr>
              <a:t>三个设计要点  /  DESIGN NOTES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79792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8A45C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36992" y="20299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ECF1F8"/>
                </a:solidFill>
                <a:latin typeface="Arial"/>
                <a:ea typeface="微软雅黑"/>
              </a:rPr>
              <a:t>本地训练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36992" y="228600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每家医院用自己的数据训练模型副本，数据完全不互通。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479792" y="2907792"/>
            <a:ext cx="370332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479792" y="303580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8A45C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36992" y="305409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ECF1F8"/>
                </a:solidFill>
                <a:latin typeface="Arial"/>
                <a:ea typeface="微软雅黑"/>
              </a:rPr>
              <a:t>异步融合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36992" y="3310128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梯度融合器定期同步双方学到的本地梯度，避免集中传输。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479792" y="3931920"/>
            <a:ext cx="370332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479792" y="40599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8A45C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36992" y="40782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ECF1F8"/>
                </a:solidFill>
                <a:latin typeface="Arial"/>
                <a:ea typeface="微软雅黑"/>
              </a:rPr>
              <a:t>全局升级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36992" y="433425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融合后的行业模型回传各院，数据不出域，价值可流转。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479792" y="4956048"/>
            <a:ext cx="3703320" cy="0"/>
          </a:xfrm>
          <a:prstGeom prst="line">
            <a:avLst/>
          </a:prstGeom>
          <a:ln w="6350">
            <a:solidFill>
              <a:srgbClr val="1A293E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479792" y="5074920"/>
            <a:ext cx="3840480" cy="749808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9525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62671" y="5212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ECD29C"/>
                </a:solidFill>
                <a:latin typeface="Arial"/>
                <a:ea typeface="微软雅黑"/>
              </a:rPr>
              <a:t>“不合并”不是妥协，而是把安全边界变成模型架构的一部分。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6089904"/>
            <a:ext cx="10561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ECD29C"/>
                </a:solidFill>
                <a:latin typeface="Arial"/>
                <a:ea typeface="微软雅黑"/>
              </a:rPr>
              <a:t>数据不出域，价值可流转，模型共同成长。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EVIDENCE  /  客观技术指标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15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ECF1F8"/>
                </a:solidFill>
                <a:latin typeface="Arial"/>
                <a:ea typeface="微软雅黑"/>
              </a:rPr>
              <a:t>实测成绩：效果达成度 82%–133%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两家医院各 64 万条样本，合并训练为方案 A（100% 基准）；数据不合并、各自训练后梯度融合为方案 B。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" y="1719072"/>
            <a:ext cx="310896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ECD29C"/>
                </a:solidFill>
                <a:latin typeface="Georgia"/>
                <a:ea typeface="微软雅黑"/>
              </a:rPr>
              <a:t>92.85%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medical_zh · 中文医疗对话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63240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5A6B82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93008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39312" y="1719072"/>
            <a:ext cx="310896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ECD29C"/>
                </a:solidFill>
                <a:latin typeface="Georgia"/>
                <a:ea typeface="微软雅黑"/>
              </a:rPr>
              <a:t>108.2%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多任务与预训练语料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33288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5A6B82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63056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9360" y="1719072"/>
            <a:ext cx="310896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ECD29C"/>
                </a:solidFill>
                <a:latin typeface="Georgia"/>
                <a:ea typeface="微软雅黑"/>
              </a:rPr>
              <a:t>108–133%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27648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14B / 8B / 4B 模型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03336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5A6B82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33104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79408" y="1719072"/>
            <a:ext cx="310896" cy="18288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97696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ECD29C"/>
                </a:solidFill>
                <a:latin typeface="Georgia"/>
                <a:ea typeface="微软雅黑"/>
              </a:rPr>
              <a:t>82–133%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97696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C2CEDF"/>
                </a:solidFill>
                <a:latin typeface="Arial"/>
                <a:ea typeface="微软雅黑"/>
              </a:rPr>
              <a:t>综合效果达成度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73384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5A6B82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" y="2880360"/>
            <a:ext cx="10561320" cy="3035808"/>
          </a:xfrm>
          <a:prstGeom prst="roundRect">
            <a:avLst>
              <a:gd name="adj" fmla="val 4500"/>
            </a:avLst>
          </a:prstGeom>
          <a:solidFill>
            <a:srgbClr val="0E1A2C">
              <a:alpha val="90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4128" y="2990088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C2CEDF"/>
                </a:solidFill>
                <a:latin typeface="Arial"/>
                <a:ea typeface="微软雅黑"/>
              </a:rPr>
              <a:t>方案 B（数据不合并 + 梯度融合）相对方案 A（全量合并 = 100%）</a:t>
            </a:r>
          </a:p>
        </p:txBody>
      </p:sp>
      <p:sp>
        <p:nvSpPr>
          <p:cNvPr id="80" name="Oval 79"/>
          <p:cNvSpPr/>
          <p:nvPr/>
        </p:nvSpPr>
        <p:spPr>
          <a:xfrm>
            <a:off x="9153144" y="3044952"/>
            <a:ext cx="73152" cy="73152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08592" y="2999232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方案 B 达成度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287000" y="3081528"/>
            <a:ext cx="365760" cy="0"/>
          </a:xfrm>
          <a:prstGeom prst="line">
            <a:avLst/>
          </a:prstGeom>
          <a:ln w="10160">
            <a:solidFill>
              <a:srgbClr val="C8A4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698480" y="2999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8293AB"/>
                </a:solidFill>
                <a:latin typeface="Arial"/>
                <a:ea typeface="微软雅黑"/>
              </a:rPr>
              <a:t>100% 基准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514600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313432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80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799331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598163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90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084064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882896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100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368796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67628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110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653527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452359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120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938260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737092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130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222992" y="3547872"/>
            <a:ext cx="0" cy="1700784"/>
          </a:xfrm>
          <a:prstGeom prst="line">
            <a:avLst/>
          </a:prstGeom>
          <a:ln w="6350">
            <a:solidFill>
              <a:srgbClr val="1A293E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0021824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140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084064" y="3502152"/>
            <a:ext cx="0" cy="1746504"/>
          </a:xfrm>
          <a:prstGeom prst="line">
            <a:avLst/>
          </a:prstGeom>
          <a:ln w="11430">
            <a:solidFill>
              <a:srgbClr val="C8A45C">
                <a:alpha val="8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754879" y="3383280"/>
            <a:ext cx="65836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C8A45C"/>
                </a:solidFill>
                <a:latin typeface="Arial"/>
                <a:ea typeface="微软雅黑"/>
              </a:rPr>
              <a:t>100%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2688" y="352044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medical_zh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14600" y="3529584"/>
            <a:ext cx="1650880" cy="164592"/>
          </a:xfrm>
          <a:prstGeom prst="rect">
            <a:avLst/>
          </a:prstGeom>
          <a:solidFill>
            <a:srgbClr val="C8A45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4165480" y="3493008"/>
            <a:ext cx="0" cy="237744"/>
          </a:xfrm>
          <a:prstGeom prst="line">
            <a:avLst/>
          </a:prstGeom>
          <a:ln w="15240">
            <a:solidFill>
              <a:srgbClr val="ECD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4124332" y="3570732"/>
            <a:ext cx="82296" cy="82296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75208" y="3502152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92.85%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084064" y="3538728"/>
            <a:ext cx="0" cy="146304"/>
          </a:xfrm>
          <a:prstGeom prst="line">
            <a:avLst/>
          </a:prstGeom>
          <a:ln w="6350">
            <a:solidFill>
              <a:srgbClr val="8293AB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32688" y="402336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多任务 / 预训练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14600" y="4032504"/>
            <a:ext cx="3622944" cy="164592"/>
          </a:xfrm>
          <a:prstGeom prst="rect">
            <a:avLst/>
          </a:prstGeom>
          <a:solidFill>
            <a:srgbClr val="C8A45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6137544" y="3995928"/>
            <a:ext cx="0" cy="237744"/>
          </a:xfrm>
          <a:prstGeom prst="line">
            <a:avLst/>
          </a:prstGeom>
          <a:ln w="15240">
            <a:solidFill>
              <a:srgbClr val="ECD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6096396" y="4073652"/>
            <a:ext cx="82296" cy="82296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47272" y="4005072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ECD29C"/>
                </a:solidFill>
                <a:latin typeface="Arial"/>
                <a:ea typeface="微软雅黑"/>
              </a:rPr>
              <a:t>108.2%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084064" y="4041648"/>
            <a:ext cx="0" cy="146304"/>
          </a:xfrm>
          <a:prstGeom prst="line">
            <a:avLst/>
          </a:prstGeom>
          <a:ln w="6350">
            <a:solidFill>
              <a:srgbClr val="8293AB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32688" y="452628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14B / 8B / 4B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11849" y="4535424"/>
            <a:ext cx="3211830" cy="164592"/>
          </a:xfrm>
          <a:prstGeom prst="rect">
            <a:avLst/>
          </a:prstGeom>
          <a:solidFill>
            <a:srgbClr val="5ED3C6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6111849" y="4489704"/>
            <a:ext cx="0" cy="256032"/>
          </a:xfrm>
          <a:prstGeom prst="line">
            <a:avLst/>
          </a:prstGeom>
          <a:ln w="15240">
            <a:solidFill>
              <a:srgbClr val="5E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323679" y="4489704"/>
            <a:ext cx="0" cy="256032"/>
          </a:xfrm>
          <a:prstGeom prst="line">
            <a:avLst/>
          </a:prstGeom>
          <a:ln w="15240">
            <a:solidFill>
              <a:srgbClr val="5E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9433407" y="450799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5ED3C6"/>
                </a:solidFill>
                <a:latin typeface="Arial"/>
                <a:ea typeface="微软雅黑"/>
              </a:rPr>
              <a:t>108%–133%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084064" y="4544568"/>
            <a:ext cx="0" cy="146304"/>
          </a:xfrm>
          <a:prstGeom prst="line">
            <a:avLst/>
          </a:prstGeom>
          <a:ln w="6350">
            <a:solidFill>
              <a:srgbClr val="8293AB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32688" y="502920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综合达成度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71546" y="5038344"/>
            <a:ext cx="6552133" cy="164592"/>
          </a:xfrm>
          <a:prstGeom prst="rect">
            <a:avLst/>
          </a:prstGeom>
          <a:solidFill>
            <a:srgbClr val="5ED3C6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2771546" y="4992624"/>
            <a:ext cx="0" cy="256031"/>
          </a:xfrm>
          <a:prstGeom prst="line">
            <a:avLst/>
          </a:prstGeom>
          <a:ln w="15240">
            <a:solidFill>
              <a:srgbClr val="5E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323679" y="4992624"/>
            <a:ext cx="0" cy="256031"/>
          </a:xfrm>
          <a:prstGeom prst="line">
            <a:avLst/>
          </a:prstGeom>
          <a:ln w="15240">
            <a:solidFill>
              <a:srgbClr val="5E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433407" y="501091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5ED3C6"/>
                </a:solidFill>
                <a:latin typeface="Arial"/>
                <a:ea typeface="微软雅黑"/>
              </a:rPr>
              <a:t>82%–133%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5084064" y="5047488"/>
            <a:ext cx="0" cy="146304"/>
          </a:xfrm>
          <a:prstGeom prst="line">
            <a:avLst/>
          </a:prstGeom>
          <a:ln w="6350">
            <a:solidFill>
              <a:srgbClr val="8293AB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024128" y="55595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ECD29C"/>
                </a:solidFill>
                <a:latin typeface="Arial"/>
                <a:ea typeface="微软雅黑"/>
              </a:rPr>
              <a:t>结论：不合并数据不仅守住合规底线，也能达到甚至超过集中训练；分开训练反而减少单一脏数据的过拟合干扰。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CASE 01  /  深圳 · 商保直付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16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50" b="1" i="0">
                <a:solidFill>
                  <a:srgbClr val="ECF1F8"/>
                </a:solidFill>
                <a:latin typeface="Arial"/>
                <a:ea typeface="微软雅黑"/>
              </a:rPr>
              <a:t>统一授权，让医疗数据在合规轨道上流动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依托深圳数据交易所的可信数据空间与统一授权平台，在采集端与使用端建立双重个人授权，拉通医院、卫健委与保险公司。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3736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E1A2C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ECF1F8"/>
                </a:solidFill>
                <a:latin typeface="Arial"/>
                <a:ea typeface="微软雅黑"/>
              </a:rPr>
              <a:t>采集端授权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C2CEDF"/>
                </a:solidFill>
                <a:latin typeface="Arial"/>
                <a:ea typeface="微软雅黑"/>
              </a:rPr>
              <a:t>挂号时完成个人统一授权，明确用途与范围。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355848" y="2350008"/>
            <a:ext cx="128016" cy="0"/>
          </a:xfrm>
          <a:prstGeom prst="line">
            <a:avLst/>
          </a:prstGeom>
          <a:ln w="8890">
            <a:solidFill>
              <a:srgbClr val="C8A45C">
                <a:alpha val="7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3502152" y="173736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E1A2C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66744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C8A45C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66744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ECF1F8"/>
                </a:solidFill>
                <a:latin typeface="Arial"/>
                <a:ea typeface="微软雅黑"/>
              </a:rPr>
              <a:t>使用端授权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66744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C2CEDF"/>
                </a:solidFill>
                <a:latin typeface="Arial"/>
                <a:ea typeface="微软雅黑"/>
              </a:rPr>
              <a:t>线上提交理赔时再次确认，授权可追溯、可撤回。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35040" y="2350008"/>
            <a:ext cx="128016" cy="0"/>
          </a:xfrm>
          <a:prstGeom prst="line">
            <a:avLst/>
          </a:prstGeom>
          <a:ln w="8890">
            <a:solidFill>
              <a:srgbClr val="C8A45C">
                <a:alpha val="7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181344" y="173736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E1A2C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45936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C8A45C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5936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ECF1F8"/>
                </a:solidFill>
                <a:latin typeface="Arial"/>
                <a:ea typeface="微软雅黑"/>
              </a:rPr>
              <a:t>三方拉通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45936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C2CEDF"/>
                </a:solidFill>
                <a:latin typeface="Arial"/>
                <a:ea typeface="微软雅黑"/>
              </a:rPr>
              <a:t>医院 HIS、卫健委人口健康平台与保险公司按规则共享。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714232" y="2350008"/>
            <a:ext cx="128016" cy="0"/>
          </a:xfrm>
          <a:prstGeom prst="line">
            <a:avLst/>
          </a:prstGeom>
          <a:ln w="8890">
            <a:solidFill>
              <a:srgbClr val="C8A45C">
                <a:alpha val="7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8860536" y="173736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E1A2C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25128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C8A45C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25128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ECF1F8"/>
                </a:solidFill>
                <a:latin typeface="Arial"/>
                <a:ea typeface="微软雅黑"/>
              </a:rPr>
              <a:t>商保直付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25128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C2CEDF"/>
                </a:solidFill>
                <a:latin typeface="Arial"/>
                <a:ea typeface="微软雅黑"/>
              </a:rPr>
              <a:t>按“准许成本 + 合理收益”构建医院定价与收益分配机制。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3127248"/>
            <a:ext cx="5120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40">
                <a:solidFill>
                  <a:srgbClr val="C8A45C"/>
                </a:solidFill>
                <a:latin typeface="Arial"/>
                <a:ea typeface="微软雅黑"/>
              </a:rPr>
              <a:t>公开报道的落地成效  /  OUTCOMES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" y="3383280"/>
            <a:ext cx="1993392" cy="1371600"/>
          </a:xfrm>
          <a:prstGeom prst="roundRect">
            <a:avLst>
              <a:gd name="adj" fmla="val 4500"/>
            </a:avLst>
          </a:prstGeom>
          <a:solidFill>
            <a:srgbClr val="13233A">
              <a:alpha val="90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7552" y="3529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ECD29C"/>
                </a:solidFill>
                <a:latin typeface="Georgia"/>
                <a:ea typeface="微软雅黑"/>
              </a:rPr>
              <a:t>300 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0976" y="4059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覆盖公立医院就诊人群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97280" y="4553712"/>
            <a:ext cx="1444752" cy="0"/>
          </a:xfrm>
          <a:prstGeom prst="line">
            <a:avLst/>
          </a:prstGeom>
          <a:ln w="7620">
            <a:solidFill>
              <a:srgbClr val="8A6C3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2953512" y="3383280"/>
            <a:ext cx="1993392" cy="1371600"/>
          </a:xfrm>
          <a:prstGeom prst="roundRect">
            <a:avLst>
              <a:gd name="adj" fmla="val 4500"/>
            </a:avLst>
          </a:prstGeom>
          <a:solidFill>
            <a:srgbClr val="13233A">
              <a:alpha val="90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18104" y="3529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ECD29C"/>
                </a:solidFill>
                <a:latin typeface="Georgia"/>
                <a:ea typeface="微软雅黑"/>
              </a:rPr>
              <a:t>14 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81528" y="4059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覆盖住院人群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227832" y="4553712"/>
            <a:ext cx="1444751" cy="0"/>
          </a:xfrm>
          <a:prstGeom prst="line">
            <a:avLst/>
          </a:prstGeom>
          <a:ln w="7620">
            <a:solidFill>
              <a:srgbClr val="8A6C3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5084064" y="3383280"/>
            <a:ext cx="1993392" cy="1371600"/>
          </a:xfrm>
          <a:prstGeom prst="roundRect">
            <a:avLst>
              <a:gd name="adj" fmla="val 4500"/>
            </a:avLst>
          </a:prstGeom>
          <a:solidFill>
            <a:srgbClr val="13233A">
              <a:alpha val="90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48656" y="3529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ECD29C"/>
                </a:solidFill>
                <a:latin typeface="Georgia"/>
                <a:ea typeface="微软雅黑"/>
              </a:rPr>
              <a:t>28 分钟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12080" y="4059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门诊平均理赔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358384" y="4553712"/>
            <a:ext cx="1444752" cy="0"/>
          </a:xfrm>
          <a:prstGeom prst="line">
            <a:avLst/>
          </a:prstGeom>
          <a:ln w="7620">
            <a:solidFill>
              <a:srgbClr val="8A6C3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7214616" y="3383280"/>
            <a:ext cx="1993392" cy="1371600"/>
          </a:xfrm>
          <a:prstGeom prst="roundRect">
            <a:avLst>
              <a:gd name="adj" fmla="val 4500"/>
            </a:avLst>
          </a:prstGeom>
          <a:solidFill>
            <a:srgbClr val="13233A">
              <a:alpha val="90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9208" y="3529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ECD29C"/>
                </a:solidFill>
                <a:latin typeface="Georgia"/>
                <a:ea typeface="微软雅黑"/>
              </a:rPr>
              <a:t>2 小时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2632" y="4059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住院最快理赔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488936" y="4553712"/>
            <a:ext cx="1444752" cy="0"/>
          </a:xfrm>
          <a:prstGeom prst="line">
            <a:avLst/>
          </a:prstGeom>
          <a:ln w="7620">
            <a:solidFill>
              <a:srgbClr val="8A6C3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9345168" y="3383280"/>
            <a:ext cx="1993392" cy="1371600"/>
          </a:xfrm>
          <a:prstGeom prst="roundRect">
            <a:avLst>
              <a:gd name="adj" fmla="val 4500"/>
            </a:avLst>
          </a:prstGeom>
          <a:solidFill>
            <a:srgbClr val="13233A">
              <a:alpha val="90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09760" y="3529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ECD29C"/>
                </a:solidFill>
                <a:latin typeface="Georgia"/>
                <a:ea typeface="微软雅黑"/>
              </a:rPr>
              <a:t>50%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73184" y="4059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保险机构降本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619488" y="4553712"/>
            <a:ext cx="1444752" cy="0"/>
          </a:xfrm>
          <a:prstGeom prst="line">
            <a:avLst/>
          </a:prstGeom>
          <a:ln w="7620">
            <a:solidFill>
              <a:srgbClr val="8A6C3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822960" y="4956048"/>
            <a:ext cx="10561320" cy="640080"/>
          </a:xfrm>
          <a:prstGeom prst="roundRect">
            <a:avLst>
              <a:gd name="adj" fmla="val 8000"/>
            </a:avLst>
          </a:prstGeom>
          <a:solidFill>
            <a:srgbClr val="0E1A2C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06424" y="5239512"/>
            <a:ext cx="73152" cy="73152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89304" y="51206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D29C"/>
                </a:solidFill>
                <a:latin typeface="Arial"/>
                <a:ea typeface="微软雅黑"/>
              </a:rPr>
              <a:t>百姓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92807" y="51206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C2CEDF"/>
                </a:solidFill>
                <a:latin typeface="Arial"/>
                <a:ea typeface="微软雅黑"/>
              </a:rPr>
              <a:t>少跑腿、理赔快</a:t>
            </a:r>
          </a:p>
        </p:txBody>
      </p:sp>
      <p:sp>
        <p:nvSpPr>
          <p:cNvPr id="102" name="Oval 101"/>
          <p:cNvSpPr/>
          <p:nvPr/>
        </p:nvSpPr>
        <p:spPr>
          <a:xfrm>
            <a:off x="4626864" y="5239512"/>
            <a:ext cx="73152" cy="73152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09744" y="51206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D29C"/>
                </a:solidFill>
                <a:latin typeface="Arial"/>
                <a:ea typeface="微软雅黑"/>
              </a:rPr>
              <a:t>医院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13248" y="51206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C2CEDF"/>
                </a:solidFill>
                <a:latin typeface="Arial"/>
                <a:ea typeface="微软雅黑"/>
              </a:rPr>
              <a:t>合规获益、有激励</a:t>
            </a:r>
          </a:p>
        </p:txBody>
      </p:sp>
      <p:sp>
        <p:nvSpPr>
          <p:cNvPr id="105" name="Oval 104"/>
          <p:cNvSpPr/>
          <p:nvPr/>
        </p:nvSpPr>
        <p:spPr>
          <a:xfrm>
            <a:off x="8147304" y="5239512"/>
            <a:ext cx="73152" cy="73152"/>
          </a:xfrm>
          <a:prstGeom prst="ellipse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30183" y="51206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ECD29C"/>
                </a:solidFill>
                <a:latin typeface="Arial"/>
                <a:ea typeface="微软雅黑"/>
              </a:rPr>
              <a:t>保司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33688" y="51206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C2CEDF"/>
                </a:solidFill>
                <a:latin typeface="Arial"/>
                <a:ea typeface="微软雅黑"/>
              </a:rPr>
              <a:t>成本下降、体验提升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5742432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8293AB"/>
                </a:solidFill>
                <a:latin typeface="Arial"/>
                <a:ea typeface="微软雅黑"/>
              </a:rPr>
              <a:t>据公开报道，南山区通过公共数据授权运营，联合微信、微保落成深圳首个“商保直付”通道。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" y="6016752"/>
            <a:ext cx="105613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ECD29C"/>
                </a:solidFill>
                <a:latin typeface="Arial"/>
                <a:ea typeface="微软雅黑"/>
              </a:rPr>
              <a:t>采集端 + 使用端的双重授权，让“数据可用”与“授权可证”同时成立。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CASE 02  /  心脏病 AI 密文诊断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17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CF1F8"/>
                </a:solidFill>
                <a:latin typeface="Arial"/>
                <a:ea typeface="微软雅黑"/>
              </a:rPr>
              <a:t>原始数据不出院，三家医院联合训练一个模型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针对多院数据难共享、安全风险高、基层诊断能力不均、真实世界研究难开展四大痛点，用密文计算把“联合建模”搬进可信数据空间。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66420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多院数据难共享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32888" y="166420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安全风险高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68496" y="166420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基层诊断能力不均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61304" y="166420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2CEDF"/>
                </a:solidFill>
                <a:latin typeface="Arial"/>
                <a:ea typeface="微软雅黑"/>
              </a:rPr>
              <a:t>真实世界研究难开展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17190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20">
                <a:solidFill>
                  <a:srgbClr val="C8A45C"/>
                </a:solidFill>
                <a:latin typeface="Arial"/>
                <a:ea typeface="微软雅黑"/>
              </a:rPr>
              <a:t>四个真实痛点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" y="2487168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exagon 63"/>
          <p:cNvSpPr/>
          <p:nvPr/>
        </p:nvSpPr>
        <p:spPr>
          <a:xfrm>
            <a:off x="896111" y="2752344"/>
            <a:ext cx="310896" cy="310896"/>
          </a:xfrm>
          <a:prstGeom prst="hexagon">
            <a:avLst/>
          </a:prstGeom>
          <a:solidFill>
            <a:srgbClr val="13233A"/>
          </a:solidFill>
          <a:ln w="1143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ED3C6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" y="261518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医院 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28346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临床诊疗数据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303580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院内加密 · 密文出域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" y="3447288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exagon 68"/>
          <p:cNvSpPr/>
          <p:nvPr/>
        </p:nvSpPr>
        <p:spPr>
          <a:xfrm>
            <a:off x="896111" y="3712464"/>
            <a:ext cx="310896" cy="310896"/>
          </a:xfrm>
          <a:prstGeom prst="hexagon">
            <a:avLst/>
          </a:prstGeom>
          <a:solidFill>
            <a:srgbClr val="13233A"/>
          </a:solidFill>
          <a:ln w="1143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ED3C6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0160" y="357530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医院 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0160" y="379476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医学影像数据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0160" y="39959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院内加密 · 密文出域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" y="4407408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Hexagon 73"/>
          <p:cNvSpPr/>
          <p:nvPr/>
        </p:nvSpPr>
        <p:spPr>
          <a:xfrm>
            <a:off x="896111" y="4672584"/>
            <a:ext cx="310896" cy="310896"/>
          </a:xfrm>
          <a:prstGeom prst="hexagon">
            <a:avLst/>
          </a:prstGeom>
          <a:solidFill>
            <a:srgbClr val="13233A"/>
          </a:solidFill>
          <a:ln w="11430">
            <a:solidFill>
              <a:srgbClr val="5E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ED3C6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80160" y="45354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ECF1F8"/>
                </a:solidFill>
                <a:latin typeface="Arial"/>
                <a:ea typeface="微软雅黑"/>
              </a:rPr>
              <a:t>医院 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80160" y="475488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C2CEDF"/>
                </a:solidFill>
                <a:latin typeface="Arial"/>
                <a:ea typeface="微软雅黑"/>
              </a:rPr>
              <a:t>科研队列数据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80160" y="49560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ECD29C"/>
                </a:solidFill>
                <a:latin typeface="Arial"/>
                <a:ea typeface="微软雅黑"/>
              </a:rPr>
              <a:t>院内加密 · 密文出域</a:t>
            </a:r>
          </a:p>
        </p:txBody>
      </p:sp>
      <p:sp>
        <p:nvSpPr>
          <p:cNvPr id="78" name="Oval 77"/>
          <p:cNvSpPr/>
          <p:nvPr/>
        </p:nvSpPr>
        <p:spPr>
          <a:xfrm>
            <a:off x="3776472" y="2615184"/>
            <a:ext cx="2560319" cy="2560319"/>
          </a:xfrm>
          <a:prstGeom prst="ellipse">
            <a:avLst/>
          </a:prstGeom>
          <a:solidFill>
            <a:srgbClr val="C8A45C">
              <a:alpha val="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989831" y="2828543"/>
            <a:ext cx="2133600" cy="2133600"/>
          </a:xfrm>
          <a:prstGeom prst="ellipse">
            <a:avLst/>
          </a:prstGeom>
          <a:solidFill>
            <a:srgbClr val="C8A45C">
              <a:alpha val="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203191" y="3041904"/>
            <a:ext cx="1706879" cy="1706879"/>
          </a:xfrm>
          <a:prstGeom prst="ellipse">
            <a:avLst/>
          </a:prstGeom>
          <a:solidFill>
            <a:srgbClr val="C8A45C">
              <a:alpha val="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416551" y="3255264"/>
            <a:ext cx="1280159" cy="1280159"/>
          </a:xfrm>
          <a:prstGeom prst="ellipse">
            <a:avLst/>
          </a:prstGeom>
          <a:solidFill>
            <a:srgbClr val="C8A45C">
              <a:alpha val="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629911" y="3468623"/>
            <a:ext cx="853439" cy="853439"/>
          </a:xfrm>
          <a:prstGeom prst="ellipse">
            <a:avLst/>
          </a:prstGeom>
          <a:solidFill>
            <a:srgbClr val="C8A45C">
              <a:alpha val="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843271" y="3681983"/>
            <a:ext cx="426719" cy="426719"/>
          </a:xfrm>
          <a:prstGeom prst="ellipse">
            <a:avLst/>
          </a:prstGeom>
          <a:solidFill>
            <a:srgbClr val="C8A45C">
              <a:alpha val="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exagon 83"/>
          <p:cNvSpPr/>
          <p:nvPr/>
        </p:nvSpPr>
        <p:spPr>
          <a:xfrm>
            <a:off x="3858768" y="2926080"/>
            <a:ext cx="2395728" cy="1938528"/>
          </a:xfrm>
          <a:prstGeom prst="hexagon">
            <a:avLst/>
          </a:prstGeom>
          <a:solidFill>
            <a:srgbClr val="13233A">
              <a:alpha val="95000"/>
            </a:srgbClr>
          </a:solidFill>
          <a:ln w="1270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33087" y="3310128"/>
            <a:ext cx="18470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00" b="0" i="0" spc="160">
                <a:solidFill>
                  <a:srgbClr val="C8A45C"/>
                </a:solidFill>
                <a:latin typeface="Arial"/>
                <a:ea typeface="微软雅黑"/>
              </a:rPr>
              <a:t>可信数据空间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87368" y="3566160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ECF1F8"/>
                </a:solidFill>
                <a:latin typeface="Arial"/>
                <a:ea typeface="微软雅黑"/>
              </a:rPr>
              <a:t>隐私计算环境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59935" y="395020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760" b="0" i="0">
                <a:solidFill>
                  <a:srgbClr val="5ED3C6"/>
                </a:solidFill>
                <a:latin typeface="Arial"/>
                <a:ea typeface="微软雅黑"/>
              </a:rPr>
              <a:t>多方安全融合  ·  联合建模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59935" y="4343400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8293AB"/>
                </a:solidFill>
                <a:latin typeface="Arial"/>
                <a:ea typeface="微软雅黑"/>
              </a:rPr>
              <a:t>原始数据始终留在本院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355848" y="2907792"/>
            <a:ext cx="466343" cy="292608"/>
          </a:xfrm>
          <a:prstGeom prst="line">
            <a:avLst/>
          </a:prstGeom>
          <a:ln w="8890">
            <a:solidFill>
              <a:srgbClr val="5ED3C6">
                <a:alpha val="7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355848" y="3867912"/>
            <a:ext cx="466343" cy="0"/>
          </a:xfrm>
          <a:prstGeom prst="line">
            <a:avLst/>
          </a:prstGeom>
          <a:ln w="8890">
            <a:solidFill>
              <a:srgbClr val="5ED3C6">
                <a:alpha val="7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355848" y="4617720"/>
            <a:ext cx="466343" cy="210312"/>
          </a:xfrm>
          <a:prstGeom prst="line">
            <a:avLst/>
          </a:prstGeom>
          <a:ln w="8890">
            <a:solidFill>
              <a:srgbClr val="5ED3C6">
                <a:alpha val="7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291840" y="228600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5ED3C6"/>
                </a:solidFill>
                <a:latin typeface="Arial"/>
                <a:ea typeface="微软雅黑"/>
              </a:rPr>
              <a:t>密文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91840" y="443484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5ED3C6"/>
                </a:solidFill>
                <a:latin typeface="Arial"/>
                <a:ea typeface="微软雅黑"/>
              </a:rPr>
              <a:t>密文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675120" y="2487168"/>
            <a:ext cx="4709160" cy="137160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75120" y="2487168"/>
            <a:ext cx="36576" cy="13716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03720" y="265176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ECF1F8"/>
                </a:solidFill>
                <a:latin typeface="Arial"/>
                <a:ea typeface="微软雅黑"/>
              </a:rPr>
              <a:t>临床风险预测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03720" y="299923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辅助临床医生识别心脏病风险，赋能基层诊疗能力。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469880" y="265176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ECD29C"/>
                </a:solidFill>
                <a:latin typeface="Arial"/>
                <a:ea typeface="微软雅黑"/>
              </a:rPr>
              <a:t>临床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75120" y="4059936"/>
            <a:ext cx="4709160" cy="137160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675120" y="4059936"/>
            <a:ext cx="36576" cy="1371600"/>
          </a:xfrm>
          <a:prstGeom prst="rect">
            <a:avLst/>
          </a:prstGeom>
          <a:solidFill>
            <a:srgbClr val="5E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03720" y="422452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ECF1F8"/>
                </a:solidFill>
                <a:latin typeface="Arial"/>
                <a:ea typeface="微软雅黑"/>
              </a:rPr>
              <a:t>真实世界研究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03720" y="457200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合规支撑跨院真实世界研究，持续验证模型价值。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469880" y="422452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ECD29C"/>
                </a:solidFill>
                <a:latin typeface="Arial"/>
                <a:ea typeface="微软雅黑"/>
              </a:rPr>
              <a:t>科研</a:t>
            </a:r>
          </a:p>
        </p:txBody>
      </p:sp>
      <p:cxnSp>
        <p:nvCxnSpPr>
          <p:cNvPr id="104" name="Connector 103"/>
          <p:cNvCxnSpPr/>
          <p:nvPr/>
        </p:nvCxnSpPr>
        <p:spPr>
          <a:xfrm flipV="1">
            <a:off x="6291072" y="3017520"/>
            <a:ext cx="347472" cy="228600"/>
          </a:xfrm>
          <a:prstGeom prst="line">
            <a:avLst/>
          </a:prstGeom>
          <a:ln w="10160">
            <a:solidFill>
              <a:srgbClr val="C8A45C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291072" y="4480560"/>
            <a:ext cx="347472" cy="91440"/>
          </a:xfrm>
          <a:prstGeom prst="line">
            <a:avLst/>
          </a:prstGeom>
          <a:ln w="10160">
            <a:solidFill>
              <a:srgbClr val="5ED3C6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822960" y="57150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原始数据留在本院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389120" y="57150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密文进入计算环境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955279" y="57150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模型服务临床与科研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75520" y="619963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 spc="200">
                <a:solidFill>
                  <a:srgbClr val="5A6B82"/>
                </a:solidFill>
                <a:latin typeface="Arial"/>
                <a:ea typeface="微软雅黑"/>
              </a:rPr>
              <a:t>TREMAC × TDS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OUTLOOK  /  跨境医工科研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18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ECF1F8"/>
                </a:solidFill>
                <a:latin typeface="Arial"/>
                <a:ea typeface="微软雅黑"/>
              </a:rPr>
              <a:t>不搬原始数据，搬的是信任与规则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内地数据留在内地机房，港澳与海外数据留在当地；跨境流动的是身份、规则、任务与合规结果。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00784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0E1A2C">
              <a:alpha val="90000"/>
            </a:srgbClr>
          </a:solidFill>
          <a:ln w="889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" y="1847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ECF1F8"/>
                </a:solidFill>
                <a:latin typeface="Arial"/>
                <a:ea typeface="微软雅黑"/>
              </a:rPr>
              <a:t>内地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" y="22860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内地机房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" y="25237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ECD29C"/>
                </a:solidFill>
                <a:latin typeface="Arial"/>
                <a:ea typeface="微软雅黑"/>
              </a:rPr>
              <a:t>本地 TRE / 合规节点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80360" y="18470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本地留存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2286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8293AB"/>
                </a:solidFill>
                <a:latin typeface="Arial"/>
                <a:ea typeface="微软雅黑"/>
              </a:rPr>
              <a:t>原始数据不出境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523744" y="3072384"/>
            <a:ext cx="0" cy="493776"/>
          </a:xfrm>
          <a:prstGeom prst="line">
            <a:avLst/>
          </a:prstGeom>
          <a:ln w="7620">
            <a:solidFill>
              <a:srgbClr val="C8A45C">
                <a:alpha val="65000"/>
              </a:srgb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425696" y="1700784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0E1A2C">
              <a:alpha val="90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45152" y="1847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ECF1F8"/>
                </a:solidFill>
                <a:latin typeface="Arial"/>
                <a:ea typeface="微软雅黑"/>
              </a:rPr>
              <a:t>港澳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5152" y="22860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港澳本地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45152" y="25237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ECD29C"/>
                </a:solidFill>
                <a:latin typeface="Arial"/>
                <a:ea typeface="微软雅黑"/>
              </a:rPr>
              <a:t>本地 TRE / 合规节点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83096" y="18470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本地留存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0176" y="2286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8293AB"/>
                </a:solidFill>
                <a:latin typeface="Arial"/>
                <a:ea typeface="微软雅黑"/>
              </a:rPr>
              <a:t>原始数据不出境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126480" y="3072384"/>
            <a:ext cx="0" cy="493776"/>
          </a:xfrm>
          <a:prstGeom prst="line">
            <a:avLst/>
          </a:prstGeom>
          <a:ln w="7620">
            <a:solidFill>
              <a:srgbClr val="C8A45C">
                <a:alpha val="65000"/>
              </a:srgb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028431" y="1700784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0E1A2C">
              <a:alpha val="90000"/>
            </a:srgbClr>
          </a:solidFill>
          <a:ln w="8890">
            <a:solidFill>
              <a:srgbClr val="273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47888" y="1847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ECF1F8"/>
                </a:solidFill>
                <a:latin typeface="Arial"/>
                <a:ea typeface="微软雅黑"/>
              </a:rPr>
              <a:t>海外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47888" y="22860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C2CEDF"/>
                </a:solidFill>
                <a:latin typeface="Arial"/>
                <a:ea typeface="微软雅黑"/>
              </a:rPr>
              <a:t>海外本地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47888" y="25237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ECD29C"/>
                </a:solidFill>
                <a:latin typeface="Arial"/>
                <a:ea typeface="微软雅黑"/>
              </a:rPr>
              <a:t>本地 TRE / 合规节点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85832" y="18470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762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5ED3C6"/>
                </a:solidFill>
                <a:latin typeface="Arial"/>
                <a:ea typeface="微软雅黑"/>
              </a:rPr>
              <a:t>本地留存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82911" y="2286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8293AB"/>
                </a:solidFill>
                <a:latin typeface="Arial"/>
                <a:ea typeface="微软雅黑"/>
              </a:rPr>
              <a:t>原始数据不出境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729215" y="3072384"/>
            <a:ext cx="0" cy="493776"/>
          </a:xfrm>
          <a:prstGeom prst="line">
            <a:avLst/>
          </a:prstGeom>
          <a:ln w="7620">
            <a:solidFill>
              <a:srgbClr val="C8A45C">
                <a:alpha val="65000"/>
              </a:srgb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822960" y="3584448"/>
            <a:ext cx="10561320" cy="932688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09744" y="2770632"/>
            <a:ext cx="2560320" cy="2560320"/>
          </a:xfrm>
          <a:prstGeom prst="ellipse">
            <a:avLst/>
          </a:prstGeom>
          <a:solidFill>
            <a:srgbClr val="C8A45C">
              <a:alpha val="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065776" y="3026663"/>
            <a:ext cx="2048255" cy="2048255"/>
          </a:xfrm>
          <a:prstGeom prst="ellipse">
            <a:avLst/>
          </a:prstGeom>
          <a:solidFill>
            <a:srgbClr val="C8A45C">
              <a:alpha val="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21808" y="3282696"/>
            <a:ext cx="1536191" cy="1536191"/>
          </a:xfrm>
          <a:prstGeom prst="ellipse">
            <a:avLst/>
          </a:prstGeom>
          <a:solidFill>
            <a:srgbClr val="C8A45C">
              <a:alpha val="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577840" y="3538727"/>
            <a:ext cx="1024127" cy="1024127"/>
          </a:xfrm>
          <a:prstGeom prst="ellipse">
            <a:avLst/>
          </a:prstGeom>
          <a:solidFill>
            <a:srgbClr val="C8A45C">
              <a:alpha val="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833872" y="3794759"/>
            <a:ext cx="512063" cy="512063"/>
          </a:xfrm>
          <a:prstGeom prst="ellipse">
            <a:avLst/>
          </a:prstGeom>
          <a:solidFill>
            <a:srgbClr val="C8A45C">
              <a:alpha val="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7280" y="3712463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ECD29C"/>
                </a:solidFill>
                <a:latin typeface="Arial"/>
                <a:ea typeface="微软雅黑"/>
              </a:rPr>
              <a:t>TREMAC + 可信数据空间 · 跨境协作枢纽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" y="4005072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C2CEDF"/>
                </a:solidFill>
                <a:latin typeface="Arial"/>
                <a:ea typeface="微软雅黑"/>
              </a:rPr>
              <a:t>只流动身份、规则、任务与合规结果，不搬运原始数据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9520" y="3712463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5ED3C6"/>
                </a:solidFill>
                <a:latin typeface="Arial"/>
                <a:ea typeface="微软雅黑"/>
              </a:rPr>
              <a:t>符合国家数据出境安全监管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3968496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8293AB"/>
                </a:solidFill>
                <a:latin typeface="Arial"/>
                <a:ea typeface="微软雅黑"/>
              </a:rPr>
              <a:t>可审计 · 可追溯 · 可计量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7552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C8A45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7552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ECF1F8"/>
                </a:solidFill>
                <a:latin typeface="Arial"/>
                <a:ea typeface="微软雅黑"/>
              </a:rPr>
              <a:t>身份互认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87552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跨境主体一次认证，权威可验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493008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0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C8A45C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0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ECF1F8"/>
                </a:solidFill>
                <a:latin typeface="Arial"/>
                <a:ea typeface="微软雅黑"/>
              </a:rPr>
              <a:t>规则互认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0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研究规则与合约模板互认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63056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27648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C8A45C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27648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ECF1F8"/>
                </a:solidFill>
                <a:latin typeface="Arial"/>
                <a:ea typeface="微软雅黑"/>
              </a:rPr>
              <a:t>任务跨境分发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27648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任务到数据所在地执行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833104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97696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C8A45C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97696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ECF1F8"/>
                </a:solidFill>
                <a:latin typeface="Arial"/>
                <a:ea typeface="微软雅黑"/>
              </a:rPr>
              <a:t>合规结果共享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97696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C2CEDF"/>
                </a:solidFill>
                <a:latin typeface="Arial"/>
                <a:ea typeface="微软雅黑"/>
              </a:rPr>
              <a:t>只回传审查通过的汇总结果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5989320"/>
            <a:ext cx="10561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ECD29C"/>
                </a:solidFill>
                <a:latin typeface="Arial"/>
                <a:ea typeface="微软雅黑"/>
              </a:rPr>
              <a:t>在符合国家数据出境安全监管的前提下，把大湾区乃至全球的医疗科研网络连成一体。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20624"/>
            <a:ext cx="310896" cy="27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ECF1F8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475488"/>
            <a:ext cx="310896" cy="25603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" y="39319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220">
                <a:solidFill>
                  <a:srgbClr val="C8A45C"/>
                </a:solidFill>
                <a:latin typeface="Arial"/>
                <a:ea typeface="微软雅黑"/>
              </a:rPr>
              <a:t>CLOSING  /  四大锚点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00">
                <a:solidFill>
                  <a:srgbClr val="5A6B82"/>
                </a:solidFill>
                <a:latin typeface="Arial"/>
                <a:ea typeface="微软雅黑"/>
              </a:rPr>
              <a:t>19 /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76656"/>
            <a:ext cx="10469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ECF1F8"/>
                </a:solidFill>
                <a:latin typeface="Arial"/>
                <a:ea typeface="微软雅黑"/>
              </a:rPr>
              <a:t>既能干得成大事，又能睡得着觉的科研基座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19" b="0" i="0">
                <a:solidFill>
                  <a:srgbClr val="C2CEDF"/>
                </a:solidFill>
                <a:latin typeface="Arial"/>
                <a:ea typeface="微软雅黑"/>
              </a:rPr>
              <a:t>TREMAC 与可信数据空间的融合，最终落到四个可感知、可验证的目标。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6446520"/>
            <a:ext cx="10545775" cy="0"/>
          </a:xfrm>
          <a:prstGeom prst="line">
            <a:avLst/>
          </a:prstGeom>
          <a:ln w="6350">
            <a:solidFill>
              <a:srgbClr val="273953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2960" y="65196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651967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60">
                <a:solidFill>
                  <a:srgbClr val="5A6B82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7552" y="1719072"/>
            <a:ext cx="310896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exagon 59"/>
          <p:cNvSpPr/>
          <p:nvPr/>
        </p:nvSpPr>
        <p:spPr>
          <a:xfrm>
            <a:off x="1069848" y="1938528"/>
            <a:ext cx="420624" cy="42062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C8A45C"/>
                </a:solidFill>
                <a:latin typeface="微软雅黑"/>
                <a:ea typeface="微软雅黑"/>
              </a:rPr>
              <a:t>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79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ECF1F8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原始数据 100% 留在院内，守住核心资产与数据主权。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93008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0" y="1719072"/>
            <a:ext cx="310896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exagon 65"/>
          <p:cNvSpPr/>
          <p:nvPr/>
        </p:nvSpPr>
        <p:spPr>
          <a:xfrm>
            <a:off x="3739896" y="1938528"/>
            <a:ext cx="420624" cy="42062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C8A45C"/>
                </a:solidFill>
                <a:latin typeface="微软雅黑"/>
                <a:ea typeface="微软雅黑"/>
              </a:rPr>
              <a:t>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96127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ECF1F8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全栈隐私内生，可用不可见，不触碰法律与伦理红线。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63056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7648" y="1719072"/>
            <a:ext cx="310896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exagon 71"/>
          <p:cNvSpPr/>
          <p:nvPr/>
        </p:nvSpPr>
        <p:spPr>
          <a:xfrm>
            <a:off x="6409944" y="1938528"/>
            <a:ext cx="420624" cy="42062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C8A45C"/>
                </a:solidFill>
                <a:latin typeface="微软雅黑"/>
                <a:ea typeface="微软雅黑"/>
              </a:rPr>
              <a:t>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66175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27648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ECF1F8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27648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每一次使用清晰可控，数据持有方握着总开关。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33104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E1A2C">
              <a:alpha val="88000"/>
            </a:srgbClr>
          </a:solidFill>
          <a:ln w="8890">
            <a:solidFill>
              <a:srgbClr val="1A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97696" y="1719072"/>
            <a:ext cx="310896" cy="20116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Hexagon 77"/>
          <p:cNvSpPr/>
          <p:nvPr/>
        </p:nvSpPr>
        <p:spPr>
          <a:xfrm>
            <a:off x="9079992" y="1938528"/>
            <a:ext cx="420624" cy="420624"/>
          </a:xfrm>
          <a:prstGeom prst="hexagon">
            <a:avLst/>
          </a:prstGeom>
          <a:solidFill>
            <a:srgbClr val="13233A"/>
          </a:solidFill>
          <a:ln w="1143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C8A45C"/>
                </a:solidFill>
                <a:latin typeface="微软雅黑"/>
                <a:ea typeface="微软雅黑"/>
              </a:rPr>
              <a:t>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36224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5A6B82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97696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ECF1F8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97696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C2CEDF"/>
                </a:solidFill>
                <a:latin typeface="Arial"/>
                <a:ea typeface="微软雅黑"/>
              </a:rPr>
              <a:t>把医院与科研机构连成网，做出具有国际影响力的大科研。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960" y="4005072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8890">
            <a:solidFill>
              <a:srgbClr val="8A6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97280" y="416966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 i="0">
                <a:solidFill>
                  <a:srgbClr val="ECD29C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97480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C8A45C"/>
                </a:solidFill>
                <a:latin typeface="Arial"/>
                <a:ea typeface="微软雅黑"/>
              </a:rPr>
              <a:t>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08960" y="416966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 i="0">
                <a:solidFill>
                  <a:srgbClr val="ECD29C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C8A45C"/>
                </a:solidFill>
                <a:latin typeface="Arial"/>
                <a:ea typeface="微软雅黑"/>
              </a:rPr>
              <a:t>+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20640" y="416966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 i="0">
                <a:solidFill>
                  <a:srgbClr val="ECD29C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0840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C8A45C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32320" y="4133087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5ED3C6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ECF1F8"/>
                </a:solidFill>
                <a:latin typeface="Arial"/>
                <a:ea typeface="微软雅黑"/>
              </a:rPr>
              <a:t>从可信研究环境，到可信科研协同网络。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ECD29C"/>
                </a:solidFill>
                <a:latin typeface="Arial"/>
                <a:ea typeface="微软雅黑"/>
              </a:rPr>
              <a:t>让数据留在原地，让科研连成一张网。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" y="6126480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8293AB"/>
                </a:solidFill>
                <a:latin typeface="Arial"/>
                <a:ea typeface="微软雅黑"/>
              </a:rPr>
              <a:t>数据主权、隐私保护、使用控制与跨域协同，不是四选一，而是一套架构的四个面。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5"/>
              </a:gs>
              <a:gs pos="100000">
                <a:srgbClr val="04070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688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0" y="0"/>
            <a:ext cx="0" cy="0"/>
          </a:xfrm>
          <a:prstGeom prst="line">
            <a:avLst/>
          </a:prstGeom>
          <a:ln w="5080">
            <a:solidFill>
              <a:srgbClr val="1A293E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5080">
            <a:solidFill>
              <a:srgbClr val="1A293E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-1261872"/>
            <a:ext cx="3803904" cy="3803904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29215" y="-786384"/>
            <a:ext cx="2852928" cy="2852928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4704" y="-310896"/>
            <a:ext cx="1901952" cy="1901952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80192" y="164591"/>
            <a:ext cx="950976" cy="950976"/>
          </a:xfrm>
          <a:prstGeom prst="ellipse">
            <a:avLst/>
          </a:prstGeom>
          <a:solidFill>
            <a:srgbClr val="C8A45C">
              <a:alpha val="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-1060704" y="4700016"/>
            <a:ext cx="3218688" cy="3218688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658368" y="5102352"/>
            <a:ext cx="2414016" cy="2414016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256032" y="5504688"/>
            <a:ext cx="1609344" cy="1609344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6303" y="5907024"/>
            <a:ext cx="804672" cy="804672"/>
          </a:xfrm>
          <a:prstGeom prst="ellipse">
            <a:avLst/>
          </a:prstGeom>
          <a:solidFill>
            <a:srgbClr val="1C4A6B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10896" y="310896"/>
            <a:ext cx="384048" cy="0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0896" y="310896"/>
            <a:ext cx="0" cy="384048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1496751" y="310896"/>
            <a:ext cx="384048" cy="0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880799" y="310896"/>
            <a:ext cx="0" cy="384048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0896" y="6547104"/>
            <a:ext cx="384048" cy="0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0896" y="6163056"/>
            <a:ext cx="0" cy="384048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1496751" y="6547104"/>
            <a:ext cx="384048" cy="0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880799" y="6163056"/>
            <a:ext cx="0" cy="384048"/>
          </a:xfrm>
          <a:prstGeom prst="line">
            <a:avLst/>
          </a:prstGeom>
          <a:ln w="10160">
            <a:solidFill>
              <a:srgbClr val="C8A45C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 rot="20640000">
            <a:off x="8503919" y="3520439"/>
            <a:ext cx="3474720" cy="2651760"/>
          </a:xfrm>
          <a:prstGeom prst="ellipse">
            <a:avLst/>
          </a:prstGeom>
          <a:noFill/>
          <a:ln w="8890">
            <a:solidFill>
              <a:srgbClr val="C8A45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 rot="20640000">
            <a:off x="8990380" y="3891686"/>
            <a:ext cx="2501798" cy="1909267"/>
          </a:xfrm>
          <a:prstGeom prst="ellipse">
            <a:avLst/>
          </a:prstGeom>
          <a:noFill/>
          <a:ln w="6350">
            <a:solidFill>
              <a:srgbClr val="C8A45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 rot="20640000">
            <a:off x="8017459" y="3149193"/>
            <a:ext cx="4447641" cy="3394252"/>
          </a:xfrm>
          <a:prstGeom prst="ellipse">
            <a:avLst/>
          </a:prstGeom>
          <a:noFill/>
          <a:ln w="6350">
            <a:solidFill>
              <a:srgbClr val="C8A45C">
                <a:alpha val="10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H="1">
            <a:off x="9407525" y="4252107"/>
            <a:ext cx="2466339" cy="1895382"/>
          </a:xfrm>
          <a:prstGeom prst="line">
            <a:avLst/>
          </a:prstGeom>
          <a:ln w="5715">
            <a:solidFill>
              <a:srgbClr val="7DB7D9">
                <a:alpha val="165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407525" y="3600400"/>
            <a:ext cx="380277" cy="2547089"/>
          </a:xfrm>
          <a:prstGeom prst="line">
            <a:avLst/>
          </a:prstGeom>
          <a:ln w="5715">
            <a:solidFill>
              <a:srgbClr val="7DB7D9">
                <a:alpha val="165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694757" y="3545150"/>
            <a:ext cx="380277" cy="2547089"/>
          </a:xfrm>
          <a:prstGeom prst="line">
            <a:avLst/>
          </a:prstGeom>
          <a:ln w="5715">
            <a:solidFill>
              <a:srgbClr val="7DB7D9">
                <a:alpha val="165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1286149" y="4382905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327297" y="4424053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368445" y="4465201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409593" y="4506349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27881" y="4524637"/>
            <a:ext cx="45720" cy="4572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551667" y="5449459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440272" y="6139952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464720" y="5693577"/>
            <a:ext cx="68580" cy="6858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96879" y="5096758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438027" y="5137906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479175" y="5179054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20323" y="5220202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538611" y="5238490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862312" y="4174600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058686" y="3875585"/>
            <a:ext cx="45720" cy="4572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237920" y="3587657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582911" y="4187952"/>
            <a:ext cx="1316736" cy="1316736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692640" y="4297680"/>
            <a:ext cx="1097280" cy="1097280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802367" y="4407408"/>
            <a:ext cx="877824" cy="877824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912096" y="4517136"/>
            <a:ext cx="658368" cy="658368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021824" y="4626864"/>
            <a:ext cx="438912" cy="438912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131552" y="4736592"/>
            <a:ext cx="219456" cy="219456"/>
          </a:xfrm>
          <a:prstGeom prst="ellipse">
            <a:avLst/>
          </a:prstGeom>
          <a:solidFill>
            <a:srgbClr val="C8A45C">
              <a:alpha val="11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094976" y="4700016"/>
            <a:ext cx="292608" cy="292608"/>
          </a:xfrm>
          <a:prstGeom prst="ellipse">
            <a:avLst/>
          </a:prstGeom>
          <a:noFill/>
          <a:ln w="12700">
            <a:solidFill>
              <a:srgbClr val="ECD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190988" y="4796028"/>
            <a:ext cx="100584" cy="100584"/>
          </a:xfrm>
          <a:prstGeom prst="ellipse">
            <a:avLst/>
          </a:prstGeom>
          <a:solidFill>
            <a:srgbClr val="ECD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 rot="20640000">
            <a:off x="731520" y="594360"/>
            <a:ext cx="2194560" cy="1645920"/>
          </a:xfrm>
          <a:prstGeom prst="ellipse">
            <a:avLst/>
          </a:prstGeom>
          <a:noFill/>
          <a:ln w="8890">
            <a:solidFill>
              <a:srgbClr val="C8A45C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 rot="20640000">
            <a:off x="1038758" y="824788"/>
            <a:ext cx="1580083" cy="1185062"/>
          </a:xfrm>
          <a:prstGeom prst="ellipse">
            <a:avLst/>
          </a:prstGeom>
          <a:noFill/>
          <a:ln w="6350">
            <a:solidFill>
              <a:srgbClr val="C8A45C">
                <a:alpha val="176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 rot="20640000">
            <a:off x="424281" y="363931"/>
            <a:ext cx="2809036" cy="2106777"/>
          </a:xfrm>
          <a:prstGeom prst="ellipse">
            <a:avLst/>
          </a:prstGeom>
          <a:noFill/>
          <a:ln w="6350">
            <a:solidFill>
              <a:srgbClr val="C8A45C">
                <a:alpha val="76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H="1" flipV="1">
            <a:off x="778230" y="1451413"/>
            <a:ext cx="2094145" cy="304985"/>
          </a:xfrm>
          <a:prstGeom prst="line">
            <a:avLst/>
          </a:prstGeom>
          <a:ln w="5715">
            <a:solidFill>
              <a:srgbClr val="7DB7D9">
                <a:alpha val="121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78230" y="1016806"/>
            <a:ext cx="1900055" cy="434607"/>
          </a:xfrm>
          <a:prstGeom prst="line">
            <a:avLst/>
          </a:prstGeom>
          <a:ln w="5715">
            <a:solidFill>
              <a:srgbClr val="7DB7D9">
                <a:alpha val="121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382786" y="1572916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423934" y="1614064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465082" y="1655212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506230" y="1696360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524518" y="1714648"/>
            <a:ext cx="45720" cy="4572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106326" y="2229374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96742" y="2005128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23049" y="1321935"/>
            <a:ext cx="68580" cy="6858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37300" y="536248"/>
            <a:ext cx="329184" cy="329184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78448" y="577396"/>
            <a:ext cx="246888" cy="246888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19596" y="618544"/>
            <a:ext cx="164592" cy="164592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60744" y="659692"/>
            <a:ext cx="82296" cy="82296"/>
          </a:xfrm>
          <a:prstGeom prst="ellipse">
            <a:avLst/>
          </a:prstGeom>
          <a:solidFill>
            <a:srgbClr val="C8A45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9032" y="677980"/>
            <a:ext cx="45720" cy="4572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959544" y="574448"/>
            <a:ext cx="68580" cy="68580"/>
          </a:xfrm>
          <a:prstGeom prst="ellipse">
            <a:avLst/>
          </a:prstGeom>
          <a:solidFill>
            <a:srgbClr val="0E1A2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77485" y="1184360"/>
            <a:ext cx="45720" cy="45720"/>
          </a:xfrm>
          <a:prstGeom prst="ellipse">
            <a:avLst/>
          </a:prstGeom>
          <a:solidFill>
            <a:srgbClr val="C8A45C">
              <a:alpha val="95000"/>
            </a:srgbClr>
          </a:solidFill>
          <a:ln w="7620">
            <a:solidFill>
              <a:srgbClr val="C8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17520" y="1298448"/>
            <a:ext cx="6126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60" b="1" i="0" spc="400">
                <a:solidFill>
                  <a:srgbClr val="C8A45C"/>
                </a:solidFill>
                <a:latin typeface="Arial"/>
                <a:ea typeface="微软雅黑"/>
              </a:rPr>
              <a:t>THANK YOU  /  中国电子云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97280" y="182880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ECF1F8"/>
                </a:solidFill>
                <a:latin typeface="Arial"/>
                <a:ea typeface="微软雅黑"/>
              </a:rPr>
              <a:t>谢谢大家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541264" y="2834640"/>
            <a:ext cx="1097280" cy="0"/>
          </a:xfrm>
          <a:prstGeom prst="line">
            <a:avLst/>
          </a:prstGeom>
          <a:ln w="12700">
            <a:solidFill>
              <a:srgbClr val="C8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097280" y="299923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ECD29C"/>
                </a:solidFill>
                <a:latin typeface="Arial"/>
                <a:ea typeface="微软雅黑"/>
              </a:rPr>
              <a:t>从可信研究环境，到可信科研协同网络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7280" y="3493008"/>
            <a:ext cx="9966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60" b="0" i="0" spc="300">
                <a:solidFill>
                  <a:srgbClr val="8293AB"/>
                </a:solidFill>
                <a:latin typeface="Arial"/>
                <a:ea typeface="微软雅黑"/>
              </a:rPr>
              <a:t>TREMAC × TRUSTED DATA SPACE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4160520" y="4096512"/>
            <a:ext cx="384048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4160520" y="4224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40" b="0" i="0" spc="140">
                <a:solidFill>
                  <a:srgbClr val="8293AB"/>
                </a:solidFill>
                <a:latin typeface="Arial"/>
                <a:ea typeface="微软雅黑"/>
              </a:rPr>
              <a:t>演讲人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60520" y="4425696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ECF1F8"/>
                </a:solidFill>
                <a:latin typeface="Arial"/>
                <a:ea typeface="微软雅黑"/>
              </a:rPr>
              <a:t>李化名　中国电子云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60520" y="475488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C2CEDF"/>
                </a:solidFill>
                <a:latin typeface="Arial"/>
                <a:ea typeface="微软雅黑"/>
              </a:rPr>
              <a:t>广州实验室 × 澳门科技大学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160520" y="5102352"/>
            <a:ext cx="3840480" cy="0"/>
          </a:xfrm>
          <a:prstGeom prst="line">
            <a:avLst/>
          </a:prstGeom>
          <a:ln w="6350">
            <a:solidFill>
              <a:srgbClr val="273953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3534156" y="5454396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75887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119" name="Oval 118"/>
          <p:cNvSpPr/>
          <p:nvPr/>
        </p:nvSpPr>
        <p:spPr>
          <a:xfrm>
            <a:off x="4860036" y="5454396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01768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121" name="Oval 120"/>
          <p:cNvSpPr/>
          <p:nvPr/>
        </p:nvSpPr>
        <p:spPr>
          <a:xfrm>
            <a:off x="6185916" y="5454396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327648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123" name="Oval 122"/>
          <p:cNvSpPr/>
          <p:nvPr/>
        </p:nvSpPr>
        <p:spPr>
          <a:xfrm>
            <a:off x="7511796" y="5454396"/>
            <a:ext cx="64008" cy="64008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53527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8293AB"/>
                </a:solidFill>
                <a:latin typeface="Arial"/>
                <a:ea typeface="微软雅黑"/>
              </a:rPr>
              <a:t>能做大科研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

<file path=[Content_Types].xml><?xml version="1.0" encoding="utf-8"?>
<Types xmlns="http://schemas.openxmlformats.org/package/2006/content-types">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7"/>
    <p:sldId id="262" r:id="rId8"/>
    <p:sldId id="264" r:id="rId10"/>
    <p:sldId id="265" r:id="rId11"/>
    <p:sldId id="266" r:id="rId12"/>
    <p:sldId id="267" r:id="rId13"/>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a:extLst>
              <a:ext uri="{FF2B5EF4-FFF2-40B4-BE49-F238E27FC236}">
                <a16:creationId xmlns:a16="http://schemas.microsoft.com/office/drawing/2014/main" id="{3E5DA0C3-A268-40F1-A23C-DEC0048238DC}"/>
              </a:ext>
            </a:extLst>
          </p:cNvPr>
          <p:cNvSpPr/>
          <p:nvPr/>
        </p:nvSpPr>
        <p:spPr>
          <a:xfrm>
            <a:off x="7048500" y="0"/>
            <a:ext cx="5143500" cy="6858000"/>
          </a:xfrm>
          <a:prstGeom prst="rect">
            <a:avLst/>
          </a:prstGeom>
          <a:solidFill>
            <a:srgbClr val="F4F8FF"/>
          </a:solidFill>
        </p:spPr>
        <p:txBody>
          <a:bodyPr wrap="square" rtlCol="0"/>
          <a:lstStyle/>
          <a:p>
            <a:r>
              <a:rPr/>
              <a:t/>
            </a:r>
          </a:p>
        </p:txBody>
      </p:sp>
      <p:sp>
        <p:nvSpPr>
          <p:cNvPr id="4" name="Shape 4">
            <a:extLst>
              <a:ext uri="{FF2B5EF4-FFF2-40B4-BE49-F238E27FC236}">
                <a16:creationId xmlns:a16="http://schemas.microsoft.com/office/drawing/2014/main" id="{D4CBC02F-D1EF-49C4-B0E0-E035AE0D2CBC}"/>
              </a:ext>
            </a:extLst>
          </p:cNvPr>
          <p:cNvSpPr/>
          <p:nvPr/>
        </p:nvSpPr>
        <p:spPr>
          <a:xfrm>
            <a:off x="8810625" y="3028950"/>
            <a:ext cx="1619250" cy="609600"/>
          </a:xfrm>
          <a:prstGeom prst="roundRect">
            <a:avLst/>
          </a:prstGeom>
          <a:solidFill>
            <a:srgbClr val="0058FF"/>
          </a:solidFill>
        </p:spPr>
        <p:txBody>
          <a:bodyPr wrap="square" rtlCol="0" lIns="0" tIns="0" rIns="0" bIns="0" anchor="ctr"/>
          <a:lstStyle/>
          <a:p>
            <a:pPr algn="ctr">
              <a:lnSpc>
                <a:spcPct val="108000"/>
              </a:lnSpc>
            </a:pPr>
            <a:r>
              <a:rPr sz="1500" b="1">
                <a:solidFill>
                  <a:srgbClr val="FFFFFF"/>
                </a:solidFill>
              </a:rPr>
              <a:t>可信数据空间</a:t>
            </a:r>
          </a:p>
          <a:p>
            <a:pPr algn="ctr">
              <a:lnSpc>
                <a:spcPct val="108000"/>
              </a:lnSpc>
            </a:pPr>
            <a:r>
              <a:rPr sz="1100">
                <a:solidFill>
                  <a:srgbClr val="D6E4FF"/>
                </a:solidFill>
              </a:rPr>
              <a:t>协同服务平台</a:t>
            </a:r>
          </a:p>
        </p:txBody>
      </p:sp>
      <p:cxnSp>
        <p:nvCxnSpPr>
          <p:cNvPr id="5" name="Straight Connector 5">
            <a:extLst>
              <a:ext uri="{FF2B5EF4-FFF2-40B4-BE49-F238E27FC236}">
                <a16:creationId xmlns:a16="http://schemas.microsoft.com/office/drawing/2014/main" id="{ED895619-70AC-4DB6-A283-6AEC5DAB292E}"/>
              </a:ext>
            </a:extLst>
          </p:cNvPr>
          <p:cNvCxnSpPr/>
          <p:nvPr/>
        </p:nvCxnSpPr>
        <p:spPr>
          <a:xfrm>
            <a:off x="9610725" y="2190750"/>
            <a:ext cx="9525" cy="838200"/>
          </a:xfrm>
          <a:prstGeom prst="line">
            <a:avLst/>
          </a:prstGeom>
          <a:ln w="12700" cap="flat">
            <a:solidFill>
              <a:srgbClr val="B9CDEE"/>
            </a:solidFill>
          </a:ln>
        </p:spPr>
      </p:cxnSp>
      <p:cxnSp>
        <p:nvCxnSpPr>
          <p:cNvPr id="6" name="Straight Connector 6">
            <a:extLst>
              <a:ext uri="{FF2B5EF4-FFF2-40B4-BE49-F238E27FC236}">
                <a16:creationId xmlns:a16="http://schemas.microsoft.com/office/drawing/2014/main" id="{A2C25CB4-A2EE-4520-B7B8-CF8AC7364A77}"/>
              </a:ext>
            </a:extLst>
          </p:cNvPr>
          <p:cNvCxnSpPr/>
          <p:nvPr/>
        </p:nvCxnSpPr>
        <p:spPr>
          <a:xfrm>
            <a:off x="9610725" y="3638550"/>
            <a:ext cx="9525" cy="838200"/>
          </a:xfrm>
          <a:prstGeom prst="line">
            <a:avLst/>
          </a:prstGeom>
          <a:ln w="12700" cap="flat">
            <a:solidFill>
              <a:srgbClr val="B9CDEE"/>
            </a:solidFill>
          </a:ln>
        </p:spPr>
      </p:cxnSp>
      <p:cxnSp>
        <p:nvCxnSpPr>
          <p:cNvPr id="7" name="Straight Connector 7">
            <a:extLst>
              <a:ext uri="{FF2B5EF4-FFF2-40B4-BE49-F238E27FC236}">
                <a16:creationId xmlns:a16="http://schemas.microsoft.com/office/drawing/2014/main" id="{ADA8788A-2A6B-408B-BFEC-9121260F84A5}"/>
              </a:ext>
            </a:extLst>
          </p:cNvPr>
          <p:cNvCxnSpPr/>
          <p:nvPr/>
        </p:nvCxnSpPr>
        <p:spPr>
          <a:xfrm>
            <a:off x="8572500" y="3324225"/>
            <a:ext cx="238125" cy="9525"/>
          </a:xfrm>
          <a:prstGeom prst="line">
            <a:avLst/>
          </a:prstGeom>
          <a:ln w="12700" cap="flat">
            <a:solidFill>
              <a:srgbClr val="B9CDEE"/>
            </a:solidFill>
          </a:ln>
        </p:spPr>
      </p:cxnSp>
      <p:cxnSp>
        <p:nvCxnSpPr>
          <p:cNvPr id="8" name="Straight Connector 8">
            <a:extLst>
              <a:ext uri="{FF2B5EF4-FFF2-40B4-BE49-F238E27FC236}">
                <a16:creationId xmlns:a16="http://schemas.microsoft.com/office/drawing/2014/main" id="{5F6F66FA-11FF-4935-B632-00B7A9F9C52A}"/>
              </a:ext>
            </a:extLst>
          </p:cNvPr>
          <p:cNvCxnSpPr/>
          <p:nvPr/>
        </p:nvCxnSpPr>
        <p:spPr>
          <a:xfrm>
            <a:off x="10429875" y="3324225"/>
            <a:ext cx="238125" cy="9525"/>
          </a:xfrm>
          <a:prstGeom prst="line">
            <a:avLst/>
          </a:prstGeom>
          <a:ln w="12700" cap="flat">
            <a:solidFill>
              <a:srgbClr val="B9CDEE"/>
            </a:solidFill>
          </a:ln>
        </p:spPr>
      </p:cxnSp>
      <p:sp>
        <p:nvSpPr>
          <p:cNvPr id="9" name="Shape 9">
            <a:extLst>
              <a:ext uri="{FF2B5EF4-FFF2-40B4-BE49-F238E27FC236}">
                <a16:creationId xmlns:a16="http://schemas.microsoft.com/office/drawing/2014/main" id="{FBD083DE-23A6-4D77-AB23-71016314371B}"/>
              </a:ext>
            </a:extLst>
          </p:cNvPr>
          <p:cNvSpPr/>
          <p:nvPr/>
        </p:nvSpPr>
        <p:spPr>
          <a:xfrm>
            <a:off x="8905875" y="1619250"/>
            <a:ext cx="1428750" cy="571500"/>
          </a:xfrm>
          <a:prstGeom prst="roundRect">
            <a:avLst/>
          </a:prstGeom>
          <a:solidFill>
            <a:srgbClr val="FFFFFF"/>
          </a:solidFill>
          <a:ln w="12700">
            <a:solidFill>
              <a:srgbClr val="D9E5FA"/>
            </a:solidFill>
          </a:ln>
        </p:spPr>
        <p:txBody>
          <a:bodyPr wrap="square" rtlCol="0" lIns="0" tIns="0" rIns="0" bIns="0" anchor="ctr"/>
          <a:lstStyle/>
          <a:p>
            <a:pPr algn="ctr">
              <a:lnSpc>
                <a:spcPct val="108000"/>
              </a:lnSpc>
            </a:pPr>
            <a:r>
              <a:rPr sz="1300" b="1">
                <a:solidFill>
                  <a:srgbClr val="16202E"/>
                </a:solidFill>
              </a:rPr>
              <a:t>医院 A</a:t>
            </a:r>
          </a:p>
          <a:p>
            <a:pPr algn="ctr">
              <a:lnSpc>
                <a:spcPct val="108000"/>
              </a:lnSpc>
            </a:pPr>
            <a:r>
              <a:rPr sz="1100">
                <a:solidFill>
                  <a:srgbClr val="5B6B80"/>
                </a:solidFill>
              </a:rPr>
              <a:t>临床诊疗数据</a:t>
            </a:r>
          </a:p>
        </p:txBody>
      </p:sp>
      <p:sp>
        <p:nvSpPr>
          <p:cNvPr id="10" name="Shape 10">
            <a:extLst>
              <a:ext uri="{FF2B5EF4-FFF2-40B4-BE49-F238E27FC236}">
                <a16:creationId xmlns:a16="http://schemas.microsoft.com/office/drawing/2014/main" id="{EE067A13-CA74-4905-ADB1-6E0D2A72ED5E}"/>
              </a:ext>
            </a:extLst>
          </p:cNvPr>
          <p:cNvSpPr/>
          <p:nvPr/>
        </p:nvSpPr>
        <p:spPr>
          <a:xfrm>
            <a:off x="7334250" y="3048000"/>
            <a:ext cx="1238250" cy="552450"/>
          </a:xfrm>
          <a:prstGeom prst="roundRect">
            <a:avLst/>
          </a:prstGeom>
          <a:solidFill>
            <a:srgbClr val="FFFFFF"/>
          </a:solidFill>
          <a:ln w="12700">
            <a:solidFill>
              <a:srgbClr val="D9E5FA"/>
            </a:solidFill>
          </a:ln>
        </p:spPr>
        <p:txBody>
          <a:bodyPr wrap="square" rtlCol="0" lIns="0" tIns="0" rIns="0" bIns="0" anchor="ctr"/>
          <a:lstStyle/>
          <a:p>
            <a:pPr algn="ctr">
              <a:lnSpc>
                <a:spcPct val="108000"/>
              </a:lnSpc>
            </a:pPr>
            <a:r>
              <a:rPr sz="1300" b="1">
                <a:solidFill>
                  <a:srgbClr val="16202E"/>
                </a:solidFill>
              </a:rPr>
              <a:t>医院 B</a:t>
            </a:r>
          </a:p>
          <a:p>
            <a:pPr algn="ctr">
              <a:lnSpc>
                <a:spcPct val="108000"/>
              </a:lnSpc>
            </a:pPr>
            <a:r>
              <a:rPr sz="1100">
                <a:solidFill>
                  <a:srgbClr val="5B6B80"/>
                </a:solidFill>
              </a:rPr>
              <a:t>医学影像数据</a:t>
            </a:r>
          </a:p>
        </p:txBody>
      </p:sp>
      <p:sp>
        <p:nvSpPr>
          <p:cNvPr id="11" name="Shape 11">
            <a:extLst>
              <a:ext uri="{FF2B5EF4-FFF2-40B4-BE49-F238E27FC236}">
                <a16:creationId xmlns:a16="http://schemas.microsoft.com/office/drawing/2014/main" id="{96516462-B2C0-4540-8EC9-C6E693CE898C}"/>
              </a:ext>
            </a:extLst>
          </p:cNvPr>
          <p:cNvSpPr/>
          <p:nvPr/>
        </p:nvSpPr>
        <p:spPr>
          <a:xfrm>
            <a:off x="10668000" y="3048000"/>
            <a:ext cx="1238250" cy="552450"/>
          </a:xfrm>
          <a:prstGeom prst="roundRect">
            <a:avLst/>
          </a:prstGeom>
          <a:solidFill>
            <a:srgbClr val="FFFFFF"/>
          </a:solidFill>
          <a:ln w="12700">
            <a:solidFill>
              <a:srgbClr val="D9E5FA"/>
            </a:solidFill>
          </a:ln>
        </p:spPr>
        <p:txBody>
          <a:bodyPr wrap="square" rtlCol="0" lIns="0" tIns="0" rIns="0" bIns="0" anchor="ctr"/>
          <a:lstStyle/>
          <a:p>
            <a:pPr algn="ctr">
              <a:lnSpc>
                <a:spcPct val="108000"/>
              </a:lnSpc>
            </a:pPr>
            <a:r>
              <a:rPr sz="1300" b="1">
                <a:solidFill>
                  <a:srgbClr val="16202E"/>
                </a:solidFill>
              </a:rPr>
              <a:t>机构 C</a:t>
            </a:r>
          </a:p>
          <a:p>
            <a:pPr algn="ctr">
              <a:lnSpc>
                <a:spcPct val="108000"/>
              </a:lnSpc>
            </a:pPr>
            <a:r>
              <a:rPr sz="1100">
                <a:solidFill>
                  <a:srgbClr val="5B6B80"/>
                </a:solidFill>
              </a:rPr>
              <a:t>科研队列数据</a:t>
            </a:r>
          </a:p>
        </p:txBody>
      </p:sp>
      <p:sp>
        <p:nvSpPr>
          <p:cNvPr id="12" name="Shape 12">
            <a:extLst>
              <a:ext uri="{FF2B5EF4-FFF2-40B4-BE49-F238E27FC236}">
                <a16:creationId xmlns:a16="http://schemas.microsoft.com/office/drawing/2014/main" id="{B926AAF3-70CF-49F4-BC72-4C08230B37A6}"/>
              </a:ext>
            </a:extLst>
          </p:cNvPr>
          <p:cNvSpPr/>
          <p:nvPr/>
        </p:nvSpPr>
        <p:spPr>
          <a:xfrm>
            <a:off x="8905875" y="4476750"/>
            <a:ext cx="1428750" cy="571500"/>
          </a:xfrm>
          <a:prstGeom prst="roundRect">
            <a:avLst/>
          </a:prstGeom>
          <a:solidFill>
            <a:srgbClr val="FFFFFF"/>
          </a:solidFill>
          <a:ln w="12700">
            <a:solidFill>
              <a:srgbClr val="D9E5FA"/>
            </a:solidFill>
          </a:ln>
        </p:spPr>
        <p:txBody>
          <a:bodyPr wrap="square" rtlCol="0" lIns="0" tIns="0" rIns="0" bIns="0" anchor="ctr"/>
          <a:lstStyle/>
          <a:p>
            <a:pPr algn="ctr">
              <a:lnSpc>
                <a:spcPct val="108000"/>
              </a:lnSpc>
            </a:pPr>
            <a:r>
              <a:rPr sz="1200" b="1">
                <a:solidFill>
                  <a:srgbClr val="16202E"/>
                </a:solidFill>
              </a:rPr>
              <a:t>跨机构联合研究</a:t>
            </a:r>
          </a:p>
          <a:p>
            <a:pPr algn="ctr">
              <a:lnSpc>
                <a:spcPct val="108000"/>
              </a:lnSpc>
            </a:pPr>
            <a:r>
              <a:rPr sz="1100">
                <a:solidFill>
                  <a:srgbClr val="5B6B80"/>
                </a:solidFill>
              </a:rPr>
              <a:t>仅合规结果上浮</a:t>
            </a:r>
          </a:p>
        </p:txBody>
      </p:sp>
      <p:sp>
        <p:nvSpPr>
          <p:cNvPr id="13" name="TextBox 13">
            <a:extLst>
              <a:ext uri="{FF2B5EF4-FFF2-40B4-BE49-F238E27FC236}">
                <a16:creationId xmlns:a16="http://schemas.microsoft.com/office/drawing/2014/main" id="{220DB5F7-9BD4-4B06-8D4B-1961C0202172}"/>
              </a:ext>
            </a:extLst>
          </p:cNvPr>
          <p:cNvSpPr txBox="1"/>
          <p:nvPr/>
        </p:nvSpPr>
        <p:spPr>
          <a:xfrm>
            <a:off x="7143750" y="5314950"/>
            <a:ext cx="4953000" cy="285750"/>
          </a:xfrm>
        </p:spPr>
        <p:txBody>
          <a:bodyPr wrap="square" rtlCol="0" lIns="0" tIns="0" rIns="0" bIns="0" anchor="t"/>
          <a:lstStyle/>
          <a:p>
            <a:pPr algn="ctr">
              <a:lnSpc>
                <a:spcPct val="110000"/>
              </a:lnSpc>
            </a:pPr>
            <a:r>
              <a:rPr sz="1300">
                <a:solidFill>
                  <a:srgbClr val="5B6B80"/>
                </a:solidFill>
              </a:rPr>
              <a:t>数据不出域 · 跨域连成网</a:t>
            </a:r>
          </a:p>
        </p:txBody>
      </p:sp>
      <p:sp>
        <p:nvSpPr>
          <p:cNvPr id="14" name="TextBox 14">
            <a:extLst>
              <a:ext uri="{FF2B5EF4-FFF2-40B4-BE49-F238E27FC236}">
                <a16:creationId xmlns:a16="http://schemas.microsoft.com/office/drawing/2014/main" id="{64136DB8-88D1-4DEB-A102-FB6C52EB44D4}"/>
              </a:ext>
            </a:extLst>
          </p:cNvPr>
          <p:cNvSpPr txBox="1"/>
          <p:nvPr/>
        </p:nvSpPr>
        <p:spPr>
          <a:xfrm>
            <a:off x="762000" y="1123950"/>
            <a:ext cx="5905500" cy="266700"/>
          </a:xfrm>
        </p:spPr>
        <p:txBody>
          <a:bodyPr wrap="square" rtlCol="0" lIns="0" tIns="0" rIns="0" bIns="0" anchor="t"/>
          <a:lstStyle/>
          <a:p>
            <a:pPr algn="l">
              <a:lnSpc>
                <a:spcPct val="110000"/>
              </a:lnSpc>
            </a:pPr>
            <a:r>
              <a:rPr sz="1300" b="1">
                <a:solidFill>
                  <a:srgbClr val="0058FF"/>
                </a:solidFill>
              </a:rPr>
              <a:t>医疗科研数据基础设施 · 面向医院管理者与临床科研团队</a:t>
            </a:r>
          </a:p>
        </p:txBody>
      </p:sp>
      <p:sp>
        <p:nvSpPr>
          <p:cNvPr id="15" name="TextBox 15">
            <a:extLst>
              <a:ext uri="{FF2B5EF4-FFF2-40B4-BE49-F238E27FC236}">
                <a16:creationId xmlns:a16="http://schemas.microsoft.com/office/drawing/2014/main" id="{A9856254-F4EE-4FBC-9B18-C637D6EE6A28}"/>
              </a:ext>
            </a:extLst>
          </p:cNvPr>
          <p:cNvSpPr txBox="1"/>
          <p:nvPr/>
        </p:nvSpPr>
        <p:spPr>
          <a:xfrm>
            <a:off x="762000" y="1447800"/>
            <a:ext cx="6096000" cy="1447800"/>
          </a:xfrm>
        </p:spPr>
        <p:txBody>
          <a:bodyPr wrap="square" rtlCol="0" lIns="0" tIns="0" rIns="0" bIns="0" anchor="t"/>
          <a:lstStyle/>
          <a:p>
            <a:pPr algn="l">
              <a:lnSpc>
                <a:spcPct val="118000"/>
              </a:lnSpc>
            </a:pPr>
            <a:r>
              <a:rPr sz="3800" b="1">
                <a:solidFill>
                  <a:srgbClr val="16202E"/>
                </a:solidFill>
                <a:latin typeface="Microsoft YaHei"/>
                <a:ea typeface="Microsoft YaHei"/>
              </a:rPr>
              <a:t>TREMAC 与可信数据空间</a:t>
            </a:r>
          </a:p>
          <a:p>
            <a:pPr algn="l">
              <a:lnSpc>
                <a:spcPct val="118000"/>
              </a:lnSpc>
            </a:pPr>
            <a:r>
              <a:rPr sz="3800" b="1">
                <a:solidFill>
                  <a:srgbClr val="16202E"/>
                </a:solidFill>
                <a:latin typeface="Microsoft YaHei"/>
                <a:ea typeface="Microsoft YaHei"/>
              </a:rPr>
              <a:t>技术融合探索</a:t>
            </a:r>
          </a:p>
        </p:txBody>
      </p:sp>
      <p:sp>
        <p:nvSpPr>
          <p:cNvPr id="16" name="TextBox 16">
            <a:extLst>
              <a:ext uri="{FF2B5EF4-FFF2-40B4-BE49-F238E27FC236}">
                <a16:creationId xmlns:a16="http://schemas.microsoft.com/office/drawing/2014/main" id="{0C2D06B7-8AB5-4659-9207-01B5919300DB}"/>
              </a:ext>
            </a:extLst>
          </p:cNvPr>
          <p:cNvSpPr txBox="1"/>
          <p:nvPr/>
        </p:nvSpPr>
        <p:spPr>
          <a:xfrm>
            <a:off x="762000" y="3143250"/>
            <a:ext cx="5905500" cy="438150"/>
          </a:xfrm>
        </p:spPr>
        <p:txBody>
          <a:bodyPr wrap="square" rtlCol="0" lIns="0" tIns="0" rIns="0" bIns="0" anchor="t"/>
          <a:lstStyle/>
          <a:p>
            <a:pPr algn="l">
              <a:lnSpc>
                <a:spcPct val="115000"/>
              </a:lnSpc>
            </a:pPr>
            <a:r>
              <a:rPr sz="1700">
                <a:solidFill>
                  <a:srgbClr val="5B6B80"/>
                </a:solidFill>
              </a:rPr>
              <a:t>从可信研究环境到可信科研协同网络</a:t>
            </a:r>
          </a:p>
        </p:txBody>
      </p:sp>
      <p:sp>
        <p:nvSpPr>
          <p:cNvPr id="17" name="Shape 17">
            <a:extLst>
              <a:ext uri="{FF2B5EF4-FFF2-40B4-BE49-F238E27FC236}">
                <a16:creationId xmlns:a16="http://schemas.microsoft.com/office/drawing/2014/main" id="{ED43A1E1-01AD-4FCE-B0A5-F9B35DD24DF6}"/>
              </a:ext>
            </a:extLst>
          </p:cNvPr>
          <p:cNvSpPr/>
          <p:nvPr/>
        </p:nvSpPr>
        <p:spPr>
          <a:xfrm>
            <a:off x="762000" y="3848100"/>
            <a:ext cx="2762250" cy="457200"/>
          </a:xfrm>
          <a:prstGeom prst="roundRect">
            <a:avLst/>
          </a:prstGeom>
          <a:solidFill>
            <a:srgbClr val="EAF1FE"/>
          </a:solidFill>
        </p:spPr>
        <p:txBody>
          <a:bodyPr wrap="square" rtlCol="0" lIns="0" tIns="0" rIns="0" bIns="0" anchor="ctr"/>
          <a:lstStyle/>
          <a:p>
            <a:pPr algn="ctr">
              <a:lnSpc>
                <a:spcPct val="108000"/>
              </a:lnSpc>
            </a:pPr>
            <a:r>
              <a:rPr sz="1300" b="1">
                <a:solidFill>
                  <a:srgbClr val="0058FF"/>
                </a:solidFill>
              </a:rPr>
              <a:t>数据在本地</a:t>
            </a:r>
            <a:r>
              <a:rPr sz="1300">
                <a:solidFill>
                  <a:srgbClr val="4A5A70"/>
                </a:solidFill>
              </a:rPr>
              <a:t>  主权属地化</a:t>
            </a:r>
          </a:p>
        </p:txBody>
      </p:sp>
      <p:sp>
        <p:nvSpPr>
          <p:cNvPr id="18" name="Shape 18">
            <a:extLst>
              <a:ext uri="{FF2B5EF4-FFF2-40B4-BE49-F238E27FC236}">
                <a16:creationId xmlns:a16="http://schemas.microsoft.com/office/drawing/2014/main" id="{63B108C7-84DD-49E0-84D5-2154E9CD6D2C}"/>
              </a:ext>
            </a:extLst>
          </p:cNvPr>
          <p:cNvSpPr/>
          <p:nvPr/>
        </p:nvSpPr>
        <p:spPr>
          <a:xfrm>
            <a:off x="3695700" y="3848100"/>
            <a:ext cx="2762250" cy="457200"/>
          </a:xfrm>
          <a:prstGeom prst="roundRect">
            <a:avLst/>
          </a:prstGeom>
          <a:solidFill>
            <a:srgbClr val="EAF1FE"/>
          </a:solidFill>
        </p:spPr>
        <p:txBody>
          <a:bodyPr wrap="square" rtlCol="0" lIns="0" tIns="0" rIns="0" bIns="0" anchor="ctr"/>
          <a:lstStyle/>
          <a:p>
            <a:pPr algn="ctr">
              <a:lnSpc>
                <a:spcPct val="108000"/>
              </a:lnSpc>
            </a:pPr>
            <a:r>
              <a:rPr sz="1300" b="1">
                <a:solidFill>
                  <a:srgbClr val="0058FF"/>
                </a:solidFill>
              </a:rPr>
              <a:t>隐私保护</a:t>
            </a:r>
            <a:r>
              <a:rPr sz="1300">
                <a:solidFill>
                  <a:srgbClr val="4A5A70"/>
                </a:solidFill>
              </a:rPr>
              <a:t>  全栈隐私内生</a:t>
            </a:r>
          </a:p>
        </p:txBody>
      </p:sp>
      <p:sp>
        <p:nvSpPr>
          <p:cNvPr id="19" name="Shape 19">
            <a:extLst>
              <a:ext uri="{FF2B5EF4-FFF2-40B4-BE49-F238E27FC236}">
                <a16:creationId xmlns:a16="http://schemas.microsoft.com/office/drawing/2014/main" id="{3F02FE71-630C-4CFC-8E71-8D7BB2C27C58}"/>
              </a:ext>
            </a:extLst>
          </p:cNvPr>
          <p:cNvSpPr/>
          <p:nvPr/>
        </p:nvSpPr>
        <p:spPr>
          <a:xfrm>
            <a:off x="762000" y="4381500"/>
            <a:ext cx="2762250" cy="457200"/>
          </a:xfrm>
          <a:prstGeom prst="roundRect">
            <a:avLst/>
          </a:prstGeom>
          <a:solidFill>
            <a:srgbClr val="EAF1FE"/>
          </a:solidFill>
        </p:spPr>
        <p:txBody>
          <a:bodyPr wrap="square" rtlCol="0" lIns="0" tIns="0" rIns="0" bIns="0" anchor="ctr"/>
          <a:lstStyle/>
          <a:p>
            <a:pPr algn="ctr">
              <a:lnSpc>
                <a:spcPct val="108000"/>
              </a:lnSpc>
            </a:pPr>
            <a:r>
              <a:rPr sz="1300" b="1">
                <a:solidFill>
                  <a:srgbClr val="0058FF"/>
                </a:solidFill>
              </a:rPr>
              <a:t>可管控</a:t>
            </a:r>
            <a:r>
              <a:rPr sz="1300">
                <a:solidFill>
                  <a:srgbClr val="4A5A70"/>
                </a:solidFill>
              </a:rPr>
              <a:t>  细粒度使用控制</a:t>
            </a:r>
          </a:p>
        </p:txBody>
      </p:sp>
      <p:sp>
        <p:nvSpPr>
          <p:cNvPr id="20" name="Shape 20">
            <a:extLst>
              <a:ext uri="{FF2B5EF4-FFF2-40B4-BE49-F238E27FC236}">
                <a16:creationId xmlns:a16="http://schemas.microsoft.com/office/drawing/2014/main" id="{20ABFE74-42B8-4168-82D3-560BF36335F6}"/>
              </a:ext>
            </a:extLst>
          </p:cNvPr>
          <p:cNvSpPr/>
          <p:nvPr/>
        </p:nvSpPr>
        <p:spPr>
          <a:xfrm>
            <a:off x="3695700" y="4381500"/>
            <a:ext cx="2762250" cy="457200"/>
          </a:xfrm>
          <a:prstGeom prst="roundRect">
            <a:avLst/>
          </a:prstGeom>
          <a:solidFill>
            <a:srgbClr val="EAF1FE"/>
          </a:solidFill>
        </p:spPr>
        <p:txBody>
          <a:bodyPr wrap="square" rtlCol="0" lIns="0" tIns="0" rIns="0" bIns="0" anchor="ctr"/>
          <a:lstStyle/>
          <a:p>
            <a:pPr algn="ctr">
              <a:lnSpc>
                <a:spcPct val="108000"/>
              </a:lnSpc>
            </a:pPr>
            <a:r>
              <a:rPr sz="1300" b="1">
                <a:solidFill>
                  <a:srgbClr val="0058FF"/>
                </a:solidFill>
              </a:rPr>
              <a:t>能做大科研</a:t>
            </a:r>
            <a:r>
              <a:rPr sz="1300">
                <a:solidFill>
                  <a:srgbClr val="4A5A70"/>
                </a:solidFill>
              </a:rPr>
              <a:t>  跨域协同</a:t>
            </a:r>
          </a:p>
        </p:txBody>
      </p:sp>
      <p:sp>
        <p:nvSpPr>
          <p:cNvPr id="21" name="TextBox 21">
            <a:extLst>
              <a:ext uri="{FF2B5EF4-FFF2-40B4-BE49-F238E27FC236}">
                <a16:creationId xmlns:a16="http://schemas.microsoft.com/office/drawing/2014/main" id="{C269B0A9-7BC1-4D23-8896-54A9D84F5EEA}"/>
              </a:ext>
            </a:extLst>
          </p:cNvPr>
          <p:cNvSpPr txBox="1"/>
          <p:nvPr/>
        </p:nvSpPr>
        <p:spPr>
          <a:xfrm>
            <a:off x="762000" y="5676900"/>
            <a:ext cx="6096000" cy="772668"/>
          </a:xfrm>
        </p:spPr>
        <p:txBody>
          <a:bodyPr wrap="square" rtlCol="0" lIns="0" tIns="0" rIns="0" bIns="0" anchor="t"/>
          <a:lstStyle/>
          <a:p>
            <a:pPr>
              <a:lnSpc>
                <a:spcPct val="130000"/>
              </a:lnSpc>
            </a:pPr>
            <a:r>
              <a:rPr sz="1300">
                <a:solidFill>
                  <a:srgbClr val="5B6B80"/>
                </a:solidFill>
              </a:rPr>
              <a:t>演讲人｜中国电子云  李化名</a:t>
            </a:r>
          </a:p>
          <a:p>
            <a:pPr>
              <a:lnSpc>
                <a:spcPct val="130000"/>
              </a:lnSpc>
            </a:pPr>
            <a:r>
              <a:rPr sz="1300">
                <a:solidFill>
                  <a:srgbClr val="5B6B80"/>
                </a:solidFill>
              </a:rPr>
              <a:t>主办方｜广州实验室 × 澳门科技大学</a:t>
            </a:r>
          </a:p>
          <a:p>
            <a:pPr>
              <a:lnSpc>
                <a:spcPct val="130000"/>
              </a:lnSpc>
            </a:pPr>
            <a:r>
              <a:rPr sz="1300">
                <a:solidFill>
                  <a:srgbClr val="5B6B80"/>
                </a:solidFill>
              </a:rPr>
              <a:t>核心受众｜各大医院代表　时长｜约 13 分钟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84AF97F4-E80E-472D-B54F-4EDFC46CC6D1}"/>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国家大势 · 政策脉络</a:t>
            </a:r>
          </a:p>
        </p:txBody>
      </p:sp>
      <p:sp>
        <p:nvSpPr>
          <p:cNvPr id="4" name="TextBox 4">
            <a:extLst>
              <a:ext uri="{FF2B5EF4-FFF2-40B4-BE49-F238E27FC236}">
                <a16:creationId xmlns:a16="http://schemas.microsoft.com/office/drawing/2014/main" id="{2B8DE252-A9BA-49D8-8D2C-B3C945F839B2}"/>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国家高度重视数据要素，可信数据空间是核心技术路线</a:t>
            </a:r>
          </a:p>
        </p:txBody>
      </p:sp>
      <p:sp>
        <p:nvSpPr>
          <p:cNvPr id="5" name="TextBox 5">
            <a:extLst>
              <a:ext uri="{FF2B5EF4-FFF2-40B4-BE49-F238E27FC236}">
                <a16:creationId xmlns:a16="http://schemas.microsoft.com/office/drawing/2014/main" id="{4E7BF3CD-6B12-4C27-A1B0-52C170B718E2}"/>
              </a:ext>
            </a:extLst>
          </p:cNvPr>
          <p:cNvSpPr txBox="1"/>
          <p:nvPr/>
        </p:nvSpPr>
        <p:spPr>
          <a:xfrm>
            <a:off x="762000" y="1181100"/>
            <a:ext cx="10668000" cy="617220"/>
          </a:xfrm>
        </p:spPr>
        <p:txBody>
          <a:bodyPr wrap="square" rtlCol="0" lIns="0" tIns="0" rIns="0" bIns="0" anchor="t"/>
          <a:lstStyle/>
          <a:p>
            <a:pPr>
              <a:lnSpc>
                <a:spcPct val="135000"/>
              </a:lnSpc>
            </a:pPr>
            <a:r>
              <a:rPr sz="1500">
                <a:solidFill>
                  <a:srgbClr val="5B6B80"/>
                </a:solidFill>
              </a:rPr>
              <a:t>不是让大家冒着违规风险“私下拷硬盘”，而是用国家标准的可信数据基础设施，既守住安全红线，又名正言顺地支撑科研与临床创新。</a:t>
            </a:r>
          </a:p>
        </p:txBody>
      </p:sp>
      <p:sp>
        <p:nvSpPr>
          <p:cNvPr id="6" name="Shape 6">
            <a:extLst>
              <a:ext uri="{FF2B5EF4-FFF2-40B4-BE49-F238E27FC236}">
                <a16:creationId xmlns:a16="http://schemas.microsoft.com/office/drawing/2014/main" id="{AAAA7993-A414-4341-B5F8-CE2FAE9B702E}"/>
              </a:ext>
            </a:extLst>
          </p:cNvPr>
          <p:cNvSpPr/>
          <p:nvPr/>
        </p:nvSpPr>
        <p:spPr>
          <a:xfrm>
            <a:off x="762000" y="180975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36CC7055-CD8D-4181-9D76-2B0B2FC1A2D6}"/>
              </a:ext>
            </a:extLst>
          </p:cNvPr>
          <p:cNvSpPr/>
          <p:nvPr/>
        </p:nvSpPr>
        <p:spPr>
          <a:xfrm>
            <a:off x="1333500" y="2590800"/>
            <a:ext cx="9525000" cy="19050"/>
          </a:xfrm>
          <a:prstGeom prst="rect">
            <a:avLst/>
          </a:prstGeom>
          <a:solidFill>
            <a:srgbClr val="D9E5FA"/>
          </a:solidFill>
        </p:spPr>
        <p:txBody>
          <a:bodyPr wrap="square" rtlCol="0"/>
          <a:lstStyle/>
          <a:p>
            <a:r>
              <a:rPr/>
              <a:t/>
            </a:r>
          </a:p>
        </p:txBody>
      </p:sp>
      <p:sp>
        <p:nvSpPr>
          <p:cNvPr id="8" name="Shape 8">
            <a:extLst>
              <a:ext uri="{FF2B5EF4-FFF2-40B4-BE49-F238E27FC236}">
                <a16:creationId xmlns:a16="http://schemas.microsoft.com/office/drawing/2014/main" id="{A7524BB9-F3E6-4C4F-ADB5-16D779B31527}"/>
              </a:ext>
            </a:extLst>
          </p:cNvPr>
          <p:cNvSpPr/>
          <p:nvPr/>
        </p:nvSpPr>
        <p:spPr>
          <a:xfrm>
            <a:off x="1838325" y="2533650"/>
            <a:ext cx="133350" cy="133350"/>
          </a:xfrm>
          <a:prstGeom prst="ellipse">
            <a:avLst/>
          </a:prstGeom>
          <a:solidFill>
            <a:srgbClr val="0058FF"/>
          </a:solidFill>
        </p:spPr>
        <p:txBody>
          <a:bodyPr wrap="square" rtlCol="0"/>
          <a:lstStyle/>
          <a:p>
            <a:r>
              <a:rPr/>
              <a:t/>
            </a:r>
          </a:p>
        </p:txBody>
      </p:sp>
      <p:sp>
        <p:nvSpPr>
          <p:cNvPr id="9" name="Shape 9">
            <a:extLst>
              <a:ext uri="{FF2B5EF4-FFF2-40B4-BE49-F238E27FC236}">
                <a16:creationId xmlns:a16="http://schemas.microsoft.com/office/drawing/2014/main" id="{CAE24451-8549-40E2-91EF-0B985DECAAD1}"/>
              </a:ext>
            </a:extLst>
          </p:cNvPr>
          <p:cNvSpPr/>
          <p:nvPr/>
        </p:nvSpPr>
        <p:spPr>
          <a:xfrm>
            <a:off x="6029325" y="2533650"/>
            <a:ext cx="133350" cy="133350"/>
          </a:xfrm>
          <a:prstGeom prst="ellipse">
            <a:avLst/>
          </a:prstGeom>
          <a:solidFill>
            <a:srgbClr val="0058FF"/>
          </a:solidFill>
        </p:spPr>
        <p:txBody>
          <a:bodyPr wrap="square" rtlCol="0"/>
          <a:lstStyle/>
          <a:p>
            <a:r>
              <a:rPr/>
              <a:t/>
            </a:r>
          </a:p>
        </p:txBody>
      </p:sp>
      <p:sp>
        <p:nvSpPr>
          <p:cNvPr id="10" name="Shape 10">
            <a:extLst>
              <a:ext uri="{FF2B5EF4-FFF2-40B4-BE49-F238E27FC236}">
                <a16:creationId xmlns:a16="http://schemas.microsoft.com/office/drawing/2014/main" id="{55B235C3-119D-4719-9376-5952DE55182D}"/>
              </a:ext>
            </a:extLst>
          </p:cNvPr>
          <p:cNvSpPr/>
          <p:nvPr/>
        </p:nvSpPr>
        <p:spPr>
          <a:xfrm>
            <a:off x="10220325" y="2533650"/>
            <a:ext cx="133350" cy="133350"/>
          </a:xfrm>
          <a:prstGeom prst="ellipse">
            <a:avLst/>
          </a:prstGeom>
          <a:solidFill>
            <a:srgbClr val="0058FF"/>
          </a:solidFill>
        </p:spPr>
        <p:txBody>
          <a:bodyPr wrap="square" rtlCol="0"/>
          <a:lstStyle/>
          <a:p>
            <a:r>
              <a:rPr/>
              <a:t/>
            </a:r>
          </a:p>
        </p:txBody>
      </p:sp>
      <p:sp>
        <p:nvSpPr>
          <p:cNvPr id="11" name="TextBox 11">
            <a:extLst>
              <a:ext uri="{FF2B5EF4-FFF2-40B4-BE49-F238E27FC236}">
                <a16:creationId xmlns:a16="http://schemas.microsoft.com/office/drawing/2014/main" id="{2722AA54-CF69-439D-A877-BD2D5288F3BD}"/>
              </a:ext>
            </a:extLst>
          </p:cNvPr>
          <p:cNvSpPr txBox="1"/>
          <p:nvPr/>
        </p:nvSpPr>
        <p:spPr>
          <a:xfrm>
            <a:off x="571500" y="2209800"/>
            <a:ext cx="2667000" cy="247650"/>
          </a:xfrm>
        </p:spPr>
        <p:txBody>
          <a:bodyPr wrap="square" rtlCol="0" lIns="0" tIns="0" rIns="0" bIns="0" anchor="t"/>
          <a:lstStyle/>
          <a:p>
            <a:pPr algn="ctr">
              <a:lnSpc>
                <a:spcPct val="110000"/>
              </a:lnSpc>
            </a:pPr>
            <a:r>
              <a:rPr sz="1200" b="1">
                <a:solidFill>
                  <a:srgbClr val="0058FF"/>
                </a:solidFill>
              </a:rPr>
              <a:t>顶层制度</a:t>
            </a:r>
          </a:p>
        </p:txBody>
      </p:sp>
      <p:sp>
        <p:nvSpPr>
          <p:cNvPr id="12" name="TextBox 12">
            <a:extLst>
              <a:ext uri="{FF2B5EF4-FFF2-40B4-BE49-F238E27FC236}">
                <a16:creationId xmlns:a16="http://schemas.microsoft.com/office/drawing/2014/main" id="{2A09E19E-C11A-4E9F-AAB3-23688B317679}"/>
              </a:ext>
            </a:extLst>
          </p:cNvPr>
          <p:cNvSpPr txBox="1"/>
          <p:nvPr/>
        </p:nvSpPr>
        <p:spPr>
          <a:xfrm>
            <a:off x="4762500" y="2209800"/>
            <a:ext cx="2667000" cy="247650"/>
          </a:xfrm>
        </p:spPr>
        <p:txBody>
          <a:bodyPr wrap="square" rtlCol="0" lIns="0" tIns="0" rIns="0" bIns="0" anchor="t"/>
          <a:lstStyle/>
          <a:p>
            <a:pPr algn="ctr">
              <a:lnSpc>
                <a:spcPct val="110000"/>
              </a:lnSpc>
            </a:pPr>
            <a:r>
              <a:rPr sz="1200" b="1">
                <a:solidFill>
                  <a:srgbClr val="0058FF"/>
                </a:solidFill>
              </a:rPr>
              <a:t>国家数据局 · 基础设施</a:t>
            </a:r>
          </a:p>
        </p:txBody>
      </p:sp>
      <p:sp>
        <p:nvSpPr>
          <p:cNvPr id="13" name="TextBox 13">
            <a:extLst>
              <a:ext uri="{FF2B5EF4-FFF2-40B4-BE49-F238E27FC236}">
                <a16:creationId xmlns:a16="http://schemas.microsoft.com/office/drawing/2014/main" id="{7E56383F-6D3F-4CFA-A9A9-22240F708032}"/>
              </a:ext>
            </a:extLst>
          </p:cNvPr>
          <p:cNvSpPr txBox="1"/>
          <p:nvPr/>
        </p:nvSpPr>
        <p:spPr>
          <a:xfrm>
            <a:off x="8953500" y="2209800"/>
            <a:ext cx="2667000" cy="247650"/>
          </a:xfrm>
        </p:spPr>
        <p:txBody>
          <a:bodyPr wrap="square" rtlCol="0" lIns="0" tIns="0" rIns="0" bIns="0" anchor="t"/>
          <a:lstStyle/>
          <a:p>
            <a:pPr algn="ctr">
              <a:lnSpc>
                <a:spcPct val="110000"/>
              </a:lnSpc>
            </a:pPr>
            <a:r>
              <a:rPr sz="1200" b="1">
                <a:solidFill>
                  <a:srgbClr val="0058FF"/>
                </a:solidFill>
              </a:rPr>
              <a:t>专项行动计划</a:t>
            </a:r>
          </a:p>
        </p:txBody>
      </p:sp>
      <p:sp>
        <p:nvSpPr>
          <p:cNvPr id="14" name="TextBox 14">
            <a:extLst>
              <a:ext uri="{FF2B5EF4-FFF2-40B4-BE49-F238E27FC236}">
                <a16:creationId xmlns:a16="http://schemas.microsoft.com/office/drawing/2014/main" id="{EE1DF1B1-810E-45E5-99A5-B83582E10108}"/>
              </a:ext>
            </a:extLst>
          </p:cNvPr>
          <p:cNvSpPr txBox="1"/>
          <p:nvPr/>
        </p:nvSpPr>
        <p:spPr>
          <a:xfrm>
            <a:off x="571500" y="2857500"/>
            <a:ext cx="2667000" cy="726948"/>
          </a:xfrm>
        </p:spPr>
        <p:txBody>
          <a:bodyPr wrap="square" rtlCol="0" lIns="0" tIns="0" rIns="0" bIns="0" anchor="t"/>
          <a:lstStyle/>
          <a:p>
            <a:pPr algn="ctr">
              <a:lnSpc>
                <a:spcPct val="118000"/>
              </a:lnSpc>
            </a:pPr>
            <a:r>
              <a:rPr sz="1500" b="1">
                <a:solidFill>
                  <a:srgbClr val="16202E"/>
                </a:solidFill>
              </a:rPr>
              <a:t>“数据二十条”</a:t>
            </a:r>
          </a:p>
          <a:p>
            <a:pPr algn="ctr">
              <a:lnSpc>
                <a:spcPct val="125000"/>
              </a:lnSpc>
            </a:pPr>
            <a:r>
              <a:rPr sz="1200">
                <a:solidFill>
                  <a:srgbClr val="5B6B80"/>
                </a:solidFill>
              </a:rPr>
              <a:t>数据领域的宪法，确立数据要素基础制度</a:t>
            </a:r>
          </a:p>
        </p:txBody>
      </p:sp>
      <p:sp>
        <p:nvSpPr>
          <p:cNvPr id="15" name="TextBox 15">
            <a:extLst>
              <a:ext uri="{FF2B5EF4-FFF2-40B4-BE49-F238E27FC236}">
                <a16:creationId xmlns:a16="http://schemas.microsoft.com/office/drawing/2014/main" id="{8782FBED-EE07-4EB7-AD73-99CBB2708387}"/>
              </a:ext>
            </a:extLst>
          </p:cNvPr>
          <p:cNvSpPr txBox="1"/>
          <p:nvPr/>
        </p:nvSpPr>
        <p:spPr>
          <a:xfrm>
            <a:off x="4762500" y="2857500"/>
            <a:ext cx="2667000" cy="704850"/>
          </a:xfrm>
        </p:spPr>
        <p:txBody>
          <a:bodyPr wrap="square" rtlCol="0" lIns="0" tIns="0" rIns="0" bIns="0" anchor="t"/>
          <a:lstStyle/>
          <a:p>
            <a:pPr algn="ctr">
              <a:lnSpc>
                <a:spcPct val="118000"/>
              </a:lnSpc>
            </a:pPr>
            <a:r>
              <a:rPr sz="1500" b="1">
                <a:solidFill>
                  <a:srgbClr val="16202E"/>
                </a:solidFill>
              </a:rPr>
              <a:t>国家数据基础设施建设指引</a:t>
            </a:r>
          </a:p>
          <a:p>
            <a:pPr algn="ctr">
              <a:lnSpc>
                <a:spcPct val="125000"/>
              </a:lnSpc>
            </a:pPr>
            <a:r>
              <a:rPr sz="1200">
                <a:solidFill>
                  <a:srgbClr val="5B6B80"/>
                </a:solidFill>
              </a:rPr>
              <a:t>明确国家级数据基础设施的总体布局</a:t>
            </a:r>
          </a:p>
        </p:txBody>
      </p:sp>
      <p:sp>
        <p:nvSpPr>
          <p:cNvPr id="16" name="TextBox 16">
            <a:extLst>
              <a:ext uri="{FF2B5EF4-FFF2-40B4-BE49-F238E27FC236}">
                <a16:creationId xmlns:a16="http://schemas.microsoft.com/office/drawing/2014/main" id="{C0148486-6839-4C25-83C2-F6FA5163F151}"/>
              </a:ext>
            </a:extLst>
          </p:cNvPr>
          <p:cNvSpPr txBox="1"/>
          <p:nvPr/>
        </p:nvSpPr>
        <p:spPr>
          <a:xfrm>
            <a:off x="8953500" y="2857500"/>
            <a:ext cx="2667000" cy="704850"/>
          </a:xfrm>
        </p:spPr>
        <p:txBody>
          <a:bodyPr wrap="square" rtlCol="0" lIns="0" tIns="0" rIns="0" bIns="0" anchor="t"/>
          <a:lstStyle/>
          <a:p>
            <a:pPr algn="ctr">
              <a:lnSpc>
                <a:spcPct val="118000"/>
              </a:lnSpc>
            </a:pPr>
            <a:r>
              <a:rPr sz="1500" b="1">
                <a:solidFill>
                  <a:srgbClr val="16202E"/>
                </a:solidFill>
              </a:rPr>
              <a:t>可信数据空间发展行动计划</a:t>
            </a:r>
          </a:p>
          <a:p>
            <a:pPr algn="ctr">
              <a:lnSpc>
                <a:spcPct val="125000"/>
              </a:lnSpc>
            </a:pPr>
            <a:r>
              <a:rPr sz="1200">
                <a:solidFill>
                  <a:srgbClr val="5B6B80"/>
                </a:solidFill>
              </a:rPr>
              <a:t>把可信数据空间定为核心技术路线</a:t>
            </a:r>
          </a:p>
        </p:txBody>
      </p:sp>
      <p:sp>
        <p:nvSpPr>
          <p:cNvPr id="17" name="TextBox 17">
            <a:extLst>
              <a:ext uri="{FF2B5EF4-FFF2-40B4-BE49-F238E27FC236}">
                <a16:creationId xmlns:a16="http://schemas.microsoft.com/office/drawing/2014/main" id="{0F7E7EE2-7155-4DA4-845B-13ADDE8F26E0}"/>
              </a:ext>
            </a:extLst>
          </p:cNvPr>
          <p:cNvSpPr txBox="1"/>
          <p:nvPr/>
        </p:nvSpPr>
        <p:spPr>
          <a:xfrm>
            <a:off x="762000" y="3810000"/>
            <a:ext cx="10668000" cy="285750"/>
          </a:xfrm>
        </p:spPr>
        <p:txBody>
          <a:bodyPr wrap="square" rtlCol="0" lIns="0" tIns="0" rIns="0" bIns="0" anchor="t"/>
          <a:lstStyle/>
          <a:p>
            <a:pPr>
              <a:lnSpc>
                <a:spcPct val="110000"/>
              </a:lnSpc>
            </a:pPr>
            <a:r>
              <a:rPr sz="1600" b="1">
                <a:solidFill>
                  <a:srgbClr val="16202E"/>
                </a:solidFill>
              </a:rPr>
              <a:t>什么是可信数据空间？一张“有严格门禁、有统一规则、还能自动记账的数据流通高速路网”</a:t>
            </a:r>
          </a:p>
        </p:txBody>
      </p:sp>
      <p:sp>
        <p:nvSpPr>
          <p:cNvPr id="18" name="Shape 18">
            <a:extLst>
              <a:ext uri="{FF2B5EF4-FFF2-40B4-BE49-F238E27FC236}">
                <a16:creationId xmlns:a16="http://schemas.microsoft.com/office/drawing/2014/main" id="{F3BD588C-0A17-4752-B74E-32F74ABB6957}"/>
              </a:ext>
            </a:extLst>
          </p:cNvPr>
          <p:cNvSpPr/>
          <p:nvPr/>
        </p:nvSpPr>
        <p:spPr>
          <a:xfrm>
            <a:off x="762000" y="4267200"/>
            <a:ext cx="3429000" cy="1771650"/>
          </a:xfrm>
          <a:prstGeom prst="roundRect">
            <a:avLst/>
          </a:prstGeom>
          <a:solidFill>
            <a:srgbClr val="F4F8FF"/>
          </a:solidFill>
          <a:ln w="12700">
            <a:solidFill>
              <a:srgbClr val="D9E5FA"/>
            </a:solidFill>
          </a:ln>
        </p:spPr>
        <p:txBody>
          <a:bodyPr wrap="square" rtlCol="0"/>
          <a:lstStyle/>
          <a:p>
            <a:r>
              <a:rPr/>
              <a:t/>
            </a:r>
          </a:p>
        </p:txBody>
      </p:sp>
      <p:sp>
        <p:nvSpPr>
          <p:cNvPr id="19" name="Shape 19">
            <a:extLst>
              <a:ext uri="{FF2B5EF4-FFF2-40B4-BE49-F238E27FC236}">
                <a16:creationId xmlns:a16="http://schemas.microsoft.com/office/drawing/2014/main" id="{747031B3-A04C-4700-A34B-5EAB9C19F07B}"/>
              </a:ext>
            </a:extLst>
          </p:cNvPr>
          <p:cNvSpPr/>
          <p:nvPr/>
        </p:nvSpPr>
        <p:spPr>
          <a:xfrm>
            <a:off x="4381500" y="4267200"/>
            <a:ext cx="3429000" cy="1771650"/>
          </a:xfrm>
          <a:prstGeom prst="roundRect">
            <a:avLst/>
          </a:prstGeom>
          <a:solidFill>
            <a:srgbClr val="F4F8FF"/>
          </a:solidFill>
          <a:ln w="12700">
            <a:solidFill>
              <a:srgbClr val="D9E5FA"/>
            </a:solidFill>
          </a:ln>
        </p:spPr>
        <p:txBody>
          <a:bodyPr wrap="square" rtlCol="0"/>
          <a:lstStyle/>
          <a:p>
            <a:r>
              <a:rPr/>
              <a:t/>
            </a:r>
          </a:p>
        </p:txBody>
      </p:sp>
      <p:sp>
        <p:nvSpPr>
          <p:cNvPr id="20" name="Shape 20">
            <a:extLst>
              <a:ext uri="{FF2B5EF4-FFF2-40B4-BE49-F238E27FC236}">
                <a16:creationId xmlns:a16="http://schemas.microsoft.com/office/drawing/2014/main" id="{94DD578C-05C0-460C-8BD1-DDF3C4261F06}"/>
              </a:ext>
            </a:extLst>
          </p:cNvPr>
          <p:cNvSpPr/>
          <p:nvPr/>
        </p:nvSpPr>
        <p:spPr>
          <a:xfrm>
            <a:off x="8001000" y="4267200"/>
            <a:ext cx="3429000" cy="1771650"/>
          </a:xfrm>
          <a:prstGeom prst="roundRect">
            <a:avLst/>
          </a:prstGeom>
          <a:solidFill>
            <a:srgbClr val="F4F8FF"/>
          </a:solidFill>
          <a:ln w="12700">
            <a:solidFill>
              <a:srgbClr val="D9E5FA"/>
            </a:solidFill>
          </a:ln>
        </p:spPr>
        <p:txBody>
          <a:bodyPr wrap="square" rtlCol="0"/>
          <a:lstStyle/>
          <a:p>
            <a:r>
              <a:rPr/>
              <a:t/>
            </a:r>
          </a:p>
        </p:txBody>
      </p:sp>
      <p:sp>
        <p:nvSpPr>
          <p:cNvPr id="21" name="TextBox 21">
            <a:extLst>
              <a:ext uri="{FF2B5EF4-FFF2-40B4-BE49-F238E27FC236}">
                <a16:creationId xmlns:a16="http://schemas.microsoft.com/office/drawing/2014/main" id="{886E2DE2-395C-4EE9-867A-170CC594F99B}"/>
              </a:ext>
            </a:extLst>
          </p:cNvPr>
          <p:cNvSpPr txBox="1"/>
          <p:nvPr/>
        </p:nvSpPr>
        <p:spPr>
          <a:xfrm>
            <a:off x="990600" y="4476750"/>
            <a:ext cx="2971800" cy="704850"/>
          </a:xfrm>
        </p:spPr>
        <p:txBody>
          <a:bodyPr wrap="square" rtlCol="0" lIns="0" tIns="0" rIns="0" bIns="0" anchor="t"/>
          <a:lstStyle/>
          <a:p>
            <a:pPr>
              <a:lnSpc>
                <a:spcPct val="115000"/>
              </a:lnSpc>
            </a:pPr>
            <a:r>
              <a:rPr sz="1200" b="1">
                <a:solidFill>
                  <a:srgbClr val="0058FF"/>
                </a:solidFill>
              </a:rPr>
              <a:t>能力 01</a:t>
            </a:r>
          </a:p>
          <a:p>
            <a:pPr>
              <a:lnSpc>
                <a:spcPct val="115000"/>
              </a:lnSpc>
            </a:pPr>
            <a:r>
              <a:rPr sz="2000" b="1">
                <a:solidFill>
                  <a:srgbClr val="16202E"/>
                </a:solidFill>
              </a:rPr>
              <a:t>可信管控</a:t>
            </a:r>
          </a:p>
        </p:txBody>
      </p:sp>
      <p:sp>
        <p:nvSpPr>
          <p:cNvPr id="22" name="TextBox 22">
            <a:extLst>
              <a:ext uri="{FF2B5EF4-FFF2-40B4-BE49-F238E27FC236}">
                <a16:creationId xmlns:a16="http://schemas.microsoft.com/office/drawing/2014/main" id="{9CD04F4E-6CDC-4D74-BD8D-0E68E1EC0105}"/>
              </a:ext>
            </a:extLst>
          </p:cNvPr>
          <p:cNvSpPr txBox="1"/>
          <p:nvPr/>
        </p:nvSpPr>
        <p:spPr>
          <a:xfrm>
            <a:off x="990600" y="5219700"/>
            <a:ext cx="2971800" cy="723900"/>
          </a:xfrm>
        </p:spPr>
        <p:txBody>
          <a:bodyPr wrap="square" rtlCol="0" lIns="0" tIns="0" rIns="0" bIns="0" anchor="t"/>
          <a:lstStyle/>
          <a:p>
            <a:pPr>
              <a:lnSpc>
                <a:spcPct val="140000"/>
              </a:lnSpc>
            </a:pPr>
            <a:r>
              <a:rPr sz="1300">
                <a:solidFill>
                  <a:srgbClr val="5B6B80"/>
                </a:solidFill>
              </a:rPr>
              <a:t>靠共识规则、数字合约和使用控制，让医院对自己的数据拥有绝对控制权。</a:t>
            </a:r>
          </a:p>
        </p:txBody>
      </p:sp>
      <p:sp>
        <p:nvSpPr>
          <p:cNvPr id="23" name="TextBox 23">
            <a:extLst>
              <a:ext uri="{FF2B5EF4-FFF2-40B4-BE49-F238E27FC236}">
                <a16:creationId xmlns:a16="http://schemas.microsoft.com/office/drawing/2014/main" id="{3314B47B-3727-4910-A25A-ECE7630051F6}"/>
              </a:ext>
            </a:extLst>
          </p:cNvPr>
          <p:cNvSpPr txBox="1"/>
          <p:nvPr/>
        </p:nvSpPr>
        <p:spPr>
          <a:xfrm>
            <a:off x="4610100" y="4476750"/>
            <a:ext cx="2971800" cy="704850"/>
          </a:xfrm>
        </p:spPr>
        <p:txBody>
          <a:bodyPr wrap="square" rtlCol="0" lIns="0" tIns="0" rIns="0" bIns="0" anchor="t"/>
          <a:lstStyle/>
          <a:p>
            <a:pPr>
              <a:lnSpc>
                <a:spcPct val="115000"/>
              </a:lnSpc>
            </a:pPr>
            <a:r>
              <a:rPr sz="1200" b="1">
                <a:solidFill>
                  <a:srgbClr val="0058FF"/>
                </a:solidFill>
              </a:rPr>
              <a:t>能力 02</a:t>
            </a:r>
          </a:p>
          <a:p>
            <a:pPr>
              <a:lnSpc>
                <a:spcPct val="115000"/>
              </a:lnSpc>
            </a:pPr>
            <a:r>
              <a:rPr sz="2000" b="1">
                <a:solidFill>
                  <a:srgbClr val="16202E"/>
                </a:solidFill>
              </a:rPr>
              <a:t>资源交互</a:t>
            </a:r>
          </a:p>
        </p:txBody>
      </p:sp>
      <p:sp>
        <p:nvSpPr>
          <p:cNvPr id="24" name="TextBox 24">
            <a:extLst>
              <a:ext uri="{FF2B5EF4-FFF2-40B4-BE49-F238E27FC236}">
                <a16:creationId xmlns:a16="http://schemas.microsoft.com/office/drawing/2014/main" id="{CBF1E40C-9AC2-4732-9E8C-0507235C6F0A}"/>
              </a:ext>
            </a:extLst>
          </p:cNvPr>
          <p:cNvSpPr txBox="1"/>
          <p:nvPr/>
        </p:nvSpPr>
        <p:spPr>
          <a:xfrm>
            <a:off x="4610100" y="5219700"/>
            <a:ext cx="2971800" cy="723900"/>
          </a:xfrm>
        </p:spPr>
        <p:txBody>
          <a:bodyPr wrap="square" rtlCol="0" lIns="0" tIns="0" rIns="0" bIns="0" anchor="t"/>
          <a:lstStyle/>
          <a:p>
            <a:pPr>
              <a:lnSpc>
                <a:spcPct val="140000"/>
              </a:lnSpc>
            </a:pPr>
            <a:r>
              <a:rPr sz="1300">
                <a:solidFill>
                  <a:srgbClr val="5B6B80"/>
                </a:solidFill>
              </a:rPr>
              <a:t>用标准连接器把数据孤岛连成网——但连网绝不等于搬空医院的库房。</a:t>
            </a:r>
          </a:p>
        </p:txBody>
      </p:sp>
      <p:sp>
        <p:nvSpPr>
          <p:cNvPr id="25" name="TextBox 25">
            <a:extLst>
              <a:ext uri="{FF2B5EF4-FFF2-40B4-BE49-F238E27FC236}">
                <a16:creationId xmlns:a16="http://schemas.microsoft.com/office/drawing/2014/main" id="{D7710015-1389-477E-A6BC-BBC47D9CC63B}"/>
              </a:ext>
            </a:extLst>
          </p:cNvPr>
          <p:cNvSpPr txBox="1"/>
          <p:nvPr/>
        </p:nvSpPr>
        <p:spPr>
          <a:xfrm>
            <a:off x="8229600" y="4476750"/>
            <a:ext cx="2971800" cy="704850"/>
          </a:xfrm>
        </p:spPr>
        <p:txBody>
          <a:bodyPr wrap="square" rtlCol="0" lIns="0" tIns="0" rIns="0" bIns="0" anchor="t"/>
          <a:lstStyle/>
          <a:p>
            <a:pPr>
              <a:lnSpc>
                <a:spcPct val="115000"/>
              </a:lnSpc>
            </a:pPr>
            <a:r>
              <a:rPr sz="1200" b="1">
                <a:solidFill>
                  <a:srgbClr val="0058FF"/>
                </a:solidFill>
              </a:rPr>
              <a:t>能力 03</a:t>
            </a:r>
          </a:p>
          <a:p>
            <a:pPr>
              <a:lnSpc>
                <a:spcPct val="115000"/>
              </a:lnSpc>
            </a:pPr>
            <a:r>
              <a:rPr sz="2000" b="1">
                <a:solidFill>
                  <a:srgbClr val="16202E"/>
                </a:solidFill>
              </a:rPr>
              <a:t>价值共创</a:t>
            </a:r>
          </a:p>
        </p:txBody>
      </p:sp>
      <p:sp>
        <p:nvSpPr>
          <p:cNvPr id="26" name="TextBox 26">
            <a:extLst>
              <a:ext uri="{FF2B5EF4-FFF2-40B4-BE49-F238E27FC236}">
                <a16:creationId xmlns:a16="http://schemas.microsoft.com/office/drawing/2014/main" id="{EA2EAC67-D235-4FB6-88A1-BE9558623361}"/>
              </a:ext>
            </a:extLst>
          </p:cNvPr>
          <p:cNvSpPr txBox="1"/>
          <p:nvPr/>
        </p:nvSpPr>
        <p:spPr>
          <a:xfrm>
            <a:off x="8229600" y="5219700"/>
            <a:ext cx="2971800" cy="723900"/>
          </a:xfrm>
        </p:spPr>
        <p:txBody>
          <a:bodyPr wrap="square" rtlCol="0" lIns="0" tIns="0" rIns="0" bIns="0" anchor="t"/>
          <a:lstStyle/>
          <a:p>
            <a:pPr>
              <a:lnSpc>
                <a:spcPct val="140000"/>
              </a:lnSpc>
            </a:pPr>
            <a:r>
              <a:rPr sz="1300">
                <a:solidFill>
                  <a:srgbClr val="5B6B80"/>
                </a:solidFill>
              </a:rPr>
              <a:t>医院、高校、实验室、药企和算法团队协同科研，成果按贡献分配权益。</a:t>
            </a:r>
          </a:p>
        </p:txBody>
      </p:sp>
      <p:sp>
        <p:nvSpPr>
          <p:cNvPr id="27" name="TextBox 27">
            <a:extLst>
              <a:ext uri="{FF2B5EF4-FFF2-40B4-BE49-F238E27FC236}">
                <a16:creationId xmlns:a16="http://schemas.microsoft.com/office/drawing/2014/main" id="{74E866AD-D7F8-4B59-9104-41783057F4AB}"/>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28" name="TextBox 28">
            <a:extLst>
              <a:ext uri="{FF2B5EF4-FFF2-40B4-BE49-F238E27FC236}">
                <a16:creationId xmlns:a16="http://schemas.microsoft.com/office/drawing/2014/main" id="{FF9E046C-98C2-480A-A5D3-A966DB8A17D5}"/>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302DB7BB-E06B-4A2C-8D44-51F25D84F1D0}"/>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两位主角 · 演进与交汇</a:t>
            </a:r>
          </a:p>
        </p:txBody>
      </p:sp>
      <p:sp>
        <p:nvSpPr>
          <p:cNvPr id="4" name="TextBox 4">
            <a:extLst>
              <a:ext uri="{FF2B5EF4-FFF2-40B4-BE49-F238E27FC236}">
                <a16:creationId xmlns:a16="http://schemas.microsoft.com/office/drawing/2014/main" id="{53DBAAB6-BDFF-4885-9FF8-AF9894623EDC}"/>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TRE 与 TDS：两条路径正在交汇，能力层级互补</a:t>
            </a:r>
          </a:p>
        </p:txBody>
      </p:sp>
      <p:sp>
        <p:nvSpPr>
          <p:cNvPr id="5" name="TextBox 5">
            <a:extLst>
              <a:ext uri="{FF2B5EF4-FFF2-40B4-BE49-F238E27FC236}">
                <a16:creationId xmlns:a16="http://schemas.microsoft.com/office/drawing/2014/main" id="{0E84AAE8-8709-4EC2-ADFA-926859D32BEC}"/>
              </a:ext>
            </a:extLst>
          </p:cNvPr>
          <p:cNvSpPr txBox="1"/>
          <p:nvPr/>
        </p:nvSpPr>
        <p:spPr>
          <a:xfrm>
            <a:off x="762000" y="1181100"/>
            <a:ext cx="10668000" cy="495300"/>
          </a:xfrm>
        </p:spPr>
        <p:txBody>
          <a:bodyPr wrap="square" rtlCol="0" lIns="0" tIns="0" rIns="0" bIns="0" anchor="t"/>
          <a:lstStyle/>
          <a:p>
            <a:pPr>
              <a:lnSpc>
                <a:spcPct val="135000"/>
              </a:lnSpc>
            </a:pPr>
            <a:r>
              <a:rPr sz="1500">
                <a:solidFill>
                  <a:srgbClr val="5B6B80"/>
                </a:solidFill>
              </a:rPr>
              <a:t>两者都有可信身份、细粒度授权和隐私保护的基础，但层级不同：一管“敏感数据怎么算”，一管“数据怎么流通”。</a:t>
            </a:r>
          </a:p>
        </p:txBody>
      </p:sp>
      <p:sp>
        <p:nvSpPr>
          <p:cNvPr id="6" name="Shape 6">
            <a:extLst>
              <a:ext uri="{FF2B5EF4-FFF2-40B4-BE49-F238E27FC236}">
                <a16:creationId xmlns:a16="http://schemas.microsoft.com/office/drawing/2014/main" id="{023E7B7E-3890-431D-87E3-72ABC3C0122A}"/>
              </a:ext>
            </a:extLst>
          </p:cNvPr>
          <p:cNvSpPr/>
          <p:nvPr/>
        </p:nvSpPr>
        <p:spPr>
          <a:xfrm>
            <a:off x="762000" y="180975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C499F0B0-D81B-4FA2-84B4-FCD39228BED8}"/>
              </a:ext>
            </a:extLst>
          </p:cNvPr>
          <p:cNvSpPr/>
          <p:nvPr/>
        </p:nvSpPr>
        <p:spPr>
          <a:xfrm>
            <a:off x="762000" y="1943100"/>
            <a:ext cx="4953000" cy="2057400"/>
          </a:xfrm>
          <a:prstGeom prst="roundRect">
            <a:avLst/>
          </a:prstGeom>
          <a:solidFill>
            <a:srgbClr val="F4F8FF"/>
          </a:solidFill>
          <a:ln w="12700">
            <a:solidFill>
              <a:srgbClr val="D9E5FA"/>
            </a:solidFill>
          </a:ln>
        </p:spPr>
        <p:txBody>
          <a:bodyPr wrap="square" rtlCol="0"/>
          <a:lstStyle/>
          <a:p>
            <a:r>
              <a:rPr/>
              <a:t/>
            </a:r>
          </a:p>
        </p:txBody>
      </p:sp>
      <p:sp>
        <p:nvSpPr>
          <p:cNvPr id="8" name="Shape 8">
            <a:extLst>
              <a:ext uri="{FF2B5EF4-FFF2-40B4-BE49-F238E27FC236}">
                <a16:creationId xmlns:a16="http://schemas.microsoft.com/office/drawing/2014/main" id="{AB579F12-FD45-4E1B-A9DD-75BE8958AEE5}"/>
              </a:ext>
            </a:extLst>
          </p:cNvPr>
          <p:cNvSpPr/>
          <p:nvPr/>
        </p:nvSpPr>
        <p:spPr>
          <a:xfrm>
            <a:off x="6477000" y="1943100"/>
            <a:ext cx="4953000" cy="2057400"/>
          </a:xfrm>
          <a:prstGeom prst="roundRect">
            <a:avLst/>
          </a:prstGeom>
          <a:solidFill>
            <a:srgbClr val="F4F8FF"/>
          </a:solidFill>
          <a:ln w="12700">
            <a:solidFill>
              <a:srgbClr val="D9E5FA"/>
            </a:solidFill>
          </a:ln>
        </p:spPr>
        <p:txBody>
          <a:bodyPr wrap="square" rtlCol="0"/>
          <a:lstStyle/>
          <a:p>
            <a:r>
              <a:rPr/>
              <a:t/>
            </a:r>
          </a:p>
        </p:txBody>
      </p:sp>
      <p:sp>
        <p:nvSpPr>
          <p:cNvPr id="9" name="TextBox 9">
            <a:extLst>
              <a:ext uri="{FF2B5EF4-FFF2-40B4-BE49-F238E27FC236}">
                <a16:creationId xmlns:a16="http://schemas.microsoft.com/office/drawing/2014/main" id="{6B1C5604-CC4F-4A40-B691-55680C075EF2}"/>
              </a:ext>
            </a:extLst>
          </p:cNvPr>
          <p:cNvSpPr txBox="1"/>
          <p:nvPr/>
        </p:nvSpPr>
        <p:spPr>
          <a:xfrm>
            <a:off x="990600" y="2114550"/>
            <a:ext cx="4495800" cy="514350"/>
          </a:xfrm>
        </p:spPr>
        <p:txBody>
          <a:bodyPr wrap="square" rtlCol="0" lIns="0" tIns="0" rIns="0" bIns="0" anchor="t"/>
          <a:lstStyle/>
          <a:p>
            <a:pPr>
              <a:lnSpc>
                <a:spcPct val="112000"/>
              </a:lnSpc>
            </a:pPr>
            <a:r>
              <a:rPr sz="1800" b="1">
                <a:solidFill>
                  <a:srgbClr val="16202E"/>
                </a:solidFill>
              </a:rPr>
              <a:t>TRE｜可信研究环境</a:t>
            </a:r>
          </a:p>
          <a:p>
            <a:pPr>
              <a:lnSpc>
                <a:spcPct val="112000"/>
              </a:lnSpc>
            </a:pPr>
            <a:r>
              <a:rPr sz="1200">
                <a:solidFill>
                  <a:srgbClr val="5B6B80"/>
                </a:solidFill>
              </a:rPr>
              <a:t>从封闭安全实验室走向联邦协作</a:t>
            </a:r>
          </a:p>
        </p:txBody>
      </p:sp>
      <p:sp>
        <p:nvSpPr>
          <p:cNvPr id="10" name="TextBox 10">
            <a:extLst>
              <a:ext uri="{FF2B5EF4-FFF2-40B4-BE49-F238E27FC236}">
                <a16:creationId xmlns:a16="http://schemas.microsoft.com/office/drawing/2014/main" id="{7A9E7E5E-B333-49BA-A4ED-F88609B5E463}"/>
              </a:ext>
            </a:extLst>
          </p:cNvPr>
          <p:cNvSpPr txBox="1"/>
          <p:nvPr/>
        </p:nvSpPr>
        <p:spPr>
          <a:xfrm>
            <a:off x="6705600" y="2114550"/>
            <a:ext cx="4495800" cy="514350"/>
          </a:xfrm>
        </p:spPr>
        <p:txBody>
          <a:bodyPr wrap="square" rtlCol="0" lIns="0" tIns="0" rIns="0" bIns="0" anchor="t"/>
          <a:lstStyle/>
          <a:p>
            <a:pPr>
              <a:lnSpc>
                <a:spcPct val="112000"/>
              </a:lnSpc>
            </a:pPr>
            <a:r>
              <a:rPr sz="1800" b="1">
                <a:solidFill>
                  <a:srgbClr val="16202E"/>
                </a:solidFill>
              </a:rPr>
              <a:t>TDS｜可信数据空间</a:t>
            </a:r>
          </a:p>
          <a:p>
            <a:pPr>
              <a:lnSpc>
                <a:spcPct val="112000"/>
              </a:lnSpc>
            </a:pPr>
            <a:r>
              <a:rPr sz="1200">
                <a:solidFill>
                  <a:srgbClr val="5B6B80"/>
                </a:solidFill>
              </a:rPr>
              <a:t>从数据目录共享走向空间互联</a:t>
            </a:r>
          </a:p>
        </p:txBody>
      </p:sp>
      <p:sp>
        <p:nvSpPr>
          <p:cNvPr id="11" name="TextBox 11">
            <a:extLst>
              <a:ext uri="{FF2B5EF4-FFF2-40B4-BE49-F238E27FC236}">
                <a16:creationId xmlns:a16="http://schemas.microsoft.com/office/drawing/2014/main" id="{CB74C001-5499-42D8-B4D1-A5C6053EB19B}"/>
              </a:ext>
            </a:extLst>
          </p:cNvPr>
          <p:cNvSpPr txBox="1"/>
          <p:nvPr/>
        </p:nvSpPr>
        <p:spPr>
          <a:xfrm>
            <a:off x="990600" y="2724150"/>
            <a:ext cx="4495800" cy="1200150"/>
          </a:xfrm>
        </p:spPr>
        <p:txBody>
          <a:bodyPr wrap="square" rtlCol="0" lIns="0" tIns="0" rIns="0" bIns="0" anchor="t"/>
          <a:lstStyle/>
          <a:p>
            <a:pPr>
              <a:lnSpc>
                <a:spcPct val="140000"/>
              </a:lnSpc>
            </a:pPr>
            <a:r>
              <a:rPr sz="1250">
                <a:solidFill>
                  <a:srgbClr val="16202E"/>
                </a:solidFill>
              </a:rPr>
              <a:t>① 起步  全封闭安全实验室，隔离计算 + 成果审核</a:t>
            </a:r>
          </a:p>
          <a:p>
            <a:pPr>
              <a:lnSpc>
                <a:spcPct val="140000"/>
              </a:lnSpc>
            </a:pPr>
            <a:r>
              <a:rPr sz="1250">
                <a:solidFill>
                  <a:srgbClr val="16202E"/>
                </a:solidFill>
              </a:rPr>
              <a:t>② 发展  云化 AI 训练，集中算力上做模型训练</a:t>
            </a:r>
          </a:p>
          <a:p>
            <a:pPr>
              <a:lnSpc>
                <a:spcPct val="140000"/>
              </a:lnSpc>
            </a:pPr>
            <a:r>
              <a:rPr sz="1250">
                <a:solidFill>
                  <a:srgbClr val="16202E"/>
                </a:solidFill>
              </a:rPr>
              <a:t>③ 今天  联邦化：多家样本互联，做跨机构联合分析</a:t>
            </a:r>
          </a:p>
        </p:txBody>
      </p:sp>
      <p:sp>
        <p:nvSpPr>
          <p:cNvPr id="12" name="TextBox 12">
            <a:extLst>
              <a:ext uri="{FF2B5EF4-FFF2-40B4-BE49-F238E27FC236}">
                <a16:creationId xmlns:a16="http://schemas.microsoft.com/office/drawing/2014/main" id="{53C599B4-D425-428C-8E75-523292B487F7}"/>
              </a:ext>
            </a:extLst>
          </p:cNvPr>
          <p:cNvSpPr txBox="1"/>
          <p:nvPr/>
        </p:nvSpPr>
        <p:spPr>
          <a:xfrm>
            <a:off x="6705600" y="2724150"/>
            <a:ext cx="4495800" cy="1200150"/>
          </a:xfrm>
        </p:spPr>
        <p:txBody>
          <a:bodyPr wrap="square" rtlCol="0" lIns="0" tIns="0" rIns="0" bIns="0" anchor="t"/>
          <a:lstStyle/>
          <a:p>
            <a:pPr>
              <a:lnSpc>
                <a:spcPct val="140000"/>
              </a:lnSpc>
            </a:pPr>
            <a:r>
              <a:rPr sz="1250">
                <a:solidFill>
                  <a:srgbClr val="16202E"/>
                </a:solidFill>
              </a:rPr>
              <a:t>① 早期  数据目录共享，找数据靠人工对接</a:t>
            </a:r>
          </a:p>
          <a:p>
            <a:pPr>
              <a:lnSpc>
                <a:spcPct val="140000"/>
              </a:lnSpc>
            </a:pPr>
            <a:r>
              <a:rPr sz="1250">
                <a:solidFill>
                  <a:srgbClr val="16202E"/>
                </a:solidFill>
              </a:rPr>
              <a:t>② 2024  可信数据空间，标准连接器与规则</a:t>
            </a:r>
          </a:p>
          <a:p>
            <a:pPr>
              <a:lnSpc>
                <a:spcPct val="140000"/>
              </a:lnSpc>
            </a:pPr>
            <a:r>
              <a:rPr sz="1250">
                <a:solidFill>
                  <a:srgbClr val="16202E"/>
                </a:solidFill>
              </a:rPr>
              <a:t>③ 2025  跨空间互认：身份、规则、跨域协作</a:t>
            </a:r>
          </a:p>
        </p:txBody>
      </p:sp>
      <p:sp>
        <p:nvSpPr>
          <p:cNvPr id="13" name="Shape 13">
            <a:extLst>
              <a:ext uri="{FF2B5EF4-FFF2-40B4-BE49-F238E27FC236}">
                <a16:creationId xmlns:a16="http://schemas.microsoft.com/office/drawing/2014/main" id="{A880501F-FD06-4E90-B53A-183791C5A36A}"/>
              </a:ext>
            </a:extLst>
          </p:cNvPr>
          <p:cNvSpPr/>
          <p:nvPr/>
        </p:nvSpPr>
        <p:spPr>
          <a:xfrm>
            <a:off x="762000" y="4152900"/>
            <a:ext cx="10668000" cy="514350"/>
          </a:xfrm>
          <a:prstGeom prst="roundRect">
            <a:avLst/>
          </a:prstGeom>
          <a:solidFill>
            <a:srgbClr val="0058FF"/>
          </a:solidFill>
        </p:spPr>
        <p:txBody>
          <a:bodyPr wrap="square" rtlCol="0" lIns="0" tIns="0" rIns="0" bIns="0" anchor="ctr"/>
          <a:lstStyle/>
          <a:p>
            <a:pPr algn="ctr">
              <a:lnSpc>
                <a:spcPct val="115000"/>
              </a:lnSpc>
            </a:pPr>
            <a:r>
              <a:rPr sz="1300" b="1">
                <a:solidFill>
                  <a:srgbClr val="FFFFFF"/>
                </a:solidFill>
              </a:rPr>
              <a:t>交汇点｜TRE 走向联邦协作 × 可信数据空间走向空间互联 → 数据不出域、又能跨机构联合研究的可信科研协作网络</a:t>
            </a:r>
          </a:p>
        </p:txBody>
      </p:sp>
      <p:sp>
        <p:nvSpPr>
          <p:cNvPr id="14" name="Shape 14">
            <a:extLst>
              <a:ext uri="{FF2B5EF4-FFF2-40B4-BE49-F238E27FC236}">
                <a16:creationId xmlns:a16="http://schemas.microsoft.com/office/drawing/2014/main" id="{198629BE-C941-4F8B-9F63-589F562BBAEF}"/>
              </a:ext>
            </a:extLst>
          </p:cNvPr>
          <p:cNvSpPr/>
          <p:nvPr/>
        </p:nvSpPr>
        <p:spPr>
          <a:xfrm>
            <a:off x="762000" y="4838700"/>
            <a:ext cx="4953000" cy="1219200"/>
          </a:xfrm>
          <a:prstGeom prst="roundRect">
            <a:avLst/>
          </a:prstGeom>
          <a:solidFill>
            <a:srgbClr val="FFFFFF"/>
          </a:solidFill>
          <a:ln w="12700">
            <a:solidFill>
              <a:srgbClr val="D9E5FA"/>
            </a:solidFill>
          </a:ln>
        </p:spPr>
        <p:txBody>
          <a:bodyPr wrap="square" rtlCol="0"/>
          <a:lstStyle/>
          <a:p>
            <a:r>
              <a:rPr/>
              <a:t/>
            </a:r>
          </a:p>
        </p:txBody>
      </p:sp>
      <p:sp>
        <p:nvSpPr>
          <p:cNvPr id="15" name="Shape 15">
            <a:extLst>
              <a:ext uri="{FF2B5EF4-FFF2-40B4-BE49-F238E27FC236}">
                <a16:creationId xmlns:a16="http://schemas.microsoft.com/office/drawing/2014/main" id="{78D7BD16-3E42-4941-9508-462402C076A5}"/>
              </a:ext>
            </a:extLst>
          </p:cNvPr>
          <p:cNvSpPr/>
          <p:nvPr/>
        </p:nvSpPr>
        <p:spPr>
          <a:xfrm>
            <a:off x="6477000" y="4838700"/>
            <a:ext cx="4953000" cy="1219200"/>
          </a:xfrm>
          <a:prstGeom prst="roundRect">
            <a:avLst/>
          </a:prstGeom>
          <a:solidFill>
            <a:srgbClr val="FFFFFF"/>
          </a:solidFill>
          <a:ln w="12700">
            <a:solidFill>
              <a:srgbClr val="D9E5FA"/>
            </a:solidFill>
          </a:ln>
        </p:spPr>
        <p:txBody>
          <a:bodyPr wrap="square" rtlCol="0"/>
          <a:lstStyle/>
          <a:p>
            <a:r>
              <a:rPr/>
              <a:t/>
            </a:r>
          </a:p>
        </p:txBody>
      </p:sp>
      <p:sp>
        <p:nvSpPr>
          <p:cNvPr id="16" name="TextBox 16">
            <a:extLst>
              <a:ext uri="{FF2B5EF4-FFF2-40B4-BE49-F238E27FC236}">
                <a16:creationId xmlns:a16="http://schemas.microsoft.com/office/drawing/2014/main" id="{CC8DB90A-FE88-4058-97FE-70CF68BF21E3}"/>
              </a:ext>
            </a:extLst>
          </p:cNvPr>
          <p:cNvSpPr txBox="1"/>
          <p:nvPr/>
        </p:nvSpPr>
        <p:spPr>
          <a:xfrm>
            <a:off x="990600" y="4972050"/>
            <a:ext cx="4495800" cy="247650"/>
          </a:xfrm>
        </p:spPr>
        <p:txBody>
          <a:bodyPr wrap="square" rtlCol="0" lIns="0" tIns="0" rIns="0" bIns="0" anchor="t"/>
          <a:lstStyle/>
          <a:p>
            <a:pPr>
              <a:lnSpc>
                <a:spcPct val="110000"/>
              </a:lnSpc>
            </a:pPr>
            <a:r>
              <a:rPr sz="1500" b="1">
                <a:solidFill>
                  <a:srgbClr val="0A2E6E"/>
                </a:solidFill>
              </a:rPr>
              <a:t>TRE 管环境·研究·计算·输出</a:t>
            </a:r>
          </a:p>
        </p:txBody>
      </p:sp>
      <p:sp>
        <p:nvSpPr>
          <p:cNvPr id="17" name="TextBox 17">
            <a:extLst>
              <a:ext uri="{FF2B5EF4-FFF2-40B4-BE49-F238E27FC236}">
                <a16:creationId xmlns:a16="http://schemas.microsoft.com/office/drawing/2014/main" id="{1E8037A7-E7F0-47BD-A504-9E124875282A}"/>
              </a:ext>
            </a:extLst>
          </p:cNvPr>
          <p:cNvSpPr txBox="1"/>
          <p:nvPr/>
        </p:nvSpPr>
        <p:spPr>
          <a:xfrm>
            <a:off x="990600" y="5257800"/>
            <a:ext cx="4495800" cy="800100"/>
          </a:xfrm>
        </p:spPr>
        <p:txBody>
          <a:bodyPr wrap="square" rtlCol="0" lIns="0" tIns="0" rIns="0" bIns="0" anchor="t"/>
          <a:lstStyle/>
          <a:p>
            <a:pPr>
              <a:lnSpc>
                <a:spcPct val="138000"/>
              </a:lnSpc>
            </a:pPr>
            <a:r>
              <a:rPr sz="1250" b="1">
                <a:solidFill>
                  <a:srgbClr val="0058FF"/>
                </a:solidFill>
              </a:rPr>
              <a:t>解决“敏感数据怎么算”：</a:t>
            </a:r>
            <a:r>
              <a:rPr sz="1250">
                <a:solidFill>
                  <a:srgbClr val="5B6B80"/>
                </a:solidFill>
              </a:rPr>
              <a:t>遵循国际五安全原则，原始病历留在环境内，研究员只能导出经审查的统计表、图表或模型参数，一个病人的明细也带不走。</a:t>
            </a:r>
          </a:p>
        </p:txBody>
      </p:sp>
      <p:sp>
        <p:nvSpPr>
          <p:cNvPr id="18" name="TextBox 18">
            <a:extLst>
              <a:ext uri="{FF2B5EF4-FFF2-40B4-BE49-F238E27FC236}">
                <a16:creationId xmlns:a16="http://schemas.microsoft.com/office/drawing/2014/main" id="{84732847-1072-4417-83C5-9B68256782B9}"/>
              </a:ext>
            </a:extLst>
          </p:cNvPr>
          <p:cNvSpPr txBox="1"/>
          <p:nvPr/>
        </p:nvSpPr>
        <p:spPr>
          <a:xfrm>
            <a:off x="6705600" y="4972050"/>
            <a:ext cx="4495800" cy="247650"/>
          </a:xfrm>
        </p:spPr>
        <p:txBody>
          <a:bodyPr wrap="square" rtlCol="0" lIns="0" tIns="0" rIns="0" bIns="0" anchor="t"/>
          <a:lstStyle/>
          <a:p>
            <a:pPr>
              <a:lnSpc>
                <a:spcPct val="110000"/>
              </a:lnSpc>
            </a:pPr>
            <a:r>
              <a:rPr sz="1500" b="1">
                <a:solidFill>
                  <a:srgbClr val="0A2E6E"/>
                </a:solidFill>
              </a:rPr>
              <a:t>TDS 管连接·规则·流通·价值</a:t>
            </a:r>
          </a:p>
        </p:txBody>
      </p:sp>
      <p:sp>
        <p:nvSpPr>
          <p:cNvPr id="19" name="TextBox 19">
            <a:extLst>
              <a:ext uri="{FF2B5EF4-FFF2-40B4-BE49-F238E27FC236}">
                <a16:creationId xmlns:a16="http://schemas.microsoft.com/office/drawing/2014/main" id="{C5E0591C-63AD-4C29-8F58-E07418796D9A}"/>
              </a:ext>
            </a:extLst>
          </p:cNvPr>
          <p:cNvSpPr txBox="1"/>
          <p:nvPr/>
        </p:nvSpPr>
        <p:spPr>
          <a:xfrm>
            <a:off x="6705600" y="5257800"/>
            <a:ext cx="4495800" cy="800100"/>
          </a:xfrm>
        </p:spPr>
        <p:txBody>
          <a:bodyPr wrap="square" rtlCol="0" lIns="0" tIns="0" rIns="0" bIns="0" anchor="t"/>
          <a:lstStyle/>
          <a:p>
            <a:pPr>
              <a:lnSpc>
                <a:spcPct val="138000"/>
              </a:lnSpc>
            </a:pPr>
            <a:r>
              <a:rPr sz="1250" b="1">
                <a:solidFill>
                  <a:srgbClr val="0058FF"/>
                </a:solidFill>
              </a:rPr>
              <a:t>解决“数据怎么流通”：</a:t>
            </a:r>
            <a:r>
              <a:rPr sz="1250">
                <a:solidFill>
                  <a:srgbClr val="5B6B80"/>
                </a:solidFill>
              </a:rPr>
              <a:t>十几家医院各有一间保密实验室，怎么连起来、怎么签联合研究合约、怎么监管履约与分配收益。</a:t>
            </a:r>
          </a:p>
        </p:txBody>
      </p:sp>
      <p:sp>
        <p:nvSpPr>
          <p:cNvPr id="20" name="TextBox 20">
            <a:extLst>
              <a:ext uri="{FF2B5EF4-FFF2-40B4-BE49-F238E27FC236}">
                <a16:creationId xmlns:a16="http://schemas.microsoft.com/office/drawing/2014/main" id="{2181DBBF-EC22-49A6-82DD-60D2B0595BC9}"/>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21" name="TextBox 21">
            <a:extLst>
              <a:ext uri="{FF2B5EF4-FFF2-40B4-BE49-F238E27FC236}">
                <a16:creationId xmlns:a16="http://schemas.microsoft.com/office/drawing/2014/main" id="{66B9B3D3-2D0B-4B64-A7F4-6D763FE39618}"/>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F06C35D-1F9B-44B8-9E18-6317874CE0D6}"/>
              </a:ext>
            </a:extLst>
          </p:cNvPr>
          <p:cNvSpPr txBox="1"/>
          <p:nvPr/>
        </p:nvSpPr>
        <p:spPr>
          <a:xfrm>
            <a:off x="762000" y="438150"/>
            <a:ext cx="5334000" cy="228600"/>
          </a:xfrm>
        </p:spPr>
        <p:txBody>
          <a:bodyPr wrap="square" rtlCol="0" lIns="0" tIns="0" rIns="0" bIns="0" anchor="t"/>
          <a:lstStyle/>
          <a:p>
            <a:pPr>
              <a:lnSpc>
                <a:spcPct val="110000"/>
              </a:lnSpc>
            </a:pPr>
            <a:r>
              <a:rPr sz="1200" b="1">
                <a:solidFill>
                  <a:srgbClr val="0058FF"/>
                </a:solidFill>
              </a:rPr>
              <a:t>运行模式 · 五步闭环与全景架构</a:t>
            </a:r>
          </a:p>
        </p:txBody>
      </p:sp>
      <p:sp>
        <p:nvSpPr>
          <p:cNvPr id="4" name="TextBox 4">
            <a:extLst>
              <a:ext uri="{FF2B5EF4-FFF2-40B4-BE49-F238E27FC236}">
                <a16:creationId xmlns:a16="http://schemas.microsoft.com/office/drawing/2014/main" id="{2D989B60-B036-498D-A8AC-C3636CBCC6C7}"/>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融合之后怎么跑：科研协作五步闭环</a:t>
            </a:r>
          </a:p>
        </p:txBody>
      </p:sp>
      <p:sp>
        <p:nvSpPr>
          <p:cNvPr id="5" name="TextBox 5">
            <a:extLst>
              <a:ext uri="{FF2B5EF4-FFF2-40B4-BE49-F238E27FC236}">
                <a16:creationId xmlns:a16="http://schemas.microsoft.com/office/drawing/2014/main" id="{29172DEA-633D-4745-997D-E0D708A8EF4C}"/>
              </a:ext>
            </a:extLst>
          </p:cNvPr>
          <p:cNvSpPr txBox="1"/>
          <p:nvPr/>
        </p:nvSpPr>
        <p:spPr>
          <a:xfrm>
            <a:off x="762000" y="1181100"/>
            <a:ext cx="10668000" cy="495300"/>
          </a:xfrm>
        </p:spPr>
        <p:txBody>
          <a:bodyPr wrap="square" rtlCol="0" lIns="0" tIns="0" rIns="0" bIns="0" anchor="t"/>
          <a:lstStyle/>
          <a:p>
            <a:pPr>
              <a:lnSpc>
                <a:spcPct val="135000"/>
              </a:lnSpc>
            </a:pPr>
            <a:r>
              <a:rPr sz="1500">
                <a:solidFill>
                  <a:srgbClr val="5B6B80"/>
                </a:solidFill>
              </a:rPr>
              <a:t>四句话概括：资源跨机构发现、授权按项目协同、计算在可信环境执行、结果经审查共享——原始数据一步没出自家大门。</a:t>
            </a:r>
          </a:p>
        </p:txBody>
      </p:sp>
      <p:sp>
        <p:nvSpPr>
          <p:cNvPr id="6" name="Shape 6">
            <a:extLst>
              <a:ext uri="{FF2B5EF4-FFF2-40B4-BE49-F238E27FC236}">
                <a16:creationId xmlns:a16="http://schemas.microsoft.com/office/drawing/2014/main" id="{F493AA3B-D7CF-4FA0-94BF-BEE59C62A7AD}"/>
              </a:ext>
            </a:extLst>
          </p:cNvPr>
          <p:cNvSpPr/>
          <p:nvPr/>
        </p:nvSpPr>
        <p:spPr>
          <a:xfrm>
            <a:off x="762000" y="180975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154AD4CF-80A7-48DE-B7B1-48C4C71676D4}"/>
              </a:ext>
            </a:extLst>
          </p:cNvPr>
          <p:cNvSpPr/>
          <p:nvPr/>
        </p:nvSpPr>
        <p:spPr>
          <a:xfrm>
            <a:off x="762000" y="1924050"/>
            <a:ext cx="1981200" cy="895350"/>
          </a:xfrm>
          <a:prstGeom prst="roundRect">
            <a:avLst/>
          </a:prstGeom>
          <a:solidFill>
            <a:srgbClr val="F4F8FF"/>
          </a:solidFill>
          <a:ln w="12700">
            <a:solidFill>
              <a:srgbClr val="D9E5FA"/>
            </a:solidFill>
          </a:ln>
        </p:spPr>
        <p:txBody>
          <a:bodyPr wrap="square" rtlCol="0" lIns="0" tIns="0" rIns="0" bIns="0" anchor="ctr"/>
          <a:lstStyle/>
          <a:p>
            <a:pPr algn="ctr">
              <a:lnSpc>
                <a:spcPct val="112000"/>
              </a:lnSpc>
              <a:spcAft>
                <a:spcPts val="500"/>
              </a:spcAft>
            </a:pPr>
            <a:r>
              <a:rPr sz="1250" b="1">
                <a:solidFill>
                  <a:srgbClr val="16202E"/>
                </a:solidFill>
              </a:rPr>
              <a:t>① 主体接入与资源发布</a:t>
            </a:r>
          </a:p>
          <a:p>
            <a:pPr algn="ctr">
              <a:lnSpc>
                <a:spcPct val="125000"/>
              </a:lnSpc>
            </a:pPr>
            <a:r>
              <a:rPr sz="1100">
                <a:solidFill>
                  <a:srgbClr val="5B6B80"/>
                </a:solidFill>
              </a:rPr>
              <a:t>只发布脱敏数据目录，不上传原始数据</a:t>
            </a:r>
          </a:p>
        </p:txBody>
      </p:sp>
      <p:sp>
        <p:nvSpPr>
          <p:cNvPr id="8" name="Shape 8">
            <a:extLst>
              <a:ext uri="{FF2B5EF4-FFF2-40B4-BE49-F238E27FC236}">
                <a16:creationId xmlns:a16="http://schemas.microsoft.com/office/drawing/2014/main" id="{2ED12BD3-8D77-4692-99CF-FFF21EA83D11}"/>
              </a:ext>
            </a:extLst>
          </p:cNvPr>
          <p:cNvSpPr/>
          <p:nvPr/>
        </p:nvSpPr>
        <p:spPr>
          <a:xfrm>
            <a:off x="2933700" y="1924050"/>
            <a:ext cx="1981200" cy="895350"/>
          </a:xfrm>
          <a:prstGeom prst="roundRect">
            <a:avLst/>
          </a:prstGeom>
          <a:solidFill>
            <a:srgbClr val="F4F8FF"/>
          </a:solidFill>
          <a:ln w="12700">
            <a:solidFill>
              <a:srgbClr val="D9E5FA"/>
            </a:solidFill>
          </a:ln>
        </p:spPr>
        <p:txBody>
          <a:bodyPr wrap="square" rtlCol="0" lIns="0" tIns="0" rIns="0" bIns="0" anchor="ctr"/>
          <a:lstStyle/>
          <a:p>
            <a:pPr algn="ctr">
              <a:lnSpc>
                <a:spcPct val="112000"/>
              </a:lnSpc>
              <a:spcAft>
                <a:spcPts val="500"/>
              </a:spcAft>
            </a:pPr>
            <a:r>
              <a:rPr sz="1250" b="1">
                <a:solidFill>
                  <a:srgbClr val="16202E"/>
                </a:solidFill>
              </a:rPr>
              <a:t>② 项目申请与供需匹配</a:t>
            </a:r>
          </a:p>
          <a:p>
            <a:pPr algn="ctr">
              <a:lnSpc>
                <a:spcPct val="125000"/>
              </a:lnSpc>
            </a:pPr>
            <a:r>
              <a:rPr sz="1100">
                <a:solidFill>
                  <a:srgbClr val="5B6B80"/>
                </a:solidFill>
              </a:rPr>
              <a:t>牵头方提需求，匹配几家医院</a:t>
            </a:r>
          </a:p>
        </p:txBody>
      </p:sp>
      <p:sp>
        <p:nvSpPr>
          <p:cNvPr id="9" name="Shape 9">
            <a:extLst>
              <a:ext uri="{FF2B5EF4-FFF2-40B4-BE49-F238E27FC236}">
                <a16:creationId xmlns:a16="http://schemas.microsoft.com/office/drawing/2014/main" id="{8A4E524B-BFED-4D5F-B10C-F9BFA54D9748}"/>
              </a:ext>
            </a:extLst>
          </p:cNvPr>
          <p:cNvSpPr/>
          <p:nvPr/>
        </p:nvSpPr>
        <p:spPr>
          <a:xfrm>
            <a:off x="5105400" y="1924050"/>
            <a:ext cx="1981200" cy="895350"/>
          </a:xfrm>
          <a:prstGeom prst="roundRect">
            <a:avLst/>
          </a:prstGeom>
          <a:solidFill>
            <a:srgbClr val="F4F8FF"/>
          </a:solidFill>
          <a:ln w="12700">
            <a:solidFill>
              <a:srgbClr val="D9E5FA"/>
            </a:solidFill>
          </a:ln>
        </p:spPr>
        <p:txBody>
          <a:bodyPr wrap="square" rtlCol="0" lIns="0" tIns="0" rIns="0" bIns="0" anchor="ctr"/>
          <a:lstStyle/>
          <a:p>
            <a:pPr algn="ctr">
              <a:lnSpc>
                <a:spcPct val="112000"/>
              </a:lnSpc>
              <a:spcAft>
                <a:spcPts val="500"/>
              </a:spcAft>
            </a:pPr>
            <a:r>
              <a:rPr sz="1250" b="1">
                <a:solidFill>
                  <a:srgbClr val="16202E"/>
                </a:solidFill>
              </a:rPr>
              <a:t>③ 规则约定与授权</a:t>
            </a:r>
          </a:p>
          <a:p>
            <a:pPr algn="ctr">
              <a:lnSpc>
                <a:spcPct val="125000"/>
              </a:lnSpc>
            </a:pPr>
            <a:r>
              <a:rPr sz="1100">
                <a:solidFill>
                  <a:srgbClr val="5B6B80"/>
                </a:solidFill>
              </a:rPr>
              <a:t>数字合约：人员、期限、工具、输出</a:t>
            </a:r>
          </a:p>
        </p:txBody>
      </p:sp>
      <p:sp>
        <p:nvSpPr>
          <p:cNvPr id="10" name="Shape 10">
            <a:extLst>
              <a:ext uri="{FF2B5EF4-FFF2-40B4-BE49-F238E27FC236}">
                <a16:creationId xmlns:a16="http://schemas.microsoft.com/office/drawing/2014/main" id="{B6877D55-C079-415D-8086-796BFAC47B55}"/>
              </a:ext>
            </a:extLst>
          </p:cNvPr>
          <p:cNvSpPr/>
          <p:nvPr/>
        </p:nvSpPr>
        <p:spPr>
          <a:xfrm>
            <a:off x="7277100" y="1924050"/>
            <a:ext cx="1981200" cy="895350"/>
          </a:xfrm>
          <a:prstGeom prst="roundRect">
            <a:avLst/>
          </a:prstGeom>
          <a:solidFill>
            <a:srgbClr val="F4F8FF"/>
          </a:solidFill>
          <a:ln w="12700">
            <a:solidFill>
              <a:srgbClr val="D9E5FA"/>
            </a:solidFill>
          </a:ln>
        </p:spPr>
        <p:txBody>
          <a:bodyPr wrap="square" rtlCol="0" lIns="0" tIns="0" rIns="0" bIns="0" anchor="ctr"/>
          <a:lstStyle/>
          <a:p>
            <a:pPr algn="ctr">
              <a:lnSpc>
                <a:spcPct val="112000"/>
              </a:lnSpc>
              <a:spcAft>
                <a:spcPts val="500"/>
              </a:spcAft>
            </a:pPr>
            <a:r>
              <a:rPr sz="1250" b="1">
                <a:solidFill>
                  <a:srgbClr val="16202E"/>
                </a:solidFill>
              </a:rPr>
              <a:t>④ 进入 TRE 开展计算</a:t>
            </a:r>
          </a:p>
          <a:p>
            <a:pPr algn="ctr">
              <a:lnSpc>
                <a:spcPct val="125000"/>
              </a:lnSpc>
            </a:pPr>
            <a:r>
              <a:rPr sz="1100">
                <a:solidFill>
                  <a:srgbClr val="5B6B80"/>
                </a:solidFill>
              </a:rPr>
              <a:t>数据不脱离医院控制，受控分析训练</a:t>
            </a:r>
          </a:p>
        </p:txBody>
      </p:sp>
      <p:sp>
        <p:nvSpPr>
          <p:cNvPr id="11" name="Shape 11">
            <a:extLst>
              <a:ext uri="{FF2B5EF4-FFF2-40B4-BE49-F238E27FC236}">
                <a16:creationId xmlns:a16="http://schemas.microsoft.com/office/drawing/2014/main" id="{A82F3194-3ADB-4846-A5EE-CB554A96D666}"/>
              </a:ext>
            </a:extLst>
          </p:cNvPr>
          <p:cNvSpPr/>
          <p:nvPr/>
        </p:nvSpPr>
        <p:spPr>
          <a:xfrm>
            <a:off x="9448800" y="1924050"/>
            <a:ext cx="1981200" cy="895350"/>
          </a:xfrm>
          <a:prstGeom prst="roundRect">
            <a:avLst/>
          </a:prstGeom>
          <a:solidFill>
            <a:srgbClr val="F4F8FF"/>
          </a:solidFill>
          <a:ln w="12700">
            <a:solidFill>
              <a:srgbClr val="D9E5FA"/>
            </a:solidFill>
          </a:ln>
        </p:spPr>
        <p:txBody>
          <a:bodyPr wrap="square" rtlCol="0" lIns="0" tIns="0" rIns="0" bIns="0" anchor="ctr"/>
          <a:lstStyle/>
          <a:p>
            <a:pPr algn="ctr">
              <a:lnSpc>
                <a:spcPct val="112000"/>
              </a:lnSpc>
              <a:spcAft>
                <a:spcPts val="500"/>
              </a:spcAft>
            </a:pPr>
            <a:r>
              <a:rPr sz="1250" b="1">
                <a:solidFill>
                  <a:srgbClr val="16202E"/>
                </a:solidFill>
              </a:rPr>
              <a:t>⑤ 输出审查与成果交付</a:t>
            </a:r>
          </a:p>
          <a:p>
            <a:pPr algn="ctr">
              <a:lnSpc>
                <a:spcPct val="125000"/>
              </a:lnSpc>
            </a:pPr>
            <a:r>
              <a:rPr sz="1100">
                <a:solidFill>
                  <a:srgbClr val="5B6B80"/>
                </a:solidFill>
              </a:rPr>
              <a:t>存证、计量、评价，支撑收益分配</a:t>
            </a:r>
          </a:p>
        </p:txBody>
      </p:sp>
      <p:sp>
        <p:nvSpPr>
          <p:cNvPr id="12" name="Shape 12">
            <a:extLst>
              <a:ext uri="{FF2B5EF4-FFF2-40B4-BE49-F238E27FC236}">
                <a16:creationId xmlns:a16="http://schemas.microsoft.com/office/drawing/2014/main" id="{13349CDB-EF32-4D19-AC12-684DAF91B749}"/>
              </a:ext>
            </a:extLst>
          </p:cNvPr>
          <p:cNvSpPr/>
          <p:nvPr/>
        </p:nvSpPr>
        <p:spPr>
          <a:xfrm>
            <a:off x="2743200" y="2305050"/>
            <a:ext cx="190500" cy="133350"/>
          </a:xfrm>
          <a:prstGeom prst="rightArrow">
            <a:avLst/>
          </a:prstGeom>
          <a:solidFill>
            <a:srgbClr val="B9CDEE"/>
          </a:solidFill>
        </p:spPr>
        <p:txBody>
          <a:bodyPr wrap="square" rtlCol="0"/>
          <a:lstStyle/>
          <a:p>
            <a:r>
              <a:rPr/>
              <a:t/>
            </a:r>
          </a:p>
        </p:txBody>
      </p:sp>
      <p:sp>
        <p:nvSpPr>
          <p:cNvPr id="13" name="Shape 13">
            <a:extLst>
              <a:ext uri="{FF2B5EF4-FFF2-40B4-BE49-F238E27FC236}">
                <a16:creationId xmlns:a16="http://schemas.microsoft.com/office/drawing/2014/main" id="{4B245059-1D47-4165-9CCB-BF88B31C9366}"/>
              </a:ext>
            </a:extLst>
          </p:cNvPr>
          <p:cNvSpPr/>
          <p:nvPr/>
        </p:nvSpPr>
        <p:spPr>
          <a:xfrm>
            <a:off x="4914900" y="2305050"/>
            <a:ext cx="190500" cy="133350"/>
          </a:xfrm>
          <a:prstGeom prst="rightArrow">
            <a:avLst/>
          </a:prstGeom>
          <a:solidFill>
            <a:srgbClr val="B9CDEE"/>
          </a:solidFill>
        </p:spPr>
        <p:txBody>
          <a:bodyPr wrap="square" rtlCol="0"/>
          <a:lstStyle/>
          <a:p>
            <a:r>
              <a:rPr/>
              <a:t/>
            </a:r>
          </a:p>
        </p:txBody>
      </p:sp>
      <p:sp>
        <p:nvSpPr>
          <p:cNvPr id="14" name="Shape 14">
            <a:extLst>
              <a:ext uri="{FF2B5EF4-FFF2-40B4-BE49-F238E27FC236}">
                <a16:creationId xmlns:a16="http://schemas.microsoft.com/office/drawing/2014/main" id="{F7532ACF-E23F-4952-BD4C-B77881EF8A97}"/>
              </a:ext>
            </a:extLst>
          </p:cNvPr>
          <p:cNvSpPr/>
          <p:nvPr/>
        </p:nvSpPr>
        <p:spPr>
          <a:xfrm>
            <a:off x="7086600" y="2305050"/>
            <a:ext cx="190500" cy="133350"/>
          </a:xfrm>
          <a:prstGeom prst="rightArrow">
            <a:avLst/>
          </a:prstGeom>
          <a:solidFill>
            <a:srgbClr val="B9CDEE"/>
          </a:solidFill>
        </p:spPr>
        <p:txBody>
          <a:bodyPr wrap="square" rtlCol="0"/>
          <a:lstStyle/>
          <a:p>
            <a:r>
              <a:rPr/>
              <a:t/>
            </a:r>
          </a:p>
        </p:txBody>
      </p:sp>
      <p:sp>
        <p:nvSpPr>
          <p:cNvPr id="15" name="Shape 15">
            <a:extLst>
              <a:ext uri="{FF2B5EF4-FFF2-40B4-BE49-F238E27FC236}">
                <a16:creationId xmlns:a16="http://schemas.microsoft.com/office/drawing/2014/main" id="{0CBB3E36-138F-48EB-8B70-1F9C52C06F61}"/>
              </a:ext>
            </a:extLst>
          </p:cNvPr>
          <p:cNvSpPr/>
          <p:nvPr/>
        </p:nvSpPr>
        <p:spPr>
          <a:xfrm>
            <a:off x="9258300" y="2305050"/>
            <a:ext cx="190500" cy="133350"/>
          </a:xfrm>
          <a:prstGeom prst="rightArrow">
            <a:avLst/>
          </a:prstGeom>
          <a:solidFill>
            <a:srgbClr val="B9CDEE"/>
          </a:solidFill>
        </p:spPr>
        <p:txBody>
          <a:bodyPr wrap="square" rtlCol="0"/>
          <a:lstStyle/>
          <a:p>
            <a:r>
              <a:rPr/>
              <a:t/>
            </a:r>
          </a:p>
        </p:txBody>
      </p:sp>
      <p:sp>
        <p:nvSpPr>
          <p:cNvPr id="16" name="Shape 16">
            <a:extLst>
              <a:ext uri="{FF2B5EF4-FFF2-40B4-BE49-F238E27FC236}">
                <a16:creationId xmlns:a16="http://schemas.microsoft.com/office/drawing/2014/main" id="{4F6ACE83-11B4-4CE9-BBF0-F99166D3D887}"/>
              </a:ext>
            </a:extLst>
          </p:cNvPr>
          <p:cNvSpPr/>
          <p:nvPr/>
        </p:nvSpPr>
        <p:spPr>
          <a:xfrm>
            <a:off x="762000" y="2971800"/>
            <a:ext cx="10668000" cy="495300"/>
          </a:xfrm>
          <a:prstGeom prst="roundRect">
            <a:avLst/>
          </a:prstGeom>
          <a:solidFill>
            <a:srgbClr val="0A2E6E"/>
          </a:solidFill>
        </p:spPr>
        <p:txBody>
          <a:bodyPr wrap="square" rtlCol="0" lIns="0" tIns="0" rIns="0" bIns="0" anchor="ctr"/>
          <a:lstStyle/>
          <a:p>
            <a:pPr algn="ctr">
              <a:lnSpc>
                <a:spcPct val="112000"/>
              </a:lnSpc>
            </a:pPr>
            <a:r>
              <a:rPr sz="1500" b="1">
                <a:solidFill>
                  <a:srgbClr val="FFFFFF"/>
                </a:solidFill>
              </a:rPr>
              <a:t>跨机构联合研究｜经审查的合规汇总结果、模型与成果共享</a:t>
            </a:r>
          </a:p>
        </p:txBody>
      </p:sp>
      <p:sp>
        <p:nvSpPr>
          <p:cNvPr id="17" name="TextBox 17">
            <a:extLst>
              <a:ext uri="{FF2B5EF4-FFF2-40B4-BE49-F238E27FC236}">
                <a16:creationId xmlns:a16="http://schemas.microsoft.com/office/drawing/2014/main" id="{3AC89E4B-485F-4C58-BD19-3A21732FA721}"/>
              </a:ext>
            </a:extLst>
          </p:cNvPr>
          <p:cNvSpPr txBox="1"/>
          <p:nvPr/>
        </p:nvSpPr>
        <p:spPr>
          <a:xfrm>
            <a:off x="6572250" y="3486150"/>
            <a:ext cx="2857500" cy="228600"/>
          </a:xfrm>
        </p:spPr>
        <p:txBody>
          <a:bodyPr wrap="square" rtlCol="0" lIns="0" tIns="0" rIns="0" bIns="0" anchor="t"/>
          <a:lstStyle/>
          <a:p>
            <a:pPr>
              <a:lnSpc>
                <a:spcPct val="110000"/>
              </a:lnSpc>
            </a:pPr>
            <a:r>
              <a:rPr sz="1150" b="1">
                <a:solidFill>
                  <a:srgbClr val="0058FF"/>
                </a:solidFill>
              </a:rPr>
              <a:t>仅合规汇总结果上浮</a:t>
            </a:r>
          </a:p>
        </p:txBody>
      </p:sp>
      <p:sp>
        <p:nvSpPr>
          <p:cNvPr id="18" name="Shape 18">
            <a:extLst>
              <a:ext uri="{FF2B5EF4-FFF2-40B4-BE49-F238E27FC236}">
                <a16:creationId xmlns:a16="http://schemas.microsoft.com/office/drawing/2014/main" id="{5D039F70-3D11-4775-99B2-DA4D589B2EB3}"/>
              </a:ext>
            </a:extLst>
          </p:cNvPr>
          <p:cNvSpPr/>
          <p:nvPr/>
        </p:nvSpPr>
        <p:spPr>
          <a:xfrm>
            <a:off x="5972175" y="3486150"/>
            <a:ext cx="247650" cy="171450"/>
          </a:xfrm>
          <a:prstGeom prst="upArrow">
            <a:avLst/>
          </a:prstGeom>
          <a:solidFill>
            <a:srgbClr val="B9CDEE"/>
          </a:solidFill>
        </p:spPr>
        <p:txBody>
          <a:bodyPr wrap="square" rtlCol="0"/>
          <a:lstStyle/>
          <a:p>
            <a:r>
              <a:rPr/>
              <a:t/>
            </a:r>
          </a:p>
        </p:txBody>
      </p:sp>
      <p:sp>
        <p:nvSpPr>
          <p:cNvPr id="19" name="Shape 19">
            <a:extLst>
              <a:ext uri="{FF2B5EF4-FFF2-40B4-BE49-F238E27FC236}">
                <a16:creationId xmlns:a16="http://schemas.microsoft.com/office/drawing/2014/main" id="{87F1C580-35A2-4F95-B033-D1A576EDF4C7}"/>
              </a:ext>
            </a:extLst>
          </p:cNvPr>
          <p:cNvSpPr/>
          <p:nvPr/>
        </p:nvSpPr>
        <p:spPr>
          <a:xfrm>
            <a:off x="762000" y="3695700"/>
            <a:ext cx="10668000" cy="647700"/>
          </a:xfrm>
          <a:prstGeom prst="roundRect">
            <a:avLst/>
          </a:prstGeom>
          <a:solidFill>
            <a:srgbClr val="F4F8FF"/>
          </a:solidFill>
          <a:ln w="12700">
            <a:solidFill>
              <a:srgbClr val="B9CDEE"/>
            </a:solidFill>
          </a:ln>
        </p:spPr>
        <p:txBody>
          <a:bodyPr wrap="square" rtlCol="0" lIns="0" tIns="0" rIns="0" bIns="0" anchor="ctr"/>
          <a:lstStyle/>
          <a:p>
            <a:pPr algn="ctr">
              <a:lnSpc>
                <a:spcPct val="112000"/>
              </a:lnSpc>
              <a:spcAft>
                <a:spcPts val="400"/>
              </a:spcAft>
            </a:pPr>
            <a:r>
              <a:rPr sz="1600" b="1">
                <a:solidFill>
                  <a:srgbClr val="16202E"/>
                </a:solidFill>
              </a:rPr>
              <a:t>可信数据空间协同服务平台</a:t>
            </a:r>
          </a:p>
          <a:p>
            <a:pPr algn="ctr">
              <a:lnSpc>
                <a:spcPct val="118000"/>
              </a:lnSpc>
            </a:pPr>
            <a:r>
              <a:rPr sz="1200">
                <a:solidFill>
                  <a:srgbClr val="5B6B80"/>
                </a:solidFill>
              </a:rPr>
              <a:t>机构接入连接器 + 中心服务平台｜身份 · 目录 · 项目 · 授权 · 任务 · 审计</a:t>
            </a:r>
          </a:p>
        </p:txBody>
      </p:sp>
      <p:sp>
        <p:nvSpPr>
          <p:cNvPr id="20" name="Shape 20">
            <a:extLst>
              <a:ext uri="{FF2B5EF4-FFF2-40B4-BE49-F238E27FC236}">
                <a16:creationId xmlns:a16="http://schemas.microsoft.com/office/drawing/2014/main" id="{AC959829-C5AB-49A0-A333-5721D95A1B46}"/>
              </a:ext>
            </a:extLst>
          </p:cNvPr>
          <p:cNvSpPr/>
          <p:nvPr/>
        </p:nvSpPr>
        <p:spPr>
          <a:xfrm>
            <a:off x="2257425" y="4381500"/>
            <a:ext cx="247650" cy="285750"/>
          </a:xfrm>
          <a:prstGeom prst="upArrow">
            <a:avLst/>
          </a:prstGeom>
          <a:solidFill>
            <a:srgbClr val="B9CDEE"/>
          </a:solidFill>
        </p:spPr>
        <p:txBody>
          <a:bodyPr wrap="square" rtlCol="0"/>
          <a:lstStyle/>
          <a:p>
            <a:r>
              <a:rPr/>
              <a:t/>
            </a:r>
          </a:p>
        </p:txBody>
      </p:sp>
      <p:sp>
        <p:nvSpPr>
          <p:cNvPr id="21" name="Shape 21">
            <a:extLst>
              <a:ext uri="{FF2B5EF4-FFF2-40B4-BE49-F238E27FC236}">
                <a16:creationId xmlns:a16="http://schemas.microsoft.com/office/drawing/2014/main" id="{F867D723-64FB-4612-A5E8-1E503657E070}"/>
              </a:ext>
            </a:extLst>
          </p:cNvPr>
          <p:cNvSpPr/>
          <p:nvPr/>
        </p:nvSpPr>
        <p:spPr>
          <a:xfrm>
            <a:off x="5972175" y="4381500"/>
            <a:ext cx="247650" cy="285750"/>
          </a:xfrm>
          <a:prstGeom prst="upArrow">
            <a:avLst/>
          </a:prstGeom>
          <a:solidFill>
            <a:srgbClr val="B9CDEE"/>
          </a:solidFill>
        </p:spPr>
        <p:txBody>
          <a:bodyPr wrap="square" rtlCol="0"/>
          <a:lstStyle/>
          <a:p>
            <a:r>
              <a:rPr/>
              <a:t/>
            </a:r>
          </a:p>
        </p:txBody>
      </p:sp>
      <p:sp>
        <p:nvSpPr>
          <p:cNvPr id="22" name="Shape 22">
            <a:extLst>
              <a:ext uri="{FF2B5EF4-FFF2-40B4-BE49-F238E27FC236}">
                <a16:creationId xmlns:a16="http://schemas.microsoft.com/office/drawing/2014/main" id="{FF7771FA-F4D2-443F-9AF9-491A3D934628}"/>
              </a:ext>
            </a:extLst>
          </p:cNvPr>
          <p:cNvSpPr/>
          <p:nvPr/>
        </p:nvSpPr>
        <p:spPr>
          <a:xfrm>
            <a:off x="9686925" y="4381500"/>
            <a:ext cx="247650" cy="285750"/>
          </a:xfrm>
          <a:prstGeom prst="upArrow">
            <a:avLst/>
          </a:prstGeom>
          <a:solidFill>
            <a:srgbClr val="B9CDEE"/>
          </a:solidFill>
        </p:spPr>
        <p:txBody>
          <a:bodyPr wrap="square" rtlCol="0"/>
          <a:lstStyle/>
          <a:p>
            <a:r>
              <a:rPr/>
              <a:t/>
            </a:r>
          </a:p>
        </p:txBody>
      </p:sp>
      <p:sp>
        <p:nvSpPr>
          <p:cNvPr id="23" name="Shape 23">
            <a:extLst>
              <a:ext uri="{FF2B5EF4-FFF2-40B4-BE49-F238E27FC236}">
                <a16:creationId xmlns:a16="http://schemas.microsoft.com/office/drawing/2014/main" id="{0C3E9142-7488-4531-937A-E5E6FBDC20CF}"/>
              </a:ext>
            </a:extLst>
          </p:cNvPr>
          <p:cNvSpPr/>
          <p:nvPr/>
        </p:nvSpPr>
        <p:spPr>
          <a:xfrm>
            <a:off x="762000" y="4705350"/>
            <a:ext cx="3238500" cy="952500"/>
          </a:xfrm>
          <a:prstGeom prst="roundRect">
            <a:avLst/>
          </a:prstGeom>
          <a:solidFill>
            <a:srgbClr val="FFFFFF"/>
          </a:solidFill>
          <a:ln w="12700">
            <a:solidFill>
              <a:srgbClr val="D9E5FA"/>
            </a:solidFill>
          </a:ln>
        </p:spPr>
        <p:txBody>
          <a:bodyPr wrap="square" rtlCol="0" lIns="0" tIns="0" rIns="0" bIns="0" anchor="ctr"/>
          <a:lstStyle/>
          <a:p>
            <a:pPr algn="ctr">
              <a:lnSpc>
                <a:spcPct val="112000"/>
              </a:lnSpc>
              <a:spcAft>
                <a:spcPts val="400"/>
              </a:spcAft>
            </a:pPr>
            <a:r>
              <a:rPr sz="1400" b="1">
                <a:solidFill>
                  <a:srgbClr val="16202E"/>
                </a:solidFill>
              </a:rPr>
              <a:t>医疗机构 A</a:t>
            </a:r>
          </a:p>
          <a:p>
            <a:pPr algn="ctr">
              <a:lnSpc>
                <a:spcPct val="120000"/>
              </a:lnSpc>
            </a:pPr>
            <a:r>
              <a:rPr sz="1100">
                <a:solidFill>
                  <a:srgbClr val="5B6B80"/>
                </a:solidFill>
              </a:rPr>
              <a:t>临床诊疗数据｜原始数据 100% 留本地</a:t>
            </a:r>
          </a:p>
          <a:p>
            <a:pPr algn="ctr">
              <a:lnSpc>
                <a:spcPct val="120000"/>
              </a:lnSpc>
            </a:pPr>
            <a:r>
              <a:rPr sz="1100">
                <a:solidFill>
                  <a:srgbClr val="5B6B80"/>
                </a:solidFill>
              </a:rPr>
              <a:t>本院 TRE 受控工作区本地计算</a:t>
            </a:r>
          </a:p>
        </p:txBody>
      </p:sp>
      <p:sp>
        <p:nvSpPr>
          <p:cNvPr id="24" name="Shape 24">
            <a:extLst>
              <a:ext uri="{FF2B5EF4-FFF2-40B4-BE49-F238E27FC236}">
                <a16:creationId xmlns:a16="http://schemas.microsoft.com/office/drawing/2014/main" id="{3C487D0A-4428-45F4-B9C4-890D10B43131}"/>
              </a:ext>
            </a:extLst>
          </p:cNvPr>
          <p:cNvSpPr/>
          <p:nvPr/>
        </p:nvSpPr>
        <p:spPr>
          <a:xfrm>
            <a:off x="4476750" y="4705350"/>
            <a:ext cx="3238500" cy="952500"/>
          </a:xfrm>
          <a:prstGeom prst="roundRect">
            <a:avLst/>
          </a:prstGeom>
          <a:solidFill>
            <a:srgbClr val="FFFFFF"/>
          </a:solidFill>
          <a:ln w="12700">
            <a:solidFill>
              <a:srgbClr val="D9E5FA"/>
            </a:solidFill>
          </a:ln>
        </p:spPr>
        <p:txBody>
          <a:bodyPr wrap="square" rtlCol="0" lIns="0" tIns="0" rIns="0" bIns="0" anchor="ctr"/>
          <a:lstStyle/>
          <a:p>
            <a:pPr algn="ctr">
              <a:lnSpc>
                <a:spcPct val="112000"/>
              </a:lnSpc>
              <a:spcAft>
                <a:spcPts val="400"/>
              </a:spcAft>
            </a:pPr>
            <a:r>
              <a:rPr sz="1400" b="1">
                <a:solidFill>
                  <a:srgbClr val="16202E"/>
                </a:solidFill>
              </a:rPr>
              <a:t>医疗机构 B</a:t>
            </a:r>
          </a:p>
          <a:p>
            <a:pPr algn="ctr">
              <a:lnSpc>
                <a:spcPct val="120000"/>
              </a:lnSpc>
            </a:pPr>
            <a:r>
              <a:rPr sz="1100">
                <a:solidFill>
                  <a:srgbClr val="5B6B80"/>
                </a:solidFill>
              </a:rPr>
              <a:t>医学影像数据｜原始数据 100% 留本地</a:t>
            </a:r>
          </a:p>
          <a:p>
            <a:pPr algn="ctr">
              <a:lnSpc>
                <a:spcPct val="120000"/>
              </a:lnSpc>
            </a:pPr>
            <a:r>
              <a:rPr sz="1100">
                <a:solidFill>
                  <a:srgbClr val="5B6B80"/>
                </a:solidFill>
              </a:rPr>
              <a:t>本院 TRE 受控工作区本地计算</a:t>
            </a:r>
          </a:p>
        </p:txBody>
      </p:sp>
      <p:sp>
        <p:nvSpPr>
          <p:cNvPr id="25" name="Shape 25">
            <a:extLst>
              <a:ext uri="{FF2B5EF4-FFF2-40B4-BE49-F238E27FC236}">
                <a16:creationId xmlns:a16="http://schemas.microsoft.com/office/drawing/2014/main" id="{E2D8444E-FB99-479A-9F00-6889D7F2B735}"/>
              </a:ext>
            </a:extLst>
          </p:cNvPr>
          <p:cNvSpPr/>
          <p:nvPr/>
        </p:nvSpPr>
        <p:spPr>
          <a:xfrm>
            <a:off x="8191500" y="4705350"/>
            <a:ext cx="3238500" cy="952500"/>
          </a:xfrm>
          <a:prstGeom prst="roundRect">
            <a:avLst/>
          </a:prstGeom>
          <a:solidFill>
            <a:srgbClr val="FFFFFF"/>
          </a:solidFill>
          <a:ln w="12700">
            <a:solidFill>
              <a:srgbClr val="D9E5FA"/>
            </a:solidFill>
          </a:ln>
        </p:spPr>
        <p:txBody>
          <a:bodyPr wrap="square" rtlCol="0" lIns="0" tIns="0" rIns="0" bIns="0" anchor="ctr"/>
          <a:lstStyle/>
          <a:p>
            <a:pPr algn="ctr">
              <a:lnSpc>
                <a:spcPct val="112000"/>
              </a:lnSpc>
              <a:spcAft>
                <a:spcPts val="400"/>
              </a:spcAft>
            </a:pPr>
            <a:r>
              <a:rPr sz="1400" b="1">
                <a:solidFill>
                  <a:srgbClr val="16202E"/>
                </a:solidFill>
              </a:rPr>
              <a:t>科研机构 C</a:t>
            </a:r>
          </a:p>
          <a:p>
            <a:pPr algn="ctr">
              <a:lnSpc>
                <a:spcPct val="120000"/>
              </a:lnSpc>
            </a:pPr>
            <a:r>
              <a:rPr sz="1100">
                <a:solidFill>
                  <a:srgbClr val="5B6B80"/>
                </a:solidFill>
              </a:rPr>
              <a:t>科研队列数据｜原始数据 100% 留本地</a:t>
            </a:r>
          </a:p>
          <a:p>
            <a:pPr algn="ctr">
              <a:lnSpc>
                <a:spcPct val="120000"/>
              </a:lnSpc>
            </a:pPr>
            <a:r>
              <a:rPr sz="1100">
                <a:solidFill>
                  <a:srgbClr val="5B6B80"/>
                </a:solidFill>
              </a:rPr>
              <a:t>本院 TRE 受控工作区本地计算</a:t>
            </a:r>
          </a:p>
        </p:txBody>
      </p:sp>
      <p:sp>
        <p:nvSpPr>
          <p:cNvPr id="26" name="TextBox 26">
            <a:extLst>
              <a:ext uri="{FF2B5EF4-FFF2-40B4-BE49-F238E27FC236}">
                <a16:creationId xmlns:a16="http://schemas.microsoft.com/office/drawing/2014/main" id="{B064CA8E-227B-439A-B91C-7334ADEE9D66}"/>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27" name="TextBox 27">
            <a:extLst>
              <a:ext uri="{FF2B5EF4-FFF2-40B4-BE49-F238E27FC236}">
                <a16:creationId xmlns:a16="http://schemas.microsoft.com/office/drawing/2014/main" id="{3810A65F-5060-4008-B7C5-9CB9411B0229}"/>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04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324A093-9F1D-44DB-B761-AFD7B4FE7361}"/>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五项关键技术 · 上</a:t>
            </a:r>
          </a:p>
        </p:txBody>
      </p:sp>
      <p:sp>
        <p:nvSpPr>
          <p:cNvPr id="4" name="TextBox 4">
            <a:extLst>
              <a:ext uri="{FF2B5EF4-FFF2-40B4-BE49-F238E27FC236}">
                <a16:creationId xmlns:a16="http://schemas.microsoft.com/office/drawing/2014/main" id="{5F24ED46-802D-4621-B614-D634ADCB1B25}"/>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支撑这套闭环的五项关键技术（上）</a:t>
            </a:r>
          </a:p>
        </p:txBody>
      </p:sp>
      <p:sp>
        <p:nvSpPr>
          <p:cNvPr id="5" name="TextBox 5">
            <a:extLst>
              <a:ext uri="{FF2B5EF4-FFF2-40B4-BE49-F238E27FC236}">
                <a16:creationId xmlns:a16="http://schemas.microsoft.com/office/drawing/2014/main" id="{4BC05393-4EC9-46ED-8DFF-98811887B9E5}"/>
              </a:ext>
            </a:extLst>
          </p:cNvPr>
          <p:cNvSpPr txBox="1"/>
          <p:nvPr/>
        </p:nvSpPr>
        <p:spPr>
          <a:xfrm>
            <a:off x="762000" y="1181100"/>
            <a:ext cx="10668000" cy="495300"/>
          </a:xfrm>
        </p:spPr>
        <p:txBody>
          <a:bodyPr wrap="square" rtlCol="0" lIns="0" tIns="0" rIns="0" bIns="0" anchor="t"/>
          <a:lstStyle/>
          <a:p>
            <a:pPr>
              <a:lnSpc>
                <a:spcPct val="135000"/>
              </a:lnSpc>
            </a:pPr>
            <a:r>
              <a:rPr sz="1500">
                <a:solidFill>
                  <a:srgbClr val="5B6B80"/>
                </a:solidFill>
              </a:rPr>
              <a:t>五个关键词概括：认得准、找得到、管得住、送不出、算得了。本页先讲前三项。</a:t>
            </a:r>
          </a:p>
        </p:txBody>
      </p:sp>
      <p:sp>
        <p:nvSpPr>
          <p:cNvPr id="6" name="Shape 6">
            <a:extLst>
              <a:ext uri="{FF2B5EF4-FFF2-40B4-BE49-F238E27FC236}">
                <a16:creationId xmlns:a16="http://schemas.microsoft.com/office/drawing/2014/main" id="{CF568F49-B45D-4651-BFF7-824BBC0443A0}"/>
              </a:ext>
            </a:extLst>
          </p:cNvPr>
          <p:cNvSpPr/>
          <p:nvPr/>
        </p:nvSpPr>
        <p:spPr>
          <a:xfrm>
            <a:off x="762000" y="180975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B22E92F2-7291-4AAA-AB03-BFDDABD3D76C}"/>
              </a:ext>
            </a:extLst>
          </p:cNvPr>
          <p:cNvSpPr/>
          <p:nvPr/>
        </p:nvSpPr>
        <p:spPr>
          <a:xfrm>
            <a:off x="762000" y="1924050"/>
            <a:ext cx="1905000" cy="419100"/>
          </a:xfrm>
          <a:prstGeom prst="roundRect">
            <a:avLst/>
          </a:prstGeom>
          <a:solidFill>
            <a:srgbClr val="0058FF"/>
          </a:solidFill>
        </p:spPr>
        <p:txBody>
          <a:bodyPr wrap="square" rtlCol="0" lIns="0" tIns="0" rIns="0" bIns="0" anchor="ctr"/>
          <a:lstStyle/>
          <a:p>
            <a:pPr algn="ctr">
              <a:lnSpc>
                <a:spcPct val="110000"/>
              </a:lnSpc>
            </a:pPr>
            <a:r>
              <a:rPr sz="1400" b="1">
                <a:solidFill>
                  <a:srgbClr val="FFFFFF"/>
                </a:solidFill>
              </a:rPr>
              <a:t>① 认得准</a:t>
            </a:r>
          </a:p>
        </p:txBody>
      </p:sp>
      <p:sp>
        <p:nvSpPr>
          <p:cNvPr id="8" name="Shape 8">
            <a:extLst>
              <a:ext uri="{FF2B5EF4-FFF2-40B4-BE49-F238E27FC236}">
                <a16:creationId xmlns:a16="http://schemas.microsoft.com/office/drawing/2014/main" id="{8C754FE7-494B-4FA2-B0F8-FD09F0AD4885}"/>
              </a:ext>
            </a:extLst>
          </p:cNvPr>
          <p:cNvSpPr/>
          <p:nvPr/>
        </p:nvSpPr>
        <p:spPr>
          <a:xfrm>
            <a:off x="2952750" y="1924050"/>
            <a:ext cx="1905000" cy="419100"/>
          </a:xfrm>
          <a:prstGeom prst="roundRect">
            <a:avLst/>
          </a:prstGeom>
          <a:solidFill>
            <a:srgbClr val="0058FF"/>
          </a:solidFill>
        </p:spPr>
        <p:txBody>
          <a:bodyPr wrap="square" rtlCol="0" lIns="0" tIns="0" rIns="0" bIns="0" anchor="ctr"/>
          <a:lstStyle/>
          <a:p>
            <a:pPr algn="ctr">
              <a:lnSpc>
                <a:spcPct val="110000"/>
              </a:lnSpc>
            </a:pPr>
            <a:r>
              <a:rPr sz="1400" b="1">
                <a:solidFill>
                  <a:srgbClr val="FFFFFF"/>
                </a:solidFill>
              </a:rPr>
              <a:t>② 找得到</a:t>
            </a:r>
          </a:p>
        </p:txBody>
      </p:sp>
      <p:sp>
        <p:nvSpPr>
          <p:cNvPr id="9" name="Shape 9">
            <a:extLst>
              <a:ext uri="{FF2B5EF4-FFF2-40B4-BE49-F238E27FC236}">
                <a16:creationId xmlns:a16="http://schemas.microsoft.com/office/drawing/2014/main" id="{09E3778D-FEEE-4506-A514-64861AD7AC05}"/>
              </a:ext>
            </a:extLst>
          </p:cNvPr>
          <p:cNvSpPr/>
          <p:nvPr/>
        </p:nvSpPr>
        <p:spPr>
          <a:xfrm>
            <a:off x="5143500" y="1924050"/>
            <a:ext cx="1905000" cy="419100"/>
          </a:xfrm>
          <a:prstGeom prst="roundRect">
            <a:avLst/>
          </a:prstGeom>
          <a:solidFill>
            <a:srgbClr val="0058FF"/>
          </a:solidFill>
        </p:spPr>
        <p:txBody>
          <a:bodyPr wrap="square" rtlCol="0" lIns="0" tIns="0" rIns="0" bIns="0" anchor="ctr"/>
          <a:lstStyle/>
          <a:p>
            <a:pPr algn="ctr">
              <a:lnSpc>
                <a:spcPct val="110000"/>
              </a:lnSpc>
            </a:pPr>
            <a:r>
              <a:rPr sz="1400" b="1">
                <a:solidFill>
                  <a:srgbClr val="FFFFFF"/>
                </a:solidFill>
              </a:rPr>
              <a:t>③ 管得住</a:t>
            </a:r>
          </a:p>
        </p:txBody>
      </p:sp>
      <p:sp>
        <p:nvSpPr>
          <p:cNvPr id="10" name="Shape 10">
            <a:extLst>
              <a:ext uri="{FF2B5EF4-FFF2-40B4-BE49-F238E27FC236}">
                <a16:creationId xmlns:a16="http://schemas.microsoft.com/office/drawing/2014/main" id="{DC69DA49-7A6D-48EF-B410-B05E0235620B}"/>
              </a:ext>
            </a:extLst>
          </p:cNvPr>
          <p:cNvSpPr/>
          <p:nvPr/>
        </p:nvSpPr>
        <p:spPr>
          <a:xfrm>
            <a:off x="7334250" y="1924050"/>
            <a:ext cx="1905000" cy="419100"/>
          </a:xfrm>
          <a:prstGeom prst="roundRect">
            <a:avLst/>
          </a:prstGeom>
          <a:solidFill>
            <a:srgbClr val="F4F8FF"/>
          </a:solidFill>
          <a:ln w="12700">
            <a:solidFill>
              <a:srgbClr val="D9E5FA"/>
            </a:solidFill>
          </a:ln>
        </p:spPr>
        <p:txBody>
          <a:bodyPr wrap="square" rtlCol="0" lIns="0" tIns="0" rIns="0" bIns="0" anchor="ctr"/>
          <a:lstStyle/>
          <a:p>
            <a:pPr algn="ctr">
              <a:lnSpc>
                <a:spcPct val="110000"/>
              </a:lnSpc>
            </a:pPr>
            <a:r>
              <a:rPr sz="1400">
                <a:solidFill>
                  <a:srgbClr val="8A9AB0"/>
                </a:solidFill>
              </a:rPr>
              <a:t>④ 送不出</a:t>
            </a:r>
          </a:p>
        </p:txBody>
      </p:sp>
      <p:sp>
        <p:nvSpPr>
          <p:cNvPr id="11" name="Shape 11">
            <a:extLst>
              <a:ext uri="{FF2B5EF4-FFF2-40B4-BE49-F238E27FC236}">
                <a16:creationId xmlns:a16="http://schemas.microsoft.com/office/drawing/2014/main" id="{A6627E1E-0D25-48FA-B586-DEC8B26AEBB6}"/>
              </a:ext>
            </a:extLst>
          </p:cNvPr>
          <p:cNvSpPr/>
          <p:nvPr/>
        </p:nvSpPr>
        <p:spPr>
          <a:xfrm>
            <a:off x="9525000" y="1924050"/>
            <a:ext cx="1905000" cy="419100"/>
          </a:xfrm>
          <a:prstGeom prst="roundRect">
            <a:avLst/>
          </a:prstGeom>
          <a:solidFill>
            <a:srgbClr val="F4F8FF"/>
          </a:solidFill>
          <a:ln w="12700">
            <a:solidFill>
              <a:srgbClr val="D9E5FA"/>
            </a:solidFill>
          </a:ln>
        </p:spPr>
        <p:txBody>
          <a:bodyPr wrap="square" rtlCol="0" lIns="0" tIns="0" rIns="0" bIns="0" anchor="ctr"/>
          <a:lstStyle/>
          <a:p>
            <a:pPr algn="ctr">
              <a:lnSpc>
                <a:spcPct val="110000"/>
              </a:lnSpc>
            </a:pPr>
            <a:r>
              <a:rPr sz="1400">
                <a:solidFill>
                  <a:srgbClr val="8A9AB0"/>
                </a:solidFill>
              </a:rPr>
              <a:t>⑤ 算得了</a:t>
            </a:r>
          </a:p>
        </p:txBody>
      </p:sp>
      <p:sp>
        <p:nvSpPr>
          <p:cNvPr id="12" name="Shape 12">
            <a:extLst>
              <a:ext uri="{FF2B5EF4-FFF2-40B4-BE49-F238E27FC236}">
                <a16:creationId xmlns:a16="http://schemas.microsoft.com/office/drawing/2014/main" id="{72BEA342-7FBC-42B5-817A-1086A21B32C9}"/>
              </a:ext>
            </a:extLst>
          </p:cNvPr>
          <p:cNvSpPr/>
          <p:nvPr/>
        </p:nvSpPr>
        <p:spPr>
          <a:xfrm>
            <a:off x="762000" y="2514600"/>
            <a:ext cx="3429000" cy="3409950"/>
          </a:xfrm>
          <a:prstGeom prst="roundRect">
            <a:avLst/>
          </a:prstGeom>
          <a:solidFill>
            <a:srgbClr val="F4F8FF"/>
          </a:solidFill>
          <a:ln w="12700">
            <a:solidFill>
              <a:srgbClr val="D9E5FA"/>
            </a:solidFill>
          </a:ln>
        </p:spPr>
        <p:txBody>
          <a:bodyPr wrap="square" rtlCol="0"/>
          <a:lstStyle/>
          <a:p>
            <a:r>
              <a:rPr/>
              <a:t/>
            </a:r>
          </a:p>
        </p:txBody>
      </p:sp>
      <p:sp>
        <p:nvSpPr>
          <p:cNvPr id="13" name="Shape 13">
            <a:extLst>
              <a:ext uri="{FF2B5EF4-FFF2-40B4-BE49-F238E27FC236}">
                <a16:creationId xmlns:a16="http://schemas.microsoft.com/office/drawing/2014/main" id="{291433FA-799E-4B99-A826-CD6132502601}"/>
              </a:ext>
            </a:extLst>
          </p:cNvPr>
          <p:cNvSpPr/>
          <p:nvPr/>
        </p:nvSpPr>
        <p:spPr>
          <a:xfrm>
            <a:off x="4381500" y="2514600"/>
            <a:ext cx="3429000" cy="3409950"/>
          </a:xfrm>
          <a:prstGeom prst="roundRect">
            <a:avLst/>
          </a:prstGeom>
          <a:solidFill>
            <a:srgbClr val="F4F8FF"/>
          </a:solidFill>
          <a:ln w="12700">
            <a:solidFill>
              <a:srgbClr val="D9E5FA"/>
            </a:solidFill>
          </a:ln>
        </p:spPr>
        <p:txBody>
          <a:bodyPr wrap="square" rtlCol="0"/>
          <a:lstStyle/>
          <a:p>
            <a:r>
              <a:rPr/>
              <a:t/>
            </a:r>
          </a:p>
        </p:txBody>
      </p:sp>
      <p:sp>
        <p:nvSpPr>
          <p:cNvPr id="14" name="Shape 14">
            <a:extLst>
              <a:ext uri="{FF2B5EF4-FFF2-40B4-BE49-F238E27FC236}">
                <a16:creationId xmlns:a16="http://schemas.microsoft.com/office/drawing/2014/main" id="{DB8F57D3-F616-4E05-86CF-57EEA326AF3C}"/>
              </a:ext>
            </a:extLst>
          </p:cNvPr>
          <p:cNvSpPr/>
          <p:nvPr/>
        </p:nvSpPr>
        <p:spPr>
          <a:xfrm>
            <a:off x="8001000" y="2514600"/>
            <a:ext cx="3429000" cy="3409950"/>
          </a:xfrm>
          <a:prstGeom prst="roundRect">
            <a:avLst/>
          </a:prstGeom>
          <a:solidFill>
            <a:srgbClr val="F4F8FF"/>
          </a:solidFill>
          <a:ln w="12700">
            <a:solidFill>
              <a:srgbClr val="D9E5FA"/>
            </a:solidFill>
          </a:ln>
        </p:spPr>
        <p:txBody>
          <a:bodyPr wrap="square" rtlCol="0"/>
          <a:lstStyle/>
          <a:p>
            <a:r>
              <a:rPr/>
              <a:t/>
            </a:r>
          </a:p>
        </p:txBody>
      </p:sp>
      <p:sp>
        <p:nvSpPr>
          <p:cNvPr id="15" name="TextBox 15">
            <a:extLst>
              <a:ext uri="{FF2B5EF4-FFF2-40B4-BE49-F238E27FC236}">
                <a16:creationId xmlns:a16="http://schemas.microsoft.com/office/drawing/2014/main" id="{A52BEDCD-FA74-47BD-BB0A-45AEB47BFF4C}"/>
              </a:ext>
            </a:extLst>
          </p:cNvPr>
          <p:cNvSpPr txBox="1"/>
          <p:nvPr/>
        </p:nvSpPr>
        <p:spPr>
          <a:xfrm>
            <a:off x="1028700" y="2686050"/>
            <a:ext cx="2895600" cy="723900"/>
          </a:xfrm>
        </p:spPr>
        <p:txBody>
          <a:bodyPr wrap="square" rtlCol="0" lIns="0" tIns="0" rIns="0" bIns="0" anchor="t"/>
          <a:lstStyle/>
          <a:p>
            <a:pPr>
              <a:lnSpc>
                <a:spcPct val="112000"/>
              </a:lnSpc>
              <a:spcAft>
                <a:spcPts val="400"/>
              </a:spcAft>
            </a:pPr>
            <a:r>
              <a:rPr sz="1200" b="1">
                <a:solidFill>
                  <a:srgbClr val="0058FF"/>
                </a:solidFill>
              </a:rPr>
              <a:t>技术 01｜认得准</a:t>
            </a:r>
          </a:p>
          <a:p>
            <a:pPr>
              <a:lnSpc>
                <a:spcPct val="112000"/>
              </a:lnSpc>
            </a:pPr>
            <a:r>
              <a:rPr sz="2100" b="1">
                <a:solidFill>
                  <a:srgbClr val="16202E"/>
                </a:solidFill>
              </a:rPr>
              <a:t>融合身份认证</a:t>
            </a:r>
          </a:p>
        </p:txBody>
      </p:sp>
      <p:sp>
        <p:nvSpPr>
          <p:cNvPr id="16" name="TextBox 16">
            <a:extLst>
              <a:ext uri="{FF2B5EF4-FFF2-40B4-BE49-F238E27FC236}">
                <a16:creationId xmlns:a16="http://schemas.microsoft.com/office/drawing/2014/main" id="{594C1897-CA25-43A5-B4BF-4DF989EB8342}"/>
              </a:ext>
            </a:extLst>
          </p:cNvPr>
          <p:cNvSpPr txBox="1"/>
          <p:nvPr/>
        </p:nvSpPr>
        <p:spPr>
          <a:xfrm>
            <a:off x="1028700" y="3448050"/>
            <a:ext cx="2895600" cy="533400"/>
          </a:xfrm>
        </p:spPr>
        <p:txBody>
          <a:bodyPr wrap="square" rtlCol="0" lIns="0" tIns="0" rIns="0" bIns="0" anchor="t"/>
          <a:lstStyle/>
          <a:p>
            <a:pPr>
              <a:lnSpc>
                <a:spcPct val="128000"/>
              </a:lnSpc>
            </a:pPr>
            <a:r>
              <a:rPr sz="1150" b="1">
                <a:solidFill>
                  <a:srgbClr val="0A2E6E"/>
                </a:solidFill>
              </a:rPr>
              <a:t>CA 数字证书 + 区块链 DID：权威签发、链上存证、跨域互认</a:t>
            </a:r>
          </a:p>
        </p:txBody>
      </p:sp>
      <p:sp>
        <p:nvSpPr>
          <p:cNvPr id="17" name="TextBox 17">
            <a:extLst>
              <a:ext uri="{FF2B5EF4-FFF2-40B4-BE49-F238E27FC236}">
                <a16:creationId xmlns:a16="http://schemas.microsoft.com/office/drawing/2014/main" id="{12EC53FB-0BDE-4AED-8738-265CF3D33660}"/>
              </a:ext>
            </a:extLst>
          </p:cNvPr>
          <p:cNvSpPr txBox="1"/>
          <p:nvPr/>
        </p:nvSpPr>
        <p:spPr>
          <a:xfrm>
            <a:off x="1028700" y="4019550"/>
            <a:ext cx="2895600" cy="952500"/>
          </a:xfrm>
        </p:spPr>
        <p:txBody>
          <a:bodyPr wrap="square" rtlCol="0" lIns="0" tIns="0" rIns="0" bIns="0" anchor="t"/>
          <a:lstStyle/>
          <a:p>
            <a:pPr>
              <a:lnSpc>
                <a:spcPct val="125000"/>
              </a:lnSpc>
            </a:pPr>
            <a:r>
              <a:rPr sz="1200">
                <a:solidFill>
                  <a:srgbClr val="5B6B80"/>
                </a:solidFill>
              </a:rPr>
              <a:t>患者、医生和机构统一身份认证一次、所有机构互认，既免去重复建号，又严防冒名调阅，打通“数据敢于供得出”的第一道信任门槛。</a:t>
            </a:r>
          </a:p>
        </p:txBody>
      </p:sp>
      <p:sp>
        <p:nvSpPr>
          <p:cNvPr id="18" name="Shape 18">
            <a:extLst>
              <a:ext uri="{FF2B5EF4-FFF2-40B4-BE49-F238E27FC236}">
                <a16:creationId xmlns:a16="http://schemas.microsoft.com/office/drawing/2014/main" id="{572626A6-FB9A-4BBB-B606-126BB37DBA1C}"/>
              </a:ext>
            </a:extLst>
          </p:cNvPr>
          <p:cNvSpPr/>
          <p:nvPr/>
        </p:nvSpPr>
        <p:spPr>
          <a:xfrm>
            <a:off x="1028700" y="5010150"/>
            <a:ext cx="2895600" cy="838200"/>
          </a:xfrm>
          <a:prstGeom prst="roundRect">
            <a:avLst/>
          </a:prstGeom>
          <a:solidFill>
            <a:srgbClr val="EAF1FE"/>
          </a:solidFill>
        </p:spPr>
        <p:txBody>
          <a:bodyPr wrap="square" rtlCol="0" lIns="0" tIns="0" rIns="0" bIns="0" anchor="ctr"/>
          <a:lstStyle/>
          <a:p>
            <a:pPr>
              <a:lnSpc>
                <a:spcPct val="125000"/>
              </a:lnSpc>
            </a:pPr>
            <a:r>
              <a:rPr sz="1100" b="1">
                <a:solidFill>
                  <a:srgbClr val="0058FF"/>
                </a:solidFill>
              </a:rPr>
              <a:t>过去｜</a:t>
            </a:r>
            <a:r>
              <a:rPr sz="1100">
                <a:solidFill>
                  <a:srgbClr val="4A5A70"/>
                </a:solidFill>
              </a:rPr>
              <a:t>10 家医院 = 10 套账号，重复登录认证</a:t>
            </a:r>
          </a:p>
          <a:p>
            <a:pPr>
              <a:lnSpc>
                <a:spcPct val="125000"/>
              </a:lnSpc>
            </a:pPr>
            <a:r>
              <a:rPr sz="1100" b="1">
                <a:solidFill>
                  <a:srgbClr val="0058FF"/>
                </a:solidFill>
              </a:rPr>
              <a:t>现在｜</a:t>
            </a:r>
            <a:r>
              <a:rPr sz="1100">
                <a:solidFill>
                  <a:srgbClr val="4A5A70"/>
                </a:solidFill>
              </a:rPr>
              <a:t>认证一次，所有机构互认</a:t>
            </a:r>
          </a:p>
        </p:txBody>
      </p:sp>
      <p:sp>
        <p:nvSpPr>
          <p:cNvPr id="19" name="TextBox 19">
            <a:extLst>
              <a:ext uri="{FF2B5EF4-FFF2-40B4-BE49-F238E27FC236}">
                <a16:creationId xmlns:a16="http://schemas.microsoft.com/office/drawing/2014/main" id="{817DC3ED-3985-4C1E-9D1E-D70702E7870C}"/>
              </a:ext>
            </a:extLst>
          </p:cNvPr>
          <p:cNvSpPr txBox="1"/>
          <p:nvPr/>
        </p:nvSpPr>
        <p:spPr>
          <a:xfrm>
            <a:off x="4648200" y="2686050"/>
            <a:ext cx="2895600" cy="723900"/>
          </a:xfrm>
        </p:spPr>
        <p:txBody>
          <a:bodyPr wrap="square" rtlCol="0" lIns="0" tIns="0" rIns="0" bIns="0" anchor="t"/>
          <a:lstStyle/>
          <a:p>
            <a:pPr>
              <a:lnSpc>
                <a:spcPct val="112000"/>
              </a:lnSpc>
              <a:spcAft>
                <a:spcPts val="400"/>
              </a:spcAft>
            </a:pPr>
            <a:r>
              <a:rPr sz="1200" b="1">
                <a:solidFill>
                  <a:srgbClr val="0058FF"/>
                </a:solidFill>
              </a:rPr>
              <a:t>技术 02｜找得到</a:t>
            </a:r>
          </a:p>
          <a:p>
            <a:pPr>
              <a:lnSpc>
                <a:spcPct val="112000"/>
              </a:lnSpc>
            </a:pPr>
            <a:r>
              <a:rPr sz="2100" b="1">
                <a:solidFill>
                  <a:srgbClr val="16202E"/>
                </a:solidFill>
              </a:rPr>
              <a:t>智能检索推荐</a:t>
            </a:r>
          </a:p>
        </p:txBody>
      </p:sp>
      <p:sp>
        <p:nvSpPr>
          <p:cNvPr id="20" name="TextBox 20">
            <a:extLst>
              <a:ext uri="{FF2B5EF4-FFF2-40B4-BE49-F238E27FC236}">
                <a16:creationId xmlns:a16="http://schemas.microsoft.com/office/drawing/2014/main" id="{65051A4A-7AA5-4C21-92FD-78EB23C4364C}"/>
              </a:ext>
            </a:extLst>
          </p:cNvPr>
          <p:cNvSpPr txBox="1"/>
          <p:nvPr/>
        </p:nvSpPr>
        <p:spPr>
          <a:xfrm>
            <a:off x="4648200" y="3448050"/>
            <a:ext cx="2895600" cy="533400"/>
          </a:xfrm>
        </p:spPr>
        <p:txBody>
          <a:bodyPr wrap="square" rtlCol="0" lIns="0" tIns="0" rIns="0" bIns="0" anchor="t"/>
          <a:lstStyle/>
          <a:p>
            <a:pPr>
              <a:lnSpc>
                <a:spcPct val="128000"/>
              </a:lnSpc>
            </a:pPr>
            <a:r>
              <a:rPr sz="1150" b="1">
                <a:solidFill>
                  <a:srgbClr val="0A2E6E"/>
                </a:solidFill>
              </a:rPr>
              <a:t>大模型 RAG 检索增强生成 + 医学知识图谱</a:t>
            </a:r>
          </a:p>
        </p:txBody>
      </p:sp>
      <p:sp>
        <p:nvSpPr>
          <p:cNvPr id="21" name="TextBox 21">
            <a:extLst>
              <a:ext uri="{FF2B5EF4-FFF2-40B4-BE49-F238E27FC236}">
                <a16:creationId xmlns:a16="http://schemas.microsoft.com/office/drawing/2014/main" id="{B803144A-C755-4A44-BAA9-D9C13A268DCC}"/>
              </a:ext>
            </a:extLst>
          </p:cNvPr>
          <p:cNvSpPr txBox="1"/>
          <p:nvPr/>
        </p:nvSpPr>
        <p:spPr>
          <a:xfrm>
            <a:off x="4648200" y="4019550"/>
            <a:ext cx="2895600" cy="952500"/>
          </a:xfrm>
        </p:spPr>
        <p:txBody>
          <a:bodyPr wrap="square" rtlCol="0" lIns="0" tIns="0" rIns="0" bIns="0" anchor="t"/>
          <a:lstStyle/>
          <a:p>
            <a:pPr>
              <a:lnSpc>
                <a:spcPct val="125000"/>
              </a:lnSpc>
            </a:pPr>
            <a:r>
              <a:rPr sz="1200">
                <a:solidFill>
                  <a:srgbClr val="5B6B80"/>
                </a:solidFill>
              </a:rPr>
              <a:t>A 医院写“慢阻肺”、B 医院写“COPD”，关键词搜半天也匹配不上；现在医生用自然语言描述条件，系统直接推荐匹配的脱敏病例集。</a:t>
            </a:r>
          </a:p>
        </p:txBody>
      </p:sp>
      <p:sp>
        <p:nvSpPr>
          <p:cNvPr id="22" name="Shape 22">
            <a:extLst>
              <a:ext uri="{FF2B5EF4-FFF2-40B4-BE49-F238E27FC236}">
                <a16:creationId xmlns:a16="http://schemas.microsoft.com/office/drawing/2014/main" id="{1A175B30-2944-40E0-993B-4789ABFB692D}"/>
              </a:ext>
            </a:extLst>
          </p:cNvPr>
          <p:cNvSpPr/>
          <p:nvPr/>
        </p:nvSpPr>
        <p:spPr>
          <a:xfrm>
            <a:off x="4648200" y="5010150"/>
            <a:ext cx="2895600" cy="838200"/>
          </a:xfrm>
          <a:prstGeom prst="roundRect">
            <a:avLst/>
          </a:prstGeom>
          <a:solidFill>
            <a:srgbClr val="EAF1FE"/>
          </a:solidFill>
        </p:spPr>
        <p:txBody>
          <a:bodyPr wrap="square" rtlCol="0" lIns="0" tIns="0" rIns="0" bIns="0" anchor="ctr"/>
          <a:lstStyle/>
          <a:p>
            <a:pPr>
              <a:lnSpc>
                <a:spcPct val="125000"/>
              </a:lnSpc>
            </a:pPr>
            <a:r>
              <a:rPr sz="1100" b="1">
                <a:solidFill>
                  <a:srgbClr val="0058FF"/>
                </a:solidFill>
              </a:rPr>
              <a:t>示例｜</a:t>
            </a:r>
            <a:r>
              <a:rPr sz="1100">
                <a:solidFill>
                  <a:srgbClr val="4A5A70"/>
                </a:solidFill>
              </a:rPr>
              <a:t>COPD + 肺功能下降 + 近 3 年</a:t>
            </a:r>
          </a:p>
          <a:p>
            <a:pPr>
              <a:lnSpc>
                <a:spcPct val="125000"/>
              </a:lnSpc>
            </a:pPr>
            <a:r>
              <a:rPr sz="1100">
                <a:solidFill>
                  <a:srgbClr val="4A5A70"/>
                </a:solidFill>
              </a:rPr>
              <a:t>术语口径自动对齐，不用懂各家病历写法</a:t>
            </a:r>
          </a:p>
        </p:txBody>
      </p:sp>
      <p:sp>
        <p:nvSpPr>
          <p:cNvPr id="23" name="TextBox 23">
            <a:extLst>
              <a:ext uri="{FF2B5EF4-FFF2-40B4-BE49-F238E27FC236}">
                <a16:creationId xmlns:a16="http://schemas.microsoft.com/office/drawing/2014/main" id="{05D54103-5946-4A6A-8CDF-8E2478399EF2}"/>
              </a:ext>
            </a:extLst>
          </p:cNvPr>
          <p:cNvSpPr txBox="1"/>
          <p:nvPr/>
        </p:nvSpPr>
        <p:spPr>
          <a:xfrm>
            <a:off x="8267700" y="2686050"/>
            <a:ext cx="2895600" cy="723900"/>
          </a:xfrm>
        </p:spPr>
        <p:txBody>
          <a:bodyPr wrap="square" rtlCol="0" lIns="0" tIns="0" rIns="0" bIns="0" anchor="t"/>
          <a:lstStyle/>
          <a:p>
            <a:pPr>
              <a:lnSpc>
                <a:spcPct val="112000"/>
              </a:lnSpc>
              <a:spcAft>
                <a:spcPts val="400"/>
              </a:spcAft>
            </a:pPr>
            <a:r>
              <a:rPr sz="1200" b="1">
                <a:solidFill>
                  <a:srgbClr val="0058FF"/>
                </a:solidFill>
              </a:rPr>
              <a:t>技术 03｜管得住</a:t>
            </a:r>
          </a:p>
          <a:p>
            <a:pPr>
              <a:lnSpc>
                <a:spcPct val="112000"/>
              </a:lnSpc>
            </a:pPr>
            <a:r>
              <a:rPr sz="2100" b="1">
                <a:solidFill>
                  <a:srgbClr val="16202E"/>
                </a:solidFill>
              </a:rPr>
              <a:t>数字合约与使用控制</a:t>
            </a:r>
          </a:p>
        </p:txBody>
      </p:sp>
      <p:sp>
        <p:nvSpPr>
          <p:cNvPr id="24" name="TextBox 24">
            <a:extLst>
              <a:ext uri="{FF2B5EF4-FFF2-40B4-BE49-F238E27FC236}">
                <a16:creationId xmlns:a16="http://schemas.microsoft.com/office/drawing/2014/main" id="{CACD7DB5-706C-4D60-9CD6-AB0ED1EB12A1}"/>
              </a:ext>
            </a:extLst>
          </p:cNvPr>
          <p:cNvSpPr txBox="1"/>
          <p:nvPr/>
        </p:nvSpPr>
        <p:spPr>
          <a:xfrm>
            <a:off x="8267700" y="3448050"/>
            <a:ext cx="2895600" cy="533400"/>
          </a:xfrm>
        </p:spPr>
        <p:txBody>
          <a:bodyPr wrap="square" rtlCol="0" lIns="0" tIns="0" rIns="0" bIns="0" anchor="t"/>
          <a:lstStyle/>
          <a:p>
            <a:pPr>
              <a:lnSpc>
                <a:spcPct val="128000"/>
              </a:lnSpc>
            </a:pPr>
            <a:r>
              <a:rPr sz="1150" b="1">
                <a:solidFill>
                  <a:srgbClr val="0A2E6E"/>
                </a:solidFill>
              </a:rPr>
              <a:t>区块链数字合约 + 使用控制引擎，规则由系统强制执行</a:t>
            </a:r>
          </a:p>
        </p:txBody>
      </p:sp>
      <p:sp>
        <p:nvSpPr>
          <p:cNvPr id="25" name="TextBox 25">
            <a:extLst>
              <a:ext uri="{FF2B5EF4-FFF2-40B4-BE49-F238E27FC236}">
                <a16:creationId xmlns:a16="http://schemas.microsoft.com/office/drawing/2014/main" id="{95D33AF9-C6E8-486F-9942-0A11C0577EBE}"/>
              </a:ext>
            </a:extLst>
          </p:cNvPr>
          <p:cNvSpPr txBox="1"/>
          <p:nvPr/>
        </p:nvSpPr>
        <p:spPr>
          <a:xfrm>
            <a:off x="8267700" y="4019550"/>
            <a:ext cx="2895600" cy="952500"/>
          </a:xfrm>
        </p:spPr>
        <p:txBody>
          <a:bodyPr wrap="square" rtlCol="0" lIns="0" tIns="0" rIns="0" bIns="0" anchor="t"/>
          <a:lstStyle/>
          <a:p>
            <a:pPr>
              <a:lnSpc>
                <a:spcPct val="125000"/>
              </a:lnSpc>
            </a:pPr>
            <a:r>
              <a:rPr sz="1200">
                <a:solidFill>
                  <a:srgbClr val="5B6B80"/>
                </a:solidFill>
              </a:rPr>
              <a:t>这是可信数据空间的核心。药企申请某批脱敏数据，系统严格按“仅限研究用途、限 100 次调用”自动控量，超出即拒。</a:t>
            </a:r>
          </a:p>
        </p:txBody>
      </p:sp>
      <p:sp>
        <p:nvSpPr>
          <p:cNvPr id="26" name="Shape 26">
            <a:extLst>
              <a:ext uri="{FF2B5EF4-FFF2-40B4-BE49-F238E27FC236}">
                <a16:creationId xmlns:a16="http://schemas.microsoft.com/office/drawing/2014/main" id="{113403B5-9DFF-4E6C-A605-FCBCCAC929A8}"/>
              </a:ext>
            </a:extLst>
          </p:cNvPr>
          <p:cNvSpPr/>
          <p:nvPr/>
        </p:nvSpPr>
        <p:spPr>
          <a:xfrm>
            <a:off x="8267700" y="5010150"/>
            <a:ext cx="2895600" cy="838200"/>
          </a:xfrm>
          <a:prstGeom prst="roundRect">
            <a:avLst/>
          </a:prstGeom>
          <a:solidFill>
            <a:srgbClr val="EAF1FE"/>
          </a:solidFill>
        </p:spPr>
        <p:txBody>
          <a:bodyPr wrap="square" rtlCol="0" lIns="0" tIns="0" rIns="0" bIns="0" anchor="ctr"/>
          <a:lstStyle/>
          <a:p>
            <a:pPr>
              <a:lnSpc>
                <a:spcPct val="125000"/>
              </a:lnSpc>
            </a:pPr>
            <a:r>
              <a:rPr sz="1100" b="1">
                <a:solidFill>
                  <a:srgbClr val="0058FF"/>
                </a:solidFill>
              </a:rPr>
              <a:t>过去｜</a:t>
            </a:r>
            <a:r>
              <a:rPr sz="1100">
                <a:solidFill>
                  <a:srgbClr val="4A5A70"/>
                </a:solidFill>
              </a:rPr>
              <a:t>纸质协议签完，用几次、超没超期难掌握</a:t>
            </a:r>
          </a:p>
          <a:p>
            <a:pPr>
              <a:lnSpc>
                <a:spcPct val="125000"/>
              </a:lnSpc>
            </a:pPr>
            <a:r>
              <a:rPr sz="1100" b="1">
                <a:solidFill>
                  <a:srgbClr val="0058FF"/>
                </a:solidFill>
              </a:rPr>
              <a:t>现在｜</a:t>
            </a:r>
            <a:r>
              <a:rPr sz="1100">
                <a:solidFill>
                  <a:srgbClr val="4A5A70"/>
                </a:solidFill>
              </a:rPr>
              <a:t>能不能用、用多少次，全由机器执行</a:t>
            </a:r>
          </a:p>
        </p:txBody>
      </p:sp>
      <p:sp>
        <p:nvSpPr>
          <p:cNvPr id="27" name="TextBox 27">
            <a:extLst>
              <a:ext uri="{FF2B5EF4-FFF2-40B4-BE49-F238E27FC236}">
                <a16:creationId xmlns:a16="http://schemas.microsoft.com/office/drawing/2014/main" id="{282E40A4-DCD3-42AC-AE42-9B0206A547CF}"/>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28" name="TextBox 28">
            <a:extLst>
              <a:ext uri="{FF2B5EF4-FFF2-40B4-BE49-F238E27FC236}">
                <a16:creationId xmlns:a16="http://schemas.microsoft.com/office/drawing/2014/main" id="{683361A7-B8DC-4B87-AB0B-E9CE2BAEED4F}"/>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05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B7DC8B3C-D5D6-45EE-AE5A-16A0212D1F6E}"/>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五项关键技术 · 下</a:t>
            </a:r>
          </a:p>
        </p:txBody>
      </p:sp>
      <p:sp>
        <p:nvSpPr>
          <p:cNvPr id="4" name="TextBox 4">
            <a:extLst>
              <a:ext uri="{FF2B5EF4-FFF2-40B4-BE49-F238E27FC236}">
                <a16:creationId xmlns:a16="http://schemas.microsoft.com/office/drawing/2014/main" id="{D0001820-2826-4459-B484-7FC89E31211F}"/>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五项关键技术（下）：送不出 · 算得了</a:t>
            </a:r>
          </a:p>
        </p:txBody>
      </p:sp>
      <p:sp>
        <p:nvSpPr>
          <p:cNvPr id="5" name="TextBox 5">
            <a:extLst>
              <a:ext uri="{FF2B5EF4-FFF2-40B4-BE49-F238E27FC236}">
                <a16:creationId xmlns:a16="http://schemas.microsoft.com/office/drawing/2014/main" id="{8DE09EE5-578E-479F-BD40-C59820C87A47}"/>
              </a:ext>
            </a:extLst>
          </p:cNvPr>
          <p:cNvSpPr txBox="1"/>
          <p:nvPr/>
        </p:nvSpPr>
        <p:spPr>
          <a:xfrm>
            <a:off x="762000" y="1181100"/>
            <a:ext cx="10668000" cy="495300"/>
          </a:xfrm>
        </p:spPr>
        <p:txBody>
          <a:bodyPr wrap="square" rtlCol="0" lIns="0" tIns="0" rIns="0" bIns="0" anchor="t"/>
          <a:lstStyle/>
          <a:p>
            <a:pPr>
              <a:lnSpc>
                <a:spcPct val="135000"/>
              </a:lnSpc>
            </a:pPr>
            <a:r>
              <a:rPr sz="1500">
                <a:solidFill>
                  <a:srgbClr val="5B6B80"/>
                </a:solidFill>
              </a:rPr>
              <a:t>这两项解决“数据进来以后”的安全：前者守住终端不外泄，后者解决多家医院一起算。</a:t>
            </a:r>
          </a:p>
        </p:txBody>
      </p:sp>
      <p:sp>
        <p:nvSpPr>
          <p:cNvPr id="6" name="Shape 6">
            <a:extLst>
              <a:ext uri="{FF2B5EF4-FFF2-40B4-BE49-F238E27FC236}">
                <a16:creationId xmlns:a16="http://schemas.microsoft.com/office/drawing/2014/main" id="{FED313A3-5EB6-495B-B9A3-8232D0424AB4}"/>
              </a:ext>
            </a:extLst>
          </p:cNvPr>
          <p:cNvSpPr/>
          <p:nvPr/>
        </p:nvSpPr>
        <p:spPr>
          <a:xfrm>
            <a:off x="762000" y="180975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76E58376-93DC-4097-BA58-AFA051477FCE}"/>
              </a:ext>
            </a:extLst>
          </p:cNvPr>
          <p:cNvSpPr/>
          <p:nvPr/>
        </p:nvSpPr>
        <p:spPr>
          <a:xfrm>
            <a:off x="762000" y="1924050"/>
            <a:ext cx="1905000" cy="419100"/>
          </a:xfrm>
          <a:prstGeom prst="roundRect">
            <a:avLst/>
          </a:prstGeom>
          <a:solidFill>
            <a:srgbClr val="F4F8FF"/>
          </a:solidFill>
          <a:ln w="12700">
            <a:solidFill>
              <a:srgbClr val="D9E5FA"/>
            </a:solidFill>
          </a:ln>
        </p:spPr>
        <p:txBody>
          <a:bodyPr wrap="square" rtlCol="0" lIns="0" tIns="0" rIns="0" bIns="0" anchor="ctr"/>
          <a:lstStyle/>
          <a:p>
            <a:pPr algn="ctr">
              <a:lnSpc>
                <a:spcPct val="110000"/>
              </a:lnSpc>
            </a:pPr>
            <a:r>
              <a:rPr sz="1400">
                <a:solidFill>
                  <a:srgbClr val="8A9AB0"/>
                </a:solidFill>
              </a:rPr>
              <a:t>① 认得准</a:t>
            </a:r>
          </a:p>
        </p:txBody>
      </p:sp>
      <p:sp>
        <p:nvSpPr>
          <p:cNvPr id="8" name="Shape 8">
            <a:extLst>
              <a:ext uri="{FF2B5EF4-FFF2-40B4-BE49-F238E27FC236}">
                <a16:creationId xmlns:a16="http://schemas.microsoft.com/office/drawing/2014/main" id="{2D4D7601-58FD-4E29-A9BE-775F1B976AB3}"/>
              </a:ext>
            </a:extLst>
          </p:cNvPr>
          <p:cNvSpPr/>
          <p:nvPr/>
        </p:nvSpPr>
        <p:spPr>
          <a:xfrm>
            <a:off x="2952750" y="1924050"/>
            <a:ext cx="1905000" cy="419100"/>
          </a:xfrm>
          <a:prstGeom prst="roundRect">
            <a:avLst/>
          </a:prstGeom>
          <a:solidFill>
            <a:srgbClr val="F4F8FF"/>
          </a:solidFill>
          <a:ln w="12700">
            <a:solidFill>
              <a:srgbClr val="D9E5FA"/>
            </a:solidFill>
          </a:ln>
        </p:spPr>
        <p:txBody>
          <a:bodyPr wrap="square" rtlCol="0" lIns="0" tIns="0" rIns="0" bIns="0" anchor="ctr"/>
          <a:lstStyle/>
          <a:p>
            <a:pPr algn="ctr">
              <a:lnSpc>
                <a:spcPct val="110000"/>
              </a:lnSpc>
            </a:pPr>
            <a:r>
              <a:rPr sz="1400">
                <a:solidFill>
                  <a:srgbClr val="8A9AB0"/>
                </a:solidFill>
              </a:rPr>
              <a:t>② 找得到</a:t>
            </a:r>
          </a:p>
        </p:txBody>
      </p:sp>
      <p:sp>
        <p:nvSpPr>
          <p:cNvPr id="9" name="Shape 9">
            <a:extLst>
              <a:ext uri="{FF2B5EF4-FFF2-40B4-BE49-F238E27FC236}">
                <a16:creationId xmlns:a16="http://schemas.microsoft.com/office/drawing/2014/main" id="{AA2EF57D-2911-40B4-B6F8-B96D3B18EE24}"/>
              </a:ext>
            </a:extLst>
          </p:cNvPr>
          <p:cNvSpPr/>
          <p:nvPr/>
        </p:nvSpPr>
        <p:spPr>
          <a:xfrm>
            <a:off x="5143500" y="1924050"/>
            <a:ext cx="1905000" cy="419100"/>
          </a:xfrm>
          <a:prstGeom prst="roundRect">
            <a:avLst/>
          </a:prstGeom>
          <a:solidFill>
            <a:srgbClr val="F4F8FF"/>
          </a:solidFill>
          <a:ln w="12700">
            <a:solidFill>
              <a:srgbClr val="D9E5FA"/>
            </a:solidFill>
          </a:ln>
        </p:spPr>
        <p:txBody>
          <a:bodyPr wrap="square" rtlCol="0" lIns="0" tIns="0" rIns="0" bIns="0" anchor="ctr"/>
          <a:lstStyle/>
          <a:p>
            <a:pPr algn="ctr">
              <a:lnSpc>
                <a:spcPct val="110000"/>
              </a:lnSpc>
            </a:pPr>
            <a:r>
              <a:rPr sz="1400">
                <a:solidFill>
                  <a:srgbClr val="8A9AB0"/>
                </a:solidFill>
              </a:rPr>
              <a:t>③ 管得住</a:t>
            </a:r>
          </a:p>
        </p:txBody>
      </p:sp>
      <p:sp>
        <p:nvSpPr>
          <p:cNvPr id="10" name="Shape 10">
            <a:extLst>
              <a:ext uri="{FF2B5EF4-FFF2-40B4-BE49-F238E27FC236}">
                <a16:creationId xmlns:a16="http://schemas.microsoft.com/office/drawing/2014/main" id="{08A4C55A-7F0E-4473-A8BF-33C3FE43EF29}"/>
              </a:ext>
            </a:extLst>
          </p:cNvPr>
          <p:cNvSpPr/>
          <p:nvPr/>
        </p:nvSpPr>
        <p:spPr>
          <a:xfrm>
            <a:off x="7334250" y="1924050"/>
            <a:ext cx="1905000" cy="419100"/>
          </a:xfrm>
          <a:prstGeom prst="roundRect">
            <a:avLst/>
          </a:prstGeom>
          <a:solidFill>
            <a:srgbClr val="0058FF"/>
          </a:solidFill>
        </p:spPr>
        <p:txBody>
          <a:bodyPr wrap="square" rtlCol="0" lIns="0" tIns="0" rIns="0" bIns="0" anchor="ctr"/>
          <a:lstStyle/>
          <a:p>
            <a:pPr algn="ctr">
              <a:lnSpc>
                <a:spcPct val="110000"/>
              </a:lnSpc>
            </a:pPr>
            <a:r>
              <a:rPr sz="1400" b="1">
                <a:solidFill>
                  <a:srgbClr val="FFFFFF"/>
                </a:solidFill>
              </a:rPr>
              <a:t>④ 送不出</a:t>
            </a:r>
          </a:p>
        </p:txBody>
      </p:sp>
      <p:sp>
        <p:nvSpPr>
          <p:cNvPr id="11" name="Shape 11">
            <a:extLst>
              <a:ext uri="{FF2B5EF4-FFF2-40B4-BE49-F238E27FC236}">
                <a16:creationId xmlns:a16="http://schemas.microsoft.com/office/drawing/2014/main" id="{46A4E52E-3567-4AD3-8733-10BA068FD0C8}"/>
              </a:ext>
            </a:extLst>
          </p:cNvPr>
          <p:cNvSpPr/>
          <p:nvPr/>
        </p:nvSpPr>
        <p:spPr>
          <a:xfrm>
            <a:off x="9525000" y="1924050"/>
            <a:ext cx="1905000" cy="419100"/>
          </a:xfrm>
          <a:prstGeom prst="roundRect">
            <a:avLst/>
          </a:prstGeom>
          <a:solidFill>
            <a:srgbClr val="0058FF"/>
          </a:solidFill>
        </p:spPr>
        <p:txBody>
          <a:bodyPr wrap="square" rtlCol="0" lIns="0" tIns="0" rIns="0" bIns="0" anchor="ctr"/>
          <a:lstStyle/>
          <a:p>
            <a:pPr algn="ctr">
              <a:lnSpc>
                <a:spcPct val="110000"/>
              </a:lnSpc>
            </a:pPr>
            <a:r>
              <a:rPr sz="1400" b="1">
                <a:solidFill>
                  <a:srgbClr val="FFFFFF"/>
                </a:solidFill>
              </a:rPr>
              <a:t>⑤ 算得了</a:t>
            </a:r>
          </a:p>
        </p:txBody>
      </p:sp>
      <p:sp>
        <p:nvSpPr>
          <p:cNvPr id="12" name="Shape 12">
            <a:extLst>
              <a:ext uri="{FF2B5EF4-FFF2-40B4-BE49-F238E27FC236}">
                <a16:creationId xmlns:a16="http://schemas.microsoft.com/office/drawing/2014/main" id="{009FC489-C759-433D-B0AC-13473EBD7C70}"/>
              </a:ext>
            </a:extLst>
          </p:cNvPr>
          <p:cNvSpPr/>
          <p:nvPr/>
        </p:nvSpPr>
        <p:spPr>
          <a:xfrm>
            <a:off x="762000" y="2514600"/>
            <a:ext cx="5143500" cy="3486150"/>
          </a:xfrm>
          <a:prstGeom prst="roundRect">
            <a:avLst/>
          </a:prstGeom>
          <a:solidFill>
            <a:srgbClr val="F4F8FF"/>
          </a:solidFill>
          <a:ln w="12700">
            <a:solidFill>
              <a:srgbClr val="D9E5FA"/>
            </a:solidFill>
          </a:ln>
        </p:spPr>
        <p:txBody>
          <a:bodyPr wrap="square" rtlCol="0"/>
          <a:lstStyle/>
          <a:p>
            <a:r>
              <a:rPr/>
              <a:t/>
            </a:r>
          </a:p>
        </p:txBody>
      </p:sp>
      <p:sp>
        <p:nvSpPr>
          <p:cNvPr id="13" name="Shape 13">
            <a:extLst>
              <a:ext uri="{FF2B5EF4-FFF2-40B4-BE49-F238E27FC236}">
                <a16:creationId xmlns:a16="http://schemas.microsoft.com/office/drawing/2014/main" id="{1DD8F80B-503F-4EED-8044-F4D001578E2F}"/>
              </a:ext>
            </a:extLst>
          </p:cNvPr>
          <p:cNvSpPr/>
          <p:nvPr/>
        </p:nvSpPr>
        <p:spPr>
          <a:xfrm>
            <a:off x="6286500" y="2514600"/>
            <a:ext cx="5143500" cy="3486150"/>
          </a:xfrm>
          <a:prstGeom prst="roundRect">
            <a:avLst/>
          </a:prstGeom>
          <a:solidFill>
            <a:srgbClr val="F4F8FF"/>
          </a:solidFill>
          <a:ln w="12700">
            <a:solidFill>
              <a:srgbClr val="D9E5FA"/>
            </a:solidFill>
          </a:ln>
        </p:spPr>
        <p:txBody>
          <a:bodyPr wrap="square" rtlCol="0"/>
          <a:lstStyle/>
          <a:p>
            <a:r>
              <a:rPr/>
              <a:t/>
            </a:r>
          </a:p>
        </p:txBody>
      </p:sp>
      <p:sp>
        <p:nvSpPr>
          <p:cNvPr id="14" name="TextBox 14">
            <a:extLst>
              <a:ext uri="{FF2B5EF4-FFF2-40B4-BE49-F238E27FC236}">
                <a16:creationId xmlns:a16="http://schemas.microsoft.com/office/drawing/2014/main" id="{B6122495-E38C-468F-A34A-C8ED854C5AC2}"/>
              </a:ext>
            </a:extLst>
          </p:cNvPr>
          <p:cNvSpPr txBox="1"/>
          <p:nvPr/>
        </p:nvSpPr>
        <p:spPr>
          <a:xfrm>
            <a:off x="1028700" y="2686050"/>
            <a:ext cx="4610100" cy="723900"/>
          </a:xfrm>
        </p:spPr>
        <p:txBody>
          <a:bodyPr wrap="square" rtlCol="0" lIns="0" tIns="0" rIns="0" bIns="0" anchor="t"/>
          <a:lstStyle/>
          <a:p>
            <a:pPr>
              <a:lnSpc>
                <a:spcPct val="112000"/>
              </a:lnSpc>
              <a:spcAft>
                <a:spcPts val="400"/>
              </a:spcAft>
            </a:pPr>
            <a:r>
              <a:rPr sz="1200" b="1">
                <a:solidFill>
                  <a:srgbClr val="0058FF"/>
                </a:solidFill>
              </a:rPr>
              <a:t>技术 04｜送不出</a:t>
            </a:r>
          </a:p>
          <a:p>
            <a:pPr>
              <a:lnSpc>
                <a:spcPct val="112000"/>
              </a:lnSpc>
            </a:pPr>
            <a:r>
              <a:rPr sz="2000" b="1">
                <a:solidFill>
                  <a:srgbClr val="16202E"/>
                </a:solidFill>
              </a:rPr>
              <a:t>安全数据交付：云桌面 + 数据沙箱</a:t>
            </a:r>
          </a:p>
        </p:txBody>
      </p:sp>
      <p:sp>
        <p:nvSpPr>
          <p:cNvPr id="15" name="TextBox 15">
            <a:extLst>
              <a:ext uri="{FF2B5EF4-FFF2-40B4-BE49-F238E27FC236}">
                <a16:creationId xmlns:a16="http://schemas.microsoft.com/office/drawing/2014/main" id="{D044640B-BA55-45FC-A261-86737FCC34DA}"/>
              </a:ext>
            </a:extLst>
          </p:cNvPr>
          <p:cNvSpPr txBox="1"/>
          <p:nvPr/>
        </p:nvSpPr>
        <p:spPr>
          <a:xfrm>
            <a:off x="6553200" y="2686050"/>
            <a:ext cx="4610100" cy="723900"/>
          </a:xfrm>
        </p:spPr>
        <p:txBody>
          <a:bodyPr wrap="square" rtlCol="0" lIns="0" tIns="0" rIns="0" bIns="0" anchor="t"/>
          <a:lstStyle/>
          <a:p>
            <a:pPr>
              <a:lnSpc>
                <a:spcPct val="112000"/>
              </a:lnSpc>
              <a:spcAft>
                <a:spcPts val="400"/>
              </a:spcAft>
            </a:pPr>
            <a:r>
              <a:rPr sz="1200" b="1">
                <a:solidFill>
                  <a:srgbClr val="0058FF"/>
                </a:solidFill>
              </a:rPr>
              <a:t>技术 05｜算得了</a:t>
            </a:r>
          </a:p>
          <a:p>
            <a:pPr>
              <a:lnSpc>
                <a:spcPct val="112000"/>
              </a:lnSpc>
            </a:pPr>
            <a:r>
              <a:rPr sz="2000" b="1">
                <a:solidFill>
                  <a:srgbClr val="16202E"/>
                </a:solidFill>
              </a:rPr>
              <a:t>安全数据计算：隐私保护计算</a:t>
            </a:r>
          </a:p>
        </p:txBody>
      </p:sp>
      <p:sp>
        <p:nvSpPr>
          <p:cNvPr id="16" name="TextBox 16">
            <a:extLst>
              <a:ext uri="{FF2B5EF4-FFF2-40B4-BE49-F238E27FC236}">
                <a16:creationId xmlns:a16="http://schemas.microsoft.com/office/drawing/2014/main" id="{A0AE4E13-D8E4-446D-BD67-04ADEB46B778}"/>
              </a:ext>
            </a:extLst>
          </p:cNvPr>
          <p:cNvSpPr txBox="1"/>
          <p:nvPr/>
        </p:nvSpPr>
        <p:spPr>
          <a:xfrm>
            <a:off x="1028700" y="3448050"/>
            <a:ext cx="4610100" cy="495300"/>
          </a:xfrm>
        </p:spPr>
        <p:txBody>
          <a:bodyPr wrap="square" rtlCol="0" lIns="0" tIns="0" rIns="0" bIns="0" anchor="t"/>
          <a:lstStyle/>
          <a:p>
            <a:pPr>
              <a:lnSpc>
                <a:spcPct val="125000"/>
              </a:lnSpc>
            </a:pPr>
            <a:r>
              <a:rPr sz="1200">
                <a:solidFill>
                  <a:srgbClr val="5B6B80"/>
                </a:solidFill>
              </a:rPr>
              <a:t>沙箱在底层用容器、虚拟化和硬件隔离（如 Intel SGX）保护数据处理；云桌面在前端控制访问会话。</a:t>
            </a:r>
          </a:p>
        </p:txBody>
      </p:sp>
      <p:sp>
        <p:nvSpPr>
          <p:cNvPr id="17" name="TextBox 17">
            <a:extLst>
              <a:ext uri="{FF2B5EF4-FFF2-40B4-BE49-F238E27FC236}">
                <a16:creationId xmlns:a16="http://schemas.microsoft.com/office/drawing/2014/main" id="{A579C231-3B89-4662-95DF-DEDF21A6B52B}"/>
              </a:ext>
            </a:extLst>
          </p:cNvPr>
          <p:cNvSpPr txBox="1"/>
          <p:nvPr/>
        </p:nvSpPr>
        <p:spPr>
          <a:xfrm>
            <a:off x="6553200" y="3448050"/>
            <a:ext cx="4610100" cy="495300"/>
          </a:xfrm>
        </p:spPr>
        <p:txBody>
          <a:bodyPr wrap="square" rtlCol="0" lIns="0" tIns="0" rIns="0" bIns="0" anchor="t"/>
          <a:lstStyle/>
          <a:p>
            <a:pPr>
              <a:lnSpc>
                <a:spcPct val="125000"/>
              </a:lnSpc>
            </a:pPr>
            <a:r>
              <a:rPr sz="1200">
                <a:solidFill>
                  <a:srgbClr val="5B6B80"/>
                </a:solidFill>
              </a:rPr>
              <a:t>联邦学习、多方安全计算、差分隐私与同态加密：各家的 CT 影像和病历不出本院，只交换加密后的模型参数。</a:t>
            </a:r>
          </a:p>
        </p:txBody>
      </p:sp>
      <p:sp>
        <p:nvSpPr>
          <p:cNvPr id="18" name="Shape 18">
            <a:extLst>
              <a:ext uri="{FF2B5EF4-FFF2-40B4-BE49-F238E27FC236}">
                <a16:creationId xmlns:a16="http://schemas.microsoft.com/office/drawing/2014/main" id="{B3D5767A-580C-4978-9D74-AA86A4DA976E}"/>
              </a:ext>
            </a:extLst>
          </p:cNvPr>
          <p:cNvSpPr/>
          <p:nvPr/>
        </p:nvSpPr>
        <p:spPr>
          <a:xfrm>
            <a:off x="990600" y="4095750"/>
            <a:ext cx="1295400" cy="51435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100" b="1">
                <a:solidFill>
                  <a:srgbClr val="16202E"/>
                </a:solidFill>
              </a:rPr>
              <a:t>服务端真实数据</a:t>
            </a:r>
          </a:p>
        </p:txBody>
      </p:sp>
      <p:sp>
        <p:nvSpPr>
          <p:cNvPr id="19" name="Shape 19">
            <a:extLst>
              <a:ext uri="{FF2B5EF4-FFF2-40B4-BE49-F238E27FC236}">
                <a16:creationId xmlns:a16="http://schemas.microsoft.com/office/drawing/2014/main" id="{D3564A2B-0AC9-43F9-82C1-0F721E7B580D}"/>
              </a:ext>
            </a:extLst>
          </p:cNvPr>
          <p:cNvSpPr/>
          <p:nvPr/>
        </p:nvSpPr>
        <p:spPr>
          <a:xfrm>
            <a:off x="2667000" y="4095750"/>
            <a:ext cx="1295400" cy="51435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100" b="1">
                <a:solidFill>
                  <a:srgbClr val="0058FF"/>
                </a:solidFill>
              </a:rPr>
              <a:t>加密像素流</a:t>
            </a:r>
          </a:p>
        </p:txBody>
      </p:sp>
      <p:sp>
        <p:nvSpPr>
          <p:cNvPr id="20" name="Shape 20">
            <a:extLst>
              <a:ext uri="{FF2B5EF4-FFF2-40B4-BE49-F238E27FC236}">
                <a16:creationId xmlns:a16="http://schemas.microsoft.com/office/drawing/2014/main" id="{8C30057F-1828-4AD9-8A9E-AB9FA2F9421E}"/>
              </a:ext>
            </a:extLst>
          </p:cNvPr>
          <p:cNvSpPr/>
          <p:nvPr/>
        </p:nvSpPr>
        <p:spPr>
          <a:xfrm>
            <a:off x="4343400" y="4095750"/>
            <a:ext cx="1295400" cy="51435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100" b="1">
                <a:solidFill>
                  <a:srgbClr val="16202E"/>
                </a:solidFill>
              </a:rPr>
              <a:t>研究员屏幕</a:t>
            </a:r>
          </a:p>
        </p:txBody>
      </p:sp>
      <p:sp>
        <p:nvSpPr>
          <p:cNvPr id="21" name="Shape 21">
            <a:extLst>
              <a:ext uri="{FF2B5EF4-FFF2-40B4-BE49-F238E27FC236}">
                <a16:creationId xmlns:a16="http://schemas.microsoft.com/office/drawing/2014/main" id="{6D2FD95D-F31B-4B1F-9B17-B2653152267D}"/>
              </a:ext>
            </a:extLst>
          </p:cNvPr>
          <p:cNvSpPr/>
          <p:nvPr/>
        </p:nvSpPr>
        <p:spPr>
          <a:xfrm>
            <a:off x="2343150" y="4286250"/>
            <a:ext cx="266700" cy="133350"/>
          </a:xfrm>
          <a:prstGeom prst="rightArrow">
            <a:avLst/>
          </a:prstGeom>
          <a:solidFill>
            <a:srgbClr val="B9CDEE"/>
          </a:solidFill>
        </p:spPr>
        <p:txBody>
          <a:bodyPr wrap="square" rtlCol="0"/>
          <a:lstStyle/>
          <a:p>
            <a:r>
              <a:rPr/>
              <a:t/>
            </a:r>
          </a:p>
        </p:txBody>
      </p:sp>
      <p:sp>
        <p:nvSpPr>
          <p:cNvPr id="22" name="Shape 22">
            <a:extLst>
              <a:ext uri="{FF2B5EF4-FFF2-40B4-BE49-F238E27FC236}">
                <a16:creationId xmlns:a16="http://schemas.microsoft.com/office/drawing/2014/main" id="{E68912A1-920E-4FD7-85A0-FBE8887F3DC6}"/>
              </a:ext>
            </a:extLst>
          </p:cNvPr>
          <p:cNvSpPr/>
          <p:nvPr/>
        </p:nvSpPr>
        <p:spPr>
          <a:xfrm>
            <a:off x="4019550" y="4286250"/>
            <a:ext cx="266700" cy="133350"/>
          </a:xfrm>
          <a:prstGeom prst="rightArrow">
            <a:avLst/>
          </a:prstGeom>
          <a:solidFill>
            <a:srgbClr val="B9CDEE"/>
          </a:solidFill>
        </p:spPr>
        <p:txBody>
          <a:bodyPr wrap="square" rtlCol="0"/>
          <a:lstStyle/>
          <a:p>
            <a:r>
              <a:rPr/>
              <a:t/>
            </a:r>
          </a:p>
        </p:txBody>
      </p:sp>
      <p:sp>
        <p:nvSpPr>
          <p:cNvPr id="23" name="Shape 23">
            <a:extLst>
              <a:ext uri="{FF2B5EF4-FFF2-40B4-BE49-F238E27FC236}">
                <a16:creationId xmlns:a16="http://schemas.microsoft.com/office/drawing/2014/main" id="{791C6667-0F3D-4F80-95DA-11C70EA69C65}"/>
              </a:ext>
            </a:extLst>
          </p:cNvPr>
          <p:cNvSpPr/>
          <p:nvPr/>
        </p:nvSpPr>
        <p:spPr>
          <a:xfrm>
            <a:off x="990600" y="4781550"/>
            <a:ext cx="1409700" cy="342900"/>
          </a:xfrm>
          <a:prstGeom prst="roundRect">
            <a:avLst/>
          </a:prstGeom>
          <a:solidFill>
            <a:srgbClr val="EAF1FE"/>
          </a:solidFill>
        </p:spPr>
        <p:txBody>
          <a:bodyPr wrap="square" rtlCol="0" lIns="0" tIns="0" rIns="0" bIns="0" anchor="ctr"/>
          <a:lstStyle/>
          <a:p>
            <a:pPr algn="ctr">
              <a:lnSpc>
                <a:spcPct val="110000"/>
              </a:lnSpc>
            </a:pPr>
            <a:r>
              <a:rPr sz="1100">
                <a:solidFill>
                  <a:srgbClr val="0A2E6E"/>
                </a:solidFill>
              </a:rPr>
              <a:t>禁止复制粘贴</a:t>
            </a:r>
          </a:p>
        </p:txBody>
      </p:sp>
      <p:sp>
        <p:nvSpPr>
          <p:cNvPr id="24" name="Shape 24">
            <a:extLst>
              <a:ext uri="{FF2B5EF4-FFF2-40B4-BE49-F238E27FC236}">
                <a16:creationId xmlns:a16="http://schemas.microsoft.com/office/drawing/2014/main" id="{D07D15BA-E66D-4A25-A6D6-D648B8D8C8FA}"/>
              </a:ext>
            </a:extLst>
          </p:cNvPr>
          <p:cNvSpPr/>
          <p:nvPr/>
        </p:nvSpPr>
        <p:spPr>
          <a:xfrm>
            <a:off x="2552700" y="4781550"/>
            <a:ext cx="1409700" cy="342900"/>
          </a:xfrm>
          <a:prstGeom prst="roundRect">
            <a:avLst/>
          </a:prstGeom>
          <a:solidFill>
            <a:srgbClr val="EAF1FE"/>
          </a:solidFill>
        </p:spPr>
        <p:txBody>
          <a:bodyPr wrap="square" rtlCol="0" lIns="0" tIns="0" rIns="0" bIns="0" anchor="ctr"/>
          <a:lstStyle/>
          <a:p>
            <a:pPr algn="ctr">
              <a:lnSpc>
                <a:spcPct val="110000"/>
              </a:lnSpc>
            </a:pPr>
            <a:r>
              <a:rPr sz="1100">
                <a:solidFill>
                  <a:srgbClr val="0A2E6E"/>
                </a:solidFill>
              </a:rPr>
              <a:t>U 盘自动禁用</a:t>
            </a:r>
          </a:p>
        </p:txBody>
      </p:sp>
      <p:sp>
        <p:nvSpPr>
          <p:cNvPr id="25" name="Shape 25">
            <a:extLst>
              <a:ext uri="{FF2B5EF4-FFF2-40B4-BE49-F238E27FC236}">
                <a16:creationId xmlns:a16="http://schemas.microsoft.com/office/drawing/2014/main" id="{90497597-4150-4DF0-9361-A4AC58A1FB07}"/>
              </a:ext>
            </a:extLst>
          </p:cNvPr>
          <p:cNvSpPr/>
          <p:nvPr/>
        </p:nvSpPr>
        <p:spPr>
          <a:xfrm>
            <a:off x="4114800" y="4781550"/>
            <a:ext cx="1409700" cy="342900"/>
          </a:xfrm>
          <a:prstGeom prst="roundRect">
            <a:avLst/>
          </a:prstGeom>
          <a:solidFill>
            <a:srgbClr val="EAF1FE"/>
          </a:solidFill>
        </p:spPr>
        <p:txBody>
          <a:bodyPr wrap="square" rtlCol="0" lIns="0" tIns="0" rIns="0" bIns="0" anchor="ctr"/>
          <a:lstStyle/>
          <a:p>
            <a:pPr algn="ctr">
              <a:lnSpc>
                <a:spcPct val="110000"/>
              </a:lnSpc>
            </a:pPr>
            <a:r>
              <a:rPr sz="1100">
                <a:solidFill>
                  <a:srgbClr val="0A2E6E"/>
                </a:solidFill>
              </a:rPr>
              <a:t>截屏自带溯源水印</a:t>
            </a:r>
          </a:p>
        </p:txBody>
      </p:sp>
      <p:sp>
        <p:nvSpPr>
          <p:cNvPr id="26" name="Shape 26">
            <a:extLst>
              <a:ext uri="{FF2B5EF4-FFF2-40B4-BE49-F238E27FC236}">
                <a16:creationId xmlns:a16="http://schemas.microsoft.com/office/drawing/2014/main" id="{C0EEDEDF-50E9-4B33-8930-C47C831E55E3}"/>
              </a:ext>
            </a:extLst>
          </p:cNvPr>
          <p:cNvSpPr/>
          <p:nvPr/>
        </p:nvSpPr>
        <p:spPr>
          <a:xfrm>
            <a:off x="990600" y="5334000"/>
            <a:ext cx="4686300" cy="514350"/>
          </a:xfrm>
          <a:prstGeom prst="roundRect">
            <a:avLst/>
          </a:prstGeom>
          <a:solidFill>
            <a:srgbClr val="0058FF"/>
          </a:solidFill>
        </p:spPr>
        <p:txBody>
          <a:bodyPr wrap="square" rtlCol="0" lIns="0" tIns="0" rIns="0" bIns="0" anchor="ctr"/>
          <a:lstStyle/>
          <a:p>
            <a:pPr algn="ctr">
              <a:lnSpc>
                <a:spcPct val="112000"/>
              </a:lnSpc>
            </a:pPr>
            <a:r>
              <a:rPr sz="1300" b="1">
                <a:solidFill>
                  <a:srgbClr val="FFFFFF"/>
                </a:solidFill>
              </a:rPr>
              <a:t>可用不可见 · 终端不落地｜一条原始数据都带不出医院</a:t>
            </a:r>
          </a:p>
        </p:txBody>
      </p:sp>
      <p:sp>
        <p:nvSpPr>
          <p:cNvPr id="27" name="Shape 27">
            <a:extLst>
              <a:ext uri="{FF2B5EF4-FFF2-40B4-BE49-F238E27FC236}">
                <a16:creationId xmlns:a16="http://schemas.microsoft.com/office/drawing/2014/main" id="{C2249094-907F-4FA2-BA6D-802D1C66A56F}"/>
              </a:ext>
            </a:extLst>
          </p:cNvPr>
          <p:cNvSpPr/>
          <p:nvPr/>
        </p:nvSpPr>
        <p:spPr>
          <a:xfrm>
            <a:off x="6515100" y="4076700"/>
            <a:ext cx="1333500" cy="457200"/>
          </a:xfrm>
          <a:prstGeom prst="roundRect">
            <a:avLst/>
          </a:prstGeom>
          <a:solidFill>
            <a:srgbClr val="FFFFFF"/>
          </a:solidFill>
          <a:ln w="12700">
            <a:solidFill>
              <a:srgbClr val="B9CDEE"/>
            </a:solidFill>
          </a:ln>
        </p:spPr>
        <p:txBody>
          <a:bodyPr wrap="square" rtlCol="0" lIns="0" tIns="0" rIns="0" bIns="0" anchor="ctr"/>
          <a:lstStyle/>
          <a:p>
            <a:pPr algn="ctr">
              <a:lnSpc>
                <a:spcPct val="115000"/>
              </a:lnSpc>
            </a:pPr>
            <a:r>
              <a:rPr sz="1100" b="1">
                <a:solidFill>
                  <a:srgbClr val="16202E"/>
                </a:solidFill>
              </a:rPr>
              <a:t>医院 A 本地训练</a:t>
            </a:r>
          </a:p>
        </p:txBody>
      </p:sp>
      <p:sp>
        <p:nvSpPr>
          <p:cNvPr id="28" name="Shape 28">
            <a:extLst>
              <a:ext uri="{FF2B5EF4-FFF2-40B4-BE49-F238E27FC236}">
                <a16:creationId xmlns:a16="http://schemas.microsoft.com/office/drawing/2014/main" id="{E3095CEC-9976-4C3B-A60A-19DA59CF2636}"/>
              </a:ext>
            </a:extLst>
          </p:cNvPr>
          <p:cNvSpPr/>
          <p:nvPr/>
        </p:nvSpPr>
        <p:spPr>
          <a:xfrm>
            <a:off x="8001000" y="4076700"/>
            <a:ext cx="1333500" cy="457200"/>
          </a:xfrm>
          <a:prstGeom prst="roundRect">
            <a:avLst/>
          </a:prstGeom>
          <a:solidFill>
            <a:srgbClr val="FFFFFF"/>
          </a:solidFill>
          <a:ln w="12700">
            <a:solidFill>
              <a:srgbClr val="B9CDEE"/>
            </a:solidFill>
          </a:ln>
        </p:spPr>
        <p:txBody>
          <a:bodyPr wrap="square" rtlCol="0" lIns="0" tIns="0" rIns="0" bIns="0" anchor="ctr"/>
          <a:lstStyle/>
          <a:p>
            <a:pPr algn="ctr">
              <a:lnSpc>
                <a:spcPct val="115000"/>
              </a:lnSpc>
            </a:pPr>
            <a:r>
              <a:rPr sz="1100" b="1">
                <a:solidFill>
                  <a:srgbClr val="16202E"/>
                </a:solidFill>
              </a:rPr>
              <a:t>医院 B 本地训练</a:t>
            </a:r>
          </a:p>
        </p:txBody>
      </p:sp>
      <p:sp>
        <p:nvSpPr>
          <p:cNvPr id="29" name="Shape 29">
            <a:extLst>
              <a:ext uri="{FF2B5EF4-FFF2-40B4-BE49-F238E27FC236}">
                <a16:creationId xmlns:a16="http://schemas.microsoft.com/office/drawing/2014/main" id="{DD5468DD-4DF4-4879-A615-355831C41134}"/>
              </a:ext>
            </a:extLst>
          </p:cNvPr>
          <p:cNvSpPr/>
          <p:nvPr/>
        </p:nvSpPr>
        <p:spPr>
          <a:xfrm>
            <a:off x="9486900" y="4076700"/>
            <a:ext cx="1333500" cy="457200"/>
          </a:xfrm>
          <a:prstGeom prst="roundRect">
            <a:avLst/>
          </a:prstGeom>
          <a:solidFill>
            <a:srgbClr val="FFFFFF"/>
          </a:solidFill>
          <a:ln w="12700">
            <a:solidFill>
              <a:srgbClr val="B9CDEE"/>
            </a:solidFill>
          </a:ln>
        </p:spPr>
        <p:txBody>
          <a:bodyPr wrap="square" rtlCol="0" lIns="0" tIns="0" rIns="0" bIns="0" anchor="ctr"/>
          <a:lstStyle/>
          <a:p>
            <a:pPr algn="ctr">
              <a:lnSpc>
                <a:spcPct val="115000"/>
              </a:lnSpc>
            </a:pPr>
            <a:r>
              <a:rPr sz="1100" b="1">
                <a:solidFill>
                  <a:srgbClr val="16202E"/>
                </a:solidFill>
              </a:rPr>
              <a:t>医院 C 本地训练</a:t>
            </a:r>
          </a:p>
        </p:txBody>
      </p:sp>
      <p:sp>
        <p:nvSpPr>
          <p:cNvPr id="30" name="Shape 30">
            <a:extLst>
              <a:ext uri="{FF2B5EF4-FFF2-40B4-BE49-F238E27FC236}">
                <a16:creationId xmlns:a16="http://schemas.microsoft.com/office/drawing/2014/main" id="{72867744-3C4C-4E54-A898-85DB9FE80F3A}"/>
              </a:ext>
            </a:extLst>
          </p:cNvPr>
          <p:cNvSpPr/>
          <p:nvPr/>
        </p:nvSpPr>
        <p:spPr>
          <a:xfrm>
            <a:off x="7096125" y="4572000"/>
            <a:ext cx="171450" cy="209550"/>
          </a:xfrm>
          <a:prstGeom prst="downArrow">
            <a:avLst/>
          </a:prstGeom>
          <a:solidFill>
            <a:srgbClr val="B9CDEE"/>
          </a:solidFill>
        </p:spPr>
        <p:txBody>
          <a:bodyPr wrap="square" rtlCol="0"/>
          <a:lstStyle/>
          <a:p>
            <a:r>
              <a:rPr/>
              <a:t/>
            </a:r>
          </a:p>
        </p:txBody>
      </p:sp>
      <p:sp>
        <p:nvSpPr>
          <p:cNvPr id="31" name="Shape 31">
            <a:extLst>
              <a:ext uri="{FF2B5EF4-FFF2-40B4-BE49-F238E27FC236}">
                <a16:creationId xmlns:a16="http://schemas.microsoft.com/office/drawing/2014/main" id="{A7227040-9638-412B-8EB9-7FB14479D556}"/>
              </a:ext>
            </a:extLst>
          </p:cNvPr>
          <p:cNvSpPr/>
          <p:nvPr/>
        </p:nvSpPr>
        <p:spPr>
          <a:xfrm>
            <a:off x="8582025" y="4572000"/>
            <a:ext cx="171450" cy="209550"/>
          </a:xfrm>
          <a:prstGeom prst="downArrow">
            <a:avLst/>
          </a:prstGeom>
          <a:solidFill>
            <a:srgbClr val="B9CDEE"/>
          </a:solidFill>
        </p:spPr>
        <p:txBody>
          <a:bodyPr wrap="square" rtlCol="0"/>
          <a:lstStyle/>
          <a:p>
            <a:r>
              <a:rPr/>
              <a:t/>
            </a:r>
          </a:p>
        </p:txBody>
      </p:sp>
      <p:sp>
        <p:nvSpPr>
          <p:cNvPr id="32" name="Shape 32">
            <a:extLst>
              <a:ext uri="{FF2B5EF4-FFF2-40B4-BE49-F238E27FC236}">
                <a16:creationId xmlns:a16="http://schemas.microsoft.com/office/drawing/2014/main" id="{84F10F77-5900-4082-814A-8ADC7CEE05CC}"/>
              </a:ext>
            </a:extLst>
          </p:cNvPr>
          <p:cNvSpPr/>
          <p:nvPr/>
        </p:nvSpPr>
        <p:spPr>
          <a:xfrm>
            <a:off x="10067925" y="4572000"/>
            <a:ext cx="171450" cy="209550"/>
          </a:xfrm>
          <a:prstGeom prst="downArrow">
            <a:avLst/>
          </a:prstGeom>
          <a:solidFill>
            <a:srgbClr val="B9CDEE"/>
          </a:solidFill>
        </p:spPr>
        <p:txBody>
          <a:bodyPr wrap="square" rtlCol="0"/>
          <a:lstStyle/>
          <a:p>
            <a:r>
              <a:rPr/>
              <a:t/>
            </a:r>
          </a:p>
        </p:txBody>
      </p:sp>
      <p:sp>
        <p:nvSpPr>
          <p:cNvPr id="33" name="Shape 33">
            <a:extLst>
              <a:ext uri="{FF2B5EF4-FFF2-40B4-BE49-F238E27FC236}">
                <a16:creationId xmlns:a16="http://schemas.microsoft.com/office/drawing/2014/main" id="{5D288C73-3712-4483-AE26-FB4CDEAC06ED}"/>
              </a:ext>
            </a:extLst>
          </p:cNvPr>
          <p:cNvSpPr/>
          <p:nvPr/>
        </p:nvSpPr>
        <p:spPr>
          <a:xfrm>
            <a:off x="6515100" y="4819650"/>
            <a:ext cx="4305300" cy="419100"/>
          </a:xfrm>
          <a:prstGeom prst="roundRect">
            <a:avLst/>
          </a:prstGeom>
          <a:solidFill>
            <a:srgbClr val="EAF1FE"/>
          </a:solidFill>
        </p:spPr>
        <p:txBody>
          <a:bodyPr wrap="square" rtlCol="0" lIns="0" tIns="0" rIns="0" bIns="0" anchor="ctr"/>
          <a:lstStyle/>
          <a:p>
            <a:pPr algn="ctr">
              <a:lnSpc>
                <a:spcPct val="112000"/>
              </a:lnSpc>
            </a:pPr>
            <a:r>
              <a:rPr sz="1150" b="1">
                <a:solidFill>
                  <a:srgbClr val="0A2E6E"/>
                </a:solidFill>
              </a:rPr>
              <a:t>只交换加密后的模型参数（原始数据不出院）</a:t>
            </a:r>
          </a:p>
        </p:txBody>
      </p:sp>
      <p:sp>
        <p:nvSpPr>
          <p:cNvPr id="34" name="Shape 34">
            <a:extLst>
              <a:ext uri="{FF2B5EF4-FFF2-40B4-BE49-F238E27FC236}">
                <a16:creationId xmlns:a16="http://schemas.microsoft.com/office/drawing/2014/main" id="{37639151-261C-4A6D-AA2E-6C224CE194D9}"/>
              </a:ext>
            </a:extLst>
          </p:cNvPr>
          <p:cNvSpPr/>
          <p:nvPr/>
        </p:nvSpPr>
        <p:spPr>
          <a:xfrm>
            <a:off x="8582025" y="5276850"/>
            <a:ext cx="171450" cy="190500"/>
          </a:xfrm>
          <a:prstGeom prst="downArrow">
            <a:avLst/>
          </a:prstGeom>
          <a:solidFill>
            <a:srgbClr val="B9CDEE"/>
          </a:solidFill>
        </p:spPr>
        <p:txBody>
          <a:bodyPr wrap="square" rtlCol="0"/>
          <a:lstStyle/>
          <a:p>
            <a:r>
              <a:rPr/>
              <a:t/>
            </a:r>
          </a:p>
        </p:txBody>
      </p:sp>
      <p:sp>
        <p:nvSpPr>
          <p:cNvPr id="35" name="Shape 35">
            <a:extLst>
              <a:ext uri="{FF2B5EF4-FFF2-40B4-BE49-F238E27FC236}">
                <a16:creationId xmlns:a16="http://schemas.microsoft.com/office/drawing/2014/main" id="{5D973909-41D6-4FA5-B36D-9329F082E48E}"/>
              </a:ext>
            </a:extLst>
          </p:cNvPr>
          <p:cNvSpPr/>
          <p:nvPr/>
        </p:nvSpPr>
        <p:spPr>
          <a:xfrm>
            <a:off x="6438900" y="5505450"/>
            <a:ext cx="4686300" cy="419100"/>
          </a:xfrm>
          <a:prstGeom prst="roundRect">
            <a:avLst/>
          </a:prstGeom>
          <a:solidFill>
            <a:srgbClr val="0058FF"/>
          </a:solidFill>
        </p:spPr>
        <p:txBody>
          <a:bodyPr wrap="square" rtlCol="0" lIns="0" tIns="0" rIns="0" bIns="0" anchor="ctr"/>
          <a:lstStyle/>
          <a:p>
            <a:pPr algn="ctr">
              <a:lnSpc>
                <a:spcPct val="112000"/>
              </a:lnSpc>
            </a:pPr>
            <a:r>
              <a:rPr sz="1300" b="1">
                <a:solidFill>
                  <a:srgbClr val="FFFFFF"/>
                </a:solidFill>
              </a:rPr>
              <a:t>数据不动模型动｜联合训练肺癌早期筛查 AI</a:t>
            </a:r>
          </a:p>
        </p:txBody>
      </p:sp>
      <p:sp>
        <p:nvSpPr>
          <p:cNvPr id="36" name="TextBox 36">
            <a:extLst>
              <a:ext uri="{FF2B5EF4-FFF2-40B4-BE49-F238E27FC236}">
                <a16:creationId xmlns:a16="http://schemas.microsoft.com/office/drawing/2014/main" id="{23C789D5-C04D-4EBC-A583-AC30B63B97BB}"/>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37" name="TextBox 37">
            <a:extLst>
              <a:ext uri="{FF2B5EF4-FFF2-40B4-BE49-F238E27FC236}">
                <a16:creationId xmlns:a16="http://schemas.microsoft.com/office/drawing/2014/main" id="{741D92A4-1EEC-443B-AFC7-76E9A9C5D113}"/>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6170256-9AE7-413E-95F9-0A3DEA003488}"/>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模型融合训练 · 实测指标</a:t>
            </a:r>
          </a:p>
        </p:txBody>
      </p:sp>
      <p:sp>
        <p:nvSpPr>
          <p:cNvPr id="4" name="TextBox 4">
            <a:extLst>
              <a:ext uri="{FF2B5EF4-FFF2-40B4-BE49-F238E27FC236}">
                <a16:creationId xmlns:a16="http://schemas.microsoft.com/office/drawing/2014/main" id="{E0FB55B5-9739-46C1-8E72-F375C6006146}"/>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数据留在本地合练，模型不会变笨</a:t>
            </a:r>
          </a:p>
        </p:txBody>
      </p:sp>
      <p:sp>
        <p:nvSpPr>
          <p:cNvPr id="5" name="TextBox 5">
            <a:extLst>
              <a:ext uri="{FF2B5EF4-FFF2-40B4-BE49-F238E27FC236}">
                <a16:creationId xmlns:a16="http://schemas.microsoft.com/office/drawing/2014/main" id="{84053465-9DF4-4781-85F1-0D885C992F36}"/>
              </a:ext>
            </a:extLst>
          </p:cNvPr>
          <p:cNvSpPr txBox="1"/>
          <p:nvPr/>
        </p:nvSpPr>
        <p:spPr>
          <a:xfrm>
            <a:off x="762000" y="1162050"/>
            <a:ext cx="10668000" cy="574548"/>
          </a:xfrm>
        </p:spPr>
        <p:txBody>
          <a:bodyPr wrap="square" rtlCol="0" lIns="0" tIns="0" rIns="0" bIns="0" anchor="t"/>
          <a:lstStyle/>
          <a:p>
            <a:pPr>
              <a:lnSpc>
                <a:spcPct val="130000"/>
              </a:lnSpc>
            </a:pPr>
            <a:r>
              <a:rPr sz="1450">
                <a:solidFill>
                  <a:srgbClr val="5B6B80"/>
                </a:solidFill>
              </a:rPr>
              <a:t>实测对比：方案 A 把两家各 64 万条样本合并成 128 万条一起训练，定为 100% 基准；方案 B 数据不合并、各自本地训练再做梯度融合，综合达成度 82%–133%。</a:t>
            </a:r>
          </a:p>
        </p:txBody>
      </p:sp>
      <p:sp>
        <p:nvSpPr>
          <p:cNvPr id="6" name="Shape 6">
            <a:extLst>
              <a:ext uri="{FF2B5EF4-FFF2-40B4-BE49-F238E27FC236}">
                <a16:creationId xmlns:a16="http://schemas.microsoft.com/office/drawing/2014/main" id="{592E8D24-AE68-463D-8F67-09DD9BD419B8}"/>
              </a:ext>
            </a:extLst>
          </p:cNvPr>
          <p:cNvSpPr/>
          <p:nvPr/>
        </p:nvSpPr>
        <p:spPr>
          <a:xfrm>
            <a:off x="762000" y="182880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E7DA0996-974B-4D98-8130-08153DE07383}"/>
              </a:ext>
            </a:extLst>
          </p:cNvPr>
          <p:cNvSpPr/>
          <p:nvPr/>
        </p:nvSpPr>
        <p:spPr>
          <a:xfrm>
            <a:off x="762000" y="1943100"/>
            <a:ext cx="5334000" cy="3981450"/>
          </a:xfrm>
          <a:prstGeom prst="roundRect">
            <a:avLst/>
          </a:prstGeom>
          <a:solidFill>
            <a:srgbClr val="F4F8FF"/>
          </a:solidFill>
          <a:ln w="12700">
            <a:solidFill>
              <a:srgbClr val="D9E5FA"/>
            </a:solidFill>
          </a:ln>
        </p:spPr>
        <p:txBody>
          <a:bodyPr wrap="square" rtlCol="0"/>
          <a:lstStyle/>
          <a:p>
            <a:r>
              <a:rPr/>
              <a:t/>
            </a:r>
          </a:p>
        </p:txBody>
      </p:sp>
      <p:sp>
        <p:nvSpPr>
          <p:cNvPr id="8" name="TextBox 8">
            <a:extLst>
              <a:ext uri="{FF2B5EF4-FFF2-40B4-BE49-F238E27FC236}">
                <a16:creationId xmlns:a16="http://schemas.microsoft.com/office/drawing/2014/main" id="{53E7008E-200B-46F3-91F2-20EA3C58456C}"/>
              </a:ext>
            </a:extLst>
          </p:cNvPr>
          <p:cNvSpPr txBox="1"/>
          <p:nvPr/>
        </p:nvSpPr>
        <p:spPr>
          <a:xfrm>
            <a:off x="990600" y="2095500"/>
            <a:ext cx="4876800" cy="301752"/>
          </a:xfrm>
        </p:spPr>
        <p:txBody>
          <a:bodyPr wrap="square" rtlCol="0" lIns="0" tIns="0" rIns="0" bIns="0" anchor="t"/>
          <a:lstStyle/>
          <a:p>
            <a:pPr>
              <a:lnSpc>
                <a:spcPct val="110000"/>
              </a:lnSpc>
            </a:pPr>
            <a:r>
              <a:rPr sz="1800" b="1">
                <a:solidFill>
                  <a:srgbClr val="16202E"/>
                </a:solidFill>
              </a:rPr>
              <a:t>异步本地更新的模型融合技术</a:t>
            </a:r>
          </a:p>
        </p:txBody>
      </p:sp>
      <p:sp>
        <p:nvSpPr>
          <p:cNvPr id="9" name="TextBox 9">
            <a:extLst>
              <a:ext uri="{FF2B5EF4-FFF2-40B4-BE49-F238E27FC236}">
                <a16:creationId xmlns:a16="http://schemas.microsoft.com/office/drawing/2014/main" id="{4C287687-373D-4026-A6E7-C417957AED00}"/>
              </a:ext>
            </a:extLst>
          </p:cNvPr>
          <p:cNvSpPr txBox="1"/>
          <p:nvPr/>
        </p:nvSpPr>
        <p:spPr>
          <a:xfrm>
            <a:off x="990600" y="2400300"/>
            <a:ext cx="4876800" cy="533400"/>
          </a:xfrm>
        </p:spPr>
        <p:txBody>
          <a:bodyPr wrap="square" rtlCol="0" lIns="0" tIns="0" rIns="0" bIns="0" anchor="t"/>
          <a:lstStyle/>
          <a:p>
            <a:pPr>
              <a:lnSpc>
                <a:spcPct val="128000"/>
              </a:lnSpc>
            </a:pPr>
            <a:r>
              <a:rPr sz="1200">
                <a:solidFill>
                  <a:srgbClr val="5B6B80"/>
                </a:solidFill>
              </a:rPr>
              <a:t>各院用私域临床数据在本地训练模型副本，数据完全不互通，只通过梯度融合器定期同步融合。</a:t>
            </a:r>
          </a:p>
        </p:txBody>
      </p:sp>
      <p:sp>
        <p:nvSpPr>
          <p:cNvPr id="10" name="Shape 10">
            <a:extLst>
              <a:ext uri="{FF2B5EF4-FFF2-40B4-BE49-F238E27FC236}">
                <a16:creationId xmlns:a16="http://schemas.microsoft.com/office/drawing/2014/main" id="{8606B87D-815F-459B-9FD6-9B5288245D67}"/>
              </a:ext>
            </a:extLst>
          </p:cNvPr>
          <p:cNvSpPr/>
          <p:nvPr/>
        </p:nvSpPr>
        <p:spPr>
          <a:xfrm>
            <a:off x="990600" y="3048000"/>
            <a:ext cx="2286000" cy="6096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300" b="1">
                <a:solidFill>
                  <a:srgbClr val="16202E"/>
                </a:solidFill>
              </a:rPr>
              <a:t>医院 A</a:t>
            </a:r>
          </a:p>
          <a:p>
            <a:pPr algn="ctr">
              <a:lnSpc>
                <a:spcPct val="118000"/>
              </a:lnSpc>
            </a:pPr>
            <a:r>
              <a:rPr sz="1100">
                <a:solidFill>
                  <a:srgbClr val="5B6B80"/>
                </a:solidFill>
              </a:rPr>
              <a:t>64 万条本地训练</a:t>
            </a:r>
          </a:p>
        </p:txBody>
      </p:sp>
      <p:sp>
        <p:nvSpPr>
          <p:cNvPr id="11" name="Shape 11">
            <a:extLst>
              <a:ext uri="{FF2B5EF4-FFF2-40B4-BE49-F238E27FC236}">
                <a16:creationId xmlns:a16="http://schemas.microsoft.com/office/drawing/2014/main" id="{B1F44F81-F865-4718-AC2E-3439B9DC78C0}"/>
              </a:ext>
            </a:extLst>
          </p:cNvPr>
          <p:cNvSpPr/>
          <p:nvPr/>
        </p:nvSpPr>
        <p:spPr>
          <a:xfrm>
            <a:off x="3543300" y="3048000"/>
            <a:ext cx="2286000" cy="6096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300" b="1">
                <a:solidFill>
                  <a:srgbClr val="16202E"/>
                </a:solidFill>
              </a:rPr>
              <a:t>医院 B</a:t>
            </a:r>
          </a:p>
          <a:p>
            <a:pPr algn="ctr">
              <a:lnSpc>
                <a:spcPct val="118000"/>
              </a:lnSpc>
            </a:pPr>
            <a:r>
              <a:rPr sz="1100">
                <a:solidFill>
                  <a:srgbClr val="5B6B80"/>
                </a:solidFill>
              </a:rPr>
              <a:t>64 万条本地训练</a:t>
            </a:r>
          </a:p>
        </p:txBody>
      </p:sp>
      <p:sp>
        <p:nvSpPr>
          <p:cNvPr id="12" name="Shape 12">
            <a:extLst>
              <a:ext uri="{FF2B5EF4-FFF2-40B4-BE49-F238E27FC236}">
                <a16:creationId xmlns:a16="http://schemas.microsoft.com/office/drawing/2014/main" id="{151E7B18-A7F6-4807-BB60-08F02682DEB7}"/>
              </a:ext>
            </a:extLst>
          </p:cNvPr>
          <p:cNvSpPr/>
          <p:nvPr/>
        </p:nvSpPr>
        <p:spPr>
          <a:xfrm>
            <a:off x="2047875" y="3714750"/>
            <a:ext cx="171450" cy="228600"/>
          </a:xfrm>
          <a:prstGeom prst="downArrow">
            <a:avLst/>
          </a:prstGeom>
          <a:solidFill>
            <a:srgbClr val="B9CDEE"/>
          </a:solidFill>
        </p:spPr>
        <p:txBody>
          <a:bodyPr wrap="square" rtlCol="0"/>
          <a:lstStyle/>
          <a:p>
            <a:r>
              <a:rPr/>
              <a:t/>
            </a:r>
          </a:p>
        </p:txBody>
      </p:sp>
      <p:sp>
        <p:nvSpPr>
          <p:cNvPr id="13" name="Shape 13">
            <a:extLst>
              <a:ext uri="{FF2B5EF4-FFF2-40B4-BE49-F238E27FC236}">
                <a16:creationId xmlns:a16="http://schemas.microsoft.com/office/drawing/2014/main" id="{6E86798A-1784-432F-8B15-D7F188E3663F}"/>
              </a:ext>
            </a:extLst>
          </p:cNvPr>
          <p:cNvSpPr/>
          <p:nvPr/>
        </p:nvSpPr>
        <p:spPr>
          <a:xfrm>
            <a:off x="4600575" y="3714750"/>
            <a:ext cx="171450" cy="228600"/>
          </a:xfrm>
          <a:prstGeom prst="downArrow">
            <a:avLst/>
          </a:prstGeom>
          <a:solidFill>
            <a:srgbClr val="B9CDEE"/>
          </a:solidFill>
        </p:spPr>
        <p:txBody>
          <a:bodyPr wrap="square" rtlCol="0"/>
          <a:lstStyle/>
          <a:p>
            <a:r>
              <a:rPr/>
              <a:t/>
            </a:r>
          </a:p>
        </p:txBody>
      </p:sp>
      <p:sp>
        <p:nvSpPr>
          <p:cNvPr id="14" name="Shape 14">
            <a:extLst>
              <a:ext uri="{FF2B5EF4-FFF2-40B4-BE49-F238E27FC236}">
                <a16:creationId xmlns:a16="http://schemas.microsoft.com/office/drawing/2014/main" id="{22AB9BAF-68B3-4470-B99F-26813353B3BE}"/>
              </a:ext>
            </a:extLst>
          </p:cNvPr>
          <p:cNvSpPr/>
          <p:nvPr/>
        </p:nvSpPr>
        <p:spPr>
          <a:xfrm>
            <a:off x="990600" y="3981450"/>
            <a:ext cx="4838700" cy="495300"/>
          </a:xfrm>
          <a:prstGeom prst="roundRect">
            <a:avLst/>
          </a:prstGeom>
          <a:solidFill>
            <a:srgbClr val="EAF1FE"/>
          </a:solidFill>
        </p:spPr>
        <p:txBody>
          <a:bodyPr wrap="square" rtlCol="0" lIns="0" tIns="0" rIns="0" bIns="0" anchor="ctr"/>
          <a:lstStyle/>
          <a:p>
            <a:pPr algn="ctr">
              <a:lnSpc>
                <a:spcPct val="118000"/>
              </a:lnSpc>
            </a:pPr>
            <a:r>
              <a:rPr sz="1400" b="1">
                <a:solidFill>
                  <a:srgbClr val="0A2E6E"/>
                </a:solidFill>
              </a:rPr>
              <a:t>梯度融合器｜定期同步并融合本地梯度</a:t>
            </a:r>
          </a:p>
        </p:txBody>
      </p:sp>
      <p:sp>
        <p:nvSpPr>
          <p:cNvPr id="15" name="Shape 15">
            <a:extLst>
              <a:ext uri="{FF2B5EF4-FFF2-40B4-BE49-F238E27FC236}">
                <a16:creationId xmlns:a16="http://schemas.microsoft.com/office/drawing/2014/main" id="{B0EDC666-1073-4A59-8AD0-CCC733EB2DDA}"/>
              </a:ext>
            </a:extLst>
          </p:cNvPr>
          <p:cNvSpPr/>
          <p:nvPr/>
        </p:nvSpPr>
        <p:spPr>
          <a:xfrm>
            <a:off x="3324225" y="4514850"/>
            <a:ext cx="171450" cy="209550"/>
          </a:xfrm>
          <a:prstGeom prst="downArrow">
            <a:avLst/>
          </a:prstGeom>
          <a:solidFill>
            <a:srgbClr val="B9CDEE"/>
          </a:solidFill>
        </p:spPr>
        <p:txBody>
          <a:bodyPr wrap="square" rtlCol="0"/>
          <a:lstStyle/>
          <a:p>
            <a:r>
              <a:rPr/>
              <a:t/>
            </a:r>
          </a:p>
        </p:txBody>
      </p:sp>
      <p:sp>
        <p:nvSpPr>
          <p:cNvPr id="16" name="Shape 16">
            <a:extLst>
              <a:ext uri="{FF2B5EF4-FFF2-40B4-BE49-F238E27FC236}">
                <a16:creationId xmlns:a16="http://schemas.microsoft.com/office/drawing/2014/main" id="{36BA9D96-8A15-4EAD-87DB-B08678D60A21}"/>
              </a:ext>
            </a:extLst>
          </p:cNvPr>
          <p:cNvSpPr/>
          <p:nvPr/>
        </p:nvSpPr>
        <p:spPr>
          <a:xfrm>
            <a:off x="990600" y="4762500"/>
            <a:ext cx="4838700" cy="495300"/>
          </a:xfrm>
          <a:prstGeom prst="roundRect">
            <a:avLst/>
          </a:prstGeom>
          <a:solidFill>
            <a:srgbClr val="0058FF"/>
          </a:solidFill>
        </p:spPr>
        <p:txBody>
          <a:bodyPr wrap="square" rtlCol="0" lIns="0" tIns="0" rIns="0" bIns="0" anchor="ctr"/>
          <a:lstStyle/>
          <a:p>
            <a:pPr algn="ctr">
              <a:lnSpc>
                <a:spcPct val="118000"/>
              </a:lnSpc>
            </a:pPr>
            <a:r>
              <a:rPr sz="1400" b="1">
                <a:solidFill>
                  <a:srgbClr val="FFFFFF"/>
                </a:solidFill>
              </a:rPr>
              <a:t>全局行业模型｜数据不出域、价值可流转</a:t>
            </a:r>
          </a:p>
        </p:txBody>
      </p:sp>
      <p:sp>
        <p:nvSpPr>
          <p:cNvPr id="17" name="TextBox 17">
            <a:extLst>
              <a:ext uri="{FF2B5EF4-FFF2-40B4-BE49-F238E27FC236}">
                <a16:creationId xmlns:a16="http://schemas.microsoft.com/office/drawing/2014/main" id="{32E4CAEA-0773-4C62-9B52-3D26D48889B7}"/>
              </a:ext>
            </a:extLst>
          </p:cNvPr>
          <p:cNvSpPr txBox="1"/>
          <p:nvPr/>
        </p:nvSpPr>
        <p:spPr>
          <a:xfrm>
            <a:off x="990600" y="5353050"/>
            <a:ext cx="4876800" cy="495300"/>
          </a:xfrm>
        </p:spPr>
        <p:txBody>
          <a:bodyPr wrap="square" rtlCol="0" lIns="0" tIns="0" rIns="0" bIns="0" anchor="t"/>
          <a:lstStyle/>
          <a:p>
            <a:pPr>
              <a:lnSpc>
                <a:spcPct val="128000"/>
              </a:lnSpc>
            </a:pPr>
            <a:r>
              <a:rPr sz="1200" b="1">
                <a:solidFill>
                  <a:srgbClr val="0058FF"/>
                </a:solidFill>
              </a:rPr>
              <a:t>关键前提：</a:t>
            </a:r>
            <a:r>
              <a:rPr sz="1200">
                <a:solidFill>
                  <a:srgbClr val="5B6B80"/>
                </a:solidFill>
              </a:rPr>
              <a:t>两家数据完全不互通，全程只交换加密后的梯度。</a:t>
            </a:r>
          </a:p>
        </p:txBody>
      </p:sp>
      <p:sp>
        <p:nvSpPr>
          <p:cNvPr id="18" name="Shape 18">
            <a:extLst>
              <a:ext uri="{FF2B5EF4-FFF2-40B4-BE49-F238E27FC236}">
                <a16:creationId xmlns:a16="http://schemas.microsoft.com/office/drawing/2014/main" id="{9A49BDB3-52EF-4B92-BB0F-7B1CA2E871A5}"/>
              </a:ext>
            </a:extLst>
          </p:cNvPr>
          <p:cNvSpPr/>
          <p:nvPr/>
        </p:nvSpPr>
        <p:spPr>
          <a:xfrm>
            <a:off x="6286500" y="1943100"/>
            <a:ext cx="5143500" cy="3981450"/>
          </a:xfrm>
          <a:prstGeom prst="roundRect">
            <a:avLst/>
          </a:prstGeom>
          <a:solidFill>
            <a:srgbClr val="F4F8FF"/>
          </a:solidFill>
          <a:ln w="12700">
            <a:solidFill>
              <a:srgbClr val="D9E5FA"/>
            </a:solidFill>
          </a:ln>
        </p:spPr>
        <p:txBody>
          <a:bodyPr wrap="square" rtlCol="0"/>
          <a:lstStyle/>
          <a:p>
            <a:r>
              <a:rPr/>
              <a:t/>
            </a:r>
          </a:p>
        </p:txBody>
      </p:sp>
      <p:sp>
        <p:nvSpPr>
          <p:cNvPr id="19" name="TextBox 19">
            <a:extLst>
              <a:ext uri="{FF2B5EF4-FFF2-40B4-BE49-F238E27FC236}">
                <a16:creationId xmlns:a16="http://schemas.microsoft.com/office/drawing/2014/main" id="{510B2317-97D5-4AFF-8FED-0EE94D5ED0EA}"/>
              </a:ext>
            </a:extLst>
          </p:cNvPr>
          <p:cNvSpPr txBox="1"/>
          <p:nvPr/>
        </p:nvSpPr>
        <p:spPr>
          <a:xfrm>
            <a:off x="6553200" y="2057400"/>
            <a:ext cx="4610100" cy="304800"/>
          </a:xfrm>
        </p:spPr>
        <p:txBody>
          <a:bodyPr wrap="square" rtlCol="0" lIns="0" tIns="0" rIns="0" bIns="0" anchor="t"/>
          <a:lstStyle/>
          <a:p>
            <a:pPr>
              <a:lnSpc>
                <a:spcPct val="110000"/>
              </a:lnSpc>
            </a:pPr>
            <a:r>
              <a:rPr sz="1800" b="1">
                <a:solidFill>
                  <a:srgbClr val="16202E"/>
                </a:solidFill>
              </a:rPr>
              <a:t>方案 B 相对方案 A 的效果达成度</a:t>
            </a:r>
          </a:p>
        </p:txBody>
      </p:sp>
      <p:sp>
        <p:nvSpPr>
          <p:cNvPr id="20" name="TextBox 20">
            <a:extLst>
              <a:ext uri="{FF2B5EF4-FFF2-40B4-BE49-F238E27FC236}">
                <a16:creationId xmlns:a16="http://schemas.microsoft.com/office/drawing/2014/main" id="{7E69B765-830E-45A7-AF0F-E11EC70FCCA1}"/>
              </a:ext>
            </a:extLst>
          </p:cNvPr>
          <p:cNvSpPr txBox="1"/>
          <p:nvPr/>
        </p:nvSpPr>
        <p:spPr>
          <a:xfrm>
            <a:off x="6553200" y="2400300"/>
            <a:ext cx="4610100" cy="457200"/>
          </a:xfrm>
        </p:spPr>
        <p:txBody>
          <a:bodyPr wrap="square" rtlCol="0" lIns="0" tIns="0" rIns="0" bIns="0" anchor="t"/>
          <a:lstStyle/>
          <a:p>
            <a:pPr>
              <a:lnSpc>
                <a:spcPct val="122000"/>
              </a:lnSpc>
            </a:pPr>
            <a:r>
              <a:rPr sz="1100">
                <a:solidFill>
                  <a:srgbClr val="5B6B80"/>
                </a:solidFill>
              </a:rPr>
              <a:t>实测覆盖不同数据集、不同任务、五种参数尺寸的大模型</a:t>
            </a:r>
          </a:p>
          <a:p>
            <a:pPr>
              <a:lnSpc>
                <a:spcPct val="122000"/>
              </a:lnSpc>
            </a:pPr>
            <a:r>
              <a:rPr sz="1100">
                <a:solidFill>
                  <a:srgbClr val="5B6B80"/>
                </a:solidFill>
              </a:rPr>
              <a:t>横线＝方案 A 合并训练的 100% 基准，浅色段为反超区间</a:t>
            </a:r>
          </a:p>
        </p:txBody>
      </p:sp>
      <p:sp>
        <p:nvSpPr>
          <p:cNvPr id="21" name="Shape 21">
            <a:extLst>
              <a:ext uri="{FF2B5EF4-FFF2-40B4-BE49-F238E27FC236}">
                <a16:creationId xmlns:a16="http://schemas.microsoft.com/office/drawing/2014/main" id="{825C0502-2156-4AAA-A36A-7371DDEF06C1}"/>
              </a:ext>
            </a:extLst>
          </p:cNvPr>
          <p:cNvSpPr/>
          <p:nvPr/>
        </p:nvSpPr>
        <p:spPr>
          <a:xfrm>
            <a:off x="6781800" y="3876675"/>
            <a:ext cx="914400" cy="1419225"/>
          </a:xfrm>
          <a:prstGeom prst="rect">
            <a:avLst/>
          </a:prstGeom>
          <a:solidFill>
            <a:srgbClr val="0058FF"/>
          </a:solidFill>
        </p:spPr>
        <p:txBody>
          <a:bodyPr wrap="square" rtlCol="0"/>
          <a:lstStyle/>
          <a:p>
            <a:r>
              <a:rPr/>
              <a:t/>
            </a:r>
          </a:p>
        </p:txBody>
      </p:sp>
      <p:sp>
        <p:nvSpPr>
          <p:cNvPr id="22" name="Shape 22">
            <a:extLst>
              <a:ext uri="{FF2B5EF4-FFF2-40B4-BE49-F238E27FC236}">
                <a16:creationId xmlns:a16="http://schemas.microsoft.com/office/drawing/2014/main" id="{575B4E2B-ED91-402B-86F8-FAC0039750B7}"/>
              </a:ext>
            </a:extLst>
          </p:cNvPr>
          <p:cNvSpPr/>
          <p:nvPr/>
        </p:nvSpPr>
        <p:spPr>
          <a:xfrm>
            <a:off x="8305800" y="3648075"/>
            <a:ext cx="914400" cy="1647825"/>
          </a:xfrm>
          <a:prstGeom prst="rect">
            <a:avLst/>
          </a:prstGeom>
          <a:solidFill>
            <a:srgbClr val="0058FF"/>
          </a:solidFill>
        </p:spPr>
        <p:txBody>
          <a:bodyPr wrap="square" rtlCol="0"/>
          <a:lstStyle/>
          <a:p>
            <a:r>
              <a:rPr/>
              <a:t/>
            </a:r>
          </a:p>
        </p:txBody>
      </p:sp>
      <p:sp>
        <p:nvSpPr>
          <p:cNvPr id="23" name="Shape 23">
            <a:extLst>
              <a:ext uri="{FF2B5EF4-FFF2-40B4-BE49-F238E27FC236}">
                <a16:creationId xmlns:a16="http://schemas.microsoft.com/office/drawing/2014/main" id="{3A9B55DE-06B2-4918-AB44-AD1A726795E8}"/>
              </a:ext>
            </a:extLst>
          </p:cNvPr>
          <p:cNvSpPr/>
          <p:nvPr/>
        </p:nvSpPr>
        <p:spPr>
          <a:xfrm>
            <a:off x="9829800" y="3648075"/>
            <a:ext cx="914400" cy="1647825"/>
          </a:xfrm>
          <a:prstGeom prst="rect">
            <a:avLst/>
          </a:prstGeom>
          <a:solidFill>
            <a:srgbClr val="0058FF"/>
          </a:solidFill>
        </p:spPr>
        <p:txBody>
          <a:bodyPr wrap="square" rtlCol="0"/>
          <a:lstStyle/>
          <a:p>
            <a:r>
              <a:rPr/>
              <a:t/>
            </a:r>
          </a:p>
        </p:txBody>
      </p:sp>
      <p:sp>
        <p:nvSpPr>
          <p:cNvPr id="24" name="Shape 24">
            <a:extLst>
              <a:ext uri="{FF2B5EF4-FFF2-40B4-BE49-F238E27FC236}">
                <a16:creationId xmlns:a16="http://schemas.microsoft.com/office/drawing/2014/main" id="{65B2B36C-6830-436C-9C47-A6AECC135E5C}"/>
              </a:ext>
            </a:extLst>
          </p:cNvPr>
          <p:cNvSpPr/>
          <p:nvPr/>
        </p:nvSpPr>
        <p:spPr>
          <a:xfrm>
            <a:off x="9829800" y="3267075"/>
            <a:ext cx="914400" cy="381000"/>
          </a:xfrm>
          <a:prstGeom prst="rect">
            <a:avLst/>
          </a:prstGeom>
          <a:solidFill>
            <a:srgbClr val="B9CDEE"/>
          </a:solidFill>
        </p:spPr>
        <p:txBody>
          <a:bodyPr wrap="square" rtlCol="0"/>
          <a:lstStyle/>
          <a:p>
            <a:r>
              <a:rPr/>
              <a:t/>
            </a:r>
          </a:p>
        </p:txBody>
      </p:sp>
      <p:sp>
        <p:nvSpPr>
          <p:cNvPr id="25" name="TextBox 25">
            <a:extLst>
              <a:ext uri="{FF2B5EF4-FFF2-40B4-BE49-F238E27FC236}">
                <a16:creationId xmlns:a16="http://schemas.microsoft.com/office/drawing/2014/main" id="{9A6769ED-8879-4B94-98A8-4594FD9F57B5}"/>
              </a:ext>
            </a:extLst>
          </p:cNvPr>
          <p:cNvSpPr txBox="1"/>
          <p:nvPr/>
        </p:nvSpPr>
        <p:spPr>
          <a:xfrm>
            <a:off x="6667500" y="3486150"/>
            <a:ext cx="1143000" cy="251460"/>
          </a:xfrm>
        </p:spPr>
        <p:txBody>
          <a:bodyPr wrap="square" rtlCol="0" lIns="0" tIns="0" rIns="0" bIns="0" anchor="t"/>
          <a:lstStyle/>
          <a:p>
            <a:pPr algn="ctr">
              <a:lnSpc>
                <a:spcPct val="110000"/>
              </a:lnSpc>
            </a:pPr>
            <a:r>
              <a:rPr sz="1500" b="1">
                <a:solidFill>
                  <a:srgbClr val="0058FF"/>
                </a:solidFill>
              </a:rPr>
              <a:t>92.85%</a:t>
            </a:r>
          </a:p>
        </p:txBody>
      </p:sp>
      <p:sp>
        <p:nvSpPr>
          <p:cNvPr id="26" name="TextBox 26">
            <a:extLst>
              <a:ext uri="{FF2B5EF4-FFF2-40B4-BE49-F238E27FC236}">
                <a16:creationId xmlns:a16="http://schemas.microsoft.com/office/drawing/2014/main" id="{44B073E2-9A5A-4F26-AA18-EC0F08030D5C}"/>
              </a:ext>
            </a:extLst>
          </p:cNvPr>
          <p:cNvSpPr txBox="1"/>
          <p:nvPr/>
        </p:nvSpPr>
        <p:spPr>
          <a:xfrm>
            <a:off x="8191500" y="3371850"/>
            <a:ext cx="1143000" cy="251460"/>
          </a:xfrm>
        </p:spPr>
        <p:txBody>
          <a:bodyPr wrap="square" rtlCol="0" lIns="0" tIns="0" rIns="0" bIns="0" anchor="t"/>
          <a:lstStyle/>
          <a:p>
            <a:pPr algn="ctr">
              <a:lnSpc>
                <a:spcPct val="110000"/>
              </a:lnSpc>
            </a:pPr>
            <a:r>
              <a:rPr sz="1500" b="1">
                <a:solidFill>
                  <a:srgbClr val="0058FF"/>
                </a:solidFill>
              </a:rPr>
              <a:t>108.2%</a:t>
            </a:r>
          </a:p>
        </p:txBody>
      </p:sp>
      <p:sp>
        <p:nvSpPr>
          <p:cNvPr id="27" name="TextBox 27">
            <a:extLst>
              <a:ext uri="{FF2B5EF4-FFF2-40B4-BE49-F238E27FC236}">
                <a16:creationId xmlns:a16="http://schemas.microsoft.com/office/drawing/2014/main" id="{7562B810-9DFB-4131-BB10-8E74087FE573}"/>
              </a:ext>
            </a:extLst>
          </p:cNvPr>
          <p:cNvSpPr txBox="1"/>
          <p:nvPr/>
        </p:nvSpPr>
        <p:spPr>
          <a:xfrm>
            <a:off x="9667875" y="2981325"/>
            <a:ext cx="1238250" cy="251460"/>
          </a:xfrm>
        </p:spPr>
        <p:txBody>
          <a:bodyPr wrap="square" rtlCol="0" lIns="0" tIns="0" rIns="0" bIns="0" anchor="t"/>
          <a:lstStyle/>
          <a:p>
            <a:pPr algn="ctr">
              <a:lnSpc>
                <a:spcPct val="110000"/>
              </a:lnSpc>
            </a:pPr>
            <a:r>
              <a:rPr sz="1500" b="1">
                <a:solidFill>
                  <a:srgbClr val="0058FF"/>
                </a:solidFill>
              </a:rPr>
              <a:t>108%–133%</a:t>
            </a:r>
          </a:p>
        </p:txBody>
      </p:sp>
      <p:sp>
        <p:nvSpPr>
          <p:cNvPr id="28" name="Shape 28">
            <a:extLst>
              <a:ext uri="{FF2B5EF4-FFF2-40B4-BE49-F238E27FC236}">
                <a16:creationId xmlns:a16="http://schemas.microsoft.com/office/drawing/2014/main" id="{0EEEAD0E-792D-4104-81CD-5B98623DE838}"/>
              </a:ext>
            </a:extLst>
          </p:cNvPr>
          <p:cNvSpPr/>
          <p:nvPr/>
        </p:nvSpPr>
        <p:spPr>
          <a:xfrm>
            <a:off x="6515100" y="3771900"/>
            <a:ext cx="4686300" cy="19050"/>
          </a:xfrm>
          <a:prstGeom prst="rect">
            <a:avLst/>
          </a:prstGeom>
          <a:solidFill>
            <a:srgbClr val="8A9AB0"/>
          </a:solidFill>
        </p:spPr>
        <p:txBody>
          <a:bodyPr wrap="square" rtlCol="0"/>
          <a:lstStyle/>
          <a:p>
            <a:r>
              <a:rPr/>
              <a:t/>
            </a:r>
          </a:p>
        </p:txBody>
      </p:sp>
      <p:sp>
        <p:nvSpPr>
          <p:cNvPr id="29" name="TextBox 29">
            <a:extLst>
              <a:ext uri="{FF2B5EF4-FFF2-40B4-BE49-F238E27FC236}">
                <a16:creationId xmlns:a16="http://schemas.microsoft.com/office/drawing/2014/main" id="{C8C5D5FF-2C61-49E0-BD88-09C1F69DD155}"/>
              </a:ext>
            </a:extLst>
          </p:cNvPr>
          <p:cNvSpPr txBox="1"/>
          <p:nvPr/>
        </p:nvSpPr>
        <p:spPr>
          <a:xfrm>
            <a:off x="6572250" y="5353050"/>
            <a:ext cx="1333500" cy="419100"/>
          </a:xfrm>
        </p:spPr>
        <p:txBody>
          <a:bodyPr wrap="square" rtlCol="0" lIns="0" tIns="0" rIns="0" bIns="0" anchor="t"/>
          <a:lstStyle/>
          <a:p>
            <a:pPr algn="ctr">
              <a:lnSpc>
                <a:spcPct val="118000"/>
              </a:lnSpc>
            </a:pPr>
            <a:r>
              <a:rPr sz="1100" b="1">
                <a:solidFill>
                  <a:srgbClr val="16202E"/>
                </a:solidFill>
              </a:rPr>
              <a:t>中文医疗对话</a:t>
            </a:r>
          </a:p>
          <a:p>
            <a:pPr algn="ctr">
              <a:lnSpc>
                <a:spcPct val="118000"/>
              </a:lnSpc>
            </a:pPr>
            <a:r>
              <a:rPr sz="1050">
                <a:solidFill>
                  <a:srgbClr val="5B6B80"/>
                </a:solidFill>
              </a:rPr>
              <a:t>medical_zh</a:t>
            </a:r>
          </a:p>
        </p:txBody>
      </p:sp>
      <p:sp>
        <p:nvSpPr>
          <p:cNvPr id="30" name="TextBox 30">
            <a:extLst>
              <a:ext uri="{FF2B5EF4-FFF2-40B4-BE49-F238E27FC236}">
                <a16:creationId xmlns:a16="http://schemas.microsoft.com/office/drawing/2014/main" id="{F3303496-C2E8-43F1-8AA1-7E5FB1A58770}"/>
              </a:ext>
            </a:extLst>
          </p:cNvPr>
          <p:cNvSpPr txBox="1"/>
          <p:nvPr/>
        </p:nvSpPr>
        <p:spPr>
          <a:xfrm>
            <a:off x="8096250" y="5353050"/>
            <a:ext cx="1333500" cy="419100"/>
          </a:xfrm>
        </p:spPr>
        <p:txBody>
          <a:bodyPr wrap="square" rtlCol="0" lIns="0" tIns="0" rIns="0" bIns="0" anchor="t"/>
          <a:lstStyle/>
          <a:p>
            <a:pPr algn="ctr">
              <a:lnSpc>
                <a:spcPct val="118000"/>
              </a:lnSpc>
            </a:pPr>
            <a:r>
              <a:rPr sz="1100" b="1">
                <a:solidFill>
                  <a:srgbClr val="16202E"/>
                </a:solidFill>
              </a:rPr>
              <a:t>多任务 / 预训练</a:t>
            </a:r>
          </a:p>
          <a:p>
            <a:pPr algn="ctr">
              <a:lnSpc>
                <a:spcPct val="118000"/>
              </a:lnSpc>
            </a:pPr>
            <a:r>
              <a:rPr sz="1050">
                <a:solidFill>
                  <a:srgbClr val="5B6B80"/>
                </a:solidFill>
              </a:rPr>
              <a:t>不同任务与语料</a:t>
            </a:r>
          </a:p>
        </p:txBody>
      </p:sp>
      <p:sp>
        <p:nvSpPr>
          <p:cNvPr id="31" name="TextBox 31">
            <a:extLst>
              <a:ext uri="{FF2B5EF4-FFF2-40B4-BE49-F238E27FC236}">
                <a16:creationId xmlns:a16="http://schemas.microsoft.com/office/drawing/2014/main" id="{2AEAD77A-7031-4936-B714-2EA0F28FFBA5}"/>
              </a:ext>
            </a:extLst>
          </p:cNvPr>
          <p:cNvSpPr txBox="1"/>
          <p:nvPr/>
        </p:nvSpPr>
        <p:spPr>
          <a:xfrm>
            <a:off x="9620250" y="5353050"/>
            <a:ext cx="1333500" cy="419100"/>
          </a:xfrm>
        </p:spPr>
        <p:txBody>
          <a:bodyPr wrap="square" rtlCol="0" lIns="0" tIns="0" rIns="0" bIns="0" anchor="t"/>
          <a:lstStyle/>
          <a:p>
            <a:pPr algn="ctr">
              <a:lnSpc>
                <a:spcPct val="118000"/>
              </a:lnSpc>
            </a:pPr>
            <a:r>
              <a:rPr sz="1100" b="1">
                <a:solidFill>
                  <a:srgbClr val="16202E"/>
                </a:solidFill>
              </a:rPr>
              <a:t>14B / 8B / 4B</a:t>
            </a:r>
          </a:p>
          <a:p>
            <a:pPr algn="ctr">
              <a:lnSpc>
                <a:spcPct val="118000"/>
              </a:lnSpc>
            </a:pPr>
            <a:r>
              <a:rPr sz="1050">
                <a:solidFill>
                  <a:srgbClr val="5B6B80"/>
                </a:solidFill>
              </a:rPr>
              <a:t>大模型反超</a:t>
            </a:r>
          </a:p>
        </p:txBody>
      </p:sp>
      <p:sp>
        <p:nvSpPr>
          <p:cNvPr id="32" name="TextBox 32">
            <a:extLst>
              <a:ext uri="{FF2B5EF4-FFF2-40B4-BE49-F238E27FC236}">
                <a16:creationId xmlns:a16="http://schemas.microsoft.com/office/drawing/2014/main" id="{BE4CC352-52B1-4630-9673-0048A822A82B}"/>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33" name="TextBox 33">
            <a:extLst>
              <a:ext uri="{FF2B5EF4-FFF2-40B4-BE49-F238E27FC236}">
                <a16:creationId xmlns:a16="http://schemas.microsoft.com/office/drawing/2014/main" id="{4568AB35-8645-4A50-9517-C0CAA98BDE0B}"/>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A93A1A4F-C68C-4E06-90F5-21E271FF2946}"/>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实践案例 · 已经跑通的标杆</a:t>
            </a:r>
          </a:p>
        </p:txBody>
      </p:sp>
      <p:sp>
        <p:nvSpPr>
          <p:cNvPr id="4" name="TextBox 4">
            <a:extLst>
              <a:ext uri="{FF2B5EF4-FFF2-40B4-BE49-F238E27FC236}">
                <a16:creationId xmlns:a16="http://schemas.microsoft.com/office/drawing/2014/main" id="{279B2758-8230-458E-AA8B-48761CB642E7}"/>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两个标杆案例：商保直付 与 密文诊断</a:t>
            </a:r>
          </a:p>
        </p:txBody>
      </p:sp>
      <p:sp>
        <p:nvSpPr>
          <p:cNvPr id="5" name="TextBox 5">
            <a:extLst>
              <a:ext uri="{FF2B5EF4-FFF2-40B4-BE49-F238E27FC236}">
                <a16:creationId xmlns:a16="http://schemas.microsoft.com/office/drawing/2014/main" id="{93448584-8AB0-4923-8177-3203D97DCFEB}"/>
              </a:ext>
            </a:extLst>
          </p:cNvPr>
          <p:cNvSpPr txBox="1"/>
          <p:nvPr/>
        </p:nvSpPr>
        <p:spPr>
          <a:xfrm>
            <a:off x="762000" y="1162050"/>
            <a:ext cx="10668000" cy="533400"/>
          </a:xfrm>
        </p:spPr>
        <p:txBody>
          <a:bodyPr wrap="square" rtlCol="0" lIns="0" tIns="0" rIns="0" bIns="0" anchor="t"/>
          <a:lstStyle/>
          <a:p>
            <a:pPr>
              <a:lnSpc>
                <a:spcPct val="130000"/>
              </a:lnSpc>
            </a:pPr>
            <a:r>
              <a:rPr sz="1450">
                <a:solidFill>
                  <a:srgbClr val="5B6B80"/>
                </a:solidFill>
              </a:rPr>
              <a:t>两个案例都建在深圳数据基础设施与可信数据空间之上：前者让个人医疗数据合规流通，后者让多家医院密文联合建模。</a:t>
            </a:r>
          </a:p>
        </p:txBody>
      </p:sp>
      <p:sp>
        <p:nvSpPr>
          <p:cNvPr id="6" name="Shape 6">
            <a:extLst>
              <a:ext uri="{FF2B5EF4-FFF2-40B4-BE49-F238E27FC236}">
                <a16:creationId xmlns:a16="http://schemas.microsoft.com/office/drawing/2014/main" id="{9B2169A4-4D91-43A4-AA62-BBD1399839C3}"/>
              </a:ext>
            </a:extLst>
          </p:cNvPr>
          <p:cNvSpPr/>
          <p:nvPr/>
        </p:nvSpPr>
        <p:spPr>
          <a:xfrm>
            <a:off x="762000" y="182880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1279C77F-0BEB-439B-997B-D72B80917310}"/>
              </a:ext>
            </a:extLst>
          </p:cNvPr>
          <p:cNvSpPr/>
          <p:nvPr/>
        </p:nvSpPr>
        <p:spPr>
          <a:xfrm>
            <a:off x="762000" y="1905000"/>
            <a:ext cx="5143500" cy="2895600"/>
          </a:xfrm>
          <a:prstGeom prst="roundRect">
            <a:avLst/>
          </a:prstGeom>
          <a:solidFill>
            <a:srgbClr val="F4F8FF"/>
          </a:solidFill>
          <a:ln w="12700">
            <a:solidFill>
              <a:srgbClr val="D9E5FA"/>
            </a:solidFill>
          </a:ln>
        </p:spPr>
        <p:txBody>
          <a:bodyPr wrap="square" rtlCol="0"/>
          <a:lstStyle/>
          <a:p>
            <a:r>
              <a:rPr/>
              <a:t/>
            </a:r>
          </a:p>
        </p:txBody>
      </p:sp>
      <p:sp>
        <p:nvSpPr>
          <p:cNvPr id="8" name="Shape 8">
            <a:extLst>
              <a:ext uri="{FF2B5EF4-FFF2-40B4-BE49-F238E27FC236}">
                <a16:creationId xmlns:a16="http://schemas.microsoft.com/office/drawing/2014/main" id="{E7010315-923E-4BB5-99B4-9271267D547D}"/>
              </a:ext>
            </a:extLst>
          </p:cNvPr>
          <p:cNvSpPr/>
          <p:nvPr/>
        </p:nvSpPr>
        <p:spPr>
          <a:xfrm>
            <a:off x="6286500" y="1905000"/>
            <a:ext cx="5143500" cy="2895600"/>
          </a:xfrm>
          <a:prstGeom prst="roundRect">
            <a:avLst/>
          </a:prstGeom>
          <a:solidFill>
            <a:srgbClr val="F4F8FF"/>
          </a:solidFill>
          <a:ln w="12700">
            <a:solidFill>
              <a:srgbClr val="D9E5FA"/>
            </a:solidFill>
          </a:ln>
        </p:spPr>
        <p:txBody>
          <a:bodyPr wrap="square" rtlCol="0"/>
          <a:lstStyle/>
          <a:p>
            <a:r>
              <a:rPr/>
              <a:t/>
            </a:r>
          </a:p>
        </p:txBody>
      </p:sp>
      <p:sp>
        <p:nvSpPr>
          <p:cNvPr id="9" name="TextBox 9">
            <a:extLst>
              <a:ext uri="{FF2B5EF4-FFF2-40B4-BE49-F238E27FC236}">
                <a16:creationId xmlns:a16="http://schemas.microsoft.com/office/drawing/2014/main" id="{F1568043-C2CB-4FE0-9C2D-905DE7DBE96F}"/>
              </a:ext>
            </a:extLst>
          </p:cNvPr>
          <p:cNvSpPr txBox="1"/>
          <p:nvPr/>
        </p:nvSpPr>
        <p:spPr>
          <a:xfrm>
            <a:off x="990600" y="2076450"/>
            <a:ext cx="4686300" cy="247650"/>
          </a:xfrm>
        </p:spPr>
        <p:txBody>
          <a:bodyPr wrap="square" rtlCol="0" lIns="0" tIns="0" rIns="0" bIns="0" anchor="t"/>
          <a:lstStyle/>
          <a:p>
            <a:pPr>
              <a:lnSpc>
                <a:spcPct val="110000"/>
              </a:lnSpc>
            </a:pPr>
            <a:r>
              <a:rPr sz="1150" b="1">
                <a:solidFill>
                  <a:srgbClr val="0058FF"/>
                </a:solidFill>
              </a:rPr>
              <a:t>案例一｜统一授权推动个人医疗数据合规流通</a:t>
            </a:r>
          </a:p>
        </p:txBody>
      </p:sp>
      <p:sp>
        <p:nvSpPr>
          <p:cNvPr id="10" name="TextBox 10">
            <a:extLst>
              <a:ext uri="{FF2B5EF4-FFF2-40B4-BE49-F238E27FC236}">
                <a16:creationId xmlns:a16="http://schemas.microsoft.com/office/drawing/2014/main" id="{8B992505-8D13-4B22-9F2D-105BCBD8E543}"/>
              </a:ext>
            </a:extLst>
          </p:cNvPr>
          <p:cNvSpPr txBox="1"/>
          <p:nvPr/>
        </p:nvSpPr>
        <p:spPr>
          <a:xfrm>
            <a:off x="990600" y="2362200"/>
            <a:ext cx="4686300" cy="335280"/>
          </a:xfrm>
        </p:spPr>
        <p:txBody>
          <a:bodyPr wrap="square" rtlCol="0" lIns="0" tIns="0" rIns="0" bIns="0" anchor="t"/>
          <a:lstStyle/>
          <a:p>
            <a:pPr>
              <a:lnSpc>
                <a:spcPct val="110000"/>
              </a:lnSpc>
            </a:pPr>
            <a:r>
              <a:rPr sz="2000" b="1">
                <a:solidFill>
                  <a:srgbClr val="16202E"/>
                </a:solidFill>
              </a:rPr>
              <a:t>深圳“商保直付”</a:t>
            </a:r>
          </a:p>
        </p:txBody>
      </p:sp>
      <p:sp>
        <p:nvSpPr>
          <p:cNvPr id="11" name="TextBox 11">
            <a:extLst>
              <a:ext uri="{FF2B5EF4-FFF2-40B4-BE49-F238E27FC236}">
                <a16:creationId xmlns:a16="http://schemas.microsoft.com/office/drawing/2014/main" id="{2A9F4801-FD05-40DB-A078-9CB1BFBC5290}"/>
              </a:ext>
            </a:extLst>
          </p:cNvPr>
          <p:cNvSpPr txBox="1"/>
          <p:nvPr/>
        </p:nvSpPr>
        <p:spPr>
          <a:xfrm>
            <a:off x="6515100" y="2076450"/>
            <a:ext cx="4686300" cy="247650"/>
          </a:xfrm>
        </p:spPr>
        <p:txBody>
          <a:bodyPr wrap="square" rtlCol="0" lIns="0" tIns="0" rIns="0" bIns="0" anchor="t"/>
          <a:lstStyle/>
          <a:p>
            <a:pPr>
              <a:lnSpc>
                <a:spcPct val="110000"/>
              </a:lnSpc>
            </a:pPr>
            <a:r>
              <a:rPr sz="1150" b="1">
                <a:solidFill>
                  <a:srgbClr val="0058FF"/>
                </a:solidFill>
              </a:rPr>
              <a:t>案例二｜多院密文联合建模</a:t>
            </a:r>
          </a:p>
        </p:txBody>
      </p:sp>
      <p:sp>
        <p:nvSpPr>
          <p:cNvPr id="12" name="TextBox 12">
            <a:extLst>
              <a:ext uri="{FF2B5EF4-FFF2-40B4-BE49-F238E27FC236}">
                <a16:creationId xmlns:a16="http://schemas.microsoft.com/office/drawing/2014/main" id="{846C674A-4ABC-4AE0-9201-C921BB9D757B}"/>
              </a:ext>
            </a:extLst>
          </p:cNvPr>
          <p:cNvSpPr txBox="1"/>
          <p:nvPr/>
        </p:nvSpPr>
        <p:spPr>
          <a:xfrm>
            <a:off x="6515100" y="2362200"/>
            <a:ext cx="4686300" cy="335280"/>
          </a:xfrm>
        </p:spPr>
        <p:txBody>
          <a:bodyPr wrap="square" rtlCol="0" lIns="0" tIns="0" rIns="0" bIns="0" anchor="t"/>
          <a:lstStyle/>
          <a:p>
            <a:pPr>
              <a:lnSpc>
                <a:spcPct val="110000"/>
              </a:lnSpc>
            </a:pPr>
            <a:r>
              <a:rPr sz="2000" b="1">
                <a:solidFill>
                  <a:srgbClr val="16202E"/>
                </a:solidFill>
              </a:rPr>
              <a:t>心脏病 AI 密文风险诊断模型</a:t>
            </a:r>
          </a:p>
        </p:txBody>
      </p:sp>
      <p:sp>
        <p:nvSpPr>
          <p:cNvPr id="13" name="Shape 13">
            <a:extLst>
              <a:ext uri="{FF2B5EF4-FFF2-40B4-BE49-F238E27FC236}">
                <a16:creationId xmlns:a16="http://schemas.microsoft.com/office/drawing/2014/main" id="{1B669C5B-34C4-452B-9522-0EB8656C5A5E}"/>
              </a:ext>
            </a:extLst>
          </p:cNvPr>
          <p:cNvSpPr/>
          <p:nvPr/>
        </p:nvSpPr>
        <p:spPr>
          <a:xfrm>
            <a:off x="990600" y="2743200"/>
            <a:ext cx="1447800" cy="4191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050">
                <a:solidFill>
                  <a:srgbClr val="0A2E6E"/>
                </a:solidFill>
              </a:rPr>
              <a:t>采集端授权｜挂号时</a:t>
            </a:r>
          </a:p>
        </p:txBody>
      </p:sp>
      <p:sp>
        <p:nvSpPr>
          <p:cNvPr id="14" name="Shape 14">
            <a:extLst>
              <a:ext uri="{FF2B5EF4-FFF2-40B4-BE49-F238E27FC236}">
                <a16:creationId xmlns:a16="http://schemas.microsoft.com/office/drawing/2014/main" id="{EFD7D9D7-9209-4C56-BB03-8E865C56C88A}"/>
              </a:ext>
            </a:extLst>
          </p:cNvPr>
          <p:cNvSpPr/>
          <p:nvPr/>
        </p:nvSpPr>
        <p:spPr>
          <a:xfrm>
            <a:off x="2571750" y="2743200"/>
            <a:ext cx="1447800" cy="4191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050">
                <a:solidFill>
                  <a:srgbClr val="0A2E6E"/>
                </a:solidFill>
              </a:rPr>
              <a:t>使用端授权｜理赔时</a:t>
            </a:r>
          </a:p>
        </p:txBody>
      </p:sp>
      <p:sp>
        <p:nvSpPr>
          <p:cNvPr id="15" name="Shape 15">
            <a:extLst>
              <a:ext uri="{FF2B5EF4-FFF2-40B4-BE49-F238E27FC236}">
                <a16:creationId xmlns:a16="http://schemas.microsoft.com/office/drawing/2014/main" id="{DDC824CC-E229-4D17-9A1A-255BB97094B6}"/>
              </a:ext>
            </a:extLst>
          </p:cNvPr>
          <p:cNvSpPr/>
          <p:nvPr/>
        </p:nvSpPr>
        <p:spPr>
          <a:xfrm>
            <a:off x="4152900" y="2743200"/>
            <a:ext cx="1447800" cy="4191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050">
                <a:solidFill>
                  <a:srgbClr val="0A2E6E"/>
                </a:solidFill>
              </a:rPr>
              <a:t>拉通 HIS·卫健委·保司</a:t>
            </a:r>
          </a:p>
        </p:txBody>
      </p:sp>
      <p:sp>
        <p:nvSpPr>
          <p:cNvPr id="16" name="Shape 16">
            <a:extLst>
              <a:ext uri="{FF2B5EF4-FFF2-40B4-BE49-F238E27FC236}">
                <a16:creationId xmlns:a16="http://schemas.microsoft.com/office/drawing/2014/main" id="{83675308-B3BC-4AC8-9BA0-DA68DFA516BF}"/>
              </a:ext>
            </a:extLst>
          </p:cNvPr>
          <p:cNvSpPr/>
          <p:nvPr/>
        </p:nvSpPr>
        <p:spPr>
          <a:xfrm>
            <a:off x="6515100" y="2743200"/>
            <a:ext cx="1447800" cy="4191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050">
                <a:solidFill>
                  <a:srgbClr val="0A2E6E"/>
                </a:solidFill>
              </a:rPr>
              <a:t>医院 A/B/C 接入平台</a:t>
            </a:r>
          </a:p>
        </p:txBody>
      </p:sp>
      <p:sp>
        <p:nvSpPr>
          <p:cNvPr id="17" name="Shape 17">
            <a:extLst>
              <a:ext uri="{FF2B5EF4-FFF2-40B4-BE49-F238E27FC236}">
                <a16:creationId xmlns:a16="http://schemas.microsoft.com/office/drawing/2014/main" id="{49783492-58C1-44D5-A99E-F6226CD54667}"/>
              </a:ext>
            </a:extLst>
          </p:cNvPr>
          <p:cNvSpPr/>
          <p:nvPr/>
        </p:nvSpPr>
        <p:spPr>
          <a:xfrm>
            <a:off x="8096250" y="2743200"/>
            <a:ext cx="1447800" cy="4191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050">
                <a:solidFill>
                  <a:srgbClr val="0A2E6E"/>
                </a:solidFill>
              </a:rPr>
              <a:t>原始数据留本院加密</a:t>
            </a:r>
          </a:p>
        </p:txBody>
      </p:sp>
      <p:sp>
        <p:nvSpPr>
          <p:cNvPr id="18" name="Shape 18">
            <a:extLst>
              <a:ext uri="{FF2B5EF4-FFF2-40B4-BE49-F238E27FC236}">
                <a16:creationId xmlns:a16="http://schemas.microsoft.com/office/drawing/2014/main" id="{A31481B7-F3BE-4FD5-82A5-9823F4E8EFFF}"/>
              </a:ext>
            </a:extLst>
          </p:cNvPr>
          <p:cNvSpPr/>
          <p:nvPr/>
        </p:nvSpPr>
        <p:spPr>
          <a:xfrm>
            <a:off x="9677400" y="2743200"/>
            <a:ext cx="1447800" cy="419100"/>
          </a:xfrm>
          <a:prstGeom prst="roundRect">
            <a:avLst/>
          </a:prstGeom>
          <a:solidFill>
            <a:srgbClr val="FFFFFF"/>
          </a:solidFill>
          <a:ln w="12700">
            <a:solidFill>
              <a:srgbClr val="B9CDEE"/>
            </a:solidFill>
          </a:ln>
        </p:spPr>
        <p:txBody>
          <a:bodyPr wrap="square" rtlCol="0" lIns="0" tIns="0" rIns="0" bIns="0" anchor="ctr"/>
          <a:lstStyle/>
          <a:p>
            <a:pPr algn="ctr">
              <a:lnSpc>
                <a:spcPct val="118000"/>
              </a:lnSpc>
            </a:pPr>
            <a:r>
              <a:rPr sz="1050">
                <a:solidFill>
                  <a:srgbClr val="0A2E6E"/>
                </a:solidFill>
              </a:rPr>
              <a:t>隐私计算环境建模</a:t>
            </a:r>
          </a:p>
        </p:txBody>
      </p:sp>
      <p:sp>
        <p:nvSpPr>
          <p:cNvPr id="19" name="TextBox 19">
            <a:extLst>
              <a:ext uri="{FF2B5EF4-FFF2-40B4-BE49-F238E27FC236}">
                <a16:creationId xmlns:a16="http://schemas.microsoft.com/office/drawing/2014/main" id="{E409F55B-5D47-4E19-BDCC-31D2E0EA1EDA}"/>
              </a:ext>
            </a:extLst>
          </p:cNvPr>
          <p:cNvSpPr txBox="1"/>
          <p:nvPr/>
        </p:nvSpPr>
        <p:spPr>
          <a:xfrm>
            <a:off x="990600" y="3276600"/>
            <a:ext cx="4686300" cy="914400"/>
          </a:xfrm>
        </p:spPr>
        <p:txBody>
          <a:bodyPr wrap="square" rtlCol="0" lIns="0" tIns="0" rIns="0" bIns="0" anchor="t"/>
          <a:lstStyle/>
          <a:p>
            <a:pPr>
              <a:lnSpc>
                <a:spcPct val="125000"/>
              </a:lnSpc>
            </a:pPr>
            <a:r>
              <a:rPr sz="1150">
                <a:solidFill>
                  <a:srgbClr val="5B6B80"/>
                </a:solidFill>
              </a:rPr>
              <a:t>过去理赔难、理赔慢：数据分散在各医院，受隐私合规限制，保司与医院无法拉通，医院配合也缺激励。现在依托深圳数据交易所的可信数据空间与统一授权平台建立双重个人授权，并按“准许成本 + 合理收益”为医院构建定价与收益分配机制。</a:t>
            </a:r>
          </a:p>
        </p:txBody>
      </p:sp>
      <p:sp>
        <p:nvSpPr>
          <p:cNvPr id="20" name="TextBox 20">
            <a:extLst>
              <a:ext uri="{FF2B5EF4-FFF2-40B4-BE49-F238E27FC236}">
                <a16:creationId xmlns:a16="http://schemas.microsoft.com/office/drawing/2014/main" id="{4ED8B931-71A1-4A46-A61E-720D68D2E6F5}"/>
              </a:ext>
            </a:extLst>
          </p:cNvPr>
          <p:cNvSpPr txBox="1"/>
          <p:nvPr/>
        </p:nvSpPr>
        <p:spPr>
          <a:xfrm>
            <a:off x="6515100" y="3276600"/>
            <a:ext cx="4686300" cy="914400"/>
          </a:xfrm>
        </p:spPr>
        <p:txBody>
          <a:bodyPr wrap="square" rtlCol="0" lIns="0" tIns="0" rIns="0" bIns="0" anchor="t"/>
          <a:lstStyle/>
          <a:p>
            <a:pPr>
              <a:lnSpc>
                <a:spcPct val="125000"/>
              </a:lnSpc>
            </a:pPr>
            <a:r>
              <a:rPr sz="1150">
                <a:solidFill>
                  <a:srgbClr val="5B6B80"/>
                </a:solidFill>
              </a:rPr>
              <a:t>针对多院数据难共享、安全风险高、基层诊断能力不均、真实世界研究难开展四大痛点：密文数据送入可信数据空间的隐私计算环境，做多方安全融合与联合建模。</a:t>
            </a:r>
          </a:p>
        </p:txBody>
      </p:sp>
      <p:sp>
        <p:nvSpPr>
          <p:cNvPr id="21" name="TextBox 21">
            <a:extLst>
              <a:ext uri="{FF2B5EF4-FFF2-40B4-BE49-F238E27FC236}">
                <a16:creationId xmlns:a16="http://schemas.microsoft.com/office/drawing/2014/main" id="{80CC19B1-0750-426D-9096-5381840EFEC8}"/>
              </a:ext>
            </a:extLst>
          </p:cNvPr>
          <p:cNvSpPr txBox="1"/>
          <p:nvPr/>
        </p:nvSpPr>
        <p:spPr>
          <a:xfrm>
            <a:off x="990600" y="4343400"/>
            <a:ext cx="4686300" cy="304800"/>
          </a:xfrm>
        </p:spPr>
        <p:txBody>
          <a:bodyPr wrap="square" rtlCol="0" lIns="0" tIns="0" rIns="0" bIns="0" anchor="t"/>
          <a:lstStyle/>
          <a:p>
            <a:pPr>
              <a:lnSpc>
                <a:spcPct val="122000"/>
              </a:lnSpc>
            </a:pPr>
            <a:r>
              <a:rPr sz="1150" b="1">
                <a:solidFill>
                  <a:srgbClr val="0A2E6E"/>
                </a:solidFill>
              </a:rPr>
              <a:t>一举三得：老百姓少跑腿、医院合规获益、保司成本下降。</a:t>
            </a:r>
          </a:p>
        </p:txBody>
      </p:sp>
      <p:sp>
        <p:nvSpPr>
          <p:cNvPr id="22" name="TextBox 22">
            <a:extLst>
              <a:ext uri="{FF2B5EF4-FFF2-40B4-BE49-F238E27FC236}">
                <a16:creationId xmlns:a16="http://schemas.microsoft.com/office/drawing/2014/main" id="{B16D0DD8-614C-4F8C-AF27-487F97E3FF20}"/>
              </a:ext>
            </a:extLst>
          </p:cNvPr>
          <p:cNvSpPr txBox="1"/>
          <p:nvPr/>
        </p:nvSpPr>
        <p:spPr>
          <a:xfrm>
            <a:off x="6515100" y="4343400"/>
            <a:ext cx="4686300" cy="304800"/>
          </a:xfrm>
        </p:spPr>
        <p:txBody>
          <a:bodyPr wrap="square" rtlCol="0" lIns="0" tIns="0" rIns="0" bIns="0" anchor="t"/>
          <a:lstStyle/>
          <a:p>
            <a:pPr>
              <a:lnSpc>
                <a:spcPct val="122000"/>
              </a:lnSpc>
            </a:pPr>
            <a:r>
              <a:rPr sz="1150" b="1">
                <a:solidFill>
                  <a:srgbClr val="0A2E6E"/>
                </a:solidFill>
              </a:rPr>
              <a:t>已用于临床风险预测、赋能基层诊疗，并支撑跨院真实世界研究。</a:t>
            </a:r>
          </a:p>
        </p:txBody>
      </p:sp>
      <p:sp>
        <p:nvSpPr>
          <p:cNvPr id="23" name="Shape 23">
            <a:extLst>
              <a:ext uri="{FF2B5EF4-FFF2-40B4-BE49-F238E27FC236}">
                <a16:creationId xmlns:a16="http://schemas.microsoft.com/office/drawing/2014/main" id="{24C64EB4-D66B-4CD3-809A-1BEDA8B53F47}"/>
              </a:ext>
            </a:extLst>
          </p:cNvPr>
          <p:cNvSpPr/>
          <p:nvPr/>
        </p:nvSpPr>
        <p:spPr>
          <a:xfrm>
            <a:off x="762000" y="4914900"/>
            <a:ext cx="1981200" cy="685800"/>
          </a:xfrm>
          <a:prstGeom prst="roundRect">
            <a:avLst/>
          </a:prstGeom>
          <a:solidFill>
            <a:srgbClr val="EAF1FE"/>
          </a:solidFill>
        </p:spPr>
        <p:txBody>
          <a:bodyPr wrap="square" rtlCol="0" lIns="0" tIns="0" rIns="0" bIns="0" anchor="ctr"/>
          <a:lstStyle/>
          <a:p>
            <a:pPr algn="ctr">
              <a:lnSpc>
                <a:spcPct val="112000"/>
              </a:lnSpc>
              <a:spcAft>
                <a:spcPts val="200"/>
              </a:spcAft>
            </a:pPr>
            <a:r>
              <a:rPr sz="2400" b="1">
                <a:solidFill>
                  <a:srgbClr val="0058FF"/>
                </a:solidFill>
              </a:rPr>
              <a:t>300 万</a:t>
            </a:r>
          </a:p>
          <a:p>
            <a:pPr algn="ctr">
              <a:lnSpc>
                <a:spcPct val="112000"/>
              </a:lnSpc>
            </a:pPr>
            <a:r>
              <a:rPr sz="1050">
                <a:solidFill>
                  <a:srgbClr val="4A5A70"/>
                </a:solidFill>
              </a:rPr>
              <a:t>覆盖公立医院就诊人群</a:t>
            </a:r>
          </a:p>
        </p:txBody>
      </p:sp>
      <p:sp>
        <p:nvSpPr>
          <p:cNvPr id="24" name="Shape 24">
            <a:extLst>
              <a:ext uri="{FF2B5EF4-FFF2-40B4-BE49-F238E27FC236}">
                <a16:creationId xmlns:a16="http://schemas.microsoft.com/office/drawing/2014/main" id="{BD01A2EE-E7D4-408F-B93F-EF4CC17C1798}"/>
              </a:ext>
            </a:extLst>
          </p:cNvPr>
          <p:cNvSpPr/>
          <p:nvPr/>
        </p:nvSpPr>
        <p:spPr>
          <a:xfrm>
            <a:off x="2933700" y="4914900"/>
            <a:ext cx="1981200" cy="685800"/>
          </a:xfrm>
          <a:prstGeom prst="roundRect">
            <a:avLst/>
          </a:prstGeom>
          <a:solidFill>
            <a:srgbClr val="EAF1FE"/>
          </a:solidFill>
        </p:spPr>
        <p:txBody>
          <a:bodyPr wrap="square" rtlCol="0" lIns="0" tIns="0" rIns="0" bIns="0" anchor="ctr"/>
          <a:lstStyle/>
          <a:p>
            <a:pPr algn="ctr">
              <a:lnSpc>
                <a:spcPct val="112000"/>
              </a:lnSpc>
              <a:spcAft>
                <a:spcPts val="200"/>
              </a:spcAft>
            </a:pPr>
            <a:r>
              <a:rPr sz="2400" b="1">
                <a:solidFill>
                  <a:srgbClr val="0058FF"/>
                </a:solidFill>
              </a:rPr>
              <a:t>14 万</a:t>
            </a:r>
          </a:p>
          <a:p>
            <a:pPr algn="ctr">
              <a:lnSpc>
                <a:spcPct val="112000"/>
              </a:lnSpc>
            </a:pPr>
            <a:r>
              <a:rPr sz="1050">
                <a:solidFill>
                  <a:srgbClr val="4A5A70"/>
                </a:solidFill>
              </a:rPr>
              <a:t>覆盖住院人群</a:t>
            </a:r>
          </a:p>
        </p:txBody>
      </p:sp>
      <p:sp>
        <p:nvSpPr>
          <p:cNvPr id="25" name="Shape 25">
            <a:extLst>
              <a:ext uri="{FF2B5EF4-FFF2-40B4-BE49-F238E27FC236}">
                <a16:creationId xmlns:a16="http://schemas.microsoft.com/office/drawing/2014/main" id="{CF0CE670-1EF7-4ABA-BE3A-72F2507F8C49}"/>
              </a:ext>
            </a:extLst>
          </p:cNvPr>
          <p:cNvSpPr/>
          <p:nvPr/>
        </p:nvSpPr>
        <p:spPr>
          <a:xfrm>
            <a:off x="5105400" y="4914900"/>
            <a:ext cx="1981200" cy="685800"/>
          </a:xfrm>
          <a:prstGeom prst="roundRect">
            <a:avLst/>
          </a:prstGeom>
          <a:solidFill>
            <a:srgbClr val="EAF1FE"/>
          </a:solidFill>
        </p:spPr>
        <p:txBody>
          <a:bodyPr wrap="square" rtlCol="0" lIns="0" tIns="0" rIns="0" bIns="0" anchor="ctr"/>
          <a:lstStyle/>
          <a:p>
            <a:pPr algn="ctr">
              <a:lnSpc>
                <a:spcPct val="112000"/>
              </a:lnSpc>
              <a:spcAft>
                <a:spcPts val="200"/>
              </a:spcAft>
            </a:pPr>
            <a:r>
              <a:rPr sz="2400" b="1">
                <a:solidFill>
                  <a:srgbClr val="0058FF"/>
                </a:solidFill>
              </a:rPr>
              <a:t>28 分钟</a:t>
            </a:r>
          </a:p>
          <a:p>
            <a:pPr algn="ctr">
              <a:lnSpc>
                <a:spcPct val="112000"/>
              </a:lnSpc>
            </a:pPr>
            <a:r>
              <a:rPr sz="1050">
                <a:solidFill>
                  <a:srgbClr val="4A5A70"/>
                </a:solidFill>
              </a:rPr>
              <a:t>门诊平均理赔</a:t>
            </a:r>
          </a:p>
        </p:txBody>
      </p:sp>
      <p:sp>
        <p:nvSpPr>
          <p:cNvPr id="26" name="Shape 26">
            <a:extLst>
              <a:ext uri="{FF2B5EF4-FFF2-40B4-BE49-F238E27FC236}">
                <a16:creationId xmlns:a16="http://schemas.microsoft.com/office/drawing/2014/main" id="{DA8A592C-B8AB-4BDB-9147-38126C9C7300}"/>
              </a:ext>
            </a:extLst>
          </p:cNvPr>
          <p:cNvSpPr/>
          <p:nvPr/>
        </p:nvSpPr>
        <p:spPr>
          <a:xfrm>
            <a:off x="7277100" y="4914900"/>
            <a:ext cx="1981200" cy="685800"/>
          </a:xfrm>
          <a:prstGeom prst="roundRect">
            <a:avLst/>
          </a:prstGeom>
          <a:solidFill>
            <a:srgbClr val="EAF1FE"/>
          </a:solidFill>
        </p:spPr>
        <p:txBody>
          <a:bodyPr wrap="square" rtlCol="0" lIns="0" tIns="0" rIns="0" bIns="0" anchor="ctr"/>
          <a:lstStyle/>
          <a:p>
            <a:pPr algn="ctr">
              <a:lnSpc>
                <a:spcPct val="112000"/>
              </a:lnSpc>
              <a:spcAft>
                <a:spcPts val="200"/>
              </a:spcAft>
            </a:pPr>
            <a:r>
              <a:rPr sz="2400" b="1">
                <a:solidFill>
                  <a:srgbClr val="0058FF"/>
                </a:solidFill>
              </a:rPr>
              <a:t>最快 2 小时</a:t>
            </a:r>
          </a:p>
          <a:p>
            <a:pPr algn="ctr">
              <a:lnSpc>
                <a:spcPct val="112000"/>
              </a:lnSpc>
            </a:pPr>
            <a:r>
              <a:rPr sz="1050">
                <a:solidFill>
                  <a:srgbClr val="4A5A70"/>
                </a:solidFill>
              </a:rPr>
              <a:t>住院理赔时效</a:t>
            </a:r>
          </a:p>
        </p:txBody>
      </p:sp>
      <p:sp>
        <p:nvSpPr>
          <p:cNvPr id="27" name="Shape 27">
            <a:extLst>
              <a:ext uri="{FF2B5EF4-FFF2-40B4-BE49-F238E27FC236}">
                <a16:creationId xmlns:a16="http://schemas.microsoft.com/office/drawing/2014/main" id="{DDA78E39-77BC-4FDA-A7A5-10594D503E93}"/>
              </a:ext>
            </a:extLst>
          </p:cNvPr>
          <p:cNvSpPr/>
          <p:nvPr/>
        </p:nvSpPr>
        <p:spPr>
          <a:xfrm>
            <a:off x="9448800" y="4914900"/>
            <a:ext cx="1981200" cy="685800"/>
          </a:xfrm>
          <a:prstGeom prst="roundRect">
            <a:avLst/>
          </a:prstGeom>
          <a:solidFill>
            <a:srgbClr val="EAF1FE"/>
          </a:solidFill>
        </p:spPr>
        <p:txBody>
          <a:bodyPr wrap="square" rtlCol="0" lIns="0" tIns="0" rIns="0" bIns="0" anchor="ctr"/>
          <a:lstStyle/>
          <a:p>
            <a:pPr algn="ctr">
              <a:lnSpc>
                <a:spcPct val="112000"/>
              </a:lnSpc>
              <a:spcAft>
                <a:spcPts val="200"/>
              </a:spcAft>
            </a:pPr>
            <a:r>
              <a:rPr sz="2400" b="1">
                <a:solidFill>
                  <a:srgbClr val="0058FF"/>
                </a:solidFill>
              </a:rPr>
              <a:t>降本 50%</a:t>
            </a:r>
          </a:p>
          <a:p>
            <a:pPr algn="ctr">
              <a:lnSpc>
                <a:spcPct val="112000"/>
              </a:lnSpc>
            </a:pPr>
            <a:r>
              <a:rPr sz="1050">
                <a:solidFill>
                  <a:srgbClr val="4A5A70"/>
                </a:solidFill>
              </a:rPr>
              <a:t>保险机构运营成本</a:t>
            </a:r>
          </a:p>
        </p:txBody>
      </p:sp>
      <p:sp>
        <p:nvSpPr>
          <p:cNvPr id="28" name="TextBox 28">
            <a:extLst>
              <a:ext uri="{FF2B5EF4-FFF2-40B4-BE49-F238E27FC236}">
                <a16:creationId xmlns:a16="http://schemas.microsoft.com/office/drawing/2014/main" id="{A2586073-BF3E-4E60-9E6C-9AB240EBCF5D}"/>
              </a:ext>
            </a:extLst>
          </p:cNvPr>
          <p:cNvSpPr txBox="1"/>
          <p:nvPr/>
        </p:nvSpPr>
        <p:spPr>
          <a:xfrm>
            <a:off x="762000" y="5695950"/>
            <a:ext cx="10668000" cy="247650"/>
          </a:xfrm>
        </p:spPr>
        <p:txBody>
          <a:bodyPr wrap="square" rtlCol="0" lIns="0" tIns="0" rIns="0" bIns="0" anchor="t"/>
          <a:lstStyle/>
          <a:p>
            <a:pPr>
              <a:lnSpc>
                <a:spcPct val="110000"/>
              </a:lnSpc>
            </a:pPr>
            <a:r>
              <a:rPr sz="1100">
                <a:solidFill>
                  <a:srgbClr val="8A9AB0"/>
                </a:solidFill>
              </a:rPr>
              <a:t>成效数字来自公开报道：南山区通过公共数据授权运营，联合微信、微保落成深圳首个“商保直付”通道。</a:t>
            </a:r>
          </a:p>
        </p:txBody>
      </p:sp>
      <p:sp>
        <p:nvSpPr>
          <p:cNvPr id="29" name="TextBox 29">
            <a:extLst>
              <a:ext uri="{FF2B5EF4-FFF2-40B4-BE49-F238E27FC236}">
                <a16:creationId xmlns:a16="http://schemas.microsoft.com/office/drawing/2014/main" id="{7DCBDD8F-AB98-46B8-BCFF-AB7F459EED7B}"/>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30" name="TextBox 30">
            <a:extLst>
              <a:ext uri="{FF2B5EF4-FFF2-40B4-BE49-F238E27FC236}">
                <a16:creationId xmlns:a16="http://schemas.microsoft.com/office/drawing/2014/main" id="{A2124530-3F1A-484D-87F3-9DB8DF65AC17}"/>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C48219FC-3149-48D5-9A8D-EB2278A45251}"/>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国际化协作展望</a:t>
            </a:r>
          </a:p>
        </p:txBody>
      </p:sp>
      <p:sp>
        <p:nvSpPr>
          <p:cNvPr id="4" name="TextBox 4">
            <a:extLst>
              <a:ext uri="{FF2B5EF4-FFF2-40B4-BE49-F238E27FC236}">
                <a16:creationId xmlns:a16="http://schemas.microsoft.com/office/drawing/2014/main" id="{20E2B637-5C11-42A2-ABAB-28A7822FBA88}"/>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跨境医工科研：不做数据搬运，只做互认与分发</a:t>
            </a:r>
          </a:p>
        </p:txBody>
      </p:sp>
      <p:sp>
        <p:nvSpPr>
          <p:cNvPr id="5" name="TextBox 5">
            <a:extLst>
              <a:ext uri="{FF2B5EF4-FFF2-40B4-BE49-F238E27FC236}">
                <a16:creationId xmlns:a16="http://schemas.microsoft.com/office/drawing/2014/main" id="{A8822BE0-687B-4784-989F-65C96DE5078E}"/>
              </a:ext>
            </a:extLst>
          </p:cNvPr>
          <p:cNvSpPr txBox="1"/>
          <p:nvPr/>
        </p:nvSpPr>
        <p:spPr>
          <a:xfrm>
            <a:off x="762000" y="1162050"/>
            <a:ext cx="10668000" cy="533400"/>
          </a:xfrm>
        </p:spPr>
        <p:txBody>
          <a:bodyPr wrap="square" rtlCol="0" lIns="0" tIns="0" rIns="0" bIns="0" anchor="t"/>
          <a:lstStyle/>
          <a:p>
            <a:pPr>
              <a:lnSpc>
                <a:spcPct val="130000"/>
              </a:lnSpc>
            </a:pPr>
            <a:r>
              <a:rPr sz="1450">
                <a:solidFill>
                  <a:srgbClr val="5B6B80"/>
                </a:solidFill>
              </a:rPr>
              <a:t>国际上广泛使用 TRE 标准，国内正在推广可信数据空间标准；这套融合架构天生是破解跨境医工科研难题的金钥匙。</a:t>
            </a:r>
          </a:p>
        </p:txBody>
      </p:sp>
      <p:sp>
        <p:nvSpPr>
          <p:cNvPr id="6" name="Shape 6">
            <a:extLst>
              <a:ext uri="{FF2B5EF4-FFF2-40B4-BE49-F238E27FC236}">
                <a16:creationId xmlns:a16="http://schemas.microsoft.com/office/drawing/2014/main" id="{58F14486-A7D6-4846-B18C-7F3488859649}"/>
              </a:ext>
            </a:extLst>
          </p:cNvPr>
          <p:cNvSpPr/>
          <p:nvPr/>
        </p:nvSpPr>
        <p:spPr>
          <a:xfrm>
            <a:off x="762000" y="182880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B218EB27-FE17-41FE-B2C4-AE614EF1D117}"/>
              </a:ext>
            </a:extLst>
          </p:cNvPr>
          <p:cNvSpPr/>
          <p:nvPr/>
        </p:nvSpPr>
        <p:spPr>
          <a:xfrm>
            <a:off x="762000" y="2095500"/>
            <a:ext cx="3238500" cy="9525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500" b="1">
                <a:solidFill>
                  <a:srgbClr val="16202E"/>
                </a:solidFill>
              </a:rPr>
              <a:t>内地机房</a:t>
            </a:r>
          </a:p>
          <a:p>
            <a:pPr algn="ctr">
              <a:lnSpc>
                <a:spcPct val="118000"/>
              </a:lnSpc>
            </a:pPr>
            <a:r>
              <a:rPr sz="1100">
                <a:solidFill>
                  <a:srgbClr val="5B6B80"/>
                </a:solidFill>
              </a:rPr>
              <a:t>内地数据留在内地机房</a:t>
            </a:r>
          </a:p>
          <a:p>
            <a:pPr algn="ctr">
              <a:lnSpc>
                <a:spcPct val="118000"/>
              </a:lnSpc>
            </a:pPr>
            <a:r>
              <a:rPr sz="1050" b="1">
                <a:solidFill>
                  <a:srgbClr val="0058FF"/>
                </a:solidFill>
              </a:rPr>
              <a:t>国内可信数据空间标准</a:t>
            </a:r>
          </a:p>
        </p:txBody>
      </p:sp>
      <p:sp>
        <p:nvSpPr>
          <p:cNvPr id="8" name="Shape 8">
            <a:extLst>
              <a:ext uri="{FF2B5EF4-FFF2-40B4-BE49-F238E27FC236}">
                <a16:creationId xmlns:a16="http://schemas.microsoft.com/office/drawing/2014/main" id="{887C1AC2-2D1D-404D-90E0-9E488EDC2FC4}"/>
              </a:ext>
            </a:extLst>
          </p:cNvPr>
          <p:cNvSpPr/>
          <p:nvPr/>
        </p:nvSpPr>
        <p:spPr>
          <a:xfrm>
            <a:off x="4476750" y="2095500"/>
            <a:ext cx="3238500" cy="9525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500" b="1">
                <a:solidFill>
                  <a:srgbClr val="16202E"/>
                </a:solidFill>
              </a:rPr>
              <a:t>港澳地区</a:t>
            </a:r>
          </a:p>
          <a:p>
            <a:pPr algn="ctr">
              <a:lnSpc>
                <a:spcPct val="118000"/>
              </a:lnSpc>
            </a:pPr>
            <a:r>
              <a:rPr sz="1100">
                <a:solidFill>
                  <a:srgbClr val="5B6B80"/>
                </a:solidFill>
              </a:rPr>
              <a:t>港澳数据留在当地</a:t>
            </a:r>
          </a:p>
          <a:p>
            <a:pPr algn="ctr">
              <a:lnSpc>
                <a:spcPct val="118000"/>
              </a:lnSpc>
            </a:pPr>
            <a:r>
              <a:rPr sz="1050" b="1">
                <a:solidFill>
                  <a:srgbClr val="0058FF"/>
                </a:solidFill>
              </a:rPr>
              <a:t>大湾区跨境科研场景</a:t>
            </a:r>
          </a:p>
        </p:txBody>
      </p:sp>
      <p:sp>
        <p:nvSpPr>
          <p:cNvPr id="9" name="Shape 9">
            <a:extLst>
              <a:ext uri="{FF2B5EF4-FFF2-40B4-BE49-F238E27FC236}">
                <a16:creationId xmlns:a16="http://schemas.microsoft.com/office/drawing/2014/main" id="{1BF433FD-D3F5-46A5-BE98-AE91EDBE0CB0}"/>
              </a:ext>
            </a:extLst>
          </p:cNvPr>
          <p:cNvSpPr/>
          <p:nvPr/>
        </p:nvSpPr>
        <p:spPr>
          <a:xfrm>
            <a:off x="8191500" y="2095500"/>
            <a:ext cx="3238500" cy="9525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500" b="1">
                <a:solidFill>
                  <a:srgbClr val="16202E"/>
                </a:solidFill>
              </a:rPr>
              <a:t>海外科研机构</a:t>
            </a:r>
          </a:p>
          <a:p>
            <a:pPr algn="ctr">
              <a:lnSpc>
                <a:spcPct val="118000"/>
              </a:lnSpc>
            </a:pPr>
            <a:r>
              <a:rPr sz="1100">
                <a:solidFill>
                  <a:srgbClr val="5B6B80"/>
                </a:solidFill>
              </a:rPr>
              <a:t>海外数据留在当地</a:t>
            </a:r>
          </a:p>
          <a:p>
            <a:pPr algn="ctr">
              <a:lnSpc>
                <a:spcPct val="118000"/>
              </a:lnSpc>
            </a:pPr>
            <a:r>
              <a:rPr sz="1050" b="1">
                <a:solidFill>
                  <a:srgbClr val="0058FF"/>
                </a:solidFill>
              </a:rPr>
              <a:t>国际 TRE 标准广泛应用</a:t>
            </a:r>
          </a:p>
        </p:txBody>
      </p:sp>
      <p:sp>
        <p:nvSpPr>
          <p:cNvPr id="10" name="Shape 10">
            <a:extLst>
              <a:ext uri="{FF2B5EF4-FFF2-40B4-BE49-F238E27FC236}">
                <a16:creationId xmlns:a16="http://schemas.microsoft.com/office/drawing/2014/main" id="{5DF8BD1D-4130-4F7F-A139-EB5795B05051}"/>
              </a:ext>
            </a:extLst>
          </p:cNvPr>
          <p:cNvSpPr/>
          <p:nvPr/>
        </p:nvSpPr>
        <p:spPr>
          <a:xfrm>
            <a:off x="2295525" y="3105150"/>
            <a:ext cx="171450" cy="152400"/>
          </a:xfrm>
          <a:prstGeom prst="downArrow">
            <a:avLst/>
          </a:prstGeom>
          <a:solidFill>
            <a:srgbClr val="B9CDEE"/>
          </a:solidFill>
        </p:spPr>
        <p:txBody>
          <a:bodyPr wrap="square" rtlCol="0"/>
          <a:lstStyle/>
          <a:p>
            <a:r>
              <a:rPr/>
              <a:t/>
            </a:r>
          </a:p>
        </p:txBody>
      </p:sp>
      <p:sp>
        <p:nvSpPr>
          <p:cNvPr id="11" name="Shape 11">
            <a:extLst>
              <a:ext uri="{FF2B5EF4-FFF2-40B4-BE49-F238E27FC236}">
                <a16:creationId xmlns:a16="http://schemas.microsoft.com/office/drawing/2014/main" id="{6B45D6D4-3FBB-4B7E-AE48-81DAF2B78F66}"/>
              </a:ext>
            </a:extLst>
          </p:cNvPr>
          <p:cNvSpPr/>
          <p:nvPr/>
        </p:nvSpPr>
        <p:spPr>
          <a:xfrm>
            <a:off x="6010275" y="3105150"/>
            <a:ext cx="171450" cy="152400"/>
          </a:xfrm>
          <a:prstGeom prst="downArrow">
            <a:avLst/>
          </a:prstGeom>
          <a:solidFill>
            <a:srgbClr val="B9CDEE"/>
          </a:solidFill>
        </p:spPr>
        <p:txBody>
          <a:bodyPr wrap="square" rtlCol="0"/>
          <a:lstStyle/>
          <a:p>
            <a:r>
              <a:rPr/>
              <a:t/>
            </a:r>
          </a:p>
        </p:txBody>
      </p:sp>
      <p:sp>
        <p:nvSpPr>
          <p:cNvPr id="12" name="Shape 12">
            <a:extLst>
              <a:ext uri="{FF2B5EF4-FFF2-40B4-BE49-F238E27FC236}">
                <a16:creationId xmlns:a16="http://schemas.microsoft.com/office/drawing/2014/main" id="{A7C1A000-A3B8-47BF-BDD2-DCF5B6F06461}"/>
              </a:ext>
            </a:extLst>
          </p:cNvPr>
          <p:cNvSpPr/>
          <p:nvPr/>
        </p:nvSpPr>
        <p:spPr>
          <a:xfrm>
            <a:off x="9725025" y="3105150"/>
            <a:ext cx="171450" cy="152400"/>
          </a:xfrm>
          <a:prstGeom prst="downArrow">
            <a:avLst/>
          </a:prstGeom>
          <a:solidFill>
            <a:srgbClr val="B9CDEE"/>
          </a:solidFill>
        </p:spPr>
        <p:txBody>
          <a:bodyPr wrap="square" rtlCol="0"/>
          <a:lstStyle/>
          <a:p>
            <a:r>
              <a:rPr/>
              <a:t/>
            </a:r>
          </a:p>
        </p:txBody>
      </p:sp>
      <p:sp>
        <p:nvSpPr>
          <p:cNvPr id="13" name="Shape 13">
            <a:extLst>
              <a:ext uri="{FF2B5EF4-FFF2-40B4-BE49-F238E27FC236}">
                <a16:creationId xmlns:a16="http://schemas.microsoft.com/office/drawing/2014/main" id="{A628646D-8D6D-4FD2-907F-532CD336E6D4}"/>
              </a:ext>
            </a:extLst>
          </p:cNvPr>
          <p:cNvSpPr/>
          <p:nvPr/>
        </p:nvSpPr>
        <p:spPr>
          <a:xfrm>
            <a:off x="762000" y="3314700"/>
            <a:ext cx="10668000" cy="533400"/>
          </a:xfrm>
          <a:prstGeom prst="roundRect">
            <a:avLst/>
          </a:prstGeom>
          <a:solidFill>
            <a:srgbClr val="0058FF"/>
          </a:solidFill>
        </p:spPr>
        <p:txBody>
          <a:bodyPr wrap="square" rtlCol="0" lIns="0" tIns="0" rIns="0" bIns="0" anchor="ctr"/>
          <a:lstStyle/>
          <a:p>
            <a:pPr algn="ctr">
              <a:lnSpc>
                <a:spcPct val="115000"/>
              </a:lnSpc>
            </a:pPr>
            <a:r>
              <a:rPr sz="1500" b="1">
                <a:solidFill>
                  <a:srgbClr val="FFFFFF"/>
                </a:solidFill>
              </a:rPr>
              <a:t>TREMAC + 可信数据空间跨境协同枢纽</a:t>
            </a:r>
          </a:p>
          <a:p>
            <a:pPr algn="ctr">
              <a:lnSpc>
                <a:spcPct val="115000"/>
              </a:lnSpc>
            </a:pPr>
            <a:r>
              <a:rPr sz="1100">
                <a:solidFill>
                  <a:srgbClr val="D6E4FF"/>
                </a:solidFill>
              </a:rPr>
              <a:t>不做敏感的原始数据跨境搬运</a:t>
            </a:r>
          </a:p>
        </p:txBody>
      </p:sp>
      <p:sp>
        <p:nvSpPr>
          <p:cNvPr id="14" name="TextBox 14">
            <a:extLst>
              <a:ext uri="{FF2B5EF4-FFF2-40B4-BE49-F238E27FC236}">
                <a16:creationId xmlns:a16="http://schemas.microsoft.com/office/drawing/2014/main" id="{0C796F9A-9DC0-43A7-8574-6AD4AA269AF4}"/>
              </a:ext>
            </a:extLst>
          </p:cNvPr>
          <p:cNvSpPr txBox="1"/>
          <p:nvPr/>
        </p:nvSpPr>
        <p:spPr>
          <a:xfrm>
            <a:off x="762000" y="4038600"/>
            <a:ext cx="3810000" cy="266700"/>
          </a:xfrm>
        </p:spPr>
        <p:txBody>
          <a:bodyPr wrap="square" rtlCol="0" lIns="0" tIns="0" rIns="0" bIns="0" anchor="t"/>
          <a:lstStyle/>
          <a:p>
            <a:pPr>
              <a:lnSpc>
                <a:spcPct val="110000"/>
              </a:lnSpc>
            </a:pPr>
            <a:r>
              <a:rPr sz="1600" b="1">
                <a:solidFill>
                  <a:srgbClr val="16202E"/>
                </a:solidFill>
              </a:rPr>
              <a:t>只做四件事</a:t>
            </a:r>
          </a:p>
        </p:txBody>
      </p:sp>
      <p:sp>
        <p:nvSpPr>
          <p:cNvPr id="15" name="Shape 15">
            <a:extLst>
              <a:ext uri="{FF2B5EF4-FFF2-40B4-BE49-F238E27FC236}">
                <a16:creationId xmlns:a16="http://schemas.microsoft.com/office/drawing/2014/main" id="{A2C1A2DB-0814-4B94-A346-0AB39860AB4D}"/>
              </a:ext>
            </a:extLst>
          </p:cNvPr>
          <p:cNvSpPr/>
          <p:nvPr/>
        </p:nvSpPr>
        <p:spPr>
          <a:xfrm>
            <a:off x="762000" y="4362450"/>
            <a:ext cx="2524125" cy="9144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400"/>
              </a:spcAft>
            </a:pPr>
            <a:r>
              <a:rPr sz="1100" b="1">
                <a:solidFill>
                  <a:srgbClr val="0058FF"/>
                </a:solidFill>
              </a:rPr>
              <a:t>01</a:t>
            </a:r>
          </a:p>
          <a:p>
            <a:pPr algn="ctr">
              <a:lnSpc>
                <a:spcPct val="115000"/>
              </a:lnSpc>
              <a:spcAft>
                <a:spcPts val="400"/>
              </a:spcAft>
            </a:pPr>
            <a:r>
              <a:rPr sz="1500" b="1">
                <a:solidFill>
                  <a:srgbClr val="16202E"/>
                </a:solidFill>
              </a:rPr>
              <a:t>身份互认</a:t>
            </a:r>
          </a:p>
          <a:p>
            <a:pPr algn="ctr">
              <a:lnSpc>
                <a:spcPct val="118000"/>
              </a:lnSpc>
            </a:pPr>
            <a:r>
              <a:rPr sz="1100">
                <a:solidFill>
                  <a:srgbClr val="5B6B80"/>
                </a:solidFill>
              </a:rPr>
              <a:t>跨境主体一次认证</a:t>
            </a:r>
          </a:p>
        </p:txBody>
      </p:sp>
      <p:sp>
        <p:nvSpPr>
          <p:cNvPr id="16" name="Shape 16">
            <a:extLst>
              <a:ext uri="{FF2B5EF4-FFF2-40B4-BE49-F238E27FC236}">
                <a16:creationId xmlns:a16="http://schemas.microsoft.com/office/drawing/2014/main" id="{372CABFD-EEB4-4425-84ED-1053E12CA914}"/>
              </a:ext>
            </a:extLst>
          </p:cNvPr>
          <p:cNvSpPr/>
          <p:nvPr/>
        </p:nvSpPr>
        <p:spPr>
          <a:xfrm>
            <a:off x="3476625" y="4362450"/>
            <a:ext cx="2524125" cy="9144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400"/>
              </a:spcAft>
            </a:pPr>
            <a:r>
              <a:rPr sz="1100" b="1">
                <a:solidFill>
                  <a:srgbClr val="0058FF"/>
                </a:solidFill>
              </a:rPr>
              <a:t>02</a:t>
            </a:r>
          </a:p>
          <a:p>
            <a:pPr algn="ctr">
              <a:lnSpc>
                <a:spcPct val="115000"/>
              </a:lnSpc>
              <a:spcAft>
                <a:spcPts val="400"/>
              </a:spcAft>
            </a:pPr>
            <a:r>
              <a:rPr sz="1500" b="1">
                <a:solidFill>
                  <a:srgbClr val="16202E"/>
                </a:solidFill>
              </a:rPr>
              <a:t>规则互认</a:t>
            </a:r>
          </a:p>
          <a:p>
            <a:pPr algn="ctr">
              <a:lnSpc>
                <a:spcPct val="118000"/>
              </a:lnSpc>
            </a:pPr>
            <a:r>
              <a:rPr sz="1100">
                <a:solidFill>
                  <a:srgbClr val="5B6B80"/>
                </a:solidFill>
              </a:rPr>
              <a:t>使用控制与合规规则对齐</a:t>
            </a:r>
          </a:p>
        </p:txBody>
      </p:sp>
      <p:sp>
        <p:nvSpPr>
          <p:cNvPr id="17" name="Shape 17">
            <a:extLst>
              <a:ext uri="{FF2B5EF4-FFF2-40B4-BE49-F238E27FC236}">
                <a16:creationId xmlns:a16="http://schemas.microsoft.com/office/drawing/2014/main" id="{C4E054C7-42A0-486A-AF4C-D57EB9C0D9E4}"/>
              </a:ext>
            </a:extLst>
          </p:cNvPr>
          <p:cNvSpPr/>
          <p:nvPr/>
        </p:nvSpPr>
        <p:spPr>
          <a:xfrm>
            <a:off x="6191250" y="4362450"/>
            <a:ext cx="2524125" cy="9144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400"/>
              </a:spcAft>
            </a:pPr>
            <a:r>
              <a:rPr sz="1100" b="1">
                <a:solidFill>
                  <a:srgbClr val="0058FF"/>
                </a:solidFill>
              </a:rPr>
              <a:t>03</a:t>
            </a:r>
          </a:p>
          <a:p>
            <a:pPr algn="ctr">
              <a:lnSpc>
                <a:spcPct val="115000"/>
              </a:lnSpc>
              <a:spcAft>
                <a:spcPts val="400"/>
              </a:spcAft>
            </a:pPr>
            <a:r>
              <a:rPr sz="1500" b="1">
                <a:solidFill>
                  <a:srgbClr val="16202E"/>
                </a:solidFill>
              </a:rPr>
              <a:t>任务跨境分发</a:t>
            </a:r>
          </a:p>
          <a:p>
            <a:pPr algn="ctr">
              <a:lnSpc>
                <a:spcPct val="118000"/>
              </a:lnSpc>
            </a:pPr>
            <a:r>
              <a:rPr sz="1100">
                <a:solidFill>
                  <a:srgbClr val="5B6B80"/>
                </a:solidFill>
              </a:rPr>
              <a:t>研究任务发出去</a:t>
            </a:r>
          </a:p>
        </p:txBody>
      </p:sp>
      <p:sp>
        <p:nvSpPr>
          <p:cNvPr id="18" name="Shape 18">
            <a:extLst>
              <a:ext uri="{FF2B5EF4-FFF2-40B4-BE49-F238E27FC236}">
                <a16:creationId xmlns:a16="http://schemas.microsoft.com/office/drawing/2014/main" id="{0B6BB240-BBD6-49F9-9D12-0E9931026994}"/>
              </a:ext>
            </a:extLst>
          </p:cNvPr>
          <p:cNvSpPr/>
          <p:nvPr/>
        </p:nvSpPr>
        <p:spPr>
          <a:xfrm>
            <a:off x="8905875" y="4362450"/>
            <a:ext cx="2524125" cy="9144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400"/>
              </a:spcAft>
            </a:pPr>
            <a:r>
              <a:rPr sz="1100" b="1">
                <a:solidFill>
                  <a:srgbClr val="0058FF"/>
                </a:solidFill>
              </a:rPr>
              <a:t>04</a:t>
            </a:r>
          </a:p>
          <a:p>
            <a:pPr algn="ctr">
              <a:lnSpc>
                <a:spcPct val="115000"/>
              </a:lnSpc>
              <a:spcAft>
                <a:spcPts val="400"/>
              </a:spcAft>
            </a:pPr>
            <a:r>
              <a:rPr sz="1500" b="1">
                <a:solidFill>
                  <a:srgbClr val="16202E"/>
                </a:solidFill>
              </a:rPr>
              <a:t>合规结果跨境共享</a:t>
            </a:r>
          </a:p>
          <a:p>
            <a:pPr algn="ctr">
              <a:lnSpc>
                <a:spcPct val="118000"/>
              </a:lnSpc>
            </a:pPr>
            <a:r>
              <a:rPr sz="1100">
                <a:solidFill>
                  <a:srgbClr val="5B6B80"/>
                </a:solidFill>
              </a:rPr>
              <a:t>仅经审查的结果流转</a:t>
            </a:r>
          </a:p>
        </p:txBody>
      </p:sp>
      <p:sp>
        <p:nvSpPr>
          <p:cNvPr id="19" name="Shape 19">
            <a:extLst>
              <a:ext uri="{FF2B5EF4-FFF2-40B4-BE49-F238E27FC236}">
                <a16:creationId xmlns:a16="http://schemas.microsoft.com/office/drawing/2014/main" id="{8666BBCA-9F3C-4FBA-ACDA-6E356D742607}"/>
              </a:ext>
            </a:extLst>
          </p:cNvPr>
          <p:cNvSpPr/>
          <p:nvPr/>
        </p:nvSpPr>
        <p:spPr>
          <a:xfrm>
            <a:off x="762000" y="5448300"/>
            <a:ext cx="10668000" cy="495300"/>
          </a:xfrm>
          <a:prstGeom prst="roundRect">
            <a:avLst/>
          </a:prstGeom>
          <a:solidFill>
            <a:srgbClr val="EAF1FE"/>
          </a:solidFill>
        </p:spPr>
        <p:txBody>
          <a:bodyPr wrap="square" rtlCol="0" lIns="0" tIns="0" rIns="0" bIns="0" anchor="ctr"/>
          <a:lstStyle/>
          <a:p>
            <a:pPr algn="ctr">
              <a:lnSpc>
                <a:spcPct val="118000"/>
              </a:lnSpc>
            </a:pPr>
            <a:r>
              <a:rPr sz="1300" b="1">
                <a:solidFill>
                  <a:srgbClr val="0A2E6E"/>
                </a:solidFill>
              </a:rPr>
              <a:t>在符合国家数据出境安全监管的前提下，把大湾区乃至全球的医疗科研网络连成一体</a:t>
            </a:r>
          </a:p>
        </p:txBody>
      </p:sp>
      <p:sp>
        <p:nvSpPr>
          <p:cNvPr id="20" name="TextBox 20">
            <a:extLst>
              <a:ext uri="{FF2B5EF4-FFF2-40B4-BE49-F238E27FC236}">
                <a16:creationId xmlns:a16="http://schemas.microsoft.com/office/drawing/2014/main" id="{2ACCCBE4-A130-44BF-B8EF-7B0E5E08F3FC}"/>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21" name="TextBox 21">
            <a:extLst>
              <a:ext uri="{FF2B5EF4-FFF2-40B4-BE49-F238E27FC236}">
                <a16:creationId xmlns:a16="http://schemas.microsoft.com/office/drawing/2014/main" id="{30491D5D-7C8F-456A-BAC9-B0A96B9D9490}"/>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D735EBA4-DF0C-48A0-A9AD-43ACEC070C11}"/>
              </a:ext>
            </a:extLst>
          </p:cNvPr>
          <p:cNvSpPr txBox="1"/>
          <p:nvPr/>
        </p:nvSpPr>
        <p:spPr>
          <a:xfrm>
            <a:off x="762000" y="438150"/>
            <a:ext cx="4953000" cy="228600"/>
          </a:xfrm>
        </p:spPr>
        <p:txBody>
          <a:bodyPr wrap="square" rtlCol="0" lIns="0" tIns="0" rIns="0" bIns="0" anchor="t"/>
          <a:lstStyle/>
          <a:p>
            <a:pPr>
              <a:lnSpc>
                <a:spcPct val="110000"/>
              </a:lnSpc>
            </a:pPr>
            <a:r>
              <a:rPr sz="1200" b="1">
                <a:solidFill>
                  <a:srgbClr val="0058FF"/>
                </a:solidFill>
              </a:rPr>
              <a:t>总结升华</a:t>
            </a:r>
          </a:p>
        </p:txBody>
      </p:sp>
      <p:sp>
        <p:nvSpPr>
          <p:cNvPr id="4" name="TextBox 4">
            <a:extLst>
              <a:ext uri="{FF2B5EF4-FFF2-40B4-BE49-F238E27FC236}">
                <a16:creationId xmlns:a16="http://schemas.microsoft.com/office/drawing/2014/main" id="{0F21DF3A-65FE-4FB5-82AB-2F47720F71F1}"/>
              </a:ext>
            </a:extLst>
          </p:cNvPr>
          <p:cNvSpPr txBox="1"/>
          <p:nvPr/>
        </p:nvSpPr>
        <p:spPr>
          <a:xfrm>
            <a:off x="762000" y="704850"/>
            <a:ext cx="10668000" cy="494995"/>
          </a:xfrm>
        </p:spPr>
        <p:txBody>
          <a:bodyPr wrap="square" rtlCol="0" lIns="0" tIns="0" rIns="0" bIns="0" anchor="t"/>
          <a:lstStyle/>
          <a:p>
            <a:pPr>
              <a:lnSpc>
                <a:spcPct val="112000"/>
              </a:lnSpc>
            </a:pPr>
            <a:r>
              <a:rPr sz="2900" b="1">
                <a:solidFill>
                  <a:srgbClr val="16202E"/>
                </a:solidFill>
              </a:rPr>
              <a:t>一套“既能干成大事、又能睡得着觉”的科研基座</a:t>
            </a:r>
          </a:p>
        </p:txBody>
      </p:sp>
      <p:sp>
        <p:nvSpPr>
          <p:cNvPr id="5" name="TextBox 5">
            <a:extLst>
              <a:ext uri="{FF2B5EF4-FFF2-40B4-BE49-F238E27FC236}">
                <a16:creationId xmlns:a16="http://schemas.microsoft.com/office/drawing/2014/main" id="{FA1958E4-445B-4AA3-A13C-D2B7AC5BD680}"/>
              </a:ext>
            </a:extLst>
          </p:cNvPr>
          <p:cNvSpPr txBox="1"/>
          <p:nvPr/>
        </p:nvSpPr>
        <p:spPr>
          <a:xfrm>
            <a:off x="762000" y="1162050"/>
            <a:ext cx="10668000" cy="533400"/>
          </a:xfrm>
        </p:spPr>
        <p:txBody>
          <a:bodyPr wrap="square" rtlCol="0" lIns="0" tIns="0" rIns="0" bIns="0" anchor="t"/>
          <a:lstStyle/>
          <a:p>
            <a:pPr>
              <a:lnSpc>
                <a:spcPct val="130000"/>
              </a:lnSpc>
            </a:pPr>
            <a:r>
              <a:rPr sz="1450">
                <a:solidFill>
                  <a:srgbClr val="5B6B80"/>
                </a:solidFill>
              </a:rPr>
              <a:t>四个目标一次说清：资产守住、红线不碰、开关在手、大事做成。</a:t>
            </a:r>
          </a:p>
        </p:txBody>
      </p:sp>
      <p:sp>
        <p:nvSpPr>
          <p:cNvPr id="6" name="Shape 6">
            <a:extLst>
              <a:ext uri="{FF2B5EF4-FFF2-40B4-BE49-F238E27FC236}">
                <a16:creationId xmlns:a16="http://schemas.microsoft.com/office/drawing/2014/main" id="{E85D270C-4857-4369-B5A8-D09F796DEFCD}"/>
              </a:ext>
            </a:extLst>
          </p:cNvPr>
          <p:cNvSpPr/>
          <p:nvPr/>
        </p:nvSpPr>
        <p:spPr>
          <a:xfrm>
            <a:off x="762000" y="1828800"/>
            <a:ext cx="10668000" cy="9525"/>
          </a:xfrm>
          <a:prstGeom prst="rect">
            <a:avLst/>
          </a:prstGeom>
          <a:solidFill>
            <a:srgbClr val="E3EBF7"/>
          </a:solidFill>
        </p:spPr>
        <p:txBody>
          <a:bodyPr wrap="square" rtlCol="0"/>
          <a:lstStyle/>
          <a:p>
            <a:r>
              <a:rPr/>
              <a:t/>
            </a:r>
          </a:p>
        </p:txBody>
      </p:sp>
      <p:sp>
        <p:nvSpPr>
          <p:cNvPr id="7" name="Shape 7">
            <a:extLst>
              <a:ext uri="{FF2B5EF4-FFF2-40B4-BE49-F238E27FC236}">
                <a16:creationId xmlns:a16="http://schemas.microsoft.com/office/drawing/2014/main" id="{72464CA5-7BDE-4656-8A83-206D53EE4CAF}"/>
              </a:ext>
            </a:extLst>
          </p:cNvPr>
          <p:cNvSpPr/>
          <p:nvPr/>
        </p:nvSpPr>
        <p:spPr>
          <a:xfrm>
            <a:off x="762000" y="2000250"/>
            <a:ext cx="2524125" cy="10668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100" b="1">
                <a:solidFill>
                  <a:srgbClr val="0058FF"/>
                </a:solidFill>
              </a:rPr>
              <a:t>第一</a:t>
            </a:r>
          </a:p>
          <a:p>
            <a:pPr algn="ctr">
              <a:lnSpc>
                <a:spcPct val="115000"/>
              </a:lnSpc>
              <a:spcAft>
                <a:spcPts val="300"/>
              </a:spcAft>
            </a:pPr>
            <a:r>
              <a:rPr sz="1600" b="1">
                <a:solidFill>
                  <a:srgbClr val="16202E"/>
                </a:solidFill>
              </a:rPr>
              <a:t>数据在本地</a:t>
            </a:r>
          </a:p>
          <a:p>
            <a:pPr algn="ctr">
              <a:lnSpc>
                <a:spcPct val="118000"/>
              </a:lnSpc>
            </a:pPr>
            <a:r>
              <a:rPr sz="1100">
                <a:solidFill>
                  <a:srgbClr val="5B6B80"/>
                </a:solidFill>
              </a:rPr>
              <a:t>稳稳留在本地，守住各家核心资产</a:t>
            </a:r>
          </a:p>
        </p:txBody>
      </p:sp>
      <p:sp>
        <p:nvSpPr>
          <p:cNvPr id="8" name="Shape 8">
            <a:extLst>
              <a:ext uri="{FF2B5EF4-FFF2-40B4-BE49-F238E27FC236}">
                <a16:creationId xmlns:a16="http://schemas.microsoft.com/office/drawing/2014/main" id="{ED22A40E-1A09-415B-904B-64846E4E48D3}"/>
              </a:ext>
            </a:extLst>
          </p:cNvPr>
          <p:cNvSpPr/>
          <p:nvPr/>
        </p:nvSpPr>
        <p:spPr>
          <a:xfrm>
            <a:off x="3476625" y="2000250"/>
            <a:ext cx="2524125" cy="10668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100" b="1">
                <a:solidFill>
                  <a:srgbClr val="0058FF"/>
                </a:solidFill>
              </a:rPr>
              <a:t>第二</a:t>
            </a:r>
          </a:p>
          <a:p>
            <a:pPr algn="ctr">
              <a:lnSpc>
                <a:spcPct val="115000"/>
              </a:lnSpc>
              <a:spcAft>
                <a:spcPts val="300"/>
              </a:spcAft>
            </a:pPr>
            <a:r>
              <a:rPr sz="1600" b="1">
                <a:solidFill>
                  <a:srgbClr val="16202E"/>
                </a:solidFill>
              </a:rPr>
              <a:t>隐私保护</a:t>
            </a:r>
          </a:p>
          <a:p>
            <a:pPr algn="ctr">
              <a:lnSpc>
                <a:spcPct val="118000"/>
              </a:lnSpc>
            </a:pPr>
            <a:r>
              <a:rPr sz="1100">
                <a:solidFill>
                  <a:srgbClr val="5B6B80"/>
                </a:solidFill>
              </a:rPr>
              <a:t>全栈保护，不碰法律与伦理红线</a:t>
            </a:r>
          </a:p>
        </p:txBody>
      </p:sp>
      <p:sp>
        <p:nvSpPr>
          <p:cNvPr id="9" name="Shape 9">
            <a:extLst>
              <a:ext uri="{FF2B5EF4-FFF2-40B4-BE49-F238E27FC236}">
                <a16:creationId xmlns:a16="http://schemas.microsoft.com/office/drawing/2014/main" id="{0CCE4585-FC5E-476F-8FA6-8641B2CD31EA}"/>
              </a:ext>
            </a:extLst>
          </p:cNvPr>
          <p:cNvSpPr/>
          <p:nvPr/>
        </p:nvSpPr>
        <p:spPr>
          <a:xfrm>
            <a:off x="6191250" y="2000250"/>
            <a:ext cx="2524125" cy="10668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100" b="1">
                <a:solidFill>
                  <a:srgbClr val="0058FF"/>
                </a:solidFill>
              </a:rPr>
              <a:t>第三</a:t>
            </a:r>
          </a:p>
          <a:p>
            <a:pPr algn="ctr">
              <a:lnSpc>
                <a:spcPct val="115000"/>
              </a:lnSpc>
              <a:spcAft>
                <a:spcPts val="300"/>
              </a:spcAft>
            </a:pPr>
            <a:r>
              <a:rPr sz="1600" b="1">
                <a:solidFill>
                  <a:srgbClr val="16202E"/>
                </a:solidFill>
              </a:rPr>
              <a:t>可管控</a:t>
            </a:r>
          </a:p>
          <a:p>
            <a:pPr algn="ctr">
              <a:lnSpc>
                <a:spcPct val="118000"/>
              </a:lnSpc>
            </a:pPr>
            <a:r>
              <a:rPr sz="1100">
                <a:solidFill>
                  <a:srgbClr val="5B6B80"/>
                </a:solidFill>
              </a:rPr>
              <a:t>每一次使用清晰可控，持有方握总开关</a:t>
            </a:r>
          </a:p>
        </p:txBody>
      </p:sp>
      <p:sp>
        <p:nvSpPr>
          <p:cNvPr id="10" name="Shape 10">
            <a:extLst>
              <a:ext uri="{FF2B5EF4-FFF2-40B4-BE49-F238E27FC236}">
                <a16:creationId xmlns:a16="http://schemas.microsoft.com/office/drawing/2014/main" id="{1A5976F7-5536-4101-835A-384BA1B5BBC7}"/>
              </a:ext>
            </a:extLst>
          </p:cNvPr>
          <p:cNvSpPr/>
          <p:nvPr/>
        </p:nvSpPr>
        <p:spPr>
          <a:xfrm>
            <a:off x="8905875" y="2000250"/>
            <a:ext cx="2524125" cy="106680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spcAft>
                <a:spcPts val="300"/>
              </a:spcAft>
            </a:pPr>
            <a:r>
              <a:rPr sz="1100" b="1">
                <a:solidFill>
                  <a:srgbClr val="0058FF"/>
                </a:solidFill>
              </a:rPr>
              <a:t>最终</a:t>
            </a:r>
          </a:p>
          <a:p>
            <a:pPr algn="ctr">
              <a:lnSpc>
                <a:spcPct val="115000"/>
              </a:lnSpc>
              <a:spcAft>
                <a:spcPts val="300"/>
              </a:spcAft>
            </a:pPr>
            <a:r>
              <a:rPr sz="1600" b="1">
                <a:solidFill>
                  <a:srgbClr val="16202E"/>
                </a:solidFill>
              </a:rPr>
              <a:t>能做大科研</a:t>
            </a:r>
          </a:p>
          <a:p>
            <a:pPr algn="ctr">
              <a:lnSpc>
                <a:spcPct val="118000"/>
              </a:lnSpc>
            </a:pPr>
            <a:r>
              <a:rPr sz="1100">
                <a:solidFill>
                  <a:srgbClr val="5B6B80"/>
                </a:solidFill>
              </a:rPr>
              <a:t>连成网络，做出国际影响力的成果</a:t>
            </a:r>
          </a:p>
        </p:txBody>
      </p:sp>
      <p:sp>
        <p:nvSpPr>
          <p:cNvPr id="11" name="Shape 11">
            <a:extLst>
              <a:ext uri="{FF2B5EF4-FFF2-40B4-BE49-F238E27FC236}">
                <a16:creationId xmlns:a16="http://schemas.microsoft.com/office/drawing/2014/main" id="{73D2DC01-2ED4-4288-A867-2EE8F9DFBDF5}"/>
              </a:ext>
            </a:extLst>
          </p:cNvPr>
          <p:cNvSpPr/>
          <p:nvPr/>
        </p:nvSpPr>
        <p:spPr>
          <a:xfrm>
            <a:off x="762000" y="3333750"/>
            <a:ext cx="4381500" cy="628650"/>
          </a:xfrm>
          <a:prstGeom prst="roundRect">
            <a:avLst/>
          </a:prstGeom>
          <a:solidFill>
            <a:srgbClr val="F4F8FF"/>
          </a:solidFill>
          <a:ln w="12700">
            <a:solidFill>
              <a:srgbClr val="D9E5FA"/>
            </a:solidFill>
          </a:ln>
        </p:spPr>
        <p:txBody>
          <a:bodyPr wrap="square" rtlCol="0" lIns="0" tIns="0" rIns="0" bIns="0" anchor="ctr"/>
          <a:lstStyle/>
          <a:p>
            <a:pPr algn="ctr">
              <a:lnSpc>
                <a:spcPct val="115000"/>
              </a:lnSpc>
            </a:pPr>
            <a:r>
              <a:rPr sz="1600" b="1">
                <a:solidFill>
                  <a:srgbClr val="16202E"/>
                </a:solidFill>
              </a:rPr>
              <a:t>单点｜可信研究环境</a:t>
            </a:r>
          </a:p>
        </p:txBody>
      </p:sp>
      <p:sp>
        <p:nvSpPr>
          <p:cNvPr id="12" name="Shape 12">
            <a:extLst>
              <a:ext uri="{FF2B5EF4-FFF2-40B4-BE49-F238E27FC236}">
                <a16:creationId xmlns:a16="http://schemas.microsoft.com/office/drawing/2014/main" id="{618FE244-148B-4AED-BA02-B31CA461D04E}"/>
              </a:ext>
            </a:extLst>
          </p:cNvPr>
          <p:cNvSpPr/>
          <p:nvPr/>
        </p:nvSpPr>
        <p:spPr>
          <a:xfrm>
            <a:off x="5314950" y="3543300"/>
            <a:ext cx="381000" cy="209550"/>
          </a:xfrm>
          <a:prstGeom prst="rightArrow">
            <a:avLst/>
          </a:prstGeom>
          <a:solidFill>
            <a:srgbClr val="B9CDEE"/>
          </a:solidFill>
        </p:spPr>
        <p:txBody>
          <a:bodyPr wrap="square" rtlCol="0"/>
          <a:lstStyle/>
          <a:p>
            <a:r>
              <a:rPr/>
              <a:t/>
            </a:r>
          </a:p>
        </p:txBody>
      </p:sp>
      <p:sp>
        <p:nvSpPr>
          <p:cNvPr id="13" name="Shape 13">
            <a:extLst>
              <a:ext uri="{FF2B5EF4-FFF2-40B4-BE49-F238E27FC236}">
                <a16:creationId xmlns:a16="http://schemas.microsoft.com/office/drawing/2014/main" id="{4D07D1D0-B457-4E31-B9CB-4039A62C14A6}"/>
              </a:ext>
            </a:extLst>
          </p:cNvPr>
          <p:cNvSpPr/>
          <p:nvPr/>
        </p:nvSpPr>
        <p:spPr>
          <a:xfrm>
            <a:off x="5905500" y="3333750"/>
            <a:ext cx="5524500" cy="628650"/>
          </a:xfrm>
          <a:prstGeom prst="roundRect">
            <a:avLst/>
          </a:prstGeom>
          <a:solidFill>
            <a:srgbClr val="0A2E6E"/>
          </a:solidFill>
        </p:spPr>
        <p:txBody>
          <a:bodyPr wrap="square" rtlCol="0" lIns="0" tIns="0" rIns="0" bIns="0" anchor="ctr"/>
          <a:lstStyle/>
          <a:p>
            <a:pPr algn="ctr">
              <a:lnSpc>
                <a:spcPct val="115000"/>
              </a:lnSpc>
              <a:spcAft>
                <a:spcPts val="300"/>
              </a:spcAft>
            </a:pPr>
            <a:r>
              <a:rPr sz="1600" b="1">
                <a:solidFill>
                  <a:srgbClr val="FFFFFF"/>
                </a:solidFill>
              </a:rPr>
              <a:t>跨机构｜可信科研协同网络</a:t>
            </a:r>
          </a:p>
          <a:p>
            <a:pPr algn="ctr">
              <a:lnSpc>
                <a:spcPct val="115000"/>
              </a:lnSpc>
            </a:pPr>
            <a:r>
              <a:rPr sz="1100">
                <a:solidFill>
                  <a:srgbClr val="C9DBFF"/>
                </a:solidFill>
              </a:rPr>
              <a:t>把各家医院和科研机构连接成网</a:t>
            </a:r>
          </a:p>
        </p:txBody>
      </p:sp>
      <p:sp>
        <p:nvSpPr>
          <p:cNvPr id="14" name="Shape 14">
            <a:extLst>
              <a:ext uri="{FF2B5EF4-FFF2-40B4-BE49-F238E27FC236}">
                <a16:creationId xmlns:a16="http://schemas.microsoft.com/office/drawing/2014/main" id="{ED55DFFB-2EE0-4341-BF09-CF682CF43BC2}"/>
              </a:ext>
            </a:extLst>
          </p:cNvPr>
          <p:cNvSpPr/>
          <p:nvPr/>
        </p:nvSpPr>
        <p:spPr>
          <a:xfrm>
            <a:off x="762000" y="4171950"/>
            <a:ext cx="10668000" cy="533400"/>
          </a:xfrm>
          <a:prstGeom prst="roundRect">
            <a:avLst/>
          </a:prstGeom>
          <a:solidFill>
            <a:srgbClr val="EAF1FE"/>
          </a:solidFill>
        </p:spPr>
        <p:txBody>
          <a:bodyPr wrap="square" rtlCol="0" lIns="0" tIns="0" rIns="0" bIns="0" anchor="ctr"/>
          <a:lstStyle/>
          <a:p>
            <a:pPr algn="ctr">
              <a:lnSpc>
                <a:spcPct val="118000"/>
              </a:lnSpc>
            </a:pPr>
            <a:r>
              <a:rPr sz="1500" b="1">
                <a:solidFill>
                  <a:srgbClr val="0058FF"/>
                </a:solidFill>
              </a:rPr>
              <a:t>在三个前提下，足不出户联合做国家级乃至国际级的大科研</a:t>
            </a:r>
          </a:p>
        </p:txBody>
      </p:sp>
      <p:sp>
        <p:nvSpPr>
          <p:cNvPr id="15" name="TextBox 15">
            <a:extLst>
              <a:ext uri="{FF2B5EF4-FFF2-40B4-BE49-F238E27FC236}">
                <a16:creationId xmlns:a16="http://schemas.microsoft.com/office/drawing/2014/main" id="{D14FB5BD-A32E-4B6E-BC23-43A5BF375D68}"/>
              </a:ext>
            </a:extLst>
          </p:cNvPr>
          <p:cNvSpPr txBox="1"/>
          <p:nvPr/>
        </p:nvSpPr>
        <p:spPr>
          <a:xfrm>
            <a:off x="762000" y="4933950"/>
            <a:ext cx="10668000" cy="723900"/>
          </a:xfrm>
        </p:spPr>
        <p:txBody>
          <a:bodyPr wrap="square" rtlCol="0" lIns="0" tIns="0" rIns="0" bIns="0" anchor="t"/>
          <a:lstStyle/>
          <a:p>
            <a:pPr algn="ctr">
              <a:lnSpc>
                <a:spcPct val="108000"/>
              </a:lnSpc>
            </a:pPr>
            <a:r>
              <a:rPr sz="4400" b="1">
                <a:solidFill>
                  <a:srgbClr val="16202E"/>
                </a:solidFill>
              </a:rPr>
              <a:t>谢谢大家</a:t>
            </a:r>
          </a:p>
        </p:txBody>
      </p:sp>
      <p:sp>
        <p:nvSpPr>
          <p:cNvPr id="16" name="TextBox 16">
            <a:extLst>
              <a:ext uri="{FF2B5EF4-FFF2-40B4-BE49-F238E27FC236}">
                <a16:creationId xmlns:a16="http://schemas.microsoft.com/office/drawing/2014/main" id="{71FE9660-762F-4A48-A463-E85A6761191E}"/>
              </a:ext>
            </a:extLst>
          </p:cNvPr>
          <p:cNvSpPr txBox="1"/>
          <p:nvPr/>
        </p:nvSpPr>
        <p:spPr>
          <a:xfrm>
            <a:off x="762000" y="5638800"/>
            <a:ext cx="10668000" cy="438150"/>
          </a:xfrm>
        </p:spPr>
        <p:txBody>
          <a:bodyPr wrap="square" rtlCol="0" lIns="0" tIns="0" rIns="0" bIns="0" anchor="t"/>
          <a:lstStyle/>
          <a:p>
            <a:pPr algn="ctr">
              <a:lnSpc>
                <a:spcPct val="125000"/>
              </a:lnSpc>
            </a:pPr>
            <a:r>
              <a:rPr sz="1200">
                <a:solidFill>
                  <a:srgbClr val="5B6B80"/>
                </a:solidFill>
              </a:rPr>
              <a:t>演讲人｜中国电子云  李化名      主办方｜广州实验室 × 澳门科技大学</a:t>
            </a:r>
          </a:p>
        </p:txBody>
      </p:sp>
      <p:sp>
        <p:nvSpPr>
          <p:cNvPr id="17" name="TextBox 17">
            <a:extLst>
              <a:ext uri="{FF2B5EF4-FFF2-40B4-BE49-F238E27FC236}">
                <a16:creationId xmlns:a16="http://schemas.microsoft.com/office/drawing/2014/main" id="{038510F1-A805-4081-8DE3-2DEE065DAD08}"/>
              </a:ext>
            </a:extLst>
          </p:cNvPr>
          <p:cNvSpPr txBox="1"/>
          <p:nvPr/>
        </p:nvSpPr>
        <p:spPr>
          <a:xfrm>
            <a:off x="762000" y="6324600"/>
            <a:ext cx="5334000" cy="247650"/>
          </a:xfrm>
        </p:spPr>
        <p:txBody>
          <a:bodyPr wrap="square" rtlCol="0" lIns="0" tIns="0" rIns="0" bIns="0" anchor="t"/>
          <a:lstStyle/>
          <a:p>
            <a:pPr>
              <a:lnSpc>
                <a:spcPct val="110000"/>
              </a:lnSpc>
            </a:pPr>
            <a:r>
              <a:rPr sz="1100">
                <a:solidFill>
                  <a:srgbClr val="8A9AB0"/>
                </a:solidFill>
              </a:rPr>
              <a:t>TREMAC 与可信数据空间技术融合探索</a:t>
            </a:r>
          </a:p>
        </p:txBody>
      </p:sp>
      <p:sp>
        <p:nvSpPr>
          <p:cNvPr id="18" name="TextBox 18">
            <a:extLst>
              <a:ext uri="{FF2B5EF4-FFF2-40B4-BE49-F238E27FC236}">
                <a16:creationId xmlns:a16="http://schemas.microsoft.com/office/drawing/2014/main" id="{0F657517-2C41-4E04-A345-009AB921B62E}"/>
              </a:ext>
            </a:extLst>
          </p:cNvPr>
          <p:cNvSpPr txBox="1"/>
          <p:nvPr/>
        </p:nvSpPr>
        <p:spPr>
          <a:xfrm>
            <a:off x="10287000" y="6324600"/>
            <a:ext cx="1143000" cy="247650"/>
          </a:xfrm>
        </p:spPr>
        <p:txBody>
          <a:bodyPr wrap="square" rtlCol="0" lIns="0" tIns="0" rIns="0" bIns="0" anchor="t"/>
          <a:lstStyle/>
          <a:p>
            <a:pPr algn="r">
              <a:lnSpc>
                <a:spcPct val="110000"/>
              </a:lnSpc>
            </a:pPr>
            <a:r>
              <a:rPr sz="1100">
                <a:solidFill>
                  <a:srgbClr val="8A9AB0"/>
                </a:solidFill>
              </a:rPr>
              <a:t>10 / 10</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C43E1C"/>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Microsoft YaHei"/>
        <a:cs typeface=""/>
      </a:majorFont>
      <a:minorFont>
        <a:latin typeface="Calibri"/>
        <a:ea typeface="Microsoft YaHei"/>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
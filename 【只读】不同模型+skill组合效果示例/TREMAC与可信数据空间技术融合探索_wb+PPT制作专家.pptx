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各位领导、各位专家，大家下午好！我是中国电子云的李化名，非常荣幸向各位做一次汇报与分享。</a:t>
            </a:r>
          </a:p>
          <a:p>
            <a:r>
              <a:t>前面有专家介绍了 TRE 在国外的应用；国内面向数据流通利用，也有自己的技术路线——可信数据空间。</a:t>
            </a:r>
          </a:p>
          <a:p>
            <a:r>
              <a:t>今天在座很多是医院代表。大家搞科研最头疼的是什么？想做顶尖的大科研，单靠一家医院的样本往往不够，必须多家联合；可一提到把数据拿出来共享，院长和信息科主任就犯难了：病人隐私泄露了谁负责？积累十几年的数据资产被人拷走了，主权怎么保障？</a:t>
            </a:r>
          </a:p>
          <a:p>
            <a:r>
              <a:t>所以今天我想用 15 分钟讲清楚一件事：如何用最新的技术底座，帮大家稳稳实现四个目标——原始数据留在本地；患者隐私全程受保护；数据给谁用、怎么用全程可管控；并在这三个前提下，足不出户联合做国家级乃至国际级的大科研。这就是从单点的「可信研究环境」，走向跨机构的「可信科研协同网络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先看一眼国家大势。很多专家会问：医疗数据安全管得这么严，我们搞跨院协同合规吗？</a:t>
            </a:r>
          </a:p>
          <a:p>
            <a:r>
              <a:t>请看这张政策脉络图。从顶层的「数据 20 条」——数据领域的宪法，到国家数据局的《国家数据基础设施建设指引》和《可信数据空间发展行动计划》，国家已明确把「可信数据空间」定为核心技术路线。信号很清楚：不是让大家冒着违规风险「私下拷硬盘」，而是用国家标准的可信数据基础设施，既守住安全红线，又名正言顺地支撑科研与临床创新。</a:t>
            </a:r>
          </a:p>
          <a:p>
            <a:r>
              <a:t>那什么是可信数据空间？打个比方，就是一张「有严格门禁、有统一规则、还能自动记账的数据流通高速路网」，有三个核心能力：</a:t>
            </a:r>
          </a:p>
          <a:p>
            <a:r>
              <a:t>一是可信管控：靠共识规则、数字合约和使用控制，让医院对自己的数据有绝对控制权；</a:t>
            </a:r>
          </a:p>
          <a:p>
            <a:r>
              <a:t>二是资源交互：用标准连接器把数据孤岛连成网——但连网绝不等于搬空医院的库房；</a:t>
            </a:r>
          </a:p>
          <a:p>
            <a:r>
              <a:t>三是价值共创：医院、高校、实验室、药企和算法团队协同做科研，成果按贡献清清楚楚分配权益。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再看今天的两位主角：TRE，可信研究环境；TDS，可信数据空间。它们以前沿两条线各自演进。</a:t>
            </a:r>
          </a:p>
          <a:p>
            <a:r>
              <a:t>左边 TRE，各位在国际顶刊里经常看到：最早像医院自建的「全封闭安全实验室」，做隔离计算和成果审核；后来走向云化 AI 训练；今天单靠一家样本不够用了，正在走向「联邦化」，多个节点互联做跨机构联合分析。右边 TDS，从早期的数据目录共享，到 2024 年的可信数据空间，再到 2025 年跨空间的「身份互认、规则互认、跨域协作」。</a:t>
            </a:r>
          </a:p>
          <a:p>
            <a:r>
              <a:t>大家看中间的交汇点：TRE 走向联邦协作，可信数据空间走向空间互联，两条路径在医疗科研场景交汇，成果就是一个既保证数据不出域、又能跨机构联合研究的可信科研协作网络。</a:t>
            </a:r>
          </a:p>
          <a:p>
            <a:r>
              <a:t>那已经有 TRE，为什么还要融合可信数据空间？两者都有可信身份、细粒度授权和隐私保护的基础，但能力层级不同：</a:t>
            </a:r>
          </a:p>
          <a:p>
            <a:r>
              <a:t>TRE 管环境、研究、计算、输出，解决「敏感数据怎么算」——遵循国际五安全原则，原始病历死死留在环境内，研究员在虚拟桌面里算完，只能导出经审查的统计表、图表或模型参数，连一个病人的明细都带不走；</a:t>
            </a:r>
          </a:p>
          <a:p>
            <a:r>
              <a:t>可信数据空间管连接、规则、流通、价值，解决「数据怎么流通」——十几家医院各有一间保密实验室，怎么连起来？怎么签联合研究合约？怎么监管履约、分配收益？</a:t>
            </a:r>
          </a:p>
          <a:p>
            <a:r>
              <a:t>两者一组合，就从「单点的安全研究环境」升级成「跨机构的科研协作网络」。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融合之后，发起一项多中心科研分几步？我们总结了「五步闭环」：</a:t>
            </a:r>
          </a:p>
          <a:p>
            <a:r>
              <a:t>第一步，主体接入与资源发布：医院通过连接器接入，不上传任何病人原始数据，只发布一条目录——「我院有 5000 例某呼吸疾病脱敏队列数据，可用于科研」；</a:t>
            </a:r>
          </a:p>
          <a:p>
            <a:r>
              <a:t>第二步，项目申请与供需匹配：课题牵头方提出需求，在目录里匹配到合适的几家医院；</a:t>
            </a:r>
          </a:p>
          <a:p>
            <a:r>
              <a:t>第三步，规则约定与授权：签署「数字合约」，允许哪几个人、什么期限、用什么工具、输出什么要求、责任边界，全部写成系统强制执行的规则；</a:t>
            </a:r>
          </a:p>
          <a:p>
            <a:r>
              <a:t>第四步，进入 TRE 开展计算：数据不脱离医院控制，研究人员在受控环境做分析、训练与验证；</a:t>
            </a:r>
          </a:p>
          <a:p>
            <a:r>
              <a:t>第五步，输出审查与成果交付：结果经风险披露审查才能导出；全程履约存证、计量、评价，作为收益与成果分配的依据。</a:t>
            </a:r>
          </a:p>
          <a:p>
            <a:r>
              <a:t>落到系统上，就是下面这张全景架构图。最底层：A 医院有临床诊疗数据，B 医院有医学影像数据，C 机构有科研队列数据，原始数据 100% 留在各家本地；各家在自家 TRE 的受控工作区做本地计算，经输出审查后，只有合规的汇总结果往上走。中间层是可信数据空间协同服务平台，用「机构接入连接器 + 中心服务平台」把身份、目录、项目、授权、任务、审计全部管起来。</a:t>
            </a:r>
          </a:p>
          <a:p>
            <a:r>
              <a:t>四句话概括：资源跨机构发现、授权按项目协同、计算在可信环境执行、结果经审查共享——原始数据一步没出自家大门，跨机构科研却高效跑起来了！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要支撑这套闭环，需要五项关键技术，我用五个关键词概括：认得准、找得到、管得住、送不出、算得了。这一页先讲前三项。</a:t>
            </a:r>
          </a:p>
          <a:p>
            <a:r>
              <a:t>① 融合身份认证——认得准：把权威 CA 数字证书和区块链分布式身份（DID）结合，做到「权威签发、链上存证、跨域互认」。过去 10 家医院协同就有 10 套账号体系，重复登录、重复认证；现在患者、医生和机构统一身份认证一次、所有机构互认，既免去重复建号，又严防冒名调阅，打通「数据敢于供得出」的第一道信任门槛。</a:t>
            </a:r>
          </a:p>
          <a:p>
            <a:r>
              <a:t>② 智能检索推荐——找得到：A 医院写「慢阻肺」、B 医院写「COPD」，关键词搜半天也匹配不上。我们把大模型 RAG 检索增强生成和医学知识图谱结合，医生用自然语言输入「COPD + 肺功能下降 + 近 3 年」，系统直接推荐匹配的脱敏病例集。</a:t>
            </a:r>
          </a:p>
          <a:p>
            <a:r>
              <a:t>③ 数字合约与使用控制——管得住：这是可信数据空间的核心。过去签完纸质协议，对方用了几次、有没有超期乱用，医院很难实时掌握。现在把规则写进区块链数字合约，配合使用控制引擎：药企申请某批脱敏数据，系统严格按「仅限研究用途、限 100 次调用」自动控量，「付没付钱、能不能用、用多少次」全部变成机器执行的铁律。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后两项技术，解决「数据进来以后」的安全问题。</a:t>
            </a:r>
          </a:p>
          <a:p>
            <a:r>
              <a:t>④ 安全数据交付——送不出：权限批了，研究人员进来分析住院病历，怎么防止复制走、U 盘拷走、截屏流出去？我们用「云桌面 + 数据沙箱」双重隔离：沙箱在底层用容器、虚拟化和硬件隔离（如 Intel SGX）保护数据处理，云桌面在前端控制访问会话。真实数据只在服务端运行，传到研究员屏幕上的只是一串加密的「画面像素流」——禁止复制粘贴、U 盘自动禁用、截屏自带溯源水印，做到「可用不可见、终端不落地」，一条原始数据都带不出医院。</a:t>
            </a:r>
          </a:p>
          <a:p>
            <a:r>
              <a:t>⑤ 安全数据计算——算得了：如果多家医院的数据连进同一个沙箱都不允许，怎么一起算？这就用隐私保护计算：联邦学习、多方安全计算、差分隐私和同态加密。比如联合训练「肺癌早期筛查 AI 模型」：一家样本太少，模型泛化差、容易看走眼；集中训练又有极大隐私风险。现在各家 CT 影像和病历不出本院，只交换加密后的模型参数，实现「数据不动模型动」。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讲到这儿，搞医疗 AI 的专家一定会问最灵魂的问题：数据留在本地、只传参数合练，模型会变笨吗？比得上把所有数据堆在一起练吗？</a:t>
            </a:r>
          </a:p>
          <a:p>
            <a:r>
              <a:t>为此我们研发了「异步本地更新的模型融合技术」：A、B 两家医院各自用私域临床数据在本地训练模型副本，数据完全不互通；再通过「梯度融合器」定期把两边学到的本地梯度同步融合，升级成全局行业模型——数据不出域，价值可流转，模型共同成长。</a:t>
            </a:r>
          </a:p>
          <a:p>
            <a:r>
              <a:t>效果看右边的实测成绩单。我们在不同数据集、不同任务、五种参数尺寸的大模型上做了对比：方案 A 是两家各 64 万条样本合并成 128 万条一起训练，定为 100% 基准；方案 B 是数据不合并、各自本地训练再做梯度融合。</a:t>
            </a:r>
          </a:p>
          <a:p>
            <a:r>
              <a:t>中文医疗对话 medical_zh 任务上，不合并也达到合并效果的 92.85%；多任务和预训练语料上达到 108.2%；14B、8B、4B 模型上更是达到 108% 到 133%，实现反超——因为分开训练再融合，反而减少了单一脏数据的过拟合干扰。</a:t>
            </a:r>
          </a:p>
          <a:p>
            <a:r>
              <a:t>综合来看，效果达成度在 82% 到 133% 之间。数据留在本地，不仅安全合规，效果也完全能支撑顶尖的大科研！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接下来汇报两个已经跑通的标杆案例，都建在深圳数据基础设施与可信数据空间之上。</a:t>
            </a:r>
          </a:p>
          <a:p>
            <a:r>
              <a:t>第一个，统一授权推动个人医疗数据合规流通——「商保理赔」。过去理赔难、理赔慢：数据分散在各医院，受隐私合规限制，保司与医院无法拉通，医院配合也缺激励。深圳依托深圳数据交易所的可信数据空间与统一授权平台，在采集端（挂号时）和使用端（线上提交理赔时）建立双重个人统一授权，拉通医院 HIS、卫健委人口健康平台与保险公司，并按「准许成本 + 合理收益」为医院构建定价与收益分配机制。</a:t>
            </a:r>
          </a:p>
          <a:p>
            <a:r>
              <a:t>据公开报道，南山区通过公共数据授权运营，联合微信、微保落成深圳首个「商保直付」通道：覆盖公立医院就诊人群 300 万、住院人群 14 万，门诊平均理赔 28 分钟，住院最快 2 小时，保险机构降本 50%——老百姓少跑腿、医院合规获益、保司成本下降，一举三得。</a:t>
            </a:r>
          </a:p>
          <a:p>
            <a:r>
              <a:t>第二个，「心脏病 AI 密文风险诊断模型」。针对多院数据难共享、安全风险高、基层诊断能力不均、真实世界研究难开展四大痛点：医院 A、B、C 接入平台，原始数据留在本院，在院内完成加密处理；再把密文数据送入可信数据空间的隐私计算环境，多方安全融合、联合建模。现在这个模型既辅助临床医生做心脏病风险预测、赋能基层诊疗，也合规支撑了跨院真实世界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再往前看一步：我们不仅要在国内医院之间协同，更要跟港澳、跟国际顶尖科研机构做跨境联合研究，而数据出境管得更严，怎么办？</a:t>
            </a:r>
          </a:p>
          <a:p>
            <a:r>
              <a:t>「TREMAC + 可信数据空间」天生就是破解跨境医工科研难题的金钥匙。国际上广泛使用 TRE 标准，国内正在推广可信数据空间标准。用这套融合架构，内地数据留在内地机房，港澳和海外数据留在当地，不做敏感的原始数据跨境搬运，只做「跨境身份互认、规则互认、任务跨境分发、合规结果跨境共享」，就能在符合国家数据出境安全监管的前提下，把大湾区乃至全球的医疗科研网络连成一体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各位领导、各位专家：TREMAC 与可信数据空间的融合，归根结底是给实验室和医院打造一套「既能干得成大事，又能睡得着觉」的科研基座——</a:t>
            </a:r>
          </a:p>
          <a:p>
            <a:r>
              <a:t>第一，数据稳稳留在本地，守住各家的核心资产；</a:t>
            </a:r>
          </a:p>
          <a:p>
            <a:r>
              <a:t>第二，患者隐私全栈保护，不触碰法律与伦理红线；</a:t>
            </a:r>
          </a:p>
          <a:p>
            <a:r>
              <a:t>第三，每一次数据使用清晰可控，数据持有方握着总开关；</a:t>
            </a:r>
          </a:p>
          <a:p>
            <a:r>
              <a:t>最终，把各家医院和科研机构连接成网，一起做出具有国际影响力的大科研、大成果！</a:t>
            </a:r>
          </a:p>
          <a:p>
            <a:r>
              <a:t>我的汇报就到这里，谢谢大家！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" y="822960"/>
            <a:ext cx="64008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中国电子云</a:t>
            </a:r>
            <a:r>
              <a:rPr sz="950" b="0" i="0" spc="16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　·　医疗科研协同技术分享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89888"/>
            <a:ext cx="45720" cy="17556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5" y="1316736"/>
            <a:ext cx="6309360" cy="17373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TREMAC 与可信数据空间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技术融合探索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5" y="3163824"/>
            <a:ext cx="603504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从可信研究环境到可信科研协同网络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42415" y="3584448"/>
            <a:ext cx="5907025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42415" y="3730751"/>
            <a:ext cx="73152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8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演讲人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3712463"/>
            <a:ext cx="47548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李化名　·　中国电子云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4037075"/>
            <a:ext cx="73152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8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主办方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4018787"/>
            <a:ext cx="47548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广州实验室　×　澳门科技大学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4343399"/>
            <a:ext cx="73152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8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受众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3936" y="4325112"/>
            <a:ext cx="47548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各大医院代表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056632"/>
            <a:ext cx="566928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6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议程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5321808"/>
            <a:ext cx="310896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17236"/>
            <a:ext cx="210312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缘起与政策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5321808"/>
            <a:ext cx="310896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317236"/>
            <a:ext cx="210312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两条技术路径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" y="5705856"/>
            <a:ext cx="310896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701284"/>
            <a:ext cx="210312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融合方案与关键技术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4" y="5705856"/>
            <a:ext cx="310896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5701284"/>
            <a:ext cx="210312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实践与展望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822960"/>
            <a:ext cx="3941063" cy="5230368"/>
          </a:xfrm>
          <a:prstGeom prst="roundRect">
            <a:avLst>
              <a:gd name="adj" fmla="val 928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7" y="1078992"/>
            <a:ext cx="32918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四大锚点</a:t>
            </a: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　贯穿全篇的四条底线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7" y="1463040"/>
            <a:ext cx="1591056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1609344"/>
            <a:ext cx="5486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1865376"/>
            <a:ext cx="1298448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数据在本地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2331720"/>
            <a:ext cx="1316736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数据主权属地化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19488" y="1463040"/>
            <a:ext cx="1591056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1609344"/>
            <a:ext cx="5486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1865376"/>
            <a:ext cx="1298448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隐私保护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331720"/>
            <a:ext cx="1316736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全栈隐私内生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82127" y="3090672"/>
            <a:ext cx="1591056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3236976"/>
            <a:ext cx="5486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3493008"/>
            <a:ext cx="1298448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可管控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3959352"/>
            <a:ext cx="1316736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细粒度使用控制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19488" y="3090672"/>
            <a:ext cx="1591056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3236976"/>
            <a:ext cx="5486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493008"/>
            <a:ext cx="1298448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能做大科研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959352"/>
            <a:ext cx="1316736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跨域协同大科研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2127" y="5138928"/>
            <a:ext cx="3310128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从单点的「可信研究环境」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到跨机构的「可信科研协同网络」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3308"/>
            <a:ext cx="86868" cy="8686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3" y="361188"/>
            <a:ext cx="65836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01 / 缘起与政策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2356"/>
            <a:ext cx="9326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可信数据空间，是国家定下的技术路线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46988"/>
            <a:ext cx="99669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从顶层制度到发展行动计划，合规路径已经清晰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6688" y="237744"/>
            <a:ext cx="146304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EEF3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63040"/>
            <a:ext cx="10872216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19088"/>
            <a:ext cx="76809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中国电子云　·　TREMAC 与可信数据空间技术融合探索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19088"/>
            <a:ext cx="8412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45920"/>
            <a:ext cx="182880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政策脉络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2395728"/>
            <a:ext cx="10287000" cy="0"/>
          </a:xfrm>
          <a:prstGeom prst="line">
            <a:avLst/>
          </a:prstGeom>
          <a:ln w="15875">
            <a:solidFill>
              <a:srgbClr val="D6E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46403" y="2103120"/>
            <a:ext cx="292608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顶层制度</a:t>
            </a:r>
          </a:p>
        </p:txBody>
      </p:sp>
      <p:sp>
        <p:nvSpPr>
          <p:cNvPr id="13" name="Oval 12"/>
          <p:cNvSpPr/>
          <p:nvPr/>
        </p:nvSpPr>
        <p:spPr>
          <a:xfrm>
            <a:off x="2340863" y="2327148"/>
            <a:ext cx="137160" cy="137160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77439" y="2363724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" y="2560320"/>
            <a:ext cx="3145536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「数据 20 条」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" y="2871216"/>
            <a:ext cx="3145536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数据领域的基础制度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被称作「数据领域的宪法」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8556" y="2103120"/>
            <a:ext cx="292608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基础设施</a:t>
            </a:r>
          </a:p>
        </p:txBody>
      </p:sp>
      <p:sp>
        <p:nvSpPr>
          <p:cNvPr id="18" name="Oval 17"/>
          <p:cNvSpPr/>
          <p:nvPr/>
        </p:nvSpPr>
        <p:spPr>
          <a:xfrm>
            <a:off x="5843016" y="2327148"/>
            <a:ext cx="137160" cy="137160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79592" y="2363724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8828" y="2560320"/>
            <a:ext cx="3145536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《国家数据基础设施建设指引》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8828" y="2871216"/>
            <a:ext cx="3145536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国家数据局发布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数据流通利用的基础设施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0708" y="2103120"/>
            <a:ext cx="292608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行动计划</a:t>
            </a:r>
          </a:p>
        </p:txBody>
      </p:sp>
      <p:sp>
        <p:nvSpPr>
          <p:cNvPr id="23" name="Oval 22"/>
          <p:cNvSpPr/>
          <p:nvPr/>
        </p:nvSpPr>
        <p:spPr>
          <a:xfrm>
            <a:off x="9345168" y="2327148"/>
            <a:ext cx="137160" cy="137160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81744" y="2363724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0980" y="2560320"/>
            <a:ext cx="3145536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《可信数据空间发展行动计划》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0980" y="2871216"/>
            <a:ext cx="3145536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国家数据局发布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核心技术路线正式确立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3419856"/>
            <a:ext cx="10872216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3547872"/>
            <a:ext cx="548640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什么是可信数据空间？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840480"/>
            <a:ext cx="1078992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一张有严格门禁、有统一规则、还能自动记账的数据流通「高速路网」。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242816"/>
            <a:ext cx="3502152" cy="1773936"/>
          </a:xfrm>
          <a:prstGeom prst="roundRect">
            <a:avLst>
              <a:gd name="adj" fmla="val 1546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480559"/>
            <a:ext cx="45720" cy="3840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4443983"/>
            <a:ext cx="182880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4681727"/>
            <a:ext cx="3044952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可信管控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5120640"/>
            <a:ext cx="3081528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共识规则 · 数字合约 · 使用控制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5394959"/>
            <a:ext cx="3081528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医院对自有数据拥有绝对控制权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4242816"/>
            <a:ext cx="3502152" cy="1773936"/>
          </a:xfrm>
          <a:prstGeom prst="roundRect">
            <a:avLst>
              <a:gd name="adj" fmla="val 1546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4480559"/>
            <a:ext cx="45720" cy="3840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62856" y="4443983"/>
            <a:ext cx="182880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2856" y="4681727"/>
            <a:ext cx="3044952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资源交互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6" y="5120640"/>
            <a:ext cx="3081528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标准连接器把数据孤岛连成网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2856" y="5394959"/>
            <a:ext cx="3081528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连网，绝不等于搬空医院的库房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28432" y="4242816"/>
            <a:ext cx="3502152" cy="1773936"/>
          </a:xfrm>
          <a:prstGeom prst="roundRect">
            <a:avLst>
              <a:gd name="adj" fmla="val 1546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2" y="4480559"/>
            <a:ext cx="45720" cy="3840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47888" y="4443983"/>
            <a:ext cx="182880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4681727"/>
            <a:ext cx="3044952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价值共创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5120640"/>
            <a:ext cx="3081528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医院 · 高校 · 实验室 · 药企协同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5394959"/>
            <a:ext cx="3081528" cy="42062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成果按贡献清清楚楚分配权益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3308"/>
            <a:ext cx="86868" cy="8686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3" y="361188"/>
            <a:ext cx="65836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02 / 两条技术路径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2356"/>
            <a:ext cx="9326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TRE 与 TDS：两条路径正在交汇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46988"/>
            <a:ext cx="99669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一条从安全实验室走向联邦，一条从目录共享走向空间互联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6688" y="237744"/>
            <a:ext cx="146304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EEF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63040"/>
            <a:ext cx="10872216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19088"/>
            <a:ext cx="76809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中国电子云　·　TREMAC 与可信数据空间技术融合探索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19088"/>
            <a:ext cx="8412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47088"/>
            <a:ext cx="1243584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93976"/>
            <a:ext cx="1243584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可信研究环境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10512" y="2103120"/>
            <a:ext cx="109728" cy="0"/>
          </a:xfrm>
          <a:prstGeom prst="line">
            <a:avLst/>
          </a:prstGeom>
          <a:ln w="25400">
            <a:solidFill>
              <a:srgbClr val="D6E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56816" y="1828800"/>
            <a:ext cx="184708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全封闭安全实验室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隔离计算 · 成果审核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94760" y="2103120"/>
            <a:ext cx="109727" cy="0"/>
          </a:xfrm>
          <a:prstGeom prst="line">
            <a:avLst/>
          </a:prstGeom>
          <a:ln w="1778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13632" y="1828800"/>
            <a:ext cx="184708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云化 AI 训练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51576" y="2103120"/>
            <a:ext cx="109728" cy="0"/>
          </a:xfrm>
          <a:prstGeom prst="line">
            <a:avLst/>
          </a:prstGeom>
          <a:ln w="1778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870448" y="1828800"/>
            <a:ext cx="184708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联邦化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多节点互联 · 跨机构联合分析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688336"/>
            <a:ext cx="1243584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TDS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935224"/>
            <a:ext cx="1243584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可信数据空间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10512" y="2944368"/>
            <a:ext cx="109728" cy="0"/>
          </a:xfrm>
          <a:prstGeom prst="line">
            <a:avLst/>
          </a:prstGeom>
          <a:ln w="25400">
            <a:solidFill>
              <a:srgbClr val="D6E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956816" y="2670048"/>
            <a:ext cx="184708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数据目录共享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94760" y="2944368"/>
            <a:ext cx="109727" cy="0"/>
          </a:xfrm>
          <a:prstGeom prst="line">
            <a:avLst/>
          </a:prstGeom>
          <a:ln w="1778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913632" y="2670048"/>
            <a:ext cx="184708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2024 可信数据空间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51576" y="2944368"/>
            <a:ext cx="109728" cy="0"/>
          </a:xfrm>
          <a:prstGeom prst="line">
            <a:avLst/>
          </a:prstGeom>
          <a:ln w="1778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870448" y="2670048"/>
            <a:ext cx="184708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73152" bIns="18288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2025 跨空间互认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身份 · 规则 · 跨域协作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1792224"/>
            <a:ext cx="3282696" cy="1426464"/>
          </a:xfrm>
          <a:prstGeom prst="roundRect">
            <a:avLst>
              <a:gd name="adj" fmla="val 2564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1938528"/>
            <a:ext cx="274320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6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交 汇 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194560"/>
            <a:ext cx="283464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可信科研协作网络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2578608"/>
            <a:ext cx="283464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数据不出域 · 跨机构联合研究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45552" y="2103120"/>
            <a:ext cx="402336" cy="256032"/>
          </a:xfrm>
          <a:prstGeom prst="line">
            <a:avLst/>
          </a:prstGeom>
          <a:ln w="15875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845552" y="2688336"/>
            <a:ext cx="402336" cy="256032"/>
          </a:xfrm>
          <a:prstGeom prst="line">
            <a:avLst/>
          </a:prstGeom>
          <a:ln w="15875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8368" y="3456432"/>
            <a:ext cx="10872216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3566160"/>
            <a:ext cx="658368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既然已有 TRE，为什么还要融合？</a:t>
            </a:r>
            <a:r>
              <a:rPr sz="9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　两者同有可信身份、细粒度授权与隐私保护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913632"/>
            <a:ext cx="5230368" cy="384048"/>
          </a:xfrm>
          <a:prstGeom prst="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3977639"/>
            <a:ext cx="49377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TRE｜管环境 · 研究 · 计算 · 输出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370832"/>
            <a:ext cx="49377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解决：敏感数据怎么算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663440"/>
            <a:ext cx="4956048" cy="2103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FB2F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遵循国际五安全原则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4882896"/>
            <a:ext cx="4956048" cy="2103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FB2F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原始病历死死留在环境内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102352"/>
            <a:ext cx="4956048" cy="2103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FB2F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虚拟桌面算完，只能导出经审查结果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5321807"/>
            <a:ext cx="4956048" cy="2103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FB2F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连一个病人的明细都带不走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1" y="3913632"/>
            <a:ext cx="5230368" cy="384048"/>
          </a:xfrm>
          <a:prstGeom prst="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5936" y="3977639"/>
            <a:ext cx="49377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TDS｜管连接 · 规则 · 流通 · 价值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5936" y="4370832"/>
            <a:ext cx="49377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解决：数据怎么流通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936" y="4663440"/>
            <a:ext cx="4956048" cy="2103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FB2F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十几家医院各有一间保密实验室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4882896"/>
            <a:ext cx="4956048" cy="2103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FB2F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怎么连起来、怎么签联合合约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5102352"/>
            <a:ext cx="4956048" cy="2103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FB2F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怎么监管履约、怎么分配收益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5321807"/>
            <a:ext cx="4956048" cy="2103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FB2FF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把单点安全环境连成一张网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5760720"/>
            <a:ext cx="10872215" cy="402336"/>
          </a:xfrm>
          <a:prstGeom prst="roundRect">
            <a:avLst>
              <a:gd name="adj" fmla="val 9090"/>
            </a:avLst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" y="5815584"/>
            <a:ext cx="1050645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 + TDS</a:t>
            </a:r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　＝　从「单点安全研究环境」升级为「跨机构科研协作网络」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3308"/>
            <a:ext cx="86868" cy="8686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3" y="361188"/>
            <a:ext cx="65836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03 / 融合方案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2356"/>
            <a:ext cx="9326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融合之后怎么跑：五步闭环与三层架构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46988"/>
            <a:ext cx="99669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从一次多中心科研的发起，到结果合规交付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6688" y="237744"/>
            <a:ext cx="146304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EEF3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63040"/>
            <a:ext cx="10872216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19088"/>
            <a:ext cx="76809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中国电子云　·　TREMAC 与可信数据空间技术融合探索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19088"/>
            <a:ext cx="8412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45920"/>
            <a:ext cx="182880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五步闭环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65376"/>
            <a:ext cx="1938528" cy="106070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865376"/>
            <a:ext cx="1938528" cy="3200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956816"/>
            <a:ext cx="548640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39696"/>
            <a:ext cx="1700784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主体接入与资源发布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487168"/>
            <a:ext cx="1700784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连接器接入，只发布目录，不上传原始数据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24327" y="2368296"/>
            <a:ext cx="146305" cy="0"/>
          </a:xfrm>
          <a:prstGeom prst="line">
            <a:avLst/>
          </a:prstGeom>
          <a:ln w="1778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798064" y="1865376"/>
            <a:ext cx="1938528" cy="106070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8064" y="1865376"/>
            <a:ext cx="1938528" cy="3200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1956816"/>
            <a:ext cx="548640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139696"/>
            <a:ext cx="1700784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项目申请与供需匹配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487168"/>
            <a:ext cx="1700784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牵头方提需求，在目录中匹配多家医院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64024" y="2368296"/>
            <a:ext cx="146304" cy="0"/>
          </a:xfrm>
          <a:prstGeom prst="line">
            <a:avLst/>
          </a:prstGeom>
          <a:ln w="1778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937760" y="1865376"/>
            <a:ext cx="1938528" cy="106070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60" y="1865376"/>
            <a:ext cx="1938528" cy="3200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65776" y="1956816"/>
            <a:ext cx="548640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5776" y="2139696"/>
            <a:ext cx="1700784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规则约定与授权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5776" y="2487168"/>
            <a:ext cx="1700784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数字合约锁定人员、期限、工具与责任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03720" y="2368296"/>
            <a:ext cx="146304" cy="0"/>
          </a:xfrm>
          <a:prstGeom prst="line">
            <a:avLst/>
          </a:prstGeom>
          <a:ln w="1778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077456" y="1865376"/>
            <a:ext cx="1938528" cy="106070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7456" y="1865376"/>
            <a:ext cx="1938528" cy="3200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1956816"/>
            <a:ext cx="548640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2139696"/>
            <a:ext cx="1700784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进入 TRE 开展计算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2487168"/>
            <a:ext cx="1700784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数据不脱离医院，受控环境中分析训练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43416" y="2368296"/>
            <a:ext cx="146304" cy="0"/>
          </a:xfrm>
          <a:prstGeom prst="line">
            <a:avLst/>
          </a:prstGeom>
          <a:ln w="1778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9217152" y="1865376"/>
            <a:ext cx="1938528" cy="1060704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17152" y="1865376"/>
            <a:ext cx="1938528" cy="3200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8" y="1956816"/>
            <a:ext cx="548640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2139696"/>
            <a:ext cx="1700784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输出审查与成果交付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2487168"/>
            <a:ext cx="1700784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结果经风险披露审查，全程存证与计量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3090672"/>
            <a:ext cx="21945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全景架构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1097280" y="3401568"/>
            <a:ext cx="0" cy="2468880"/>
          </a:xfrm>
          <a:prstGeom prst="line">
            <a:avLst/>
          </a:prstGeom>
          <a:ln w="15875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 rot="16200000">
            <a:off x="548640" y="4636008"/>
            <a:ext cx="141732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仅合规汇总结果上浮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81328" y="3273552"/>
            <a:ext cx="10058400" cy="512064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00784" y="3346704"/>
            <a:ext cx="20116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跨机构联合研究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21608" y="3383280"/>
            <a:ext cx="758952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D6E4FF"/>
                </a:solidFill>
                <a:latin typeface="Microsoft YaHei"/>
                <a:ea typeface="Microsoft YaHei"/>
                <a:cs typeface="Microsoft YaHei"/>
              </a:rPr>
              <a:t>资源跨机构发现 · 授权按项目协同 · 计算在可信环境执行 · 结果经审查共享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4206240" y="3822191"/>
            <a:ext cx="0" cy="201169"/>
          </a:xfrm>
          <a:prstGeom prst="line">
            <a:avLst/>
          </a:prstGeom>
          <a:ln w="1397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778240" y="3822191"/>
            <a:ext cx="0" cy="201169"/>
          </a:xfrm>
          <a:prstGeom prst="line">
            <a:avLst/>
          </a:prstGeom>
          <a:ln w="1397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481328" y="4041648"/>
            <a:ext cx="10058400" cy="694944"/>
          </a:xfrm>
          <a:prstGeom prst="roundRect">
            <a:avLst>
              <a:gd name="adj" fmla="val 3947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00784" y="4206240"/>
            <a:ext cx="237744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可信数据空间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协同服务平台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33087" y="4224528"/>
            <a:ext cx="7863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33087" y="4224528"/>
            <a:ext cx="786384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身份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92623" y="4224528"/>
            <a:ext cx="7863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92623" y="4224528"/>
            <a:ext cx="786384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52159" y="4224528"/>
            <a:ext cx="7863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52159" y="4224528"/>
            <a:ext cx="786384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11696" y="4224528"/>
            <a:ext cx="7863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11696" y="4224528"/>
            <a:ext cx="786384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授权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71231" y="4224528"/>
            <a:ext cx="7863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71231" y="4224528"/>
            <a:ext cx="786384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30767" y="4224528"/>
            <a:ext cx="786384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30767" y="4224528"/>
            <a:ext cx="786384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19488" y="4224528"/>
            <a:ext cx="173736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机构接入连接器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3017520" y="4754880"/>
            <a:ext cx="0" cy="182880"/>
          </a:xfrm>
          <a:prstGeom prst="line">
            <a:avLst/>
          </a:prstGeom>
          <a:ln w="1397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510528" y="4754880"/>
            <a:ext cx="0" cy="182880"/>
          </a:xfrm>
          <a:prstGeom prst="line">
            <a:avLst/>
          </a:prstGeom>
          <a:ln w="1397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0003536" y="4754880"/>
            <a:ext cx="0" cy="182880"/>
          </a:xfrm>
          <a:prstGeom prst="line">
            <a:avLst/>
          </a:prstGeom>
          <a:ln w="1397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481328" y="4956048"/>
            <a:ext cx="3200400" cy="1115568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64208" y="5065776"/>
            <a:ext cx="283464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医院 A</a:t>
            </a:r>
            <a:r>
              <a:rPr sz="9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　临床诊疗数据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64208" y="5358384"/>
            <a:ext cx="28346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原始数据 100% 留在本地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664208" y="5632704"/>
            <a:ext cx="1481328" cy="292608"/>
          </a:xfrm>
          <a:prstGeom prst="roundRect">
            <a:avLst>
              <a:gd name="adj" fmla="val 9375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64208" y="5632704"/>
            <a:ext cx="1481328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本地 TRE 受控工作区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10328" y="4956048"/>
            <a:ext cx="3200400" cy="1115568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93208" y="5065776"/>
            <a:ext cx="283464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医院 B</a:t>
            </a:r>
            <a:r>
              <a:rPr sz="9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　医学影像数据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93208" y="5358384"/>
            <a:ext cx="28346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原始数据 100% 留在本地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93208" y="5632704"/>
            <a:ext cx="1481328" cy="292608"/>
          </a:xfrm>
          <a:prstGeom prst="roundRect">
            <a:avLst>
              <a:gd name="adj" fmla="val 9375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93208" y="5632704"/>
            <a:ext cx="1481328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本地 TRE 受控工作区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339328" y="4956048"/>
            <a:ext cx="3200400" cy="1115568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22208" y="5065776"/>
            <a:ext cx="283464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机构 C</a:t>
            </a:r>
            <a:r>
              <a:rPr sz="9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　科研队列数据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22208" y="5358384"/>
            <a:ext cx="28346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原始数据 100% 留在本地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522208" y="5632704"/>
            <a:ext cx="1481328" cy="292608"/>
          </a:xfrm>
          <a:prstGeom prst="roundRect">
            <a:avLst>
              <a:gd name="adj" fmla="val 9375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22208" y="5632704"/>
            <a:ext cx="1481328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本地 TRE 受控工作区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3308"/>
            <a:ext cx="86868" cy="8686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3" y="361188"/>
            <a:ext cx="65836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03 / 融合方案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2356"/>
            <a:ext cx="9326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五项关键技术：认得准 · 找得到 · 管得住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46988"/>
            <a:ext cx="99669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支撑闭环运行的第一组能力，先让数据「敢于供得出」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6688" y="237744"/>
            <a:ext cx="146304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EEF3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63040"/>
            <a:ext cx="10872216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19088"/>
            <a:ext cx="76809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中国电子云　·　TREMAC 与可信数据空间技术融合探索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19088"/>
            <a:ext cx="8412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45920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45920"/>
            <a:ext cx="148132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认得准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9424" y="1645920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9424" y="1645920"/>
            <a:ext cx="148132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找得到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645920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645920"/>
            <a:ext cx="148132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管得住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31536" y="1645920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1536" y="1645920"/>
            <a:ext cx="148132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送不出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2592" y="1645920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2592" y="1645920"/>
            <a:ext cx="148132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算得了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700784"/>
            <a:ext cx="292608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本页 ①–③　·　④–⑤ 见下页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249424"/>
            <a:ext cx="3502152" cy="3858768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2249424"/>
            <a:ext cx="3502152" cy="457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432304"/>
            <a:ext cx="3657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596896"/>
            <a:ext cx="3044952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认得准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072384"/>
            <a:ext cx="2990087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3182112"/>
            <a:ext cx="3044952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融合身份认证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602736"/>
            <a:ext cx="30266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权威 CA 证书 ＋ 区块链 DID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895344"/>
            <a:ext cx="30266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权威签发 · 链上存证 · 跨域互认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87952"/>
            <a:ext cx="30266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一次认证，所有机构互认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80560"/>
            <a:ext cx="30266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免去重复建号，严防冒名调阅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864608"/>
            <a:ext cx="2990088" cy="987552"/>
          </a:xfrm>
          <a:prstGeom prst="roundRect">
            <a:avLst>
              <a:gd name="adj" fmla="val 3703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5" y="4864608"/>
            <a:ext cx="274320" cy="9875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6736" y="4864608"/>
            <a:ext cx="2569464" cy="9875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过去 10 家医院 10 套账号，今天一次认证全网互认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249424"/>
            <a:ext cx="3502152" cy="3858768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2249424"/>
            <a:ext cx="3502152" cy="457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2" y="2432304"/>
            <a:ext cx="3657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9432" y="2596896"/>
            <a:ext cx="3044952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找得到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99432" y="3072384"/>
            <a:ext cx="2990088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99432" y="3182112"/>
            <a:ext cx="3044952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智能检索推荐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3602736"/>
            <a:ext cx="30266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大模型 RAG ＋ 医学知识图谱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9432" y="3895344"/>
            <a:ext cx="30266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把「慢阻肺」与「COPD」对齐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9432" y="4187952"/>
            <a:ext cx="30266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自然语言直出匹配病例集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9432" y="4480560"/>
            <a:ext cx="30266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不必再猜各院的字段命名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99432" y="4864608"/>
            <a:ext cx="2990088" cy="987552"/>
          </a:xfrm>
          <a:prstGeom prst="roundRect">
            <a:avLst>
              <a:gd name="adj" fmla="val 3703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27448" y="4864608"/>
            <a:ext cx="274320" cy="9875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01768" y="4864608"/>
            <a:ext cx="2569464" cy="9875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输入「COPD + 肺功能下降 + 近 3 年」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28432" y="2249424"/>
            <a:ext cx="3502152" cy="3858768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28432" y="2249424"/>
            <a:ext cx="3502152" cy="457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4464" y="2432304"/>
            <a:ext cx="3657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4464" y="2596896"/>
            <a:ext cx="3044952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管得住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84464" y="3072384"/>
            <a:ext cx="2990088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284464" y="3182112"/>
            <a:ext cx="3044952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数字合约与使用控制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4464" y="3602736"/>
            <a:ext cx="30266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规则写进区块链数字合约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4464" y="3895344"/>
            <a:ext cx="30266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使用控制引擎逐次计量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4464" y="4187952"/>
            <a:ext cx="30266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仅限研究用途 · 限 100 次调用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4464" y="4480560"/>
            <a:ext cx="302666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超期、超次，系统自动拦截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84464" y="4864608"/>
            <a:ext cx="2990088" cy="987552"/>
          </a:xfrm>
          <a:prstGeom prst="roundRect">
            <a:avLst>
              <a:gd name="adj" fmla="val 3703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4864608"/>
            <a:ext cx="274320" cy="9875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864608"/>
            <a:ext cx="2569464" cy="9875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「付没付钱、能不能用、用几次」变成机器铁律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3308"/>
            <a:ext cx="86868" cy="8686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3" y="361188"/>
            <a:ext cx="65836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03 / 融合方案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2356"/>
            <a:ext cx="9326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送不出 · 算得了：数据进来以后的安全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46988"/>
            <a:ext cx="99669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后两项技术，解决权限批了之后的事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6688" y="237744"/>
            <a:ext cx="146304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EEF3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63040"/>
            <a:ext cx="10872216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19088"/>
            <a:ext cx="76809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中国电子云　·　TREMAC 与可信数据空间技术融合探索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19088"/>
            <a:ext cx="8412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45920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45920"/>
            <a:ext cx="148132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认得准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9424" y="1645920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9424" y="1645920"/>
            <a:ext cx="148132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找得到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645920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645920"/>
            <a:ext cx="148132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管得住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31536" y="1645920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1536" y="1645920"/>
            <a:ext cx="148132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送不出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2592" y="1645920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2592" y="1645920"/>
            <a:ext cx="1481328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算得了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700784"/>
            <a:ext cx="292608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本页 ④–⑤　·　①–③ 见上页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231136"/>
            <a:ext cx="5349240" cy="393192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2231136"/>
            <a:ext cx="45720" cy="39319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2414016"/>
            <a:ext cx="274320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④</a:t>
            </a:r>
            <a:r>
              <a:rPr sz="10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　安全数据交付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615184"/>
            <a:ext cx="201168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送不出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651760"/>
            <a:ext cx="14630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云桌面 + 数据沙箱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3163824"/>
            <a:ext cx="1572768" cy="603504"/>
          </a:xfrm>
          <a:prstGeom prst="rect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163824"/>
            <a:ext cx="1572768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服务端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真实数据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60320" y="3465576"/>
            <a:ext cx="886967" cy="0"/>
          </a:xfrm>
          <a:prstGeom prst="line">
            <a:avLst/>
          </a:prstGeom>
          <a:ln w="17780">
            <a:solidFill>
              <a:srgbClr val="005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42032" y="2926080"/>
            <a:ext cx="91440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加密像素流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1296" y="3163824"/>
            <a:ext cx="157276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1296" y="3163824"/>
            <a:ext cx="1572768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研究员屏幕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只见画面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" y="3968496"/>
            <a:ext cx="1517904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3968496"/>
            <a:ext cx="151790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✕　禁止复制粘贴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78608" y="3968496"/>
            <a:ext cx="1517904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78608" y="3968496"/>
            <a:ext cx="151790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✕　U 盘自动禁用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24528" y="3968496"/>
            <a:ext cx="1517904" cy="310896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4528" y="3968496"/>
            <a:ext cx="1517904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✕　截屏溯源水印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407408"/>
            <a:ext cx="480060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沙箱｜容器 / 虚拟化 / 硬件隔离（Intel SGX）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645152"/>
            <a:ext cx="480060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云桌面｜前端控制访问会话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4882896"/>
            <a:ext cx="480060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真实数据只在服务端运行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32688" y="5477256"/>
            <a:ext cx="4800600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32688" y="5577840"/>
            <a:ext cx="4800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可用不可见 · 终端不落地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1344" y="2231136"/>
            <a:ext cx="5349240" cy="393192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1344" y="2231136"/>
            <a:ext cx="45720" cy="39319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55664" y="2414016"/>
            <a:ext cx="274320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⑤</a:t>
            </a:r>
            <a:r>
              <a:rPr sz="10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　安全数据计算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2615184"/>
            <a:ext cx="201168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算得了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18904" y="2651760"/>
            <a:ext cx="17373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隐私保护计算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626096" y="3374136"/>
            <a:ext cx="768096" cy="557784"/>
          </a:xfrm>
          <a:prstGeom prst="line">
            <a:avLst/>
          </a:prstGeom>
          <a:ln w="12700">
            <a:solidFill>
              <a:srgbClr val="8FB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626096" y="3922776"/>
            <a:ext cx="768096" cy="9144"/>
          </a:xfrm>
          <a:prstGeom prst="line">
            <a:avLst/>
          </a:prstGeom>
          <a:ln w="12700">
            <a:solidFill>
              <a:srgbClr val="8FB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626096" y="3931920"/>
            <a:ext cx="768096" cy="539496"/>
          </a:xfrm>
          <a:prstGeom prst="line">
            <a:avLst/>
          </a:prstGeom>
          <a:ln w="12700">
            <a:solidFill>
              <a:srgbClr val="8FB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437376" y="3163824"/>
            <a:ext cx="1170432" cy="420624"/>
          </a:xfrm>
          <a:prstGeom prst="roundRect">
            <a:avLst>
              <a:gd name="adj" fmla="val 8695"/>
            </a:avLst>
          </a:prstGeom>
          <a:solidFill>
            <a:srgbClr val="F5F8FF"/>
          </a:solidFill>
          <a:ln w="1143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37376" y="3163824"/>
            <a:ext cx="1170432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医院 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37376" y="3712464"/>
            <a:ext cx="1170432" cy="420624"/>
          </a:xfrm>
          <a:prstGeom prst="roundRect">
            <a:avLst>
              <a:gd name="adj" fmla="val 8695"/>
            </a:avLst>
          </a:prstGeom>
          <a:solidFill>
            <a:srgbClr val="F5F8FF"/>
          </a:solidFill>
          <a:ln w="1143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37376" y="3712464"/>
            <a:ext cx="1170432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医院 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37376" y="4261104"/>
            <a:ext cx="1170432" cy="420624"/>
          </a:xfrm>
          <a:prstGeom prst="roundRect">
            <a:avLst>
              <a:gd name="adj" fmla="val 8695"/>
            </a:avLst>
          </a:prstGeom>
          <a:solidFill>
            <a:srgbClr val="F5F8FF"/>
          </a:solidFill>
          <a:ln w="1143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7376" y="4261104"/>
            <a:ext cx="1170432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医院 C</a:t>
            </a:r>
          </a:p>
        </p:txBody>
      </p:sp>
      <p:sp>
        <p:nvSpPr>
          <p:cNvPr id="57" name="Oval 56"/>
          <p:cNvSpPr/>
          <p:nvPr/>
        </p:nvSpPr>
        <p:spPr>
          <a:xfrm>
            <a:off x="7936992" y="3474720"/>
            <a:ext cx="914400" cy="914400"/>
          </a:xfrm>
          <a:prstGeom prst="ellipse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36992" y="3474720"/>
            <a:ext cx="914400" cy="914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隐私计算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851392" y="3931920"/>
            <a:ext cx="292608" cy="0"/>
          </a:xfrm>
          <a:prstGeom prst="line">
            <a:avLst/>
          </a:prstGeom>
          <a:ln w="17780">
            <a:solidFill>
              <a:srgbClr val="0058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180576" y="3630168"/>
            <a:ext cx="1792224" cy="603504"/>
          </a:xfrm>
          <a:prstGeom prst="roundRect">
            <a:avLst>
              <a:gd name="adj" fmla="val 606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08592" y="3694176"/>
            <a:ext cx="15544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联合训练模型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08592" y="3931920"/>
            <a:ext cx="155448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只交换加密参数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55664" y="4919472"/>
            <a:ext cx="1152144" cy="292608"/>
          </a:xfrm>
          <a:prstGeom prst="roundRect">
            <a:avLst>
              <a:gd name="adj" fmla="val 125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55664" y="4919472"/>
            <a:ext cx="115214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联邦学习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680960" y="4919472"/>
            <a:ext cx="1152144" cy="292608"/>
          </a:xfrm>
          <a:prstGeom prst="roundRect">
            <a:avLst>
              <a:gd name="adj" fmla="val 125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80960" y="4919472"/>
            <a:ext cx="115214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多方安全计算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06256" y="4919472"/>
            <a:ext cx="1152144" cy="292608"/>
          </a:xfrm>
          <a:prstGeom prst="roundRect">
            <a:avLst>
              <a:gd name="adj" fmla="val 125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06256" y="4919472"/>
            <a:ext cx="115214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差分隐私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131552" y="4919472"/>
            <a:ext cx="1152144" cy="292608"/>
          </a:xfrm>
          <a:prstGeom prst="roundRect">
            <a:avLst>
              <a:gd name="adj" fmla="val 125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31552" y="4919472"/>
            <a:ext cx="115214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同态加密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455664" y="5477256"/>
            <a:ext cx="4800599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455664" y="5577840"/>
            <a:ext cx="4800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数据不动模型动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3308"/>
            <a:ext cx="86868" cy="8686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3" y="361188"/>
            <a:ext cx="65836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03 / 融合方案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2356"/>
            <a:ext cx="9326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数据不出域，模型会不会变笨？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46988"/>
            <a:ext cx="99669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异步本地更新的模型融合：五种参数尺寸、多任务的实测成绩单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6688" y="237744"/>
            <a:ext cx="146304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EEF3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63040"/>
            <a:ext cx="10872216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19088"/>
            <a:ext cx="76809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中国电子云　·　TREMAC 与可信数据空间技术融合探索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19088"/>
            <a:ext cx="8412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21945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920240"/>
            <a:ext cx="405993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011680"/>
            <a:ext cx="457200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194560"/>
            <a:ext cx="141732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各院本地训练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2011680"/>
            <a:ext cx="2267712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私域临床数据不出院，各自训练模型副本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88336" y="2560320"/>
            <a:ext cx="0" cy="146304"/>
          </a:xfrm>
          <a:prstGeom prst="line">
            <a:avLst/>
          </a:prstGeom>
          <a:ln w="1397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58368" y="2706624"/>
            <a:ext cx="405993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798064"/>
            <a:ext cx="457200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2980944"/>
            <a:ext cx="141732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梯度融合器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2798064"/>
            <a:ext cx="2267712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定期把两边学到的本地梯度同步融合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88336" y="3346704"/>
            <a:ext cx="0" cy="146304"/>
          </a:xfrm>
          <a:prstGeom prst="line">
            <a:avLst/>
          </a:prstGeom>
          <a:ln w="1397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58368" y="3493008"/>
            <a:ext cx="4059936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584448"/>
            <a:ext cx="457200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767328"/>
            <a:ext cx="141732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全局行业模型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3584448"/>
            <a:ext cx="2267712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数据不出域，价值可流转，模型共同成长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43984"/>
            <a:ext cx="4059936" cy="1591056"/>
          </a:xfrm>
          <a:prstGeom prst="roundRect">
            <a:avLst>
              <a:gd name="adj" fmla="val 2298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553712"/>
            <a:ext cx="35661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对照设计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773168"/>
            <a:ext cx="3675887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方案 A｜合并训练</a:t>
            </a:r>
            <a:r>
              <a:rPr sz="8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　64 万 + 64 万 = 128 万条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029200"/>
            <a:ext cx="3675887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→ 全量合并，定为 100% 基准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358384"/>
            <a:ext cx="3675887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方案 B｜数据不合并</a:t>
            </a:r>
            <a:r>
              <a:rPr sz="8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　本地训练 + 梯度融合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5614416"/>
            <a:ext cx="3675887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→ 只交换加密梯度与参数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4" y="1627632"/>
            <a:ext cx="457200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效果达成度（%）</a:t>
            </a: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　纵轴自 80% 起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29984" y="4992624"/>
            <a:ext cx="4389120" cy="0"/>
          </a:xfrm>
          <a:prstGeom prst="line">
            <a:avLst/>
          </a:prstGeom>
          <a:ln w="11430">
            <a:solidFill>
              <a:srgbClr val="8B99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27648" y="4901184"/>
            <a:ext cx="329184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29984" y="4474464"/>
            <a:ext cx="4389120" cy="0"/>
          </a:xfrm>
          <a:prstGeom prst="line">
            <a:avLst/>
          </a:prstGeom>
          <a:ln w="7620">
            <a:solidFill>
              <a:srgbClr val="E3E9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27648" y="4383024"/>
            <a:ext cx="329184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29984" y="3956303"/>
            <a:ext cx="4389120" cy="0"/>
          </a:xfrm>
          <a:prstGeom prst="line">
            <a:avLst/>
          </a:prstGeom>
          <a:ln w="7620">
            <a:solidFill>
              <a:srgbClr val="E3E9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327648" y="3864864"/>
            <a:ext cx="329184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29984" y="3438144"/>
            <a:ext cx="4389120" cy="0"/>
          </a:xfrm>
          <a:prstGeom prst="line">
            <a:avLst/>
          </a:prstGeom>
          <a:ln w="7620">
            <a:solidFill>
              <a:srgbClr val="E3E9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327648" y="3346703"/>
            <a:ext cx="329184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29984" y="2919984"/>
            <a:ext cx="4389120" cy="0"/>
          </a:xfrm>
          <a:prstGeom prst="line">
            <a:avLst/>
          </a:prstGeom>
          <a:ln w="7620">
            <a:solidFill>
              <a:srgbClr val="E3E9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27648" y="2828544"/>
            <a:ext cx="329184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29984" y="2401824"/>
            <a:ext cx="4389120" cy="0"/>
          </a:xfrm>
          <a:prstGeom prst="line">
            <a:avLst/>
          </a:prstGeom>
          <a:ln w="7620">
            <a:solidFill>
              <a:srgbClr val="E3E9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327648" y="2310383"/>
            <a:ext cx="329184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130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29984" y="1883664"/>
            <a:ext cx="4389120" cy="0"/>
          </a:xfrm>
          <a:prstGeom prst="line">
            <a:avLst/>
          </a:prstGeom>
          <a:ln w="7620">
            <a:solidFill>
              <a:srgbClr val="E3E9F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327648" y="1792224"/>
            <a:ext cx="329184" cy="182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94576" y="4326788"/>
            <a:ext cx="749808" cy="665835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11112" y="4052468"/>
            <a:ext cx="1316736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1A2B"/>
                </a:solidFill>
                <a:latin typeface="Arial"/>
                <a:ea typeface="Arial"/>
                <a:cs typeface="Arial"/>
              </a:rPr>
              <a:t>92.85%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102352"/>
            <a:ext cx="19202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中文医疗对话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303520"/>
            <a:ext cx="19202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medical_zh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03336" y="3531412"/>
            <a:ext cx="749808" cy="1461211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9871" y="3257092"/>
            <a:ext cx="1316736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1A2B"/>
                </a:solidFill>
                <a:latin typeface="Arial"/>
                <a:ea typeface="Arial"/>
                <a:cs typeface="Arial"/>
              </a:rPr>
              <a:t>108.2%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19" y="5102352"/>
            <a:ext cx="19202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多任务 / 预训练语料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12096" y="2246376"/>
            <a:ext cx="749808" cy="1295399"/>
          </a:xfrm>
          <a:prstGeom prst="rect">
            <a:avLst/>
          </a:prstGeom>
          <a:solidFill>
            <a:srgbClr val="D6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912096" y="2246376"/>
            <a:ext cx="749808" cy="0"/>
          </a:xfrm>
          <a:prstGeom prst="line">
            <a:avLst/>
          </a:prstGeom>
          <a:ln w="13970">
            <a:solidFill>
              <a:srgbClr val="0058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912096" y="3541775"/>
            <a:ext cx="749808" cy="14508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28632" y="1972056"/>
            <a:ext cx="1316736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1A2B"/>
                </a:solidFill>
                <a:latin typeface="Arial"/>
                <a:ea typeface="Arial"/>
                <a:cs typeface="Arial"/>
              </a:rPr>
              <a:t>108–133%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5102352"/>
            <a:ext cx="19202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14B / 8B / 4B 大模型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729984" y="3956303"/>
            <a:ext cx="4389120" cy="0"/>
          </a:xfrm>
          <a:prstGeom prst="line">
            <a:avLst/>
          </a:prstGeom>
          <a:ln w="13970">
            <a:solidFill>
              <a:srgbClr val="00318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635240" y="3718560"/>
            <a:ext cx="10058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基准 100%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729984" y="5614416"/>
            <a:ext cx="3931920" cy="402336"/>
          </a:xfrm>
          <a:prstGeom prst="roundRect">
            <a:avLst>
              <a:gd name="adj" fmla="val 909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76288" y="5614416"/>
            <a:ext cx="365760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综合效果达成度　</a:t>
            </a:r>
            <a:r>
              <a:rPr sz="11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82% – 133%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98480" y="5632704"/>
            <a:ext cx="841248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部分任务</a:t>
            </a:r>
          </a:p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反超基准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3308"/>
            <a:ext cx="86868" cy="8686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3" y="361188"/>
            <a:ext cx="65836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04 / 实践与展望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2356"/>
            <a:ext cx="9326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两个已经跑通的标杆案例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46988"/>
            <a:ext cx="99669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均建在深圳数据基础设施与可信数据空间之上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6688" y="237744"/>
            <a:ext cx="146304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EEF3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63040"/>
            <a:ext cx="10872216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19088"/>
            <a:ext cx="76809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中国电子云　·　TREMAC 与可信数据空间技术融合探索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19088"/>
            <a:ext cx="8412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45920"/>
            <a:ext cx="8229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案例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47088"/>
            <a:ext cx="521208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统一授权推动「商保直付」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231136"/>
            <a:ext cx="5138928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231136"/>
            <a:ext cx="41148" cy="7315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340864"/>
            <a:ext cx="310896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322576"/>
            <a:ext cx="23774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双重统一授权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596896"/>
            <a:ext cx="4443984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采集端（挂号时）+ 使用端（线上理赔）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" y="2962656"/>
            <a:ext cx="0" cy="128016"/>
          </a:xfrm>
          <a:prstGeom prst="line">
            <a:avLst/>
          </a:prstGeom>
          <a:ln w="1397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58368" y="3090672"/>
            <a:ext cx="5138928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090672"/>
            <a:ext cx="41148" cy="7315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200400"/>
            <a:ext cx="310896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182112"/>
            <a:ext cx="23774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三方数据拉通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456432"/>
            <a:ext cx="4443984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医院 HIS · 卫健委人口健康平台 · 保险公司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" y="3822191"/>
            <a:ext cx="0" cy="128017"/>
          </a:xfrm>
          <a:prstGeom prst="line">
            <a:avLst/>
          </a:prstGeom>
          <a:ln w="1397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8368" y="3950208"/>
            <a:ext cx="5138928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950208"/>
            <a:ext cx="41148" cy="73152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059936"/>
            <a:ext cx="310896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041648"/>
            <a:ext cx="23774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定价与收益分配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315968"/>
            <a:ext cx="4443984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按「准许成本 + 合理收益」为医院定价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1344" y="1645920"/>
            <a:ext cx="8229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案例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1847088"/>
            <a:ext cx="530352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心脏病 AI 密文风险诊断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2176272"/>
            <a:ext cx="109728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四大痛点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2377440"/>
            <a:ext cx="1225296" cy="274320"/>
          </a:xfrm>
          <a:prstGeom prst="roundRect">
            <a:avLst>
              <a:gd name="adj" fmla="val 13333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1344" y="2377440"/>
            <a:ext cx="1225296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多院难共享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79792" y="2377440"/>
            <a:ext cx="1225296" cy="274320"/>
          </a:xfrm>
          <a:prstGeom prst="roundRect">
            <a:avLst>
              <a:gd name="adj" fmla="val 13333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9792" y="2377440"/>
            <a:ext cx="1225296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安全风险高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2377440"/>
            <a:ext cx="1225296" cy="274320"/>
          </a:xfrm>
          <a:prstGeom prst="roundRect">
            <a:avLst>
              <a:gd name="adj" fmla="val 13333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2377440"/>
            <a:ext cx="1225296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基层能力不均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76688" y="2377440"/>
            <a:ext cx="1225296" cy="274320"/>
          </a:xfrm>
          <a:prstGeom prst="roundRect">
            <a:avLst>
              <a:gd name="adj" fmla="val 13333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76688" y="2377440"/>
            <a:ext cx="1225296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真实世界研究难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1344" y="2798064"/>
            <a:ext cx="534924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81344" y="2798064"/>
            <a:ext cx="41148" cy="6400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64224" y="2880360"/>
            <a:ext cx="310896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8" y="2862072"/>
            <a:ext cx="310896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医院 A / B / C 接入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3108960"/>
            <a:ext cx="457200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原始数据留在本院，院内完成加密处理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00800" y="3438144"/>
            <a:ext cx="0" cy="73152"/>
          </a:xfrm>
          <a:prstGeom prst="line">
            <a:avLst/>
          </a:prstGeom>
          <a:ln w="1397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181344" y="3511296"/>
            <a:ext cx="534924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81344" y="3511296"/>
            <a:ext cx="41148" cy="6400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64224" y="3593591"/>
            <a:ext cx="310896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93408" y="3575303"/>
            <a:ext cx="310896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密文入隐私计算环境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93408" y="3822191"/>
            <a:ext cx="457200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可信数据空间内多方安全融合、联合建模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400800" y="4151376"/>
            <a:ext cx="0" cy="73152"/>
          </a:xfrm>
          <a:prstGeom prst="line">
            <a:avLst/>
          </a:prstGeom>
          <a:ln w="1397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181344" y="4224528"/>
            <a:ext cx="534924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81344" y="4224528"/>
            <a:ext cx="41148" cy="640080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64224" y="4306824"/>
            <a:ext cx="310896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93408" y="4288536"/>
            <a:ext cx="310896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三类场景落地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93408" y="4535424"/>
            <a:ext cx="457200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临床风险预测 · 赋能基层 · 真实世界研究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4992624"/>
            <a:ext cx="548640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商保直付成效 · 深圳南山区（公开报道）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" y="5212080"/>
            <a:ext cx="10872215" cy="987552"/>
          </a:xfrm>
          <a:prstGeom prst="roundRect">
            <a:avLst>
              <a:gd name="adj" fmla="val 2777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7824" y="5340096"/>
            <a:ext cx="1900123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300</a:t>
            </a:r>
            <a:r>
              <a:rPr sz="10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 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" y="5760720"/>
            <a:ext cx="1900123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覆盖就诊人群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32811" y="5358384"/>
            <a:ext cx="7315" cy="694944"/>
          </a:xfrm>
          <a:prstGeom prst="rect">
            <a:avLst/>
          </a:prstGeom>
          <a:solidFill>
            <a:srgbClr val="D6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52267" y="5340096"/>
            <a:ext cx="1900123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14</a:t>
            </a:r>
            <a:r>
              <a:rPr sz="10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 万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52267" y="5760720"/>
            <a:ext cx="1900123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住院人群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07254" y="5358384"/>
            <a:ext cx="7315" cy="694944"/>
          </a:xfrm>
          <a:prstGeom prst="rect">
            <a:avLst/>
          </a:prstGeom>
          <a:solidFill>
            <a:srgbClr val="D6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26710" y="5340096"/>
            <a:ext cx="1900123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28</a:t>
            </a:r>
            <a:r>
              <a:rPr sz="10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 分钟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26710" y="5760720"/>
            <a:ext cx="1900123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门诊平均理赔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81697" y="5358384"/>
            <a:ext cx="7315" cy="694944"/>
          </a:xfrm>
          <a:prstGeom prst="rect">
            <a:avLst/>
          </a:prstGeom>
          <a:solidFill>
            <a:srgbClr val="D6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01153" y="5340096"/>
            <a:ext cx="1900123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2</a:t>
            </a:r>
            <a:r>
              <a:rPr sz="10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 小时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01153" y="5760720"/>
            <a:ext cx="1900123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住院最快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56140" y="5358384"/>
            <a:ext cx="7315" cy="694944"/>
          </a:xfrm>
          <a:prstGeom prst="rect">
            <a:avLst/>
          </a:prstGeom>
          <a:solidFill>
            <a:srgbClr val="D6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575596" y="5340096"/>
            <a:ext cx="1900123" cy="40233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50</a:t>
            </a:r>
            <a:r>
              <a:rPr sz="1000" b="1" i="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75596" y="5760720"/>
            <a:ext cx="1900123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保险机构降本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13308"/>
            <a:ext cx="86868" cy="8686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3" y="361188"/>
            <a:ext cx="658368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04 / 实践与展望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2356"/>
            <a:ext cx="9326880" cy="4754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下一步：跨境医工科研的合规解法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46988"/>
            <a:ext cx="99669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TREMAC + 可信数据空间，天生是这把钥匙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6688" y="237744"/>
            <a:ext cx="146304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EEF3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63040"/>
            <a:ext cx="10872216" cy="0"/>
          </a:xfrm>
          <a:prstGeom prst="line">
            <a:avLst/>
          </a:prstGeom>
          <a:ln w="9525">
            <a:solidFill>
              <a:srgbClr val="E3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19088"/>
            <a:ext cx="76809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中国电子云　·　TREMAC 与可信数据空间技术融合探索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9336" y="6419088"/>
            <a:ext cx="841248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9AC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783" y="1664208"/>
            <a:ext cx="3108960" cy="932688"/>
          </a:xfrm>
          <a:prstGeom prst="roundRect">
            <a:avLst>
              <a:gd name="adj" fmla="val 3921"/>
            </a:avLst>
          </a:prstGeom>
          <a:solidFill>
            <a:srgbClr val="F5F8FF"/>
          </a:solidFill>
          <a:ln w="1143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9527" y="1773936"/>
            <a:ext cx="26517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内地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9527" y="2066543"/>
            <a:ext cx="26517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医院与实验室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9527" y="2286000"/>
            <a:ext cx="26517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数据留在内地机房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6263" y="2596896"/>
            <a:ext cx="0" cy="274320"/>
          </a:xfrm>
          <a:prstGeom prst="line">
            <a:avLst/>
          </a:prstGeom>
          <a:ln w="1524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41367" y="1664208"/>
            <a:ext cx="3108960" cy="932688"/>
          </a:xfrm>
          <a:prstGeom prst="roundRect">
            <a:avLst>
              <a:gd name="adj" fmla="val 3921"/>
            </a:avLst>
          </a:prstGeom>
          <a:solidFill>
            <a:srgbClr val="F5F8FF"/>
          </a:solidFill>
          <a:ln w="1143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9111" y="1773936"/>
            <a:ext cx="26517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港澳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9111" y="2066543"/>
            <a:ext cx="26517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高校与医院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9111" y="2286000"/>
            <a:ext cx="26517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数据留在当地机房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7" y="2596896"/>
            <a:ext cx="0" cy="274320"/>
          </a:xfrm>
          <a:prstGeom prst="line">
            <a:avLst/>
          </a:prstGeom>
          <a:ln w="1524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70951" y="1664208"/>
            <a:ext cx="3108960" cy="932688"/>
          </a:xfrm>
          <a:prstGeom prst="roundRect">
            <a:avLst>
              <a:gd name="adj" fmla="val 3921"/>
            </a:avLst>
          </a:prstGeom>
          <a:solidFill>
            <a:srgbClr val="F5F8FF"/>
          </a:solidFill>
          <a:ln w="1143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8695" y="1773936"/>
            <a:ext cx="26517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海外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8695" y="2066543"/>
            <a:ext cx="26517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顶尖科研机构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695" y="2286000"/>
            <a:ext cx="265176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数据留在当地机房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25431" y="2596896"/>
            <a:ext cx="0" cy="274320"/>
          </a:xfrm>
          <a:prstGeom prst="line">
            <a:avLst/>
          </a:prstGeom>
          <a:ln w="15240">
            <a:solidFill>
              <a:srgbClr val="8FB2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005840" y="2944368"/>
            <a:ext cx="10177272" cy="676656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3584" y="3017520"/>
            <a:ext cx="310896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可信数据空间枢纽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" y="3291840"/>
            <a:ext cx="950976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CDDEFF"/>
                </a:solidFill>
                <a:latin typeface="Microsoft YaHei"/>
                <a:ea typeface="Microsoft YaHei"/>
                <a:cs typeface="Microsoft YaHei"/>
              </a:rPr>
              <a:t>不做敏感的原始数据跨境搬运，只在枢纽层完成身份、规则与任务的协同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7463" y="3913632"/>
            <a:ext cx="2487168" cy="603504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3767" y="3913632"/>
            <a:ext cx="256032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4663" y="3913632"/>
            <a:ext cx="1920240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跨境身份互认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80663" y="3913632"/>
            <a:ext cx="2487168" cy="603504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26967" y="3913632"/>
            <a:ext cx="256032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7863" y="3913632"/>
            <a:ext cx="1920240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规则互认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3863" y="3913632"/>
            <a:ext cx="2487168" cy="603504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0167" y="3913632"/>
            <a:ext cx="256032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81063" y="3913632"/>
            <a:ext cx="1920240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任务跨境分发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7063" y="3913632"/>
            <a:ext cx="2487168" cy="603504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D6E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3367" y="3913632"/>
            <a:ext cx="256032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4263" y="3913632"/>
            <a:ext cx="1920240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合规结果跨境共享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791456"/>
            <a:ext cx="10872215" cy="786384"/>
          </a:xfrm>
          <a:prstGeom prst="roundRect">
            <a:avLst>
              <a:gd name="adj" fmla="val 3488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791456"/>
            <a:ext cx="10360151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0318F"/>
                </a:solidFill>
                <a:latin typeface="Microsoft YaHei"/>
                <a:ea typeface="Microsoft YaHei"/>
                <a:cs typeface="Microsoft YaHei"/>
              </a:rPr>
              <a:t>在符合国家数据出境安全监管的前提下，</a:t>
            </a:r>
            <a:r>
              <a:rPr sz="105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把大湾区乃至全球的医疗科研网络连成一体。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16736" y="5760720"/>
            <a:ext cx="4754880" cy="384048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81328" y="5760720"/>
            <a:ext cx="438912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国际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75104" y="5760720"/>
            <a:ext cx="393192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广泛使用 TRE 标准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45936" y="5760720"/>
            <a:ext cx="4754880" cy="384048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143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7" y="5760720"/>
            <a:ext cx="438912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国内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04303" y="5760720"/>
            <a:ext cx="3931920" cy="3840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正在推广可信数据空间标准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786384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0058FF"/>
                </a:solidFill>
                <a:latin typeface="Microsoft YaHei"/>
                <a:ea typeface="Microsoft YaHei"/>
                <a:cs typeface="Microsoft YaHei"/>
              </a:rPr>
              <a:t>04 / 实践与展望　·　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932688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既能干得成大事，又能睡得着觉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99669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TREMAC 与可信数据空间的融合，归根结底是给实验室和医院一套科研基座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93392"/>
            <a:ext cx="2542032" cy="1389888"/>
          </a:xfrm>
          <a:prstGeom prst="roundRect">
            <a:avLst>
              <a:gd name="adj" fmla="val 2631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21408"/>
            <a:ext cx="5486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359152"/>
            <a:ext cx="2157984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数据稳稳留在本地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980944"/>
            <a:ext cx="215798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守住各家的核心资产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1993392"/>
            <a:ext cx="2542032" cy="1389888"/>
          </a:xfrm>
          <a:prstGeom prst="roundRect">
            <a:avLst>
              <a:gd name="adj" fmla="val 2631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121408"/>
            <a:ext cx="5486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359152"/>
            <a:ext cx="2157984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患者隐私全栈保护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980944"/>
            <a:ext cx="215798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不触碰法律与伦理红线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93392"/>
            <a:ext cx="2542032" cy="1389888"/>
          </a:xfrm>
          <a:prstGeom prst="roundRect">
            <a:avLst>
              <a:gd name="adj" fmla="val 2631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121408"/>
            <a:ext cx="5486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59152"/>
            <a:ext cx="2157984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每一次使用清晰可控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980944"/>
            <a:ext cx="215798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数据持有方握着总开关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993392"/>
            <a:ext cx="2542032" cy="1389888"/>
          </a:xfrm>
          <a:prstGeom prst="roundRect">
            <a:avLst>
              <a:gd name="adj" fmla="val 2631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4" y="2121408"/>
            <a:ext cx="548640" cy="2011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58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2359152"/>
            <a:ext cx="2157984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连成网，做出大成果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980944"/>
            <a:ext cx="2157984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具有国际影响力的大科研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57984" y="3840480"/>
            <a:ext cx="7882127" cy="621792"/>
          </a:xfrm>
          <a:prstGeom prst="roundRect">
            <a:avLst>
              <a:gd name="adj" fmla="val 7352"/>
            </a:avLst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57984" y="3840480"/>
            <a:ext cx="7882127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从可信研究环境</a:t>
            </a:r>
            <a:r>
              <a:rPr sz="1300" b="0" i="0">
                <a:solidFill>
                  <a:srgbClr val="B9CEFF"/>
                </a:solidFill>
                <a:latin typeface="Microsoft YaHei"/>
                <a:ea typeface="Microsoft YaHei"/>
                <a:cs typeface="Microsoft YaHei"/>
              </a:rPr>
              <a:t>　→　</a:t>
            </a: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可信科研协同网络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901184"/>
            <a:ext cx="841248" cy="41148"/>
          </a:xfrm>
          <a:prstGeom prst="rect">
            <a:avLst/>
          </a:prstGeom>
          <a:solidFill>
            <a:srgbClr val="005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084064"/>
            <a:ext cx="5852160" cy="65836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谢谢大家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52160"/>
            <a:ext cx="5852160" cy="25603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我的汇报就到这里，敬请各位领导、专家批评指正。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138928"/>
            <a:ext cx="3200400" cy="23774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A2B"/>
                </a:solidFill>
                <a:latin typeface="Microsoft YaHei"/>
                <a:ea typeface="Microsoft YaHei"/>
                <a:cs typeface="Microsoft YaHei"/>
              </a:rPr>
              <a:t>李化名</a:t>
            </a:r>
            <a:r>
              <a:rPr sz="1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　·　中国电子云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431536"/>
            <a:ext cx="3200400" cy="21945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99AC"/>
                </a:solidFill>
                <a:latin typeface="Microsoft YaHei"/>
                <a:ea typeface="Microsoft YaHei"/>
                <a:cs typeface="Microsoft YaHei"/>
              </a:rPr>
              <a:t>TREMAC × 可信数据空间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
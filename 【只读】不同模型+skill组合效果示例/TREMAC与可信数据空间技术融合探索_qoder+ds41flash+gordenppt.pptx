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4" r:id="rId2"/>
    <p:sldId id="265" r:id="rId3"/>
    <p:sldId id="280" r:id="rId4"/>
    <p:sldId id="272" r:id="rId5"/>
    <p:sldId id="270" r:id="rId6"/>
    <p:sldId id="274" r:id="rId7"/>
    <p:sldId id="273" r:id="rId8"/>
    <p:sldId id="276" r:id="rId9"/>
    <p:sldId id="277" r:id="rId10"/>
    <p:sldId id="279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65" autoAdjust="0"/>
    <p:restoredTop sz="94660"/>
  </p:normalViewPr>
  <p:slideViewPr>
    <p:cSldViewPr snapToGrid="0">
      <p:cViewPr>
        <p:scale>
          <a:sx n="100" d="100"/>
          <a:sy n="100" d="100"/>
        </p:scale>
        <p:origin x="984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27D00-9E69-4CBB-8197-55BB61806595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F08D06-A579-45D8-BC0D-929695CD3B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120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微软雅黑" panose="020B0503020204020204" pitchFamily="34" charset="-122"/>
              </a:rPr>
              <a:t>各位领导、各位专家，大家下午好！我是中国电子云的李化名，非常荣幸向各位做一次汇报与分享。
前面有专家介绍了 </a:t>
            </a:r>
            <a:r>
              <a:rPr lang="en-US" altLang="zh-CN">
                <a:latin typeface="微软雅黑" panose="020B0503020204020204" pitchFamily="34" charset="-122"/>
              </a:rPr>
              <a:t>TRE </a:t>
            </a:r>
            <a:r>
              <a:rPr lang="zh-CN" altLang="en-US">
                <a:latin typeface="微软雅黑" panose="020B0503020204020204" pitchFamily="34" charset="-122"/>
              </a:rPr>
              <a:t>在国外的应用；国内面向数据流通利用，也有自己的技术路线</a:t>
            </a:r>
            <a:r>
              <a:rPr lang="en-US" altLang="zh-CN">
                <a:latin typeface="微软雅黑" panose="020B0503020204020204" pitchFamily="34" charset="-122"/>
              </a:rPr>
              <a:t>——</a:t>
            </a:r>
            <a:r>
              <a:rPr lang="zh-CN" altLang="en-US">
                <a:latin typeface="微软雅黑" panose="020B0503020204020204" pitchFamily="34" charset="-122"/>
              </a:rPr>
              <a:t>可信数据空间。
今天在座很多是医院代表。大家搞科研最头疼的是什么？想做顶尖的大科研，单靠一家医院的样本往往不够，必须多家联合；可一提到把数据拿出来共享，院长和信息科主任就犯难了：病人隐私泄露了谁负责？积累十几年的数据资产被人拷走了，主权怎么保障？
所以今天我想用 </a:t>
            </a:r>
            <a:r>
              <a:rPr lang="en-US" altLang="zh-CN">
                <a:latin typeface="微软雅黑" panose="020B0503020204020204" pitchFamily="34" charset="-122"/>
              </a:rPr>
              <a:t>15 </a:t>
            </a:r>
            <a:r>
              <a:rPr lang="zh-CN" altLang="en-US">
                <a:latin typeface="微软雅黑" panose="020B0503020204020204" pitchFamily="34" charset="-122"/>
              </a:rPr>
              <a:t>分钟讲清楚一件事：如何用最新的技术底座，帮大家稳稳实现四个目标</a:t>
            </a:r>
            <a:r>
              <a:rPr lang="en-US" altLang="zh-CN">
                <a:latin typeface="微软雅黑" panose="020B0503020204020204" pitchFamily="34" charset="-122"/>
              </a:rPr>
              <a:t>——</a:t>
            </a:r>
            <a:r>
              <a:rPr lang="zh-CN" altLang="en-US">
                <a:latin typeface="微软雅黑" panose="020B0503020204020204" pitchFamily="34" charset="-122"/>
              </a:rPr>
              <a:t>原始数据留在本地；患者隐私全程受保护；数据给谁用、怎么用全程可管控；并在这三个前提下，足不出户联合做国家级乃至国际级的大科研。这就是从单点的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可信研究环境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，走向跨机构的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可信科研协同网络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08D06-A579-45D8-BC0D-929695CD3B3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0117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微软雅黑" panose="020B0503020204020204" pitchFamily="34" charset="-122"/>
              </a:rPr>
              <a:t>本次汇报分四个部分：趋势与能力、融合与实践、指标与展望、价值闭环。先从国家政策与可信数据空间的三大能力讲起。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08D06-A579-45D8-BC0D-929695CD3B3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0605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微软雅黑" panose="020B0503020204020204" pitchFamily="34" charset="-122"/>
              </a:rPr>
              <a:t>先看一眼国家大势。很多专家会问：医疗数据安全管得这么严，我们搞跨院协同合规吗？
请看这张政策脉络图。从顶层的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数据 </a:t>
            </a:r>
            <a:r>
              <a:rPr lang="en-US" altLang="zh-CN">
                <a:latin typeface="微软雅黑" panose="020B0503020204020204" pitchFamily="34" charset="-122"/>
              </a:rPr>
              <a:t>20 </a:t>
            </a:r>
            <a:r>
              <a:rPr lang="zh-CN" altLang="en-US">
                <a:latin typeface="微软雅黑" panose="020B0503020204020204" pitchFamily="34" charset="-122"/>
              </a:rPr>
              <a:t>条</a:t>
            </a:r>
            <a:r>
              <a:rPr lang="en-US" altLang="zh-CN">
                <a:latin typeface="微软雅黑" panose="020B0503020204020204" pitchFamily="34" charset="-122"/>
              </a:rPr>
              <a:t>"——</a:t>
            </a:r>
            <a:r>
              <a:rPr lang="zh-CN" altLang="en-US">
                <a:latin typeface="微软雅黑" panose="020B0503020204020204" pitchFamily="34" charset="-122"/>
              </a:rPr>
              <a:t>数据领域的宪法，到国家数据局的</a:t>
            </a:r>
            <a:r>
              <a:rPr lang="en-US" altLang="zh-CN">
                <a:latin typeface="微软雅黑" panose="020B0503020204020204" pitchFamily="34" charset="-122"/>
              </a:rPr>
              <a:t>《</a:t>
            </a:r>
            <a:r>
              <a:rPr lang="zh-CN" altLang="en-US">
                <a:latin typeface="微软雅黑" panose="020B0503020204020204" pitchFamily="34" charset="-122"/>
              </a:rPr>
              <a:t>国家数据基础设施建设指引</a:t>
            </a:r>
            <a:r>
              <a:rPr lang="en-US" altLang="zh-CN">
                <a:latin typeface="微软雅黑" panose="020B0503020204020204" pitchFamily="34" charset="-122"/>
              </a:rPr>
              <a:t>》</a:t>
            </a:r>
            <a:r>
              <a:rPr lang="zh-CN" altLang="en-US">
                <a:latin typeface="微软雅黑" panose="020B0503020204020204" pitchFamily="34" charset="-122"/>
              </a:rPr>
              <a:t>和</a:t>
            </a:r>
            <a:r>
              <a:rPr lang="en-US" altLang="zh-CN">
                <a:latin typeface="微软雅黑" panose="020B0503020204020204" pitchFamily="34" charset="-122"/>
              </a:rPr>
              <a:t>《</a:t>
            </a:r>
            <a:r>
              <a:rPr lang="zh-CN" altLang="en-US">
                <a:latin typeface="微软雅黑" panose="020B0503020204020204" pitchFamily="34" charset="-122"/>
              </a:rPr>
              <a:t>可信数据空间发展行动计划</a:t>
            </a:r>
            <a:r>
              <a:rPr lang="en-US" altLang="zh-CN">
                <a:latin typeface="微软雅黑" panose="020B0503020204020204" pitchFamily="34" charset="-122"/>
              </a:rPr>
              <a:t>》</a:t>
            </a:r>
            <a:r>
              <a:rPr lang="zh-CN" altLang="en-US">
                <a:latin typeface="微软雅黑" panose="020B0503020204020204" pitchFamily="34" charset="-122"/>
              </a:rPr>
              <a:t>，国家已明确把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可信数据空间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定为核心技术路线。信号很清楚：不是让大家冒着违规风险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私下拷硬盘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，而是用国家标准的可信数据基础设施，既守住安全红线，又名正言顺地支撑科研与临床创新。
那什么是可信数据空间？打个比方，就是一张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有严格门禁、有统一规则、还能自动记账的数据流通高速路网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，有三个核心能力：
</a:t>
            </a:r>
            <a:r>
              <a:rPr lang="en-US" altLang="zh-CN">
                <a:latin typeface="微软雅黑" panose="020B0503020204020204" pitchFamily="34" charset="-122"/>
              </a:rPr>
              <a:t>- </a:t>
            </a:r>
            <a:r>
              <a:rPr lang="zh-CN" altLang="en-US">
                <a:latin typeface="微软雅黑" panose="020B0503020204020204" pitchFamily="34" charset="-122"/>
              </a:rPr>
              <a:t>一是可信管控：靠共识规则、数字合约和使用控制，让医院对自己的数据有绝对控制权；
</a:t>
            </a:r>
            <a:r>
              <a:rPr lang="en-US" altLang="zh-CN">
                <a:latin typeface="微软雅黑" panose="020B0503020204020204" pitchFamily="34" charset="-122"/>
              </a:rPr>
              <a:t>- </a:t>
            </a:r>
            <a:r>
              <a:rPr lang="zh-CN" altLang="en-US">
                <a:latin typeface="微软雅黑" panose="020B0503020204020204" pitchFamily="34" charset="-122"/>
              </a:rPr>
              <a:t>二是资源交互：用标准连接器把数据孤岛连成网</a:t>
            </a:r>
            <a:r>
              <a:rPr lang="en-US" altLang="zh-CN">
                <a:latin typeface="微软雅黑" panose="020B0503020204020204" pitchFamily="34" charset="-122"/>
              </a:rPr>
              <a:t>——</a:t>
            </a:r>
            <a:r>
              <a:rPr lang="zh-CN" altLang="en-US">
                <a:latin typeface="微软雅黑" panose="020B0503020204020204" pitchFamily="34" charset="-122"/>
              </a:rPr>
              <a:t>但连网绝不等于搬空医院的库房；
</a:t>
            </a:r>
            <a:r>
              <a:rPr lang="en-US" altLang="zh-CN">
                <a:latin typeface="微软雅黑" panose="020B0503020204020204" pitchFamily="34" charset="-122"/>
              </a:rPr>
              <a:t>- </a:t>
            </a:r>
            <a:r>
              <a:rPr lang="zh-CN" altLang="en-US">
                <a:latin typeface="微软雅黑" panose="020B0503020204020204" pitchFamily="34" charset="-122"/>
              </a:rPr>
              <a:t>三是价值共创：医院、高校、实验室、药企和算法团队协同做科研，成果按贡献清清楚楚分配权益。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08D06-A579-45D8-BC0D-929695CD3B3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121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微软雅黑" panose="020B0503020204020204" pitchFamily="34" charset="-122"/>
              </a:rPr>
              <a:t>再看今天的两位主角：</a:t>
            </a:r>
            <a:r>
              <a:rPr lang="en-US" altLang="zh-CN">
                <a:latin typeface="微软雅黑" panose="020B0503020204020204" pitchFamily="34" charset="-122"/>
              </a:rPr>
              <a:t>TRE</a:t>
            </a:r>
            <a:r>
              <a:rPr lang="zh-CN" altLang="en-US">
                <a:latin typeface="微软雅黑" panose="020B0503020204020204" pitchFamily="34" charset="-122"/>
              </a:rPr>
              <a:t>，可信研究环境；</a:t>
            </a:r>
            <a:r>
              <a:rPr lang="en-US" altLang="zh-CN">
                <a:latin typeface="微软雅黑" panose="020B0503020204020204" pitchFamily="34" charset="-122"/>
              </a:rPr>
              <a:t>TDS</a:t>
            </a:r>
            <a:r>
              <a:rPr lang="zh-CN" altLang="en-US">
                <a:latin typeface="微软雅黑" panose="020B0503020204020204" pitchFamily="34" charset="-122"/>
              </a:rPr>
              <a:t>，可信数据空间。它们以前沿两条线各自演进。
左边 </a:t>
            </a:r>
            <a:r>
              <a:rPr lang="en-US" altLang="zh-CN">
                <a:latin typeface="微软雅黑" panose="020B0503020204020204" pitchFamily="34" charset="-122"/>
              </a:rPr>
              <a:t>TRE</a:t>
            </a:r>
            <a:r>
              <a:rPr lang="zh-CN" altLang="en-US">
                <a:latin typeface="微软雅黑" panose="020B0503020204020204" pitchFamily="34" charset="-122"/>
              </a:rPr>
              <a:t>，各位在国际顶刊里经常看到：最早像医院自建的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全封闭安全实验室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，做隔离计算和成果审核；后来走向云化 </a:t>
            </a:r>
            <a:r>
              <a:rPr lang="en-US" altLang="zh-CN">
                <a:latin typeface="微软雅黑" panose="020B0503020204020204" pitchFamily="34" charset="-122"/>
              </a:rPr>
              <a:t>AI </a:t>
            </a:r>
            <a:r>
              <a:rPr lang="zh-CN" altLang="en-US">
                <a:latin typeface="微软雅黑" panose="020B0503020204020204" pitchFamily="34" charset="-122"/>
              </a:rPr>
              <a:t>训练；今天单靠一家样本不够用了，正在走向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联邦化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，多个节点互联做跨机构联合分析。右边 </a:t>
            </a:r>
            <a:r>
              <a:rPr lang="en-US" altLang="zh-CN">
                <a:latin typeface="微软雅黑" panose="020B0503020204020204" pitchFamily="34" charset="-122"/>
              </a:rPr>
              <a:t>TDS</a:t>
            </a:r>
            <a:r>
              <a:rPr lang="zh-CN" altLang="en-US">
                <a:latin typeface="微软雅黑" panose="020B0503020204020204" pitchFamily="34" charset="-122"/>
              </a:rPr>
              <a:t>，从早期的数据目录共享，到 </a:t>
            </a:r>
            <a:r>
              <a:rPr lang="en-US" altLang="zh-CN">
                <a:latin typeface="微软雅黑" panose="020B0503020204020204" pitchFamily="34" charset="-122"/>
              </a:rPr>
              <a:t>2024 </a:t>
            </a:r>
            <a:r>
              <a:rPr lang="zh-CN" altLang="en-US">
                <a:latin typeface="微软雅黑" panose="020B0503020204020204" pitchFamily="34" charset="-122"/>
              </a:rPr>
              <a:t>年的可信数据空间，再到 </a:t>
            </a:r>
            <a:r>
              <a:rPr lang="en-US" altLang="zh-CN">
                <a:latin typeface="微软雅黑" panose="020B0503020204020204" pitchFamily="34" charset="-122"/>
              </a:rPr>
              <a:t>2025 </a:t>
            </a:r>
            <a:r>
              <a:rPr lang="zh-CN" altLang="en-US">
                <a:latin typeface="微软雅黑" panose="020B0503020204020204" pitchFamily="34" charset="-122"/>
              </a:rPr>
              <a:t>年跨空间的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身份互认、规则互认、跨域协作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。
大家看中间的交汇点：</a:t>
            </a:r>
            <a:r>
              <a:rPr lang="en-US" altLang="zh-CN">
                <a:latin typeface="微软雅黑" panose="020B0503020204020204" pitchFamily="34" charset="-122"/>
              </a:rPr>
              <a:t>TRE </a:t>
            </a:r>
            <a:r>
              <a:rPr lang="zh-CN" altLang="en-US">
                <a:latin typeface="微软雅黑" panose="020B0503020204020204" pitchFamily="34" charset="-122"/>
              </a:rPr>
              <a:t>走向联邦协作，可信数据空间走向空间互联，两条路径在医疗科研场景交汇，成果就是一个既保证数据不出域、又能跨机构联合研究的可信科研协作网络。
那已经有 </a:t>
            </a:r>
            <a:r>
              <a:rPr lang="en-US" altLang="zh-CN">
                <a:latin typeface="微软雅黑" panose="020B0503020204020204" pitchFamily="34" charset="-122"/>
              </a:rPr>
              <a:t>TRE</a:t>
            </a:r>
            <a:r>
              <a:rPr lang="zh-CN" altLang="en-US">
                <a:latin typeface="微软雅黑" panose="020B0503020204020204" pitchFamily="34" charset="-122"/>
              </a:rPr>
              <a:t>，为什么还要融合可信数据空间？两者都有可信身份、细粒度授权和隐私保护的基础，但能力层级不同：
</a:t>
            </a:r>
            <a:r>
              <a:rPr lang="en-US" altLang="zh-CN">
                <a:latin typeface="微软雅黑" panose="020B0503020204020204" pitchFamily="34" charset="-122"/>
              </a:rPr>
              <a:t>- TRE </a:t>
            </a:r>
            <a:r>
              <a:rPr lang="zh-CN" altLang="en-US">
                <a:latin typeface="微软雅黑" panose="020B0503020204020204" pitchFamily="34" charset="-122"/>
              </a:rPr>
              <a:t>管环境、研究、计算、输出，解决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敏感数据怎么算</a:t>
            </a:r>
            <a:r>
              <a:rPr lang="en-US" altLang="zh-CN">
                <a:latin typeface="微软雅黑" panose="020B0503020204020204" pitchFamily="34" charset="-122"/>
              </a:rPr>
              <a:t>"——</a:t>
            </a:r>
            <a:r>
              <a:rPr lang="zh-CN" altLang="en-US">
                <a:latin typeface="微软雅黑" panose="020B0503020204020204" pitchFamily="34" charset="-122"/>
              </a:rPr>
              <a:t>遵循国际五安全原则，原始病历死死留在环境内，研究员在虚拟桌面里算完，只能导出经审查的统计表、图表或模型参数，连一个病人的明细都带不走；
</a:t>
            </a:r>
            <a:r>
              <a:rPr lang="en-US" altLang="zh-CN">
                <a:latin typeface="微软雅黑" panose="020B0503020204020204" pitchFamily="34" charset="-122"/>
              </a:rPr>
              <a:t>- </a:t>
            </a:r>
            <a:r>
              <a:rPr lang="zh-CN" altLang="en-US">
                <a:latin typeface="微软雅黑" panose="020B0503020204020204" pitchFamily="34" charset="-122"/>
              </a:rPr>
              <a:t>可信数据空间管连接、规则、流通、价值，解决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数据怎么流通</a:t>
            </a:r>
            <a:r>
              <a:rPr lang="en-US" altLang="zh-CN">
                <a:latin typeface="微软雅黑" panose="020B0503020204020204" pitchFamily="34" charset="-122"/>
              </a:rPr>
              <a:t>"——</a:t>
            </a:r>
            <a:r>
              <a:rPr lang="zh-CN" altLang="en-US">
                <a:latin typeface="微软雅黑" panose="020B0503020204020204" pitchFamily="34" charset="-122"/>
              </a:rPr>
              <a:t>十几家医院各有一间保密实验室，怎么连起来？怎么签联合研究合约？怎么监管履约、分配收益？
两者一组合，就从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单点的安全研究环境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升级成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跨机构的科研协作网络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08D06-A579-45D8-BC0D-929695CD3B3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3668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微软雅黑" panose="020B0503020204020204" pitchFamily="34" charset="-122"/>
              </a:rPr>
              <a:t>支撑协作闭环需要五项关键技术，我用五个关键词概括：认得准、找得到、管得住、送不出、算得了。这一页先讲前三项。
</a:t>
            </a:r>
            <a:r>
              <a:rPr lang="en-US" altLang="zh-CN">
                <a:latin typeface="微软雅黑" panose="020B0503020204020204" pitchFamily="34" charset="-122"/>
              </a:rPr>
              <a:t>- ① </a:t>
            </a:r>
            <a:r>
              <a:rPr lang="zh-CN" altLang="en-US">
                <a:latin typeface="微软雅黑" panose="020B0503020204020204" pitchFamily="34" charset="-122"/>
              </a:rPr>
              <a:t>融合身份认证</a:t>
            </a:r>
            <a:r>
              <a:rPr lang="en-US" altLang="zh-CN">
                <a:latin typeface="微软雅黑" panose="020B0503020204020204" pitchFamily="34" charset="-122"/>
              </a:rPr>
              <a:t>——</a:t>
            </a:r>
            <a:r>
              <a:rPr lang="zh-CN" altLang="en-US">
                <a:latin typeface="微软雅黑" panose="020B0503020204020204" pitchFamily="34" charset="-122"/>
              </a:rPr>
              <a:t>认得准：把权威 </a:t>
            </a:r>
            <a:r>
              <a:rPr lang="en-US" altLang="zh-CN">
                <a:latin typeface="微软雅黑" panose="020B0503020204020204" pitchFamily="34" charset="-122"/>
              </a:rPr>
              <a:t>CA </a:t>
            </a:r>
            <a:r>
              <a:rPr lang="zh-CN" altLang="en-US">
                <a:latin typeface="微软雅黑" panose="020B0503020204020204" pitchFamily="34" charset="-122"/>
              </a:rPr>
              <a:t>数字证书和区块链分布式身份（</a:t>
            </a:r>
            <a:r>
              <a:rPr lang="en-US" altLang="zh-CN">
                <a:latin typeface="微软雅黑" panose="020B0503020204020204" pitchFamily="34" charset="-122"/>
              </a:rPr>
              <a:t>DID</a:t>
            </a:r>
            <a:r>
              <a:rPr lang="zh-CN" altLang="en-US">
                <a:latin typeface="微软雅黑" panose="020B0503020204020204" pitchFamily="34" charset="-122"/>
              </a:rPr>
              <a:t>）结合，做到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权威签发、链上存证、跨域互认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。过去 </a:t>
            </a:r>
            <a:r>
              <a:rPr lang="en-US" altLang="zh-CN">
                <a:latin typeface="微软雅黑" panose="020B0503020204020204" pitchFamily="34" charset="-122"/>
              </a:rPr>
              <a:t>10 </a:t>
            </a:r>
            <a:r>
              <a:rPr lang="zh-CN" altLang="en-US">
                <a:latin typeface="微软雅黑" panose="020B0503020204020204" pitchFamily="34" charset="-122"/>
              </a:rPr>
              <a:t>家医院协同就有 </a:t>
            </a:r>
            <a:r>
              <a:rPr lang="en-US" altLang="zh-CN">
                <a:latin typeface="微软雅黑" panose="020B0503020204020204" pitchFamily="34" charset="-122"/>
              </a:rPr>
              <a:t>10 </a:t>
            </a:r>
            <a:r>
              <a:rPr lang="zh-CN" altLang="en-US">
                <a:latin typeface="微软雅黑" panose="020B0503020204020204" pitchFamily="34" charset="-122"/>
              </a:rPr>
              <a:t>套账号体系，重复登录、重复认证；现在患者、医生和机构统一身份认证一次、所有机构互认，既免去重复建号，又严防冒名调阅，打通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数据敢于供得出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的第一道信任门槛。
</a:t>
            </a:r>
            <a:r>
              <a:rPr lang="en-US" altLang="zh-CN">
                <a:latin typeface="微软雅黑" panose="020B0503020204020204" pitchFamily="34" charset="-122"/>
              </a:rPr>
              <a:t>- ② </a:t>
            </a:r>
            <a:r>
              <a:rPr lang="zh-CN" altLang="en-US">
                <a:latin typeface="微软雅黑" panose="020B0503020204020204" pitchFamily="34" charset="-122"/>
              </a:rPr>
              <a:t>智能检索推荐</a:t>
            </a:r>
            <a:r>
              <a:rPr lang="en-US" altLang="zh-CN">
                <a:latin typeface="微软雅黑" panose="020B0503020204020204" pitchFamily="34" charset="-122"/>
              </a:rPr>
              <a:t>——</a:t>
            </a:r>
            <a:r>
              <a:rPr lang="zh-CN" altLang="en-US">
                <a:latin typeface="微软雅黑" panose="020B0503020204020204" pitchFamily="34" charset="-122"/>
              </a:rPr>
              <a:t>找得到：</a:t>
            </a:r>
            <a:r>
              <a:rPr lang="en-US" altLang="zh-CN">
                <a:latin typeface="微软雅黑" panose="020B0503020204020204" pitchFamily="34" charset="-122"/>
              </a:rPr>
              <a:t>A </a:t>
            </a:r>
            <a:r>
              <a:rPr lang="zh-CN" altLang="en-US">
                <a:latin typeface="微软雅黑" panose="020B0503020204020204" pitchFamily="34" charset="-122"/>
              </a:rPr>
              <a:t>医院写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慢阻肺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、</a:t>
            </a:r>
            <a:r>
              <a:rPr lang="en-US" altLang="zh-CN">
                <a:latin typeface="微软雅黑" panose="020B0503020204020204" pitchFamily="34" charset="-122"/>
              </a:rPr>
              <a:t>B </a:t>
            </a:r>
            <a:r>
              <a:rPr lang="zh-CN" altLang="en-US">
                <a:latin typeface="微软雅黑" panose="020B0503020204020204" pitchFamily="34" charset="-122"/>
              </a:rPr>
              <a:t>医院写</a:t>
            </a:r>
            <a:r>
              <a:rPr lang="en-US" altLang="zh-CN">
                <a:latin typeface="微软雅黑" panose="020B0503020204020204" pitchFamily="34" charset="-122"/>
              </a:rPr>
              <a:t>"COPD"</a:t>
            </a:r>
            <a:r>
              <a:rPr lang="zh-CN" altLang="en-US">
                <a:latin typeface="微软雅黑" panose="020B0503020204020204" pitchFamily="34" charset="-122"/>
              </a:rPr>
              <a:t>，关键词搜半天也匹配不上。我们把大模型 </a:t>
            </a:r>
            <a:r>
              <a:rPr lang="en-US" altLang="zh-CN">
                <a:latin typeface="微软雅黑" panose="020B0503020204020204" pitchFamily="34" charset="-122"/>
              </a:rPr>
              <a:t>RAG </a:t>
            </a:r>
            <a:r>
              <a:rPr lang="zh-CN" altLang="en-US">
                <a:latin typeface="微软雅黑" panose="020B0503020204020204" pitchFamily="34" charset="-122"/>
              </a:rPr>
              <a:t>检索增强生成和医学知识图谱结合，医生用自然语言输入</a:t>
            </a:r>
            <a:r>
              <a:rPr lang="en-US" altLang="zh-CN">
                <a:latin typeface="微软雅黑" panose="020B0503020204020204" pitchFamily="34" charset="-122"/>
              </a:rPr>
              <a:t>"COPD + </a:t>
            </a:r>
            <a:r>
              <a:rPr lang="zh-CN" altLang="en-US">
                <a:latin typeface="微软雅黑" panose="020B0503020204020204" pitchFamily="34" charset="-122"/>
              </a:rPr>
              <a:t>肺功能下降 </a:t>
            </a:r>
            <a:r>
              <a:rPr lang="en-US" altLang="zh-CN">
                <a:latin typeface="微软雅黑" panose="020B0503020204020204" pitchFamily="34" charset="-122"/>
              </a:rPr>
              <a:t>+ </a:t>
            </a:r>
            <a:r>
              <a:rPr lang="zh-CN" altLang="en-US">
                <a:latin typeface="微软雅黑" panose="020B0503020204020204" pitchFamily="34" charset="-122"/>
              </a:rPr>
              <a:t>近 </a:t>
            </a:r>
            <a:r>
              <a:rPr lang="en-US" altLang="zh-CN">
                <a:latin typeface="微软雅黑" panose="020B0503020204020204" pitchFamily="34" charset="-122"/>
              </a:rPr>
              <a:t>3 </a:t>
            </a:r>
            <a:r>
              <a:rPr lang="zh-CN" altLang="en-US">
                <a:latin typeface="微软雅黑" panose="020B0503020204020204" pitchFamily="34" charset="-122"/>
              </a:rPr>
              <a:t>年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，系统直接推荐匹配的脱敏病例集。
</a:t>
            </a:r>
            <a:r>
              <a:rPr lang="en-US" altLang="zh-CN">
                <a:latin typeface="微软雅黑" panose="020B0503020204020204" pitchFamily="34" charset="-122"/>
              </a:rPr>
              <a:t>- ③ </a:t>
            </a:r>
            <a:r>
              <a:rPr lang="zh-CN" altLang="en-US">
                <a:latin typeface="微软雅黑" panose="020B0503020204020204" pitchFamily="34" charset="-122"/>
              </a:rPr>
              <a:t>数字合约与使用控制</a:t>
            </a:r>
            <a:r>
              <a:rPr lang="en-US" altLang="zh-CN">
                <a:latin typeface="微软雅黑" panose="020B0503020204020204" pitchFamily="34" charset="-122"/>
              </a:rPr>
              <a:t>——</a:t>
            </a:r>
            <a:r>
              <a:rPr lang="zh-CN" altLang="en-US">
                <a:latin typeface="微软雅黑" panose="020B0503020204020204" pitchFamily="34" charset="-122"/>
              </a:rPr>
              <a:t>管得住：这是可信数据空间的核心。过去签完纸质协议，对方用了几次、有没有超期乱用，医院很难实时掌握。现在把规则写进区块链数字合约，配合使用控制引擎：药企申请某批脱敏数据，系统严格按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仅限研究用途、限 </a:t>
            </a:r>
            <a:r>
              <a:rPr lang="en-US" altLang="zh-CN">
                <a:latin typeface="微软雅黑" panose="020B0503020204020204" pitchFamily="34" charset="-122"/>
              </a:rPr>
              <a:t>100 </a:t>
            </a:r>
            <a:r>
              <a:rPr lang="zh-CN" altLang="en-US">
                <a:latin typeface="微软雅黑" panose="020B0503020204020204" pitchFamily="34" charset="-122"/>
              </a:rPr>
              <a:t>次调用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自动控量，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付没付钱、能不能用、用多少次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全部变成机器执行的铁律。
后两项技术，解决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数据进来以后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的安全问题。
</a:t>
            </a:r>
            <a:r>
              <a:rPr lang="en-US" altLang="zh-CN">
                <a:latin typeface="微软雅黑" panose="020B0503020204020204" pitchFamily="34" charset="-122"/>
              </a:rPr>
              <a:t>- ④ </a:t>
            </a:r>
            <a:r>
              <a:rPr lang="zh-CN" altLang="en-US">
                <a:latin typeface="微软雅黑" panose="020B0503020204020204" pitchFamily="34" charset="-122"/>
              </a:rPr>
              <a:t>安全数据交付</a:t>
            </a:r>
            <a:r>
              <a:rPr lang="en-US" altLang="zh-CN">
                <a:latin typeface="微软雅黑" panose="020B0503020204020204" pitchFamily="34" charset="-122"/>
              </a:rPr>
              <a:t>——</a:t>
            </a:r>
            <a:r>
              <a:rPr lang="zh-CN" altLang="en-US">
                <a:latin typeface="微软雅黑" panose="020B0503020204020204" pitchFamily="34" charset="-122"/>
              </a:rPr>
              <a:t>送不出：权限批了，研究人员进来分析住院病历，怎么防止复制走、</a:t>
            </a:r>
            <a:r>
              <a:rPr lang="en-US" altLang="zh-CN">
                <a:latin typeface="微软雅黑" panose="020B0503020204020204" pitchFamily="34" charset="-122"/>
              </a:rPr>
              <a:t>U </a:t>
            </a:r>
            <a:r>
              <a:rPr lang="zh-CN" altLang="en-US">
                <a:latin typeface="微软雅黑" panose="020B0503020204020204" pitchFamily="34" charset="-122"/>
              </a:rPr>
              <a:t>盘拷走、截屏流出去？我们用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云桌面 </a:t>
            </a:r>
            <a:r>
              <a:rPr lang="en-US" altLang="zh-CN">
                <a:latin typeface="微软雅黑" panose="020B0503020204020204" pitchFamily="34" charset="-122"/>
              </a:rPr>
              <a:t>+ </a:t>
            </a:r>
            <a:r>
              <a:rPr lang="zh-CN" altLang="en-US">
                <a:latin typeface="微软雅黑" panose="020B0503020204020204" pitchFamily="34" charset="-122"/>
              </a:rPr>
              <a:t>数据沙箱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双重隔离：沙箱在底层用容器、虚拟化和硬件隔离（如 </a:t>
            </a:r>
            <a:r>
              <a:rPr lang="en-US" altLang="zh-CN">
                <a:latin typeface="微软雅黑" panose="020B0503020204020204" pitchFamily="34" charset="-122"/>
              </a:rPr>
              <a:t>Intel SGX</a:t>
            </a:r>
            <a:r>
              <a:rPr lang="zh-CN" altLang="en-US">
                <a:latin typeface="微软雅黑" panose="020B0503020204020204" pitchFamily="34" charset="-122"/>
              </a:rPr>
              <a:t>）保护数据处理，云桌面在前端控制访问会话。真实数据只在服务端运行，传到研究员屏幕上的只是一串加密的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画面像素流</a:t>
            </a:r>
            <a:r>
              <a:rPr lang="en-US" altLang="zh-CN">
                <a:latin typeface="微软雅黑" panose="020B0503020204020204" pitchFamily="34" charset="-122"/>
              </a:rPr>
              <a:t>"——</a:t>
            </a:r>
            <a:r>
              <a:rPr lang="zh-CN" altLang="en-US">
                <a:latin typeface="微软雅黑" panose="020B0503020204020204" pitchFamily="34" charset="-122"/>
              </a:rPr>
              <a:t>禁止复制粘贴、</a:t>
            </a:r>
            <a:r>
              <a:rPr lang="en-US" altLang="zh-CN">
                <a:latin typeface="微软雅黑" panose="020B0503020204020204" pitchFamily="34" charset="-122"/>
              </a:rPr>
              <a:t>U </a:t>
            </a:r>
            <a:r>
              <a:rPr lang="zh-CN" altLang="en-US">
                <a:latin typeface="微软雅黑" panose="020B0503020204020204" pitchFamily="34" charset="-122"/>
              </a:rPr>
              <a:t>盘自动禁用、截屏自带溯源水印，做到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可用不可见、终端不落地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，一条原始数据都带不出医院。
</a:t>
            </a:r>
            <a:r>
              <a:rPr lang="en-US" altLang="zh-CN">
                <a:latin typeface="微软雅黑" panose="020B0503020204020204" pitchFamily="34" charset="-122"/>
              </a:rPr>
              <a:t>- ⑤ </a:t>
            </a:r>
            <a:r>
              <a:rPr lang="zh-CN" altLang="en-US">
                <a:latin typeface="微软雅黑" panose="020B0503020204020204" pitchFamily="34" charset="-122"/>
              </a:rPr>
              <a:t>安全数据计算</a:t>
            </a:r>
            <a:r>
              <a:rPr lang="en-US" altLang="zh-CN">
                <a:latin typeface="微软雅黑" panose="020B0503020204020204" pitchFamily="34" charset="-122"/>
              </a:rPr>
              <a:t>——</a:t>
            </a:r>
            <a:r>
              <a:rPr lang="zh-CN" altLang="en-US">
                <a:latin typeface="微软雅黑" panose="020B0503020204020204" pitchFamily="34" charset="-122"/>
              </a:rPr>
              <a:t>算得了：如果多家医院的数据连进同一个沙箱都不允许，怎么一起算？这就用隐私保护计算：联邦学习、多方安全计算、差分隐私和同态加密。比如联合训练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肺癌早期筛查 </a:t>
            </a:r>
            <a:r>
              <a:rPr lang="en-US" altLang="zh-CN">
                <a:latin typeface="微软雅黑" panose="020B0503020204020204" pitchFamily="34" charset="-122"/>
              </a:rPr>
              <a:t>AI </a:t>
            </a:r>
            <a:r>
              <a:rPr lang="zh-CN" altLang="en-US">
                <a:latin typeface="微软雅黑" panose="020B0503020204020204" pitchFamily="34" charset="-122"/>
              </a:rPr>
              <a:t>模型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：一家样本太少，模型泛化差、容易看走眼；集中训练又有极大隐私风险。现在各家 </a:t>
            </a:r>
            <a:r>
              <a:rPr lang="en-US" altLang="zh-CN">
                <a:latin typeface="微软雅黑" panose="020B0503020204020204" pitchFamily="34" charset="-122"/>
              </a:rPr>
              <a:t>CT </a:t>
            </a:r>
            <a:r>
              <a:rPr lang="zh-CN" altLang="en-US">
                <a:latin typeface="微软雅黑" panose="020B0503020204020204" pitchFamily="34" charset="-122"/>
              </a:rPr>
              <a:t>影像和病历不出本院，只交换加密后的模型参数，实现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数据不动模型动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08D06-A579-45D8-BC0D-929695CD3B3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5099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微软雅黑" panose="020B0503020204020204" pitchFamily="34" charset="-122"/>
              </a:rPr>
              <a:t>融合之后，发起一项多中心科研分几步？我们总结了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五步闭环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：
</a:t>
            </a:r>
            <a:r>
              <a:rPr lang="en-US" altLang="zh-CN">
                <a:latin typeface="微软雅黑" panose="020B0503020204020204" pitchFamily="34" charset="-122"/>
              </a:rPr>
              <a:t>- </a:t>
            </a:r>
            <a:r>
              <a:rPr lang="zh-CN" altLang="en-US">
                <a:latin typeface="微软雅黑" panose="020B0503020204020204" pitchFamily="34" charset="-122"/>
              </a:rPr>
              <a:t>第一步，主体接入与资源发布：医院通过连接器接入，不上传任何病人原始数据，只发布一条目录</a:t>
            </a:r>
            <a:r>
              <a:rPr lang="en-US" altLang="zh-CN">
                <a:latin typeface="微软雅黑" panose="020B0503020204020204" pitchFamily="34" charset="-122"/>
              </a:rPr>
              <a:t>——"</a:t>
            </a:r>
            <a:r>
              <a:rPr lang="zh-CN" altLang="en-US">
                <a:latin typeface="微软雅黑" panose="020B0503020204020204" pitchFamily="34" charset="-122"/>
              </a:rPr>
              <a:t>我院有 </a:t>
            </a:r>
            <a:r>
              <a:rPr lang="en-US" altLang="zh-CN">
                <a:latin typeface="微软雅黑" panose="020B0503020204020204" pitchFamily="34" charset="-122"/>
              </a:rPr>
              <a:t>5000 </a:t>
            </a:r>
            <a:r>
              <a:rPr lang="zh-CN" altLang="en-US">
                <a:latin typeface="微软雅黑" panose="020B0503020204020204" pitchFamily="34" charset="-122"/>
              </a:rPr>
              <a:t>例某呼吸疾病脱敏队列数据，可用于科研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；
</a:t>
            </a:r>
            <a:r>
              <a:rPr lang="en-US" altLang="zh-CN">
                <a:latin typeface="微软雅黑" panose="020B0503020204020204" pitchFamily="34" charset="-122"/>
              </a:rPr>
              <a:t>- </a:t>
            </a:r>
            <a:r>
              <a:rPr lang="zh-CN" altLang="en-US">
                <a:latin typeface="微软雅黑" panose="020B0503020204020204" pitchFamily="34" charset="-122"/>
              </a:rPr>
              <a:t>第二步，项目申请与供需匹配：课题牵头方提出需求，在目录里匹配到合适的几家医院；
</a:t>
            </a:r>
            <a:r>
              <a:rPr lang="en-US" altLang="zh-CN">
                <a:latin typeface="微软雅黑" panose="020B0503020204020204" pitchFamily="34" charset="-122"/>
              </a:rPr>
              <a:t>- </a:t>
            </a:r>
            <a:r>
              <a:rPr lang="zh-CN" altLang="en-US">
                <a:latin typeface="微软雅黑" panose="020B0503020204020204" pitchFamily="34" charset="-122"/>
              </a:rPr>
              <a:t>第三步，规则约定与授权：签署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数字合约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，允许哪几个人、什么期限、用什么工具、输出什么要求、责任边界，全部写成系统强制执行的规则；
</a:t>
            </a:r>
            <a:r>
              <a:rPr lang="en-US" altLang="zh-CN">
                <a:latin typeface="微软雅黑" panose="020B0503020204020204" pitchFamily="34" charset="-122"/>
              </a:rPr>
              <a:t>- </a:t>
            </a:r>
            <a:r>
              <a:rPr lang="zh-CN" altLang="en-US">
                <a:latin typeface="微软雅黑" panose="020B0503020204020204" pitchFamily="34" charset="-122"/>
              </a:rPr>
              <a:t>第四步，进入 </a:t>
            </a:r>
            <a:r>
              <a:rPr lang="en-US" altLang="zh-CN">
                <a:latin typeface="微软雅黑" panose="020B0503020204020204" pitchFamily="34" charset="-122"/>
              </a:rPr>
              <a:t>TRE </a:t>
            </a:r>
            <a:r>
              <a:rPr lang="zh-CN" altLang="en-US">
                <a:latin typeface="微软雅黑" panose="020B0503020204020204" pitchFamily="34" charset="-122"/>
              </a:rPr>
              <a:t>开展计算：数据不脱离医院控制，研究人员在受控环境做分析、训练与验证；
</a:t>
            </a:r>
            <a:r>
              <a:rPr lang="en-US" altLang="zh-CN">
                <a:latin typeface="微软雅黑" panose="020B0503020204020204" pitchFamily="34" charset="-122"/>
              </a:rPr>
              <a:t>- </a:t>
            </a:r>
            <a:r>
              <a:rPr lang="zh-CN" altLang="en-US">
                <a:latin typeface="微软雅黑" panose="020B0503020204020204" pitchFamily="34" charset="-122"/>
              </a:rPr>
              <a:t>第五步，输出审查与成果交付：结果经风险披露审查才能导出；全程履约存证、计量、评价，作为收益与成果分配的依据。
落到系统上，就是下面这张全景架构图。最底层：</a:t>
            </a:r>
            <a:r>
              <a:rPr lang="en-US" altLang="zh-CN">
                <a:latin typeface="微软雅黑" panose="020B0503020204020204" pitchFamily="34" charset="-122"/>
              </a:rPr>
              <a:t>A </a:t>
            </a:r>
            <a:r>
              <a:rPr lang="zh-CN" altLang="en-US">
                <a:latin typeface="微软雅黑" panose="020B0503020204020204" pitchFamily="34" charset="-122"/>
              </a:rPr>
              <a:t>医院有临床诊疗数据，</a:t>
            </a:r>
            <a:r>
              <a:rPr lang="en-US" altLang="zh-CN">
                <a:latin typeface="微软雅黑" panose="020B0503020204020204" pitchFamily="34" charset="-122"/>
              </a:rPr>
              <a:t>B </a:t>
            </a:r>
            <a:r>
              <a:rPr lang="zh-CN" altLang="en-US">
                <a:latin typeface="微软雅黑" panose="020B0503020204020204" pitchFamily="34" charset="-122"/>
              </a:rPr>
              <a:t>医院有医学影像数据，</a:t>
            </a:r>
            <a:r>
              <a:rPr lang="en-US" altLang="zh-CN">
                <a:latin typeface="微软雅黑" panose="020B0503020204020204" pitchFamily="34" charset="-122"/>
              </a:rPr>
              <a:t>C </a:t>
            </a:r>
            <a:r>
              <a:rPr lang="zh-CN" altLang="en-US">
                <a:latin typeface="微软雅黑" panose="020B0503020204020204" pitchFamily="34" charset="-122"/>
              </a:rPr>
              <a:t>机构有科研队列数据，原始数据 </a:t>
            </a:r>
            <a:r>
              <a:rPr lang="en-US" altLang="zh-CN">
                <a:latin typeface="微软雅黑" panose="020B0503020204020204" pitchFamily="34" charset="-122"/>
              </a:rPr>
              <a:t>100% </a:t>
            </a:r>
            <a:r>
              <a:rPr lang="zh-CN" altLang="en-US">
                <a:latin typeface="微软雅黑" panose="020B0503020204020204" pitchFamily="34" charset="-122"/>
              </a:rPr>
              <a:t>留在各家本地；各家在自家 </a:t>
            </a:r>
            <a:r>
              <a:rPr lang="en-US" altLang="zh-CN">
                <a:latin typeface="微软雅黑" panose="020B0503020204020204" pitchFamily="34" charset="-122"/>
              </a:rPr>
              <a:t>TRE </a:t>
            </a:r>
            <a:r>
              <a:rPr lang="zh-CN" altLang="en-US">
                <a:latin typeface="微软雅黑" panose="020B0503020204020204" pitchFamily="34" charset="-122"/>
              </a:rPr>
              <a:t>的受控工作区做本地计算，经输出审查后，只有合规的汇总结果往上走。中间层是可信数据空间协同服务平台，用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机构接入连接器 </a:t>
            </a:r>
            <a:r>
              <a:rPr lang="en-US" altLang="zh-CN">
                <a:latin typeface="微软雅黑" panose="020B0503020204020204" pitchFamily="34" charset="-122"/>
              </a:rPr>
              <a:t>+ </a:t>
            </a:r>
            <a:r>
              <a:rPr lang="zh-CN" altLang="en-US">
                <a:latin typeface="微软雅黑" panose="020B0503020204020204" pitchFamily="34" charset="-122"/>
              </a:rPr>
              <a:t>中心服务平台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把身份、目录、项目、授权、任务、审计全部管起来。
四句话概括：资源跨机构发现、授权按项目协同、计算在可信环境执行、结果经审查共享</a:t>
            </a:r>
            <a:r>
              <a:rPr lang="en-US" altLang="zh-CN">
                <a:latin typeface="微软雅黑" panose="020B0503020204020204" pitchFamily="34" charset="-122"/>
              </a:rPr>
              <a:t>——</a:t>
            </a:r>
            <a:r>
              <a:rPr lang="zh-CN" altLang="en-US">
                <a:latin typeface="微软雅黑" panose="020B0503020204020204" pitchFamily="34" charset="-122"/>
              </a:rPr>
              <a:t>原始数据一步没出自家大门，跨机构科研却高效跑起来了！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08D06-A579-45D8-BC0D-929695CD3B3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7533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微软雅黑" panose="020B0503020204020204" pitchFamily="34" charset="-122"/>
              </a:rPr>
              <a:t>接下来汇报两个已经跑通的标杆案例，都建在深圳数据基础设施与可信数据空间之上。
第一个，统一授权推动个人医疗数据合规流通</a:t>
            </a:r>
            <a:r>
              <a:rPr lang="en-US" altLang="zh-CN">
                <a:latin typeface="微软雅黑" panose="020B0503020204020204" pitchFamily="34" charset="-122"/>
              </a:rPr>
              <a:t>——"</a:t>
            </a:r>
            <a:r>
              <a:rPr lang="zh-CN" altLang="en-US">
                <a:latin typeface="微软雅黑" panose="020B0503020204020204" pitchFamily="34" charset="-122"/>
              </a:rPr>
              <a:t>商保理赔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。 过去理赔难、理赔慢：数据分散在各医院，受隐私合规限制，保司与医院无法拉通，医院配合也缺激励。深圳依托深圳数据交易所的可信数据空间与统一授权平台，在采集端（挂号时）和使用端（线上提交理赔时）建立双重个人统一授权，拉通医院 </a:t>
            </a:r>
            <a:r>
              <a:rPr lang="en-US" altLang="zh-CN">
                <a:latin typeface="微软雅黑" panose="020B0503020204020204" pitchFamily="34" charset="-122"/>
              </a:rPr>
              <a:t>HIS</a:t>
            </a:r>
            <a:r>
              <a:rPr lang="zh-CN" altLang="en-US">
                <a:latin typeface="微软雅黑" panose="020B0503020204020204" pitchFamily="34" charset="-122"/>
              </a:rPr>
              <a:t>、卫健委人口健康平台与保险公司，并按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准许成本 </a:t>
            </a:r>
            <a:r>
              <a:rPr lang="en-US" altLang="zh-CN">
                <a:latin typeface="微软雅黑" panose="020B0503020204020204" pitchFamily="34" charset="-122"/>
              </a:rPr>
              <a:t>+ </a:t>
            </a:r>
            <a:r>
              <a:rPr lang="zh-CN" altLang="en-US">
                <a:latin typeface="微软雅黑" panose="020B0503020204020204" pitchFamily="34" charset="-122"/>
              </a:rPr>
              <a:t>合理收益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为医院构建定价与收益分配机制。
据公开报道，南山区通过公共数据授权运营，联合微信、微保落成深圳首个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商保直付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通道：覆盖公立医院就诊人群 </a:t>
            </a:r>
            <a:r>
              <a:rPr lang="en-US" altLang="zh-CN">
                <a:latin typeface="微软雅黑" panose="020B0503020204020204" pitchFamily="34" charset="-122"/>
              </a:rPr>
              <a:t>300 </a:t>
            </a:r>
            <a:r>
              <a:rPr lang="zh-CN" altLang="en-US">
                <a:latin typeface="微软雅黑" panose="020B0503020204020204" pitchFamily="34" charset="-122"/>
              </a:rPr>
              <a:t>万、住院人群 </a:t>
            </a:r>
            <a:r>
              <a:rPr lang="en-US" altLang="zh-CN">
                <a:latin typeface="微软雅黑" panose="020B0503020204020204" pitchFamily="34" charset="-122"/>
              </a:rPr>
              <a:t>14 </a:t>
            </a:r>
            <a:r>
              <a:rPr lang="zh-CN" altLang="en-US">
                <a:latin typeface="微软雅黑" panose="020B0503020204020204" pitchFamily="34" charset="-122"/>
              </a:rPr>
              <a:t>万，门诊平均理赔 </a:t>
            </a:r>
            <a:r>
              <a:rPr lang="en-US" altLang="zh-CN">
                <a:latin typeface="微软雅黑" panose="020B0503020204020204" pitchFamily="34" charset="-122"/>
              </a:rPr>
              <a:t>28 </a:t>
            </a:r>
            <a:r>
              <a:rPr lang="zh-CN" altLang="en-US">
                <a:latin typeface="微软雅黑" panose="020B0503020204020204" pitchFamily="34" charset="-122"/>
              </a:rPr>
              <a:t>分钟，住院最快 </a:t>
            </a:r>
            <a:r>
              <a:rPr lang="en-US" altLang="zh-CN">
                <a:latin typeface="微软雅黑" panose="020B0503020204020204" pitchFamily="34" charset="-122"/>
              </a:rPr>
              <a:t>2 </a:t>
            </a:r>
            <a:r>
              <a:rPr lang="zh-CN" altLang="en-US">
                <a:latin typeface="微软雅黑" panose="020B0503020204020204" pitchFamily="34" charset="-122"/>
              </a:rPr>
              <a:t>小时，保险机构降本 </a:t>
            </a:r>
            <a:r>
              <a:rPr lang="en-US" altLang="zh-CN">
                <a:latin typeface="微软雅黑" panose="020B0503020204020204" pitchFamily="34" charset="-122"/>
              </a:rPr>
              <a:t>50%——</a:t>
            </a:r>
            <a:r>
              <a:rPr lang="zh-CN" altLang="en-US">
                <a:latin typeface="微软雅黑" panose="020B0503020204020204" pitchFamily="34" charset="-122"/>
              </a:rPr>
              <a:t>老百姓少跑腿、医院合规获益、保司成本下降，一举三得。
第二个，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心脏病 </a:t>
            </a:r>
            <a:r>
              <a:rPr lang="en-US" altLang="zh-CN">
                <a:latin typeface="微软雅黑" panose="020B0503020204020204" pitchFamily="34" charset="-122"/>
              </a:rPr>
              <a:t>AI </a:t>
            </a:r>
            <a:r>
              <a:rPr lang="zh-CN" altLang="en-US">
                <a:latin typeface="微软雅黑" panose="020B0503020204020204" pitchFamily="34" charset="-122"/>
              </a:rPr>
              <a:t>密文风险诊断模型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。 针对多院数据难共享、安全风险高、基层诊断能力不均、真实世界研究难开展四大痛点：医院 </a:t>
            </a:r>
            <a:r>
              <a:rPr lang="en-US" altLang="zh-CN">
                <a:latin typeface="微软雅黑" panose="020B0503020204020204" pitchFamily="34" charset="-122"/>
              </a:rPr>
              <a:t>A</a:t>
            </a:r>
            <a:r>
              <a:rPr lang="zh-CN" altLang="en-US">
                <a:latin typeface="微软雅黑" panose="020B0503020204020204" pitchFamily="34" charset="-122"/>
              </a:rPr>
              <a:t>、</a:t>
            </a:r>
            <a:r>
              <a:rPr lang="en-US" altLang="zh-CN">
                <a:latin typeface="微软雅黑" panose="020B0503020204020204" pitchFamily="34" charset="-122"/>
              </a:rPr>
              <a:t>B</a:t>
            </a:r>
            <a:r>
              <a:rPr lang="zh-CN" altLang="en-US">
                <a:latin typeface="微软雅黑" panose="020B0503020204020204" pitchFamily="34" charset="-122"/>
              </a:rPr>
              <a:t>、</a:t>
            </a:r>
            <a:r>
              <a:rPr lang="en-US" altLang="zh-CN">
                <a:latin typeface="微软雅黑" panose="020B0503020204020204" pitchFamily="34" charset="-122"/>
              </a:rPr>
              <a:t>C </a:t>
            </a:r>
            <a:r>
              <a:rPr lang="zh-CN" altLang="en-US">
                <a:latin typeface="微软雅黑" panose="020B0503020204020204" pitchFamily="34" charset="-122"/>
              </a:rPr>
              <a:t>接入平台，原始数据留在本院，在院内完成加密处理；再把密文数据送入可信数据空间的隐私计算环境，多方安全融合、联合建模。现在这个模型既辅助临床医生做心脏病风险预测、赋能基层诊疗，也合规支撑了跨院真实世界研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08D06-A579-45D8-BC0D-929695CD3B3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64204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微软雅黑" panose="020B0503020204020204" pitchFamily="34" charset="-122"/>
              </a:rPr>
              <a:t>讲到这儿，搞医疗 </a:t>
            </a:r>
            <a:r>
              <a:rPr lang="en-US" altLang="zh-CN">
                <a:latin typeface="微软雅黑" panose="020B0503020204020204" pitchFamily="34" charset="-122"/>
              </a:rPr>
              <a:t>AI </a:t>
            </a:r>
            <a:r>
              <a:rPr lang="zh-CN" altLang="en-US">
                <a:latin typeface="微软雅黑" panose="020B0503020204020204" pitchFamily="34" charset="-122"/>
              </a:rPr>
              <a:t>的专家一定会问最灵魂的问题：数据留在本地、只传参数合练，模型会变笨吗？比得上把所有数据堆在一起练吗？
为此我们研发了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异步本地更新的模型融合技术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：</a:t>
            </a:r>
            <a:r>
              <a:rPr lang="en-US" altLang="zh-CN">
                <a:latin typeface="微软雅黑" panose="020B0503020204020204" pitchFamily="34" charset="-122"/>
              </a:rPr>
              <a:t>A</a:t>
            </a:r>
            <a:r>
              <a:rPr lang="zh-CN" altLang="en-US">
                <a:latin typeface="微软雅黑" panose="020B0503020204020204" pitchFamily="34" charset="-122"/>
              </a:rPr>
              <a:t>、</a:t>
            </a:r>
            <a:r>
              <a:rPr lang="en-US" altLang="zh-CN">
                <a:latin typeface="微软雅黑" panose="020B0503020204020204" pitchFamily="34" charset="-122"/>
              </a:rPr>
              <a:t>B </a:t>
            </a:r>
            <a:r>
              <a:rPr lang="zh-CN" altLang="en-US">
                <a:latin typeface="微软雅黑" panose="020B0503020204020204" pitchFamily="34" charset="-122"/>
              </a:rPr>
              <a:t>两家医院各自用私域临床数据在本地训练模型副本，数据完全不互通；再通过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梯度融合器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定期把两边学到的本地梯度同步融合，升级成全局行业模型</a:t>
            </a:r>
            <a:r>
              <a:rPr lang="en-US" altLang="zh-CN">
                <a:latin typeface="微软雅黑" panose="020B0503020204020204" pitchFamily="34" charset="-122"/>
              </a:rPr>
              <a:t>——</a:t>
            </a:r>
            <a:r>
              <a:rPr lang="zh-CN" altLang="en-US">
                <a:latin typeface="微软雅黑" panose="020B0503020204020204" pitchFamily="34" charset="-122"/>
              </a:rPr>
              <a:t>数据不出域，价值可流转，模型共同成长。
效果看右边的实测成绩单。我们在不同数据集、不同任务、五种参数尺寸的大模型上做了对比：方案 </a:t>
            </a:r>
            <a:r>
              <a:rPr lang="en-US" altLang="zh-CN">
                <a:latin typeface="微软雅黑" panose="020B0503020204020204" pitchFamily="34" charset="-122"/>
              </a:rPr>
              <a:t>A </a:t>
            </a:r>
            <a:r>
              <a:rPr lang="zh-CN" altLang="en-US">
                <a:latin typeface="微软雅黑" panose="020B0503020204020204" pitchFamily="34" charset="-122"/>
              </a:rPr>
              <a:t>是两家各 </a:t>
            </a:r>
            <a:r>
              <a:rPr lang="en-US" altLang="zh-CN">
                <a:latin typeface="微软雅黑" panose="020B0503020204020204" pitchFamily="34" charset="-122"/>
              </a:rPr>
              <a:t>64 </a:t>
            </a:r>
            <a:r>
              <a:rPr lang="zh-CN" altLang="en-US">
                <a:latin typeface="微软雅黑" panose="020B0503020204020204" pitchFamily="34" charset="-122"/>
              </a:rPr>
              <a:t>万条样本合并成 </a:t>
            </a:r>
            <a:r>
              <a:rPr lang="en-US" altLang="zh-CN">
                <a:latin typeface="微软雅黑" panose="020B0503020204020204" pitchFamily="34" charset="-122"/>
              </a:rPr>
              <a:t>128 </a:t>
            </a:r>
            <a:r>
              <a:rPr lang="zh-CN" altLang="en-US">
                <a:latin typeface="微软雅黑" panose="020B0503020204020204" pitchFamily="34" charset="-122"/>
              </a:rPr>
              <a:t>万条一起训练，定为 </a:t>
            </a:r>
            <a:r>
              <a:rPr lang="en-US" altLang="zh-CN">
                <a:latin typeface="微软雅黑" panose="020B0503020204020204" pitchFamily="34" charset="-122"/>
              </a:rPr>
              <a:t>100% </a:t>
            </a:r>
            <a:r>
              <a:rPr lang="zh-CN" altLang="en-US">
                <a:latin typeface="微软雅黑" panose="020B0503020204020204" pitchFamily="34" charset="-122"/>
              </a:rPr>
              <a:t>基准；方案 </a:t>
            </a:r>
            <a:r>
              <a:rPr lang="en-US" altLang="zh-CN">
                <a:latin typeface="微软雅黑" panose="020B0503020204020204" pitchFamily="34" charset="-122"/>
              </a:rPr>
              <a:t>B </a:t>
            </a:r>
            <a:r>
              <a:rPr lang="zh-CN" altLang="en-US">
                <a:latin typeface="微软雅黑" panose="020B0503020204020204" pitchFamily="34" charset="-122"/>
              </a:rPr>
              <a:t>是数据不合并、各自本地训练再做梯度融合。
中文医疗对话 </a:t>
            </a:r>
            <a:r>
              <a:rPr lang="en-US" altLang="zh-CN">
                <a:latin typeface="微软雅黑" panose="020B0503020204020204" pitchFamily="34" charset="-122"/>
              </a:rPr>
              <a:t>medical_zh </a:t>
            </a:r>
            <a:r>
              <a:rPr lang="zh-CN" altLang="en-US">
                <a:latin typeface="微软雅黑" panose="020B0503020204020204" pitchFamily="34" charset="-122"/>
              </a:rPr>
              <a:t>任务上，不合并也达到合并效果的 </a:t>
            </a:r>
            <a:r>
              <a:rPr lang="en-US" altLang="zh-CN">
                <a:latin typeface="微软雅黑" panose="020B0503020204020204" pitchFamily="34" charset="-122"/>
              </a:rPr>
              <a:t>92.85%</a:t>
            </a:r>
            <a:r>
              <a:rPr lang="zh-CN" altLang="en-US">
                <a:latin typeface="微软雅黑" panose="020B0503020204020204" pitchFamily="34" charset="-122"/>
              </a:rPr>
              <a:t>；多任务和预训练语料上达到 </a:t>
            </a:r>
            <a:r>
              <a:rPr lang="en-US" altLang="zh-CN">
                <a:latin typeface="微软雅黑" panose="020B0503020204020204" pitchFamily="34" charset="-122"/>
              </a:rPr>
              <a:t>108.2%</a:t>
            </a:r>
            <a:r>
              <a:rPr lang="zh-CN" altLang="en-US">
                <a:latin typeface="微软雅黑" panose="020B0503020204020204" pitchFamily="34" charset="-122"/>
              </a:rPr>
              <a:t>；</a:t>
            </a:r>
            <a:r>
              <a:rPr lang="en-US" altLang="zh-CN">
                <a:latin typeface="微软雅黑" panose="020B0503020204020204" pitchFamily="34" charset="-122"/>
              </a:rPr>
              <a:t>14B</a:t>
            </a:r>
            <a:r>
              <a:rPr lang="zh-CN" altLang="en-US">
                <a:latin typeface="微软雅黑" panose="020B0503020204020204" pitchFamily="34" charset="-122"/>
              </a:rPr>
              <a:t>、</a:t>
            </a:r>
            <a:r>
              <a:rPr lang="en-US" altLang="zh-CN">
                <a:latin typeface="微软雅黑" panose="020B0503020204020204" pitchFamily="34" charset="-122"/>
              </a:rPr>
              <a:t>8B</a:t>
            </a:r>
            <a:r>
              <a:rPr lang="zh-CN" altLang="en-US">
                <a:latin typeface="微软雅黑" panose="020B0503020204020204" pitchFamily="34" charset="-122"/>
              </a:rPr>
              <a:t>、</a:t>
            </a:r>
            <a:r>
              <a:rPr lang="en-US" altLang="zh-CN">
                <a:latin typeface="微软雅黑" panose="020B0503020204020204" pitchFamily="34" charset="-122"/>
              </a:rPr>
              <a:t>4B </a:t>
            </a:r>
            <a:r>
              <a:rPr lang="zh-CN" altLang="en-US">
                <a:latin typeface="微软雅黑" panose="020B0503020204020204" pitchFamily="34" charset="-122"/>
              </a:rPr>
              <a:t>模型上更是达到 </a:t>
            </a:r>
            <a:r>
              <a:rPr lang="en-US" altLang="zh-CN">
                <a:latin typeface="微软雅黑" panose="020B0503020204020204" pitchFamily="34" charset="-122"/>
              </a:rPr>
              <a:t>108% </a:t>
            </a:r>
            <a:r>
              <a:rPr lang="zh-CN" altLang="en-US">
                <a:latin typeface="微软雅黑" panose="020B0503020204020204" pitchFamily="34" charset="-122"/>
              </a:rPr>
              <a:t>到 </a:t>
            </a:r>
            <a:r>
              <a:rPr lang="en-US" altLang="zh-CN">
                <a:latin typeface="微软雅黑" panose="020B0503020204020204" pitchFamily="34" charset="-122"/>
              </a:rPr>
              <a:t>133%</a:t>
            </a:r>
            <a:r>
              <a:rPr lang="zh-CN" altLang="en-US">
                <a:latin typeface="微软雅黑" panose="020B0503020204020204" pitchFamily="34" charset="-122"/>
              </a:rPr>
              <a:t>，实现反超</a:t>
            </a:r>
            <a:r>
              <a:rPr lang="en-US" altLang="zh-CN">
                <a:latin typeface="微软雅黑" panose="020B0503020204020204" pitchFamily="34" charset="-122"/>
              </a:rPr>
              <a:t>——</a:t>
            </a:r>
            <a:r>
              <a:rPr lang="zh-CN" altLang="en-US">
                <a:latin typeface="微软雅黑" panose="020B0503020204020204" pitchFamily="34" charset="-122"/>
              </a:rPr>
              <a:t>因为分开训练再融合，反而减少了单一脏数据的过拟合干扰。
综合来看，效果达成度在 </a:t>
            </a:r>
            <a:r>
              <a:rPr lang="en-US" altLang="zh-CN">
                <a:latin typeface="微软雅黑" panose="020B0503020204020204" pitchFamily="34" charset="-122"/>
              </a:rPr>
              <a:t>82% </a:t>
            </a:r>
            <a:r>
              <a:rPr lang="zh-CN" altLang="en-US">
                <a:latin typeface="微软雅黑" panose="020B0503020204020204" pitchFamily="34" charset="-122"/>
              </a:rPr>
              <a:t>到 </a:t>
            </a:r>
            <a:r>
              <a:rPr lang="en-US" altLang="zh-CN">
                <a:latin typeface="微软雅黑" panose="020B0503020204020204" pitchFamily="34" charset="-122"/>
              </a:rPr>
              <a:t>133% </a:t>
            </a:r>
            <a:r>
              <a:rPr lang="zh-CN" altLang="en-US">
                <a:latin typeface="微软雅黑" panose="020B0503020204020204" pitchFamily="34" charset="-122"/>
              </a:rPr>
              <a:t>之间。数据留在本地，不仅安全合规，效果也完全能支撑顶尖的大科研！
再往前看一步：我们不仅要在国内医院之间协同，更要跟港澳、跟国际顶尖科研机构做跨境联合研究，而数据出境管得更严，怎么办？
</a:t>
            </a:r>
            <a:r>
              <a:rPr lang="en-US" altLang="zh-CN">
                <a:latin typeface="微软雅黑" panose="020B0503020204020204" pitchFamily="34" charset="-122"/>
              </a:rPr>
              <a:t>"TREMAC + </a:t>
            </a:r>
            <a:r>
              <a:rPr lang="zh-CN" altLang="en-US">
                <a:latin typeface="微软雅黑" panose="020B0503020204020204" pitchFamily="34" charset="-122"/>
              </a:rPr>
              <a:t>可信数据空间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天生就是破解跨境医工科研难题的金钥匙。国际上广泛使用 </a:t>
            </a:r>
            <a:r>
              <a:rPr lang="en-US" altLang="zh-CN">
                <a:latin typeface="微软雅黑" panose="020B0503020204020204" pitchFamily="34" charset="-122"/>
              </a:rPr>
              <a:t>TRE </a:t>
            </a:r>
            <a:r>
              <a:rPr lang="zh-CN" altLang="en-US">
                <a:latin typeface="微软雅黑" panose="020B0503020204020204" pitchFamily="34" charset="-122"/>
              </a:rPr>
              <a:t>标准，国内正在推广可信数据空间标准。用这套融合架构，内地数据留在内地机房，港澳和海外数据留在当地，不做敏感的原始数据跨境搬运，只做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跨境身份互认、规则互认、任务跨境分发、合规结果跨境共享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，就能在符合国家数据出境安全监管的前提下，把大湾区乃至全球的医疗科研网络连成一体！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08D06-A579-45D8-BC0D-929695CD3B3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5599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微软雅黑" panose="020B0503020204020204" pitchFamily="34" charset="-122"/>
              </a:rPr>
              <a:t>各位领导、各位专家：</a:t>
            </a:r>
            <a:r>
              <a:rPr lang="en-US" altLang="zh-CN">
                <a:latin typeface="微软雅黑" panose="020B0503020204020204" pitchFamily="34" charset="-122"/>
              </a:rPr>
              <a:t>TREMAC </a:t>
            </a:r>
            <a:r>
              <a:rPr lang="zh-CN" altLang="en-US">
                <a:latin typeface="微软雅黑" panose="020B0503020204020204" pitchFamily="34" charset="-122"/>
              </a:rPr>
              <a:t>与可信数据空间的融合，归根结底是给实验室和医院打造一套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既能干得成大事，又能睡得着觉</a:t>
            </a:r>
            <a:r>
              <a:rPr lang="en-US" altLang="zh-CN">
                <a:latin typeface="微软雅黑" panose="020B0503020204020204" pitchFamily="34" charset="-122"/>
              </a:rPr>
              <a:t>"</a:t>
            </a:r>
            <a:r>
              <a:rPr lang="zh-CN" altLang="en-US">
                <a:latin typeface="微软雅黑" panose="020B0503020204020204" pitchFamily="34" charset="-122"/>
              </a:rPr>
              <a:t>的科研基座</a:t>
            </a:r>
            <a:r>
              <a:rPr lang="en-US" altLang="zh-CN">
                <a:latin typeface="微软雅黑" panose="020B0503020204020204" pitchFamily="34" charset="-122"/>
              </a:rPr>
              <a:t>——
- </a:t>
            </a:r>
            <a:r>
              <a:rPr lang="zh-CN" altLang="en-US">
                <a:latin typeface="微软雅黑" panose="020B0503020204020204" pitchFamily="34" charset="-122"/>
              </a:rPr>
              <a:t>第一，数据稳稳留在本地，守住各家的核心资产；
</a:t>
            </a:r>
            <a:r>
              <a:rPr lang="en-US" altLang="zh-CN">
                <a:latin typeface="微软雅黑" panose="020B0503020204020204" pitchFamily="34" charset="-122"/>
              </a:rPr>
              <a:t>- </a:t>
            </a:r>
            <a:r>
              <a:rPr lang="zh-CN" altLang="en-US">
                <a:latin typeface="微软雅黑" panose="020B0503020204020204" pitchFamily="34" charset="-122"/>
              </a:rPr>
              <a:t>第二，患者隐私全栈保护，不触碰法律与伦理红线；
</a:t>
            </a:r>
            <a:r>
              <a:rPr lang="en-US" altLang="zh-CN">
                <a:latin typeface="微软雅黑" panose="020B0503020204020204" pitchFamily="34" charset="-122"/>
              </a:rPr>
              <a:t>- </a:t>
            </a:r>
            <a:r>
              <a:rPr lang="zh-CN" altLang="en-US">
                <a:latin typeface="微软雅黑" panose="020B0503020204020204" pitchFamily="34" charset="-122"/>
              </a:rPr>
              <a:t>第三，每一次数据使用清晰可控，数据持有方握着总开关；
</a:t>
            </a:r>
            <a:r>
              <a:rPr lang="en-US" altLang="zh-CN">
                <a:latin typeface="微软雅黑" panose="020B0503020204020204" pitchFamily="34" charset="-122"/>
              </a:rPr>
              <a:t>- </a:t>
            </a:r>
            <a:r>
              <a:rPr lang="zh-CN" altLang="en-US">
                <a:latin typeface="微软雅黑" panose="020B0503020204020204" pitchFamily="34" charset="-122"/>
              </a:rPr>
              <a:t>最终，把各家医院和科研机构连接成网，一起做出具有国际影响力的大科研、大成果！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08D06-A579-45D8-BC0D-929695CD3B3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5717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微软雅黑" panose="020B0503020204020204" pitchFamily="34" charset="-122"/>
              </a:rPr>
              <a:t>我的汇报就到这里，谢谢大家！
李化名 </a:t>
            </a:r>
            <a:r>
              <a:rPr lang="en-US" altLang="zh-CN">
                <a:latin typeface="微软雅黑" panose="020B0503020204020204" pitchFamily="34" charset="-122"/>
              </a:rPr>
              <a:t>· </a:t>
            </a:r>
            <a:r>
              <a:rPr lang="zh-CN" altLang="en-US">
                <a:latin typeface="微软雅黑" panose="020B0503020204020204" pitchFamily="34" charset="-122"/>
              </a:rPr>
              <a:t>中国电子云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08D06-A579-45D8-BC0D-929695CD3B3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310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4BF51FE0-3814-4E99-8C01-35D8EBD3DE83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80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A74FB4A5-EA33-4BE9-9817-1D681B729F0D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728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40EAF9-A1BE-4144-9C97-C2A0F1DB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9830FD-AEE6-4DA4-B54F-801DC4CC8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A617D9-72E3-48F3-9019-530FDF6A7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3AC26-D034-433E-B799-9BFE0A279EB2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F64745-C670-4D72-ADAD-41A69A626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A6107D-3704-486E-BB85-BEA49FCA6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99B7-DD08-4556-865F-380101F10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584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09043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TREMAC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可信数据空间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19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稻壳儿原创设计师【幻雨工作室】_1">
            <a:extLst>
              <a:ext uri="{FF2B5EF4-FFF2-40B4-BE49-F238E27FC236}">
                <a16:creationId xmlns:a16="http://schemas.microsoft.com/office/drawing/2014/main" id="{C2C1999D-DDF7-4C16-A09B-BD10225F7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200" y="2830286"/>
            <a:ext cx="927628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稻壳儿原创设计师【幻雨工作室】_2">
            <a:extLst>
              <a:ext uri="{FF2B5EF4-FFF2-40B4-BE49-F238E27FC236}">
                <a16:creationId xmlns:a16="http://schemas.microsoft.com/office/drawing/2014/main" id="{330BA243-6B7F-4CBD-86DD-82AD59A86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773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稻壳儿原创设计师【幻雨工作室】_3">
            <a:extLst>
              <a:ext uri="{FF2B5EF4-FFF2-40B4-BE49-F238E27FC236}">
                <a16:creationId xmlns:a16="http://schemas.microsoft.com/office/drawing/2014/main" id="{8BCACB80-9148-432A-AD01-E226516F8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655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稻壳儿原创设计师【幻雨工作室】_4">
            <a:extLst>
              <a:ext uri="{FF2B5EF4-FFF2-40B4-BE49-F238E27FC236}">
                <a16:creationId xmlns:a16="http://schemas.microsoft.com/office/drawing/2014/main" id="{CD77EECD-F3A7-4EC3-A67A-4462BB346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227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稻壳儿原创设计师【幻雨工作室】_5">
            <a:extLst>
              <a:ext uri="{FF2B5EF4-FFF2-40B4-BE49-F238E27FC236}">
                <a16:creationId xmlns:a16="http://schemas.microsoft.com/office/drawing/2014/main" id="{722C821D-3BEE-4828-A243-76A6D010A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427" y="2830286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稻壳儿原创设计师【幻雨工作室】_6">
            <a:extLst>
              <a:ext uri="{FF2B5EF4-FFF2-40B4-BE49-F238E27FC236}">
                <a16:creationId xmlns:a16="http://schemas.microsoft.com/office/drawing/2014/main" id="{55BA4F61-96CC-4E0C-9790-9CC4C7275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999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稻壳儿原创设计师【幻雨工作室】_7">
            <a:extLst>
              <a:ext uri="{FF2B5EF4-FFF2-40B4-BE49-F238E27FC236}">
                <a16:creationId xmlns:a16="http://schemas.microsoft.com/office/drawing/2014/main" id="{E2F719B7-0445-421C-A3D1-EF607AA5B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4361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稻壳儿原创设计师【幻雨工作室】_8">
            <a:extLst>
              <a:ext uri="{FF2B5EF4-FFF2-40B4-BE49-F238E27FC236}">
                <a16:creationId xmlns:a16="http://schemas.microsoft.com/office/drawing/2014/main" id="{31BE8721-0168-4B61-82C9-A66671194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933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稻壳儿原创设计师【幻雨工作室】_9">
            <a:extLst>
              <a:ext uri="{FF2B5EF4-FFF2-40B4-BE49-F238E27FC236}">
                <a16:creationId xmlns:a16="http://schemas.microsoft.com/office/drawing/2014/main" id="{79DE295B-148D-425E-BAE0-1C900F0E4116}"/>
              </a:ext>
            </a:extLst>
          </p:cNvPr>
          <p:cNvSpPr txBox="1"/>
          <p:nvPr/>
        </p:nvSpPr>
        <p:spPr>
          <a:xfrm>
            <a:off x="2628011" y="2815562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趋势与能力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Trends</a:t>
            </a:r>
          </a:p>
        </p:txBody>
      </p:sp>
      <p:sp>
        <p:nvSpPr>
          <p:cNvPr id="24" name="稻壳儿原创设计师【幻雨工作室】_10">
            <a:extLst>
              <a:ext uri="{FF2B5EF4-FFF2-40B4-BE49-F238E27FC236}">
                <a16:creationId xmlns:a16="http://schemas.microsoft.com/office/drawing/2014/main" id="{6F9E76E5-DEC8-40CC-9C42-0A66DF04E729}"/>
              </a:ext>
            </a:extLst>
          </p:cNvPr>
          <p:cNvSpPr txBox="1"/>
          <p:nvPr/>
        </p:nvSpPr>
        <p:spPr>
          <a:xfrm>
            <a:off x="2628011" y="4675350"/>
            <a:ext cx="3141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融合与实践</a:t>
            </a: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Fusion</a:t>
            </a:r>
          </a:p>
        </p:txBody>
      </p:sp>
      <p:sp>
        <p:nvSpPr>
          <p:cNvPr id="25" name="稻壳儿原创设计师【幻雨工作室】_11">
            <a:extLst>
              <a:ext uri="{FF2B5EF4-FFF2-40B4-BE49-F238E27FC236}">
                <a16:creationId xmlns:a16="http://schemas.microsoft.com/office/drawing/2014/main" id="{C1BE08C7-AD3C-42BD-B2D7-25B6EC1EDAE8}"/>
              </a:ext>
            </a:extLst>
          </p:cNvPr>
          <p:cNvSpPr txBox="1"/>
          <p:nvPr/>
        </p:nvSpPr>
        <p:spPr>
          <a:xfrm>
            <a:off x="7614625" y="2815562"/>
            <a:ext cx="29594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指标与展望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Outlook</a:t>
            </a:r>
          </a:p>
        </p:txBody>
      </p:sp>
      <p:sp>
        <p:nvSpPr>
          <p:cNvPr id="26" name="稻壳儿原创设计师【幻雨工作室】_12">
            <a:extLst>
              <a:ext uri="{FF2B5EF4-FFF2-40B4-BE49-F238E27FC236}">
                <a16:creationId xmlns:a16="http://schemas.microsoft.com/office/drawing/2014/main" id="{CE99C9C9-5A91-412A-A039-67EB1D7B7E6F}"/>
              </a:ext>
            </a:extLst>
          </p:cNvPr>
          <p:cNvSpPr txBox="1"/>
          <p:nvPr/>
        </p:nvSpPr>
        <p:spPr>
          <a:xfrm>
            <a:off x="7614625" y="4629184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价值闭环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Anchors</a:t>
            </a:r>
          </a:p>
        </p:txBody>
      </p:sp>
      <p:sp>
        <p:nvSpPr>
          <p:cNvPr id="27" name="稻壳儿原创设计师【幻雨工作室】_13">
            <a:extLst>
              <a:ext uri="{FF2B5EF4-FFF2-40B4-BE49-F238E27FC236}">
                <a16:creationId xmlns:a16="http://schemas.microsoft.com/office/drawing/2014/main" id="{F67ABBCC-6108-4F7F-B7E7-F212AA86875B}"/>
              </a:ext>
            </a:extLst>
          </p:cNvPr>
          <p:cNvSpPr/>
          <p:nvPr/>
        </p:nvSpPr>
        <p:spPr>
          <a:xfrm>
            <a:off x="967481" y="771826"/>
            <a:ext cx="41188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zh-CN" altLang="en-US" sz="6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897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稻壳儿原创设计师【幻雨工作室】_4">
            <a:extLst>
              <a:ext uri="{FF2B5EF4-FFF2-40B4-BE49-F238E27FC236}">
                <a16:creationId xmlns:a16="http://schemas.microsoft.com/office/drawing/2014/main" id="{AF26B2FA-0AE6-47A2-8BAF-FED4997606FE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趋势与能力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Foundations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89537238-E4EA-4E62-8C33-871A8FF05B17}"/>
              </a:ext>
            </a:extLst>
          </p:cNvPr>
          <p:cNvSpPr/>
          <p:nvPr/>
        </p:nvSpPr>
        <p:spPr>
          <a:xfrm>
            <a:off x="3492120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BF5BBFEC-187C-4095-88E2-6DDBEB449C5E}"/>
              </a:ext>
            </a:extLst>
          </p:cNvPr>
          <p:cNvSpPr/>
          <p:nvPr/>
        </p:nvSpPr>
        <p:spPr>
          <a:xfrm>
            <a:off x="3773076" y="4414426"/>
            <a:ext cx="1933638" cy="1033874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3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EE9B6E5-82E2-4BC6-9A7D-642428D9B208}"/>
              </a:ext>
            </a:extLst>
          </p:cNvPr>
          <p:cNvSpPr/>
          <p:nvPr/>
        </p:nvSpPr>
        <p:spPr>
          <a:xfrm>
            <a:off x="3675913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可信管控</a:t>
            </a:r>
          </a:p>
          <a:p>
            <a:pPr algn="ctr">
              <a:lnSpc>
                <a:spcPct val="150000"/>
              </a:lnSpc>
            </a:pPr>
            <a:r>
              <a:rPr lang="zh-CN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606030504020204" pitchFamily="34" charset="0"/>
                <a:cs typeface="Arial" panose="020B0604020202020204" pitchFamily="34" charset="0"/>
              </a:rPr>
              <a:t>共识规则、数字合约与使用控制引擎，让医院对数据拥有绝对控制权；每一次使用都可管可审计。</a:t>
            </a:r>
          </a:p>
        </p:txBody>
      </p:sp>
      <p:sp>
        <p:nvSpPr>
          <p:cNvPr id="56" name="稻壳儿原创设计师【幻雨工作室】_4">
            <a:extLst>
              <a:ext uri="{FF2B5EF4-FFF2-40B4-BE49-F238E27FC236}">
                <a16:creationId xmlns:a16="http://schemas.microsoft.com/office/drawing/2014/main" id="{7A161212-B303-4C50-AF98-9D9BE095F586}"/>
              </a:ext>
            </a:extLst>
          </p:cNvPr>
          <p:cNvSpPr>
            <a:spLocks noEditPoints="1"/>
          </p:cNvSpPr>
          <p:nvPr/>
        </p:nvSpPr>
        <p:spPr bwMode="auto">
          <a:xfrm>
            <a:off x="4526291" y="4711701"/>
            <a:ext cx="427208" cy="439326"/>
          </a:xfrm>
          <a:custGeom>
            <a:avLst/>
            <a:gdLst>
              <a:gd name="T0" fmla="*/ 119 w 141"/>
              <a:gd name="T1" fmla="*/ 92 h 145"/>
              <a:gd name="T2" fmla="*/ 120 w 141"/>
              <a:gd name="T3" fmla="*/ 92 h 145"/>
              <a:gd name="T4" fmla="*/ 119 w 141"/>
              <a:gd name="T5" fmla="*/ 91 h 145"/>
              <a:gd name="T6" fmla="*/ 99 w 141"/>
              <a:gd name="T7" fmla="*/ 78 h 145"/>
              <a:gd name="T8" fmla="*/ 83 w 141"/>
              <a:gd name="T9" fmla="*/ 69 h 145"/>
              <a:gd name="T10" fmla="*/ 78 w 141"/>
              <a:gd name="T11" fmla="*/ 65 h 145"/>
              <a:gd name="T12" fmla="*/ 76 w 141"/>
              <a:gd name="T13" fmla="*/ 59 h 145"/>
              <a:gd name="T14" fmla="*/ 81 w 141"/>
              <a:gd name="T15" fmla="*/ 47 h 145"/>
              <a:gd name="T16" fmla="*/ 86 w 141"/>
              <a:gd name="T17" fmla="*/ 37 h 145"/>
              <a:gd name="T18" fmla="*/ 84 w 141"/>
              <a:gd name="T19" fmla="*/ 34 h 145"/>
              <a:gd name="T20" fmla="*/ 81 w 141"/>
              <a:gd name="T21" fmla="*/ 12 h 145"/>
              <a:gd name="T22" fmla="*/ 67 w 141"/>
              <a:gd name="T23" fmla="*/ 2 h 145"/>
              <a:gd name="T24" fmla="*/ 62 w 141"/>
              <a:gd name="T25" fmla="*/ 1 h 145"/>
              <a:gd name="T26" fmla="*/ 55 w 141"/>
              <a:gd name="T27" fmla="*/ 0 h 145"/>
              <a:gd name="T28" fmla="*/ 56 w 141"/>
              <a:gd name="T29" fmla="*/ 2 h 145"/>
              <a:gd name="T30" fmla="*/ 42 w 141"/>
              <a:gd name="T31" fmla="*/ 12 h 145"/>
              <a:gd name="T32" fmla="*/ 39 w 141"/>
              <a:gd name="T33" fmla="*/ 34 h 145"/>
              <a:gd name="T34" fmla="*/ 37 w 141"/>
              <a:gd name="T35" fmla="*/ 37 h 145"/>
              <a:gd name="T36" fmla="*/ 42 w 141"/>
              <a:gd name="T37" fmla="*/ 47 h 145"/>
              <a:gd name="T38" fmla="*/ 47 w 141"/>
              <a:gd name="T39" fmla="*/ 59 h 145"/>
              <a:gd name="T40" fmla="*/ 45 w 141"/>
              <a:gd name="T41" fmla="*/ 65 h 145"/>
              <a:gd name="T42" fmla="*/ 40 w 141"/>
              <a:gd name="T43" fmla="*/ 69 h 145"/>
              <a:gd name="T44" fmla="*/ 25 w 141"/>
              <a:gd name="T45" fmla="*/ 78 h 145"/>
              <a:gd name="T46" fmla="*/ 4 w 141"/>
              <a:gd name="T47" fmla="*/ 91 h 145"/>
              <a:gd name="T48" fmla="*/ 0 w 141"/>
              <a:gd name="T49" fmla="*/ 124 h 145"/>
              <a:gd name="T50" fmla="*/ 0 w 141"/>
              <a:gd name="T51" fmla="*/ 126 h 145"/>
              <a:gd name="T52" fmla="*/ 0 w 141"/>
              <a:gd name="T53" fmla="*/ 126 h 145"/>
              <a:gd name="T54" fmla="*/ 62 w 141"/>
              <a:gd name="T55" fmla="*/ 142 h 145"/>
              <a:gd name="T56" fmla="*/ 92 w 141"/>
              <a:gd name="T57" fmla="*/ 139 h 145"/>
              <a:gd name="T58" fmla="*/ 88 w 141"/>
              <a:gd name="T59" fmla="*/ 123 h 145"/>
              <a:gd name="T60" fmla="*/ 119 w 141"/>
              <a:gd name="T61" fmla="*/ 92 h 145"/>
              <a:gd name="T62" fmla="*/ 122 w 141"/>
              <a:gd name="T63" fmla="*/ 100 h 145"/>
              <a:gd name="T64" fmla="*/ 119 w 141"/>
              <a:gd name="T65" fmla="*/ 100 h 145"/>
              <a:gd name="T66" fmla="*/ 96 w 141"/>
              <a:gd name="T67" fmla="*/ 123 h 145"/>
              <a:gd name="T68" fmla="*/ 101 w 141"/>
              <a:gd name="T69" fmla="*/ 136 h 145"/>
              <a:gd name="T70" fmla="*/ 119 w 141"/>
              <a:gd name="T71" fmla="*/ 145 h 145"/>
              <a:gd name="T72" fmla="*/ 141 w 141"/>
              <a:gd name="T73" fmla="*/ 123 h 145"/>
              <a:gd name="T74" fmla="*/ 122 w 141"/>
              <a:gd name="T75" fmla="*/ 100 h 145"/>
              <a:gd name="T76" fmla="*/ 133 w 141"/>
              <a:gd name="T77" fmla="*/ 125 h 145"/>
              <a:gd name="T78" fmla="*/ 122 w 141"/>
              <a:gd name="T79" fmla="*/ 125 h 145"/>
              <a:gd name="T80" fmla="*/ 122 w 141"/>
              <a:gd name="T81" fmla="*/ 137 h 145"/>
              <a:gd name="T82" fmla="*/ 116 w 141"/>
              <a:gd name="T83" fmla="*/ 137 h 145"/>
              <a:gd name="T84" fmla="*/ 116 w 141"/>
              <a:gd name="T85" fmla="*/ 125 h 145"/>
              <a:gd name="T86" fmla="*/ 104 w 141"/>
              <a:gd name="T87" fmla="*/ 125 h 145"/>
              <a:gd name="T88" fmla="*/ 104 w 141"/>
              <a:gd name="T89" fmla="*/ 120 h 145"/>
              <a:gd name="T90" fmla="*/ 116 w 141"/>
              <a:gd name="T91" fmla="*/ 120 h 145"/>
              <a:gd name="T92" fmla="*/ 116 w 141"/>
              <a:gd name="T93" fmla="*/ 108 h 145"/>
              <a:gd name="T94" fmla="*/ 122 w 141"/>
              <a:gd name="T95" fmla="*/ 108 h 145"/>
              <a:gd name="T96" fmla="*/ 122 w 141"/>
              <a:gd name="T97" fmla="*/ 120 h 145"/>
              <a:gd name="T98" fmla="*/ 133 w 141"/>
              <a:gd name="T99" fmla="*/ 120 h 145"/>
              <a:gd name="T100" fmla="*/ 133 w 141"/>
              <a:gd name="T101" fmla="*/ 12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41" h="145">
                <a:moveTo>
                  <a:pt x="119" y="92"/>
                </a:moveTo>
                <a:cubicBezTo>
                  <a:pt x="119" y="92"/>
                  <a:pt x="119" y="92"/>
                  <a:pt x="120" y="92"/>
                </a:cubicBezTo>
                <a:cubicBezTo>
                  <a:pt x="120" y="92"/>
                  <a:pt x="120" y="91"/>
                  <a:pt x="119" y="91"/>
                </a:cubicBezTo>
                <a:cubicBezTo>
                  <a:pt x="115" y="79"/>
                  <a:pt x="102" y="79"/>
                  <a:pt x="99" y="78"/>
                </a:cubicBezTo>
                <a:cubicBezTo>
                  <a:pt x="89" y="75"/>
                  <a:pt x="85" y="74"/>
                  <a:pt x="83" y="69"/>
                </a:cubicBezTo>
                <a:cubicBezTo>
                  <a:pt x="81" y="65"/>
                  <a:pt x="78" y="65"/>
                  <a:pt x="78" y="65"/>
                </a:cubicBezTo>
                <a:cubicBezTo>
                  <a:pt x="77" y="63"/>
                  <a:pt x="77" y="61"/>
                  <a:pt x="76" y="59"/>
                </a:cubicBezTo>
                <a:cubicBezTo>
                  <a:pt x="80" y="54"/>
                  <a:pt x="81" y="47"/>
                  <a:pt x="81" y="47"/>
                </a:cubicBezTo>
                <a:cubicBezTo>
                  <a:pt x="85" y="46"/>
                  <a:pt x="86" y="40"/>
                  <a:pt x="86" y="37"/>
                </a:cubicBezTo>
                <a:cubicBezTo>
                  <a:pt x="86" y="35"/>
                  <a:pt x="84" y="34"/>
                  <a:pt x="84" y="34"/>
                </a:cubicBezTo>
                <a:cubicBezTo>
                  <a:pt x="84" y="34"/>
                  <a:pt x="87" y="20"/>
                  <a:pt x="81" y="12"/>
                </a:cubicBezTo>
                <a:cubicBezTo>
                  <a:pt x="76" y="3"/>
                  <a:pt x="67" y="2"/>
                  <a:pt x="67" y="2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56" y="1"/>
                  <a:pt x="55" y="0"/>
                </a:cubicBezTo>
                <a:cubicBezTo>
                  <a:pt x="55" y="0"/>
                  <a:pt x="55" y="2"/>
                  <a:pt x="56" y="2"/>
                </a:cubicBezTo>
                <a:cubicBezTo>
                  <a:pt x="56" y="2"/>
                  <a:pt x="47" y="3"/>
                  <a:pt x="42" y="12"/>
                </a:cubicBezTo>
                <a:cubicBezTo>
                  <a:pt x="36" y="20"/>
                  <a:pt x="39" y="34"/>
                  <a:pt x="39" y="34"/>
                </a:cubicBezTo>
                <a:cubicBezTo>
                  <a:pt x="39" y="34"/>
                  <a:pt x="37" y="35"/>
                  <a:pt x="37" y="37"/>
                </a:cubicBezTo>
                <a:cubicBezTo>
                  <a:pt x="37" y="40"/>
                  <a:pt x="38" y="46"/>
                  <a:pt x="42" y="47"/>
                </a:cubicBezTo>
                <a:cubicBezTo>
                  <a:pt x="42" y="47"/>
                  <a:pt x="43" y="54"/>
                  <a:pt x="47" y="59"/>
                </a:cubicBezTo>
                <a:cubicBezTo>
                  <a:pt x="46" y="61"/>
                  <a:pt x="46" y="63"/>
                  <a:pt x="45" y="65"/>
                </a:cubicBezTo>
                <a:cubicBezTo>
                  <a:pt x="45" y="65"/>
                  <a:pt x="43" y="65"/>
                  <a:pt x="40" y="69"/>
                </a:cubicBezTo>
                <a:cubicBezTo>
                  <a:pt x="38" y="74"/>
                  <a:pt x="35" y="75"/>
                  <a:pt x="25" y="78"/>
                </a:cubicBezTo>
                <a:cubicBezTo>
                  <a:pt x="21" y="79"/>
                  <a:pt x="9" y="79"/>
                  <a:pt x="4" y="91"/>
                </a:cubicBezTo>
                <a:cubicBezTo>
                  <a:pt x="1" y="97"/>
                  <a:pt x="0" y="111"/>
                  <a:pt x="0" y="124"/>
                </a:cubicBezTo>
                <a:cubicBezTo>
                  <a:pt x="0" y="124"/>
                  <a:pt x="0" y="125"/>
                  <a:pt x="0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12" y="134"/>
                  <a:pt x="31" y="142"/>
                  <a:pt x="62" y="142"/>
                </a:cubicBezTo>
                <a:cubicBezTo>
                  <a:pt x="73" y="142"/>
                  <a:pt x="84" y="141"/>
                  <a:pt x="92" y="139"/>
                </a:cubicBezTo>
                <a:cubicBezTo>
                  <a:pt x="90" y="134"/>
                  <a:pt x="88" y="129"/>
                  <a:pt x="88" y="123"/>
                </a:cubicBezTo>
                <a:cubicBezTo>
                  <a:pt x="88" y="106"/>
                  <a:pt x="102" y="92"/>
                  <a:pt x="119" y="92"/>
                </a:cubicBezTo>
                <a:close/>
                <a:moveTo>
                  <a:pt x="122" y="100"/>
                </a:moveTo>
                <a:cubicBezTo>
                  <a:pt x="121" y="100"/>
                  <a:pt x="120" y="100"/>
                  <a:pt x="119" y="100"/>
                </a:cubicBezTo>
                <a:cubicBezTo>
                  <a:pt x="106" y="100"/>
                  <a:pt x="96" y="110"/>
                  <a:pt x="96" y="123"/>
                </a:cubicBezTo>
                <a:cubicBezTo>
                  <a:pt x="96" y="128"/>
                  <a:pt x="98" y="133"/>
                  <a:pt x="101" y="136"/>
                </a:cubicBezTo>
                <a:cubicBezTo>
                  <a:pt x="105" y="142"/>
                  <a:pt x="112" y="145"/>
                  <a:pt x="119" y="145"/>
                </a:cubicBezTo>
                <a:cubicBezTo>
                  <a:pt x="131" y="145"/>
                  <a:pt x="141" y="135"/>
                  <a:pt x="141" y="123"/>
                </a:cubicBezTo>
                <a:cubicBezTo>
                  <a:pt x="141" y="111"/>
                  <a:pt x="133" y="102"/>
                  <a:pt x="122" y="100"/>
                </a:cubicBezTo>
                <a:close/>
                <a:moveTo>
                  <a:pt x="133" y="125"/>
                </a:moveTo>
                <a:cubicBezTo>
                  <a:pt x="122" y="125"/>
                  <a:pt x="122" y="125"/>
                  <a:pt x="122" y="125"/>
                </a:cubicBezTo>
                <a:cubicBezTo>
                  <a:pt x="122" y="137"/>
                  <a:pt x="122" y="137"/>
                  <a:pt x="122" y="137"/>
                </a:cubicBezTo>
                <a:cubicBezTo>
                  <a:pt x="116" y="137"/>
                  <a:pt x="116" y="137"/>
                  <a:pt x="116" y="137"/>
                </a:cubicBezTo>
                <a:cubicBezTo>
                  <a:pt x="116" y="125"/>
                  <a:pt x="116" y="125"/>
                  <a:pt x="116" y="125"/>
                </a:cubicBezTo>
                <a:cubicBezTo>
                  <a:pt x="104" y="125"/>
                  <a:pt x="104" y="125"/>
                  <a:pt x="104" y="125"/>
                </a:cubicBezTo>
                <a:cubicBezTo>
                  <a:pt x="104" y="120"/>
                  <a:pt x="104" y="120"/>
                  <a:pt x="104" y="120"/>
                </a:cubicBezTo>
                <a:cubicBezTo>
                  <a:pt x="116" y="120"/>
                  <a:pt x="116" y="120"/>
                  <a:pt x="116" y="120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22" y="108"/>
                  <a:pt x="122" y="108"/>
                  <a:pt x="122" y="108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33" y="120"/>
                  <a:pt x="133" y="120"/>
                  <a:pt x="133" y="120"/>
                </a:cubicBezTo>
                <a:lnTo>
                  <a:pt x="133" y="1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30" name="稻壳儿搜索【幻雨工作室】_10">
            <a:extLst>
              <a:ext uri="{FF2B5EF4-FFF2-40B4-BE49-F238E27FC236}">
                <a16:creationId xmlns:a16="http://schemas.microsoft.com/office/drawing/2014/main" id="{7B0EA33D-2D78-42AB-81FC-CAD664088BB4}"/>
              </a:ext>
            </a:extLst>
          </p:cNvPr>
          <p:cNvSpPr/>
          <p:nvPr/>
        </p:nvSpPr>
        <p:spPr>
          <a:xfrm>
            <a:off x="8916542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稻壳儿搜索【幻雨工作室】_11">
            <a:extLst>
              <a:ext uri="{FF2B5EF4-FFF2-40B4-BE49-F238E27FC236}">
                <a16:creationId xmlns:a16="http://schemas.microsoft.com/office/drawing/2014/main" id="{E757B571-8AD8-400D-87A0-9297BB203D06}"/>
              </a:ext>
            </a:extLst>
          </p:cNvPr>
          <p:cNvSpPr/>
          <p:nvPr/>
        </p:nvSpPr>
        <p:spPr>
          <a:xfrm>
            <a:off x="9197498" y="4414426"/>
            <a:ext cx="1933638" cy="1033874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5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8D5672E-0ED3-4AA9-BC97-24391AD1A59C}"/>
              </a:ext>
            </a:extLst>
          </p:cNvPr>
          <p:cNvSpPr/>
          <p:nvPr/>
        </p:nvSpPr>
        <p:spPr>
          <a:xfrm>
            <a:off x="9100335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价值共创</a:t>
            </a:r>
          </a:p>
          <a:p>
            <a:pPr algn="ctr">
              <a:lnSpc>
                <a:spcPct val="150000"/>
              </a:lnSpc>
            </a:pPr>
            <a:r>
              <a:rPr lang="zh-CN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606030504020204" pitchFamily="34" charset="0"/>
                <a:cs typeface="Arial" panose="020B0604020202020204" pitchFamily="34" charset="0"/>
              </a:rPr>
              <a:t>医院、高校、实验室、药企与算法团队协同做科研，按贡献计量、按合约分配权益，让合作可持续。</a:t>
            </a:r>
          </a:p>
        </p:txBody>
      </p:sp>
      <p:sp>
        <p:nvSpPr>
          <p:cNvPr id="57" name="稻壳儿原创设计师【幻雨工作室】_5">
            <a:extLst>
              <a:ext uri="{FF2B5EF4-FFF2-40B4-BE49-F238E27FC236}">
                <a16:creationId xmlns:a16="http://schemas.microsoft.com/office/drawing/2014/main" id="{03B5180C-9711-41B5-9708-9AC0EA60272A}"/>
              </a:ext>
            </a:extLst>
          </p:cNvPr>
          <p:cNvSpPr>
            <a:spLocks noEditPoints="1"/>
          </p:cNvSpPr>
          <p:nvPr/>
        </p:nvSpPr>
        <p:spPr bwMode="auto">
          <a:xfrm>
            <a:off x="9939968" y="4682086"/>
            <a:ext cx="448700" cy="498554"/>
          </a:xfrm>
          <a:custGeom>
            <a:avLst/>
            <a:gdLst>
              <a:gd name="T0" fmla="*/ 74 w 135"/>
              <a:gd name="T1" fmla="*/ 84 h 150"/>
              <a:gd name="T2" fmla="*/ 74 w 135"/>
              <a:gd name="T3" fmla="*/ 83 h 150"/>
              <a:gd name="T4" fmla="*/ 74 w 135"/>
              <a:gd name="T5" fmla="*/ 53 h 150"/>
              <a:gd name="T6" fmla="*/ 68 w 135"/>
              <a:gd name="T7" fmla="*/ 47 h 150"/>
              <a:gd name="T8" fmla="*/ 62 w 135"/>
              <a:gd name="T9" fmla="*/ 53 h 150"/>
              <a:gd name="T10" fmla="*/ 62 w 135"/>
              <a:gd name="T11" fmla="*/ 83 h 150"/>
              <a:gd name="T12" fmla="*/ 68 w 135"/>
              <a:gd name="T13" fmla="*/ 89 h 150"/>
              <a:gd name="T14" fmla="*/ 69 w 135"/>
              <a:gd name="T15" fmla="*/ 89 h 150"/>
              <a:gd name="T16" fmla="*/ 96 w 135"/>
              <a:gd name="T17" fmla="*/ 116 h 150"/>
              <a:gd name="T18" fmla="*/ 98 w 135"/>
              <a:gd name="T19" fmla="*/ 117 h 150"/>
              <a:gd name="T20" fmla="*/ 101 w 135"/>
              <a:gd name="T21" fmla="*/ 116 h 150"/>
              <a:gd name="T22" fmla="*/ 101 w 135"/>
              <a:gd name="T23" fmla="*/ 111 h 150"/>
              <a:gd name="T24" fmla="*/ 74 w 135"/>
              <a:gd name="T25" fmla="*/ 84 h 150"/>
              <a:gd name="T26" fmla="*/ 110 w 135"/>
              <a:gd name="T27" fmla="*/ 30 h 150"/>
              <a:gd name="T28" fmla="*/ 113 w 135"/>
              <a:gd name="T29" fmla="*/ 24 h 150"/>
              <a:gd name="T30" fmla="*/ 115 w 135"/>
              <a:gd name="T31" fmla="*/ 25 h 150"/>
              <a:gd name="T32" fmla="*/ 118 w 135"/>
              <a:gd name="T33" fmla="*/ 25 h 150"/>
              <a:gd name="T34" fmla="*/ 121 w 135"/>
              <a:gd name="T35" fmla="*/ 23 h 150"/>
              <a:gd name="T36" fmla="*/ 123 w 135"/>
              <a:gd name="T37" fmla="*/ 18 h 150"/>
              <a:gd name="T38" fmla="*/ 122 w 135"/>
              <a:gd name="T39" fmla="*/ 13 h 150"/>
              <a:gd name="T40" fmla="*/ 103 w 135"/>
              <a:gd name="T41" fmla="*/ 1 h 150"/>
              <a:gd name="T42" fmla="*/ 97 w 135"/>
              <a:gd name="T43" fmla="*/ 3 h 150"/>
              <a:gd name="T44" fmla="*/ 95 w 135"/>
              <a:gd name="T45" fmla="*/ 8 h 150"/>
              <a:gd name="T46" fmla="*/ 94 w 135"/>
              <a:gd name="T47" fmla="*/ 11 h 150"/>
              <a:gd name="T48" fmla="*/ 96 w 135"/>
              <a:gd name="T49" fmla="*/ 14 h 150"/>
              <a:gd name="T50" fmla="*/ 97 w 135"/>
              <a:gd name="T51" fmla="*/ 14 h 150"/>
              <a:gd name="T52" fmla="*/ 94 w 135"/>
              <a:gd name="T53" fmla="*/ 21 h 150"/>
              <a:gd name="T54" fmla="*/ 68 w 135"/>
              <a:gd name="T55" fmla="*/ 16 h 150"/>
              <a:gd name="T56" fmla="*/ 42 w 135"/>
              <a:gd name="T57" fmla="*/ 21 h 150"/>
              <a:gd name="T58" fmla="*/ 38 w 135"/>
              <a:gd name="T59" fmla="*/ 14 h 150"/>
              <a:gd name="T60" fmla="*/ 40 w 135"/>
              <a:gd name="T61" fmla="*/ 14 h 150"/>
              <a:gd name="T62" fmla="*/ 41 w 135"/>
              <a:gd name="T63" fmla="*/ 11 h 150"/>
              <a:gd name="T64" fmla="*/ 41 w 135"/>
              <a:gd name="T65" fmla="*/ 8 h 150"/>
              <a:gd name="T66" fmla="*/ 38 w 135"/>
              <a:gd name="T67" fmla="*/ 3 h 150"/>
              <a:gd name="T68" fmla="*/ 32 w 135"/>
              <a:gd name="T69" fmla="*/ 1 h 150"/>
              <a:gd name="T70" fmla="*/ 14 w 135"/>
              <a:gd name="T71" fmla="*/ 13 h 150"/>
              <a:gd name="T72" fmla="*/ 12 w 135"/>
              <a:gd name="T73" fmla="*/ 18 h 150"/>
              <a:gd name="T74" fmla="*/ 15 w 135"/>
              <a:gd name="T75" fmla="*/ 23 h 150"/>
              <a:gd name="T76" fmla="*/ 18 w 135"/>
              <a:gd name="T77" fmla="*/ 25 h 150"/>
              <a:gd name="T78" fmla="*/ 21 w 135"/>
              <a:gd name="T79" fmla="*/ 25 h 150"/>
              <a:gd name="T80" fmla="*/ 22 w 135"/>
              <a:gd name="T81" fmla="*/ 24 h 150"/>
              <a:gd name="T82" fmla="*/ 26 w 135"/>
              <a:gd name="T83" fmla="*/ 30 h 150"/>
              <a:gd name="T84" fmla="*/ 0 w 135"/>
              <a:gd name="T85" fmla="*/ 83 h 150"/>
              <a:gd name="T86" fmla="*/ 68 w 135"/>
              <a:gd name="T87" fmla="*/ 150 h 150"/>
              <a:gd name="T88" fmla="*/ 135 w 135"/>
              <a:gd name="T89" fmla="*/ 83 h 150"/>
              <a:gd name="T90" fmla="*/ 110 w 135"/>
              <a:gd name="T91" fmla="*/ 30 h 150"/>
              <a:gd name="T92" fmla="*/ 68 w 135"/>
              <a:gd name="T93" fmla="*/ 138 h 150"/>
              <a:gd name="T94" fmla="*/ 13 w 135"/>
              <a:gd name="T95" fmla="*/ 83 h 150"/>
              <a:gd name="T96" fmla="*/ 68 w 135"/>
              <a:gd name="T97" fmla="*/ 29 h 150"/>
              <a:gd name="T98" fmla="*/ 122 w 135"/>
              <a:gd name="T99" fmla="*/ 83 h 150"/>
              <a:gd name="T100" fmla="*/ 68 w 135"/>
              <a:gd name="T101" fmla="*/ 138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5" h="150">
                <a:moveTo>
                  <a:pt x="74" y="84"/>
                </a:moveTo>
                <a:cubicBezTo>
                  <a:pt x="74" y="84"/>
                  <a:pt x="74" y="83"/>
                  <a:pt x="74" y="83"/>
                </a:cubicBezTo>
                <a:cubicBezTo>
                  <a:pt x="74" y="53"/>
                  <a:pt x="74" y="53"/>
                  <a:pt x="74" y="53"/>
                </a:cubicBezTo>
                <a:cubicBezTo>
                  <a:pt x="74" y="50"/>
                  <a:pt x="71" y="47"/>
                  <a:pt x="68" y="47"/>
                </a:cubicBezTo>
                <a:cubicBezTo>
                  <a:pt x="65" y="47"/>
                  <a:pt x="62" y="50"/>
                  <a:pt x="62" y="53"/>
                </a:cubicBezTo>
                <a:cubicBezTo>
                  <a:pt x="62" y="83"/>
                  <a:pt x="62" y="83"/>
                  <a:pt x="62" y="83"/>
                </a:cubicBezTo>
                <a:cubicBezTo>
                  <a:pt x="62" y="86"/>
                  <a:pt x="65" y="89"/>
                  <a:pt x="68" y="89"/>
                </a:cubicBezTo>
                <a:cubicBezTo>
                  <a:pt x="68" y="89"/>
                  <a:pt x="68" y="89"/>
                  <a:pt x="69" y="89"/>
                </a:cubicBezTo>
                <a:cubicBezTo>
                  <a:pt x="96" y="116"/>
                  <a:pt x="96" y="116"/>
                  <a:pt x="96" y="116"/>
                </a:cubicBezTo>
                <a:cubicBezTo>
                  <a:pt x="96" y="117"/>
                  <a:pt x="97" y="117"/>
                  <a:pt x="98" y="117"/>
                </a:cubicBezTo>
                <a:cubicBezTo>
                  <a:pt x="99" y="117"/>
                  <a:pt x="100" y="117"/>
                  <a:pt x="101" y="116"/>
                </a:cubicBezTo>
                <a:cubicBezTo>
                  <a:pt x="102" y="114"/>
                  <a:pt x="102" y="112"/>
                  <a:pt x="101" y="111"/>
                </a:cubicBezTo>
                <a:lnTo>
                  <a:pt x="74" y="84"/>
                </a:lnTo>
                <a:close/>
                <a:moveTo>
                  <a:pt x="110" y="30"/>
                </a:moveTo>
                <a:cubicBezTo>
                  <a:pt x="113" y="24"/>
                  <a:pt x="113" y="24"/>
                  <a:pt x="113" y="24"/>
                </a:cubicBezTo>
                <a:cubicBezTo>
                  <a:pt x="115" y="25"/>
                  <a:pt x="115" y="25"/>
                  <a:pt x="115" y="25"/>
                </a:cubicBezTo>
                <a:cubicBezTo>
                  <a:pt x="116" y="25"/>
                  <a:pt x="117" y="25"/>
                  <a:pt x="118" y="25"/>
                </a:cubicBezTo>
                <a:cubicBezTo>
                  <a:pt x="119" y="25"/>
                  <a:pt x="120" y="24"/>
                  <a:pt x="121" y="23"/>
                </a:cubicBezTo>
                <a:cubicBezTo>
                  <a:pt x="123" y="18"/>
                  <a:pt x="123" y="18"/>
                  <a:pt x="123" y="18"/>
                </a:cubicBezTo>
                <a:cubicBezTo>
                  <a:pt x="125" y="16"/>
                  <a:pt x="124" y="14"/>
                  <a:pt x="122" y="13"/>
                </a:cubicBezTo>
                <a:cubicBezTo>
                  <a:pt x="103" y="1"/>
                  <a:pt x="103" y="1"/>
                  <a:pt x="103" y="1"/>
                </a:cubicBezTo>
                <a:cubicBezTo>
                  <a:pt x="101" y="0"/>
                  <a:pt x="99" y="1"/>
                  <a:pt x="97" y="3"/>
                </a:cubicBezTo>
                <a:cubicBezTo>
                  <a:pt x="95" y="8"/>
                  <a:pt x="95" y="8"/>
                  <a:pt x="95" y="8"/>
                </a:cubicBezTo>
                <a:cubicBezTo>
                  <a:pt x="94" y="9"/>
                  <a:pt x="94" y="10"/>
                  <a:pt x="94" y="11"/>
                </a:cubicBezTo>
                <a:cubicBezTo>
                  <a:pt x="94" y="12"/>
                  <a:pt x="95" y="13"/>
                  <a:pt x="96" y="14"/>
                </a:cubicBezTo>
                <a:cubicBezTo>
                  <a:pt x="97" y="14"/>
                  <a:pt x="97" y="14"/>
                  <a:pt x="97" y="14"/>
                </a:cubicBezTo>
                <a:cubicBezTo>
                  <a:pt x="94" y="21"/>
                  <a:pt x="94" y="21"/>
                  <a:pt x="94" y="21"/>
                </a:cubicBezTo>
                <a:cubicBezTo>
                  <a:pt x="86" y="18"/>
                  <a:pt x="77" y="16"/>
                  <a:pt x="68" y="16"/>
                </a:cubicBezTo>
                <a:cubicBezTo>
                  <a:pt x="59" y="16"/>
                  <a:pt x="50" y="18"/>
                  <a:pt x="42" y="21"/>
                </a:cubicBezTo>
                <a:cubicBezTo>
                  <a:pt x="38" y="14"/>
                  <a:pt x="38" y="14"/>
                  <a:pt x="38" y="14"/>
                </a:cubicBezTo>
                <a:cubicBezTo>
                  <a:pt x="40" y="14"/>
                  <a:pt x="40" y="14"/>
                  <a:pt x="40" y="14"/>
                </a:cubicBezTo>
                <a:cubicBezTo>
                  <a:pt x="40" y="13"/>
                  <a:pt x="41" y="12"/>
                  <a:pt x="41" y="11"/>
                </a:cubicBezTo>
                <a:cubicBezTo>
                  <a:pt x="42" y="10"/>
                  <a:pt x="42" y="9"/>
                  <a:pt x="41" y="8"/>
                </a:cubicBezTo>
                <a:cubicBezTo>
                  <a:pt x="38" y="3"/>
                  <a:pt x="38" y="3"/>
                  <a:pt x="38" y="3"/>
                </a:cubicBezTo>
                <a:cubicBezTo>
                  <a:pt x="37" y="1"/>
                  <a:pt x="34" y="0"/>
                  <a:pt x="32" y="1"/>
                </a:cubicBezTo>
                <a:cubicBezTo>
                  <a:pt x="14" y="13"/>
                  <a:pt x="14" y="13"/>
                  <a:pt x="14" y="13"/>
                </a:cubicBezTo>
                <a:cubicBezTo>
                  <a:pt x="12" y="14"/>
                  <a:pt x="11" y="16"/>
                  <a:pt x="12" y="18"/>
                </a:cubicBezTo>
                <a:cubicBezTo>
                  <a:pt x="15" y="23"/>
                  <a:pt x="15" y="23"/>
                  <a:pt x="15" y="23"/>
                </a:cubicBezTo>
                <a:cubicBezTo>
                  <a:pt x="16" y="24"/>
                  <a:pt x="16" y="25"/>
                  <a:pt x="18" y="25"/>
                </a:cubicBezTo>
                <a:cubicBezTo>
                  <a:pt x="19" y="25"/>
                  <a:pt x="20" y="25"/>
                  <a:pt x="21" y="25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30"/>
                  <a:pt x="26" y="30"/>
                  <a:pt x="26" y="30"/>
                </a:cubicBezTo>
                <a:cubicBezTo>
                  <a:pt x="10" y="43"/>
                  <a:pt x="0" y="62"/>
                  <a:pt x="0" y="83"/>
                </a:cubicBezTo>
                <a:cubicBezTo>
                  <a:pt x="0" y="120"/>
                  <a:pt x="31" y="150"/>
                  <a:pt x="68" y="150"/>
                </a:cubicBezTo>
                <a:cubicBezTo>
                  <a:pt x="105" y="150"/>
                  <a:pt x="135" y="120"/>
                  <a:pt x="135" y="83"/>
                </a:cubicBezTo>
                <a:cubicBezTo>
                  <a:pt x="135" y="62"/>
                  <a:pt x="125" y="43"/>
                  <a:pt x="110" y="30"/>
                </a:cubicBezTo>
                <a:close/>
                <a:moveTo>
                  <a:pt x="68" y="138"/>
                </a:moveTo>
                <a:cubicBezTo>
                  <a:pt x="38" y="138"/>
                  <a:pt x="13" y="113"/>
                  <a:pt x="13" y="83"/>
                </a:cubicBezTo>
                <a:cubicBezTo>
                  <a:pt x="13" y="53"/>
                  <a:pt x="38" y="29"/>
                  <a:pt x="68" y="29"/>
                </a:cubicBezTo>
                <a:cubicBezTo>
                  <a:pt x="98" y="29"/>
                  <a:pt x="122" y="53"/>
                  <a:pt x="122" y="83"/>
                </a:cubicBezTo>
                <a:cubicBezTo>
                  <a:pt x="122" y="113"/>
                  <a:pt x="98" y="138"/>
                  <a:pt x="68" y="1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7" name="稻壳儿搜索【幻雨工作室】_8">
            <a:extLst>
              <a:ext uri="{FF2B5EF4-FFF2-40B4-BE49-F238E27FC236}">
                <a16:creationId xmlns:a16="http://schemas.microsoft.com/office/drawing/2014/main" id="{E421D192-A0D5-40DA-B8BD-14D1B1EC7AC0}"/>
              </a:ext>
            </a:extLst>
          </p:cNvPr>
          <p:cNvSpPr/>
          <p:nvPr/>
        </p:nvSpPr>
        <p:spPr>
          <a:xfrm>
            <a:off x="6204331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稻壳儿搜索【幻雨工作室】_9">
            <a:extLst>
              <a:ext uri="{FF2B5EF4-FFF2-40B4-BE49-F238E27FC236}">
                <a16:creationId xmlns:a16="http://schemas.microsoft.com/office/drawing/2014/main" id="{732FFC15-83F8-4230-97EA-A5EFB1E33095}"/>
              </a:ext>
            </a:extLst>
          </p:cNvPr>
          <p:cNvSpPr/>
          <p:nvPr/>
        </p:nvSpPr>
        <p:spPr>
          <a:xfrm>
            <a:off x="6485287" y="4414426"/>
            <a:ext cx="1933638" cy="1033874"/>
          </a:xfrm>
          <a:prstGeom prst="rect">
            <a:avLst/>
          </a:prstGeom>
          <a:solidFill>
            <a:schemeClr val="accent3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4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19BC6F1-EAF5-4947-AAC7-DF12807632D4}"/>
              </a:ext>
            </a:extLst>
          </p:cNvPr>
          <p:cNvSpPr/>
          <p:nvPr/>
        </p:nvSpPr>
        <p:spPr>
          <a:xfrm>
            <a:off x="6388124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资源交互</a:t>
            </a:r>
          </a:p>
          <a:p>
            <a:pPr algn="ctr">
              <a:lnSpc>
                <a:spcPct val="150000"/>
              </a:lnSpc>
            </a:pPr>
            <a:r>
              <a:rPr lang="zh-CN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606030504020204" pitchFamily="34" charset="0"/>
                <a:cs typeface="Arial" panose="020B0604020202020204" pitchFamily="34" charset="0"/>
              </a:rPr>
              <a:t>标准连接器把数据孤岛连成网，目录可发现且资源可匹配；连网不等于搬空库房，原始数据仍留在本地。</a:t>
            </a:r>
          </a:p>
        </p:txBody>
      </p:sp>
      <p:sp>
        <p:nvSpPr>
          <p:cNvPr id="58" name="稻壳儿原创设计师【幻雨工作室】_6">
            <a:extLst>
              <a:ext uri="{FF2B5EF4-FFF2-40B4-BE49-F238E27FC236}">
                <a16:creationId xmlns:a16="http://schemas.microsoft.com/office/drawing/2014/main" id="{3134D99C-649F-4702-9726-E54D0F7DF014}"/>
              </a:ext>
            </a:extLst>
          </p:cNvPr>
          <p:cNvSpPr>
            <a:spLocks noEditPoints="1"/>
          </p:cNvSpPr>
          <p:nvPr/>
        </p:nvSpPr>
        <p:spPr bwMode="auto">
          <a:xfrm>
            <a:off x="7265979" y="4662144"/>
            <a:ext cx="372256" cy="538438"/>
          </a:xfrm>
          <a:custGeom>
            <a:avLst/>
            <a:gdLst>
              <a:gd name="T0" fmla="*/ 32 w 112"/>
              <a:gd name="T1" fmla="*/ 141 h 162"/>
              <a:gd name="T2" fmla="*/ 33 w 112"/>
              <a:gd name="T3" fmla="*/ 149 h 162"/>
              <a:gd name="T4" fmla="*/ 41 w 112"/>
              <a:gd name="T5" fmla="*/ 153 h 162"/>
              <a:gd name="T6" fmla="*/ 42 w 112"/>
              <a:gd name="T7" fmla="*/ 158 h 162"/>
              <a:gd name="T8" fmla="*/ 56 w 112"/>
              <a:gd name="T9" fmla="*/ 162 h 162"/>
              <a:gd name="T10" fmla="*/ 70 w 112"/>
              <a:gd name="T11" fmla="*/ 158 h 162"/>
              <a:gd name="T12" fmla="*/ 70 w 112"/>
              <a:gd name="T13" fmla="*/ 153 h 162"/>
              <a:gd name="T14" fmla="*/ 78 w 112"/>
              <a:gd name="T15" fmla="*/ 149 h 162"/>
              <a:gd name="T16" fmla="*/ 79 w 112"/>
              <a:gd name="T17" fmla="*/ 141 h 162"/>
              <a:gd name="T18" fmla="*/ 56 w 112"/>
              <a:gd name="T19" fmla="*/ 144 h 162"/>
              <a:gd name="T20" fmla="*/ 32 w 112"/>
              <a:gd name="T21" fmla="*/ 141 h 162"/>
              <a:gd name="T22" fmla="*/ 56 w 112"/>
              <a:gd name="T23" fmla="*/ 0 h 162"/>
              <a:gd name="T24" fmla="*/ 0 w 112"/>
              <a:gd name="T25" fmla="*/ 56 h 162"/>
              <a:gd name="T26" fmla="*/ 27 w 112"/>
              <a:gd name="T27" fmla="*/ 104 h 162"/>
              <a:gd name="T28" fmla="*/ 29 w 112"/>
              <a:gd name="T29" fmla="*/ 118 h 162"/>
              <a:gd name="T30" fmla="*/ 56 w 112"/>
              <a:gd name="T31" fmla="*/ 123 h 162"/>
              <a:gd name="T32" fmla="*/ 83 w 112"/>
              <a:gd name="T33" fmla="*/ 118 h 162"/>
              <a:gd name="T34" fmla="*/ 85 w 112"/>
              <a:gd name="T35" fmla="*/ 104 h 162"/>
              <a:gd name="T36" fmla="*/ 112 w 112"/>
              <a:gd name="T37" fmla="*/ 56 h 162"/>
              <a:gd name="T38" fmla="*/ 56 w 112"/>
              <a:gd name="T39" fmla="*/ 0 h 162"/>
              <a:gd name="T40" fmla="*/ 76 w 112"/>
              <a:gd name="T41" fmla="*/ 97 h 162"/>
              <a:gd name="T42" fmla="*/ 75 w 112"/>
              <a:gd name="T43" fmla="*/ 110 h 162"/>
              <a:gd name="T44" fmla="*/ 56 w 112"/>
              <a:gd name="T45" fmla="*/ 113 h 162"/>
              <a:gd name="T46" fmla="*/ 37 w 112"/>
              <a:gd name="T47" fmla="*/ 110 h 162"/>
              <a:gd name="T48" fmla="*/ 35 w 112"/>
              <a:gd name="T49" fmla="*/ 97 h 162"/>
              <a:gd name="T50" fmla="*/ 10 w 112"/>
              <a:gd name="T51" fmla="*/ 56 h 162"/>
              <a:gd name="T52" fmla="*/ 56 w 112"/>
              <a:gd name="T53" fmla="*/ 10 h 162"/>
              <a:gd name="T54" fmla="*/ 102 w 112"/>
              <a:gd name="T55" fmla="*/ 56 h 162"/>
              <a:gd name="T56" fmla="*/ 76 w 112"/>
              <a:gd name="T57" fmla="*/ 97 h 162"/>
              <a:gd name="T58" fmla="*/ 30 w 112"/>
              <a:gd name="T59" fmla="*/ 125 h 162"/>
              <a:gd name="T60" fmla="*/ 31 w 112"/>
              <a:gd name="T61" fmla="*/ 133 h 162"/>
              <a:gd name="T62" fmla="*/ 56 w 112"/>
              <a:gd name="T63" fmla="*/ 138 h 162"/>
              <a:gd name="T64" fmla="*/ 80 w 112"/>
              <a:gd name="T65" fmla="*/ 133 h 162"/>
              <a:gd name="T66" fmla="*/ 82 w 112"/>
              <a:gd name="T67" fmla="*/ 125 h 162"/>
              <a:gd name="T68" fmla="*/ 56 w 112"/>
              <a:gd name="T69" fmla="*/ 130 h 162"/>
              <a:gd name="T70" fmla="*/ 30 w 112"/>
              <a:gd name="T71" fmla="*/ 125 h 162"/>
              <a:gd name="T72" fmla="*/ 56 w 112"/>
              <a:gd name="T73" fmla="*/ 23 h 162"/>
              <a:gd name="T74" fmla="*/ 59 w 112"/>
              <a:gd name="T75" fmla="*/ 20 h 162"/>
              <a:gd name="T76" fmla="*/ 56 w 112"/>
              <a:gd name="T77" fmla="*/ 17 h 162"/>
              <a:gd name="T78" fmla="*/ 17 w 112"/>
              <a:gd name="T79" fmla="*/ 56 h 162"/>
              <a:gd name="T80" fmla="*/ 20 w 112"/>
              <a:gd name="T81" fmla="*/ 59 h 162"/>
              <a:gd name="T82" fmla="*/ 23 w 112"/>
              <a:gd name="T83" fmla="*/ 56 h 162"/>
              <a:gd name="T84" fmla="*/ 56 w 112"/>
              <a:gd name="T85" fmla="*/ 23 h 162"/>
              <a:gd name="T86" fmla="*/ 68 w 112"/>
              <a:gd name="T87" fmla="*/ 77 h 162"/>
              <a:gd name="T88" fmla="*/ 56 w 112"/>
              <a:gd name="T89" fmla="*/ 54 h 162"/>
              <a:gd name="T90" fmla="*/ 43 w 112"/>
              <a:gd name="T91" fmla="*/ 77 h 162"/>
              <a:gd name="T92" fmla="*/ 38 w 112"/>
              <a:gd name="T93" fmla="*/ 66 h 162"/>
              <a:gd name="T94" fmla="*/ 30 w 112"/>
              <a:gd name="T95" fmla="*/ 69 h 162"/>
              <a:gd name="T96" fmla="*/ 43 w 112"/>
              <a:gd name="T97" fmla="*/ 96 h 162"/>
              <a:gd name="T98" fmla="*/ 56 w 112"/>
              <a:gd name="T99" fmla="*/ 72 h 162"/>
              <a:gd name="T100" fmla="*/ 69 w 112"/>
              <a:gd name="T101" fmla="*/ 96 h 162"/>
              <a:gd name="T102" fmla="*/ 81 w 112"/>
              <a:gd name="T103" fmla="*/ 69 h 162"/>
              <a:gd name="T104" fmla="*/ 73 w 112"/>
              <a:gd name="T105" fmla="*/ 66 h 162"/>
              <a:gd name="T106" fmla="*/ 68 w 112"/>
              <a:gd name="T107" fmla="*/ 77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2" h="162">
                <a:moveTo>
                  <a:pt x="32" y="141"/>
                </a:moveTo>
                <a:cubicBezTo>
                  <a:pt x="33" y="149"/>
                  <a:pt x="33" y="149"/>
                  <a:pt x="33" y="149"/>
                </a:cubicBezTo>
                <a:cubicBezTo>
                  <a:pt x="33" y="149"/>
                  <a:pt x="35" y="152"/>
                  <a:pt x="41" y="153"/>
                </a:cubicBezTo>
                <a:cubicBezTo>
                  <a:pt x="42" y="158"/>
                  <a:pt x="42" y="158"/>
                  <a:pt x="42" y="158"/>
                </a:cubicBezTo>
                <a:cubicBezTo>
                  <a:pt x="42" y="158"/>
                  <a:pt x="45" y="162"/>
                  <a:pt x="56" y="162"/>
                </a:cubicBezTo>
                <a:cubicBezTo>
                  <a:pt x="67" y="162"/>
                  <a:pt x="70" y="158"/>
                  <a:pt x="70" y="158"/>
                </a:cubicBezTo>
                <a:cubicBezTo>
                  <a:pt x="70" y="153"/>
                  <a:pt x="70" y="153"/>
                  <a:pt x="70" y="153"/>
                </a:cubicBezTo>
                <a:cubicBezTo>
                  <a:pt x="76" y="152"/>
                  <a:pt x="78" y="149"/>
                  <a:pt x="78" y="149"/>
                </a:cubicBezTo>
                <a:cubicBezTo>
                  <a:pt x="79" y="141"/>
                  <a:pt x="79" y="141"/>
                  <a:pt x="79" y="141"/>
                </a:cubicBezTo>
                <a:cubicBezTo>
                  <a:pt x="72" y="143"/>
                  <a:pt x="64" y="144"/>
                  <a:pt x="56" y="144"/>
                </a:cubicBezTo>
                <a:cubicBezTo>
                  <a:pt x="47" y="144"/>
                  <a:pt x="39" y="143"/>
                  <a:pt x="32" y="141"/>
                </a:cubicBezTo>
                <a:close/>
                <a:moveTo>
                  <a:pt x="56" y="0"/>
                </a:moveTo>
                <a:cubicBezTo>
                  <a:pt x="25" y="0"/>
                  <a:pt x="0" y="25"/>
                  <a:pt x="0" y="56"/>
                </a:cubicBezTo>
                <a:cubicBezTo>
                  <a:pt x="0" y="76"/>
                  <a:pt x="11" y="94"/>
                  <a:pt x="27" y="104"/>
                </a:cubicBezTo>
                <a:cubicBezTo>
                  <a:pt x="29" y="118"/>
                  <a:pt x="29" y="118"/>
                  <a:pt x="29" y="118"/>
                </a:cubicBezTo>
                <a:cubicBezTo>
                  <a:pt x="37" y="121"/>
                  <a:pt x="46" y="123"/>
                  <a:pt x="56" y="123"/>
                </a:cubicBezTo>
                <a:cubicBezTo>
                  <a:pt x="66" y="123"/>
                  <a:pt x="75" y="121"/>
                  <a:pt x="83" y="118"/>
                </a:cubicBezTo>
                <a:cubicBezTo>
                  <a:pt x="85" y="104"/>
                  <a:pt x="85" y="104"/>
                  <a:pt x="85" y="104"/>
                </a:cubicBezTo>
                <a:cubicBezTo>
                  <a:pt x="101" y="94"/>
                  <a:pt x="112" y="76"/>
                  <a:pt x="112" y="56"/>
                </a:cubicBezTo>
                <a:cubicBezTo>
                  <a:pt x="112" y="25"/>
                  <a:pt x="87" y="0"/>
                  <a:pt x="56" y="0"/>
                </a:cubicBezTo>
                <a:close/>
                <a:moveTo>
                  <a:pt x="76" y="97"/>
                </a:moveTo>
                <a:cubicBezTo>
                  <a:pt x="75" y="110"/>
                  <a:pt x="75" y="110"/>
                  <a:pt x="75" y="110"/>
                </a:cubicBezTo>
                <a:cubicBezTo>
                  <a:pt x="75" y="110"/>
                  <a:pt x="70" y="113"/>
                  <a:pt x="56" y="113"/>
                </a:cubicBezTo>
                <a:cubicBezTo>
                  <a:pt x="42" y="113"/>
                  <a:pt x="37" y="110"/>
                  <a:pt x="37" y="110"/>
                </a:cubicBezTo>
                <a:cubicBezTo>
                  <a:pt x="35" y="97"/>
                  <a:pt x="35" y="97"/>
                  <a:pt x="35" y="97"/>
                </a:cubicBezTo>
                <a:cubicBezTo>
                  <a:pt x="20" y="89"/>
                  <a:pt x="10" y="74"/>
                  <a:pt x="10" y="56"/>
                </a:cubicBezTo>
                <a:cubicBezTo>
                  <a:pt x="10" y="31"/>
                  <a:pt x="30" y="10"/>
                  <a:pt x="56" y="10"/>
                </a:cubicBezTo>
                <a:cubicBezTo>
                  <a:pt x="81" y="10"/>
                  <a:pt x="102" y="31"/>
                  <a:pt x="102" y="56"/>
                </a:cubicBezTo>
                <a:cubicBezTo>
                  <a:pt x="102" y="74"/>
                  <a:pt x="91" y="89"/>
                  <a:pt x="76" y="97"/>
                </a:cubicBezTo>
                <a:close/>
                <a:moveTo>
                  <a:pt x="30" y="125"/>
                </a:moveTo>
                <a:cubicBezTo>
                  <a:pt x="31" y="133"/>
                  <a:pt x="31" y="133"/>
                  <a:pt x="31" y="133"/>
                </a:cubicBezTo>
                <a:cubicBezTo>
                  <a:pt x="38" y="136"/>
                  <a:pt x="47" y="138"/>
                  <a:pt x="56" y="138"/>
                </a:cubicBezTo>
                <a:cubicBezTo>
                  <a:pt x="65" y="138"/>
                  <a:pt x="73" y="136"/>
                  <a:pt x="80" y="133"/>
                </a:cubicBezTo>
                <a:cubicBezTo>
                  <a:pt x="82" y="125"/>
                  <a:pt x="82" y="125"/>
                  <a:pt x="82" y="125"/>
                </a:cubicBezTo>
                <a:cubicBezTo>
                  <a:pt x="74" y="128"/>
                  <a:pt x="65" y="130"/>
                  <a:pt x="56" y="130"/>
                </a:cubicBezTo>
                <a:cubicBezTo>
                  <a:pt x="46" y="130"/>
                  <a:pt x="38" y="128"/>
                  <a:pt x="30" y="125"/>
                </a:cubicBezTo>
                <a:close/>
                <a:moveTo>
                  <a:pt x="56" y="23"/>
                </a:moveTo>
                <a:cubicBezTo>
                  <a:pt x="57" y="23"/>
                  <a:pt x="59" y="22"/>
                  <a:pt x="59" y="20"/>
                </a:cubicBezTo>
                <a:cubicBezTo>
                  <a:pt x="59" y="18"/>
                  <a:pt x="57" y="17"/>
                  <a:pt x="56" y="17"/>
                </a:cubicBezTo>
                <a:cubicBezTo>
                  <a:pt x="34" y="17"/>
                  <a:pt x="17" y="35"/>
                  <a:pt x="17" y="56"/>
                </a:cubicBezTo>
                <a:cubicBezTo>
                  <a:pt x="17" y="58"/>
                  <a:pt x="18" y="59"/>
                  <a:pt x="20" y="59"/>
                </a:cubicBezTo>
                <a:cubicBezTo>
                  <a:pt x="22" y="59"/>
                  <a:pt x="23" y="58"/>
                  <a:pt x="23" y="56"/>
                </a:cubicBezTo>
                <a:cubicBezTo>
                  <a:pt x="23" y="38"/>
                  <a:pt x="38" y="23"/>
                  <a:pt x="56" y="23"/>
                </a:cubicBezTo>
                <a:close/>
                <a:moveTo>
                  <a:pt x="68" y="77"/>
                </a:moveTo>
                <a:cubicBezTo>
                  <a:pt x="56" y="54"/>
                  <a:pt x="56" y="54"/>
                  <a:pt x="56" y="54"/>
                </a:cubicBezTo>
                <a:cubicBezTo>
                  <a:pt x="43" y="77"/>
                  <a:pt x="43" y="77"/>
                  <a:pt x="43" y="77"/>
                </a:cubicBezTo>
                <a:cubicBezTo>
                  <a:pt x="38" y="66"/>
                  <a:pt x="38" y="66"/>
                  <a:pt x="38" y="66"/>
                </a:cubicBezTo>
                <a:cubicBezTo>
                  <a:pt x="30" y="69"/>
                  <a:pt x="30" y="69"/>
                  <a:pt x="30" y="69"/>
                </a:cubicBezTo>
                <a:cubicBezTo>
                  <a:pt x="43" y="96"/>
                  <a:pt x="43" y="96"/>
                  <a:pt x="43" y="96"/>
                </a:cubicBezTo>
                <a:cubicBezTo>
                  <a:pt x="56" y="72"/>
                  <a:pt x="56" y="72"/>
                  <a:pt x="56" y="72"/>
                </a:cubicBezTo>
                <a:cubicBezTo>
                  <a:pt x="69" y="96"/>
                  <a:pt x="69" y="96"/>
                  <a:pt x="69" y="96"/>
                </a:cubicBezTo>
                <a:cubicBezTo>
                  <a:pt x="81" y="69"/>
                  <a:pt x="81" y="69"/>
                  <a:pt x="81" y="69"/>
                </a:cubicBezTo>
                <a:cubicBezTo>
                  <a:pt x="73" y="66"/>
                  <a:pt x="73" y="66"/>
                  <a:pt x="73" y="66"/>
                </a:cubicBezTo>
                <a:lnTo>
                  <a:pt x="68" y="7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3" name="稻壳儿搜索【幻雨工作室】_4">
            <a:extLst>
              <a:ext uri="{FF2B5EF4-FFF2-40B4-BE49-F238E27FC236}">
                <a16:creationId xmlns:a16="http://schemas.microsoft.com/office/drawing/2014/main" id="{6CECAE69-A15D-4139-86E1-AF6489C20AE8}"/>
              </a:ext>
            </a:extLst>
          </p:cNvPr>
          <p:cNvSpPr/>
          <p:nvPr/>
        </p:nvSpPr>
        <p:spPr>
          <a:xfrm>
            <a:off x="779909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稻壳儿搜索【幻雨工作室】_5">
            <a:extLst>
              <a:ext uri="{FF2B5EF4-FFF2-40B4-BE49-F238E27FC236}">
                <a16:creationId xmlns:a16="http://schemas.microsoft.com/office/drawing/2014/main" id="{A6AD32B4-C7E2-43F0-9CC9-752BF7D272CE}"/>
              </a:ext>
            </a:extLst>
          </p:cNvPr>
          <p:cNvSpPr/>
          <p:nvPr/>
        </p:nvSpPr>
        <p:spPr>
          <a:xfrm>
            <a:off x="1060865" y="4414426"/>
            <a:ext cx="1933638" cy="1033874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1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2385919A-9E11-4AED-A40B-3E265312284E}"/>
              </a:ext>
            </a:extLst>
          </p:cNvPr>
          <p:cNvSpPr/>
          <p:nvPr/>
        </p:nvSpPr>
        <p:spPr>
          <a:xfrm>
            <a:off x="963702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政策底座</a:t>
            </a:r>
          </a:p>
          <a:p>
            <a:pPr algn="ctr">
              <a:lnSpc>
                <a:spcPct val="150000"/>
              </a:lnSpc>
            </a:pPr>
            <a:r>
              <a:rPr lang="zh-CN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606030504020204" pitchFamily="34" charset="0"/>
                <a:cs typeface="Arial" panose="020B0604020202020204" pitchFamily="34" charset="0"/>
              </a:rPr>
              <a:t>“数据二十条”确立数据基础制度；数据基础设施建设指引、可信数据空间发展行动计划，明确可信数据空间为核心技术路线。</a:t>
            </a:r>
          </a:p>
        </p:txBody>
      </p:sp>
      <p:sp>
        <p:nvSpPr>
          <p:cNvPr id="59" name="稻壳儿原创设计师【幻雨工作室】_7">
            <a:extLst>
              <a:ext uri="{FF2B5EF4-FFF2-40B4-BE49-F238E27FC236}">
                <a16:creationId xmlns:a16="http://schemas.microsoft.com/office/drawing/2014/main" id="{2562D75C-01C8-428D-B98E-92F139883E75}"/>
              </a:ext>
            </a:extLst>
          </p:cNvPr>
          <p:cNvSpPr>
            <a:spLocks noEditPoints="1"/>
          </p:cNvSpPr>
          <p:nvPr/>
        </p:nvSpPr>
        <p:spPr bwMode="auto">
          <a:xfrm>
            <a:off x="1773804" y="4715478"/>
            <a:ext cx="507762" cy="431770"/>
          </a:xfrm>
          <a:custGeom>
            <a:avLst/>
            <a:gdLst>
              <a:gd name="T0" fmla="*/ 6 w 147"/>
              <a:gd name="T1" fmla="*/ 120 h 125"/>
              <a:gd name="T2" fmla="*/ 12 w 147"/>
              <a:gd name="T3" fmla="*/ 125 h 125"/>
              <a:gd name="T4" fmla="*/ 39 w 147"/>
              <a:gd name="T5" fmla="*/ 125 h 125"/>
              <a:gd name="T6" fmla="*/ 39 w 147"/>
              <a:gd name="T7" fmla="*/ 68 h 125"/>
              <a:gd name="T8" fmla="*/ 6 w 147"/>
              <a:gd name="T9" fmla="*/ 101 h 125"/>
              <a:gd name="T10" fmla="*/ 6 w 147"/>
              <a:gd name="T11" fmla="*/ 120 h 125"/>
              <a:gd name="T12" fmla="*/ 52 w 147"/>
              <a:gd name="T13" fmla="*/ 81 h 125"/>
              <a:gd name="T14" fmla="*/ 52 w 147"/>
              <a:gd name="T15" fmla="*/ 125 h 125"/>
              <a:gd name="T16" fmla="*/ 85 w 147"/>
              <a:gd name="T17" fmla="*/ 125 h 125"/>
              <a:gd name="T18" fmla="*/ 85 w 147"/>
              <a:gd name="T19" fmla="*/ 86 h 125"/>
              <a:gd name="T20" fmla="*/ 71 w 147"/>
              <a:gd name="T21" fmla="*/ 100 h 125"/>
              <a:gd name="T22" fmla="*/ 52 w 147"/>
              <a:gd name="T23" fmla="*/ 81 h 125"/>
              <a:gd name="T24" fmla="*/ 118 w 147"/>
              <a:gd name="T25" fmla="*/ 2 h 125"/>
              <a:gd name="T26" fmla="*/ 113 w 147"/>
              <a:gd name="T27" fmla="*/ 9 h 125"/>
              <a:gd name="T28" fmla="*/ 119 w 147"/>
              <a:gd name="T29" fmla="*/ 14 h 125"/>
              <a:gd name="T30" fmla="*/ 125 w 147"/>
              <a:gd name="T31" fmla="*/ 13 h 125"/>
              <a:gd name="T32" fmla="*/ 71 w 147"/>
              <a:gd name="T33" fmla="*/ 68 h 125"/>
              <a:gd name="T34" fmla="*/ 39 w 147"/>
              <a:gd name="T35" fmla="*/ 36 h 125"/>
              <a:gd name="T36" fmla="*/ 2 w 147"/>
              <a:gd name="T37" fmla="*/ 73 h 125"/>
              <a:gd name="T38" fmla="*/ 2 w 147"/>
              <a:gd name="T39" fmla="*/ 81 h 125"/>
              <a:gd name="T40" fmla="*/ 10 w 147"/>
              <a:gd name="T41" fmla="*/ 81 h 125"/>
              <a:gd name="T42" fmla="*/ 39 w 147"/>
              <a:gd name="T43" fmla="*/ 53 h 125"/>
              <a:gd name="T44" fmla="*/ 71 w 147"/>
              <a:gd name="T45" fmla="*/ 85 h 125"/>
              <a:gd name="T46" fmla="*/ 134 w 147"/>
              <a:gd name="T47" fmla="*/ 22 h 125"/>
              <a:gd name="T48" fmla="*/ 133 w 147"/>
              <a:gd name="T49" fmla="*/ 28 h 125"/>
              <a:gd name="T50" fmla="*/ 138 w 147"/>
              <a:gd name="T51" fmla="*/ 35 h 125"/>
              <a:gd name="T52" fmla="*/ 139 w 147"/>
              <a:gd name="T53" fmla="*/ 35 h 125"/>
              <a:gd name="T54" fmla="*/ 145 w 147"/>
              <a:gd name="T55" fmla="*/ 29 h 125"/>
              <a:gd name="T56" fmla="*/ 147 w 147"/>
              <a:gd name="T57" fmla="*/ 0 h 125"/>
              <a:gd name="T58" fmla="*/ 118 w 147"/>
              <a:gd name="T59" fmla="*/ 2 h 125"/>
              <a:gd name="T60" fmla="*/ 98 w 147"/>
              <a:gd name="T61" fmla="*/ 73 h 125"/>
              <a:gd name="T62" fmla="*/ 98 w 147"/>
              <a:gd name="T63" fmla="*/ 125 h 125"/>
              <a:gd name="T64" fmla="*/ 126 w 147"/>
              <a:gd name="T65" fmla="*/ 125 h 125"/>
              <a:gd name="T66" fmla="*/ 131 w 147"/>
              <a:gd name="T67" fmla="*/ 120 h 125"/>
              <a:gd name="T68" fmla="*/ 131 w 147"/>
              <a:gd name="T69" fmla="*/ 40 h 125"/>
              <a:gd name="T70" fmla="*/ 103 w 147"/>
              <a:gd name="T71" fmla="*/ 68 h 125"/>
              <a:gd name="T72" fmla="*/ 98 w 147"/>
              <a:gd name="T73" fmla="*/ 7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7" h="125">
                <a:moveTo>
                  <a:pt x="6" y="120"/>
                </a:moveTo>
                <a:cubicBezTo>
                  <a:pt x="6" y="123"/>
                  <a:pt x="9" y="125"/>
                  <a:pt x="12" y="125"/>
                </a:cubicBezTo>
                <a:cubicBezTo>
                  <a:pt x="39" y="125"/>
                  <a:pt x="39" y="125"/>
                  <a:pt x="39" y="125"/>
                </a:cubicBezTo>
                <a:cubicBezTo>
                  <a:pt x="39" y="68"/>
                  <a:pt x="39" y="68"/>
                  <a:pt x="39" y="68"/>
                </a:cubicBezTo>
                <a:cubicBezTo>
                  <a:pt x="6" y="101"/>
                  <a:pt x="6" y="101"/>
                  <a:pt x="6" y="101"/>
                </a:cubicBezTo>
                <a:lnTo>
                  <a:pt x="6" y="120"/>
                </a:lnTo>
                <a:close/>
                <a:moveTo>
                  <a:pt x="52" y="81"/>
                </a:moveTo>
                <a:cubicBezTo>
                  <a:pt x="52" y="125"/>
                  <a:pt x="52" y="125"/>
                  <a:pt x="52" y="125"/>
                </a:cubicBezTo>
                <a:cubicBezTo>
                  <a:pt x="85" y="125"/>
                  <a:pt x="85" y="125"/>
                  <a:pt x="85" y="125"/>
                </a:cubicBezTo>
                <a:cubicBezTo>
                  <a:pt x="85" y="86"/>
                  <a:pt x="85" y="86"/>
                  <a:pt x="85" y="86"/>
                </a:cubicBezTo>
                <a:cubicBezTo>
                  <a:pt x="71" y="100"/>
                  <a:pt x="71" y="100"/>
                  <a:pt x="71" y="100"/>
                </a:cubicBezTo>
                <a:lnTo>
                  <a:pt x="52" y="81"/>
                </a:lnTo>
                <a:close/>
                <a:moveTo>
                  <a:pt x="118" y="2"/>
                </a:moveTo>
                <a:cubicBezTo>
                  <a:pt x="115" y="3"/>
                  <a:pt x="112" y="5"/>
                  <a:pt x="113" y="9"/>
                </a:cubicBezTo>
                <a:cubicBezTo>
                  <a:pt x="113" y="12"/>
                  <a:pt x="116" y="14"/>
                  <a:pt x="119" y="14"/>
                </a:cubicBezTo>
                <a:cubicBezTo>
                  <a:pt x="125" y="13"/>
                  <a:pt x="125" y="13"/>
                  <a:pt x="125" y="13"/>
                </a:cubicBezTo>
                <a:cubicBezTo>
                  <a:pt x="71" y="68"/>
                  <a:pt x="71" y="68"/>
                  <a:pt x="71" y="68"/>
                </a:cubicBezTo>
                <a:cubicBezTo>
                  <a:pt x="39" y="36"/>
                  <a:pt x="39" y="36"/>
                  <a:pt x="39" y="36"/>
                </a:cubicBezTo>
                <a:cubicBezTo>
                  <a:pt x="2" y="73"/>
                  <a:pt x="2" y="73"/>
                  <a:pt x="2" y="73"/>
                </a:cubicBezTo>
                <a:cubicBezTo>
                  <a:pt x="0" y="75"/>
                  <a:pt x="0" y="79"/>
                  <a:pt x="2" y="81"/>
                </a:cubicBezTo>
                <a:cubicBezTo>
                  <a:pt x="4" y="84"/>
                  <a:pt x="8" y="84"/>
                  <a:pt x="10" y="81"/>
                </a:cubicBezTo>
                <a:cubicBezTo>
                  <a:pt x="39" y="53"/>
                  <a:pt x="39" y="53"/>
                  <a:pt x="39" y="53"/>
                </a:cubicBezTo>
                <a:cubicBezTo>
                  <a:pt x="71" y="85"/>
                  <a:pt x="71" y="85"/>
                  <a:pt x="71" y="85"/>
                </a:cubicBezTo>
                <a:cubicBezTo>
                  <a:pt x="134" y="22"/>
                  <a:pt x="134" y="22"/>
                  <a:pt x="134" y="22"/>
                </a:cubicBezTo>
                <a:cubicBezTo>
                  <a:pt x="133" y="28"/>
                  <a:pt x="133" y="28"/>
                  <a:pt x="133" y="28"/>
                </a:cubicBezTo>
                <a:cubicBezTo>
                  <a:pt x="133" y="31"/>
                  <a:pt x="135" y="34"/>
                  <a:pt x="138" y="35"/>
                </a:cubicBezTo>
                <a:cubicBezTo>
                  <a:pt x="139" y="35"/>
                  <a:pt x="139" y="35"/>
                  <a:pt x="139" y="35"/>
                </a:cubicBezTo>
                <a:cubicBezTo>
                  <a:pt x="142" y="35"/>
                  <a:pt x="145" y="32"/>
                  <a:pt x="145" y="29"/>
                </a:cubicBezTo>
                <a:cubicBezTo>
                  <a:pt x="147" y="0"/>
                  <a:pt x="147" y="0"/>
                  <a:pt x="147" y="0"/>
                </a:cubicBezTo>
                <a:lnTo>
                  <a:pt x="118" y="2"/>
                </a:lnTo>
                <a:close/>
                <a:moveTo>
                  <a:pt x="98" y="73"/>
                </a:moveTo>
                <a:cubicBezTo>
                  <a:pt x="98" y="125"/>
                  <a:pt x="98" y="125"/>
                  <a:pt x="98" y="125"/>
                </a:cubicBezTo>
                <a:cubicBezTo>
                  <a:pt x="126" y="125"/>
                  <a:pt x="126" y="125"/>
                  <a:pt x="126" y="125"/>
                </a:cubicBezTo>
                <a:cubicBezTo>
                  <a:pt x="129" y="125"/>
                  <a:pt x="131" y="123"/>
                  <a:pt x="131" y="120"/>
                </a:cubicBezTo>
                <a:cubicBezTo>
                  <a:pt x="131" y="40"/>
                  <a:pt x="131" y="40"/>
                  <a:pt x="131" y="40"/>
                </a:cubicBezTo>
                <a:cubicBezTo>
                  <a:pt x="103" y="68"/>
                  <a:pt x="103" y="68"/>
                  <a:pt x="103" y="68"/>
                </a:cubicBezTo>
                <a:lnTo>
                  <a:pt x="98" y="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52347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趋势与能力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TRE × TDS</a:t>
            </a:r>
          </a:p>
        </p:txBody>
      </p:sp>
      <p:sp>
        <p:nvSpPr>
          <p:cNvPr id="29" name="稻壳儿原创设计师【幻雨工作室】_1">
            <a:extLst>
              <a:ext uri="{FF2B5EF4-FFF2-40B4-BE49-F238E27FC236}">
                <a16:creationId xmlns:a16="http://schemas.microsoft.com/office/drawing/2014/main" id="{688000BC-B6A4-43BB-AD64-5CFDB9A1E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9" y="2156305"/>
            <a:ext cx="1860762" cy="1873878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31" name="稻壳儿原创设计师【幻雨工作室】_2">
            <a:extLst>
              <a:ext uri="{FF2B5EF4-FFF2-40B4-BE49-F238E27FC236}">
                <a16:creationId xmlns:a16="http://schemas.microsoft.com/office/drawing/2014/main" id="{9E0201D7-910E-45F5-8060-AF68A64EB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071" y="3092450"/>
            <a:ext cx="30163" cy="3063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2" name="稻壳儿原创设计师【幻雨工作室】_3">
            <a:extLst>
              <a:ext uri="{FF2B5EF4-FFF2-40B4-BE49-F238E27FC236}">
                <a16:creationId xmlns:a16="http://schemas.microsoft.com/office/drawing/2014/main" id="{2DFCB289-7F11-43A4-ACD7-F6C619546B7F}"/>
              </a:ext>
            </a:extLst>
          </p:cNvPr>
          <p:cNvSpPr>
            <a:spLocks noEditPoints="1"/>
          </p:cNvSpPr>
          <p:nvPr/>
        </p:nvSpPr>
        <p:spPr bwMode="auto">
          <a:xfrm>
            <a:off x="1921783" y="3078163"/>
            <a:ext cx="63500" cy="63500"/>
          </a:xfrm>
          <a:custGeom>
            <a:avLst/>
            <a:gdLst>
              <a:gd name="T0" fmla="*/ 2147483646 w 17"/>
              <a:gd name="T1" fmla="*/ 2147483646 h 17"/>
              <a:gd name="T2" fmla="*/ 2147483646 w 17"/>
              <a:gd name="T3" fmla="*/ 2147483646 h 17"/>
              <a:gd name="T4" fmla="*/ 2147483646 w 17"/>
              <a:gd name="T5" fmla="*/ 2147483646 h 17"/>
              <a:gd name="T6" fmla="*/ 2147483646 w 17"/>
              <a:gd name="T7" fmla="*/ 2147483646 h 17"/>
              <a:gd name="T8" fmla="*/ 2147483646 w 17"/>
              <a:gd name="T9" fmla="*/ 2147483646 h 17"/>
              <a:gd name="T10" fmla="*/ 2147483646 w 17"/>
              <a:gd name="T11" fmla="*/ 0 h 17"/>
              <a:gd name="T12" fmla="*/ 0 w 17"/>
              <a:gd name="T13" fmla="*/ 2147483646 h 17"/>
              <a:gd name="T14" fmla="*/ 2147483646 w 17"/>
              <a:gd name="T15" fmla="*/ 2147483646 h 17"/>
              <a:gd name="T16" fmla="*/ 2147483646 w 17"/>
              <a:gd name="T17" fmla="*/ 2147483646 h 17"/>
              <a:gd name="T18" fmla="*/ 2147483646 w 17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7" h="17">
                <a:moveTo>
                  <a:pt x="8" y="8"/>
                </a:moveTo>
                <a:cubicBezTo>
                  <a:pt x="9" y="8"/>
                  <a:pt x="9" y="8"/>
                  <a:pt x="9" y="8"/>
                </a:cubicBezTo>
                <a:cubicBezTo>
                  <a:pt x="9" y="9"/>
                  <a:pt x="9" y="9"/>
                  <a:pt x="8" y="9"/>
                </a:cubicBezTo>
                <a:cubicBezTo>
                  <a:pt x="8" y="9"/>
                  <a:pt x="8" y="9"/>
                  <a:pt x="8" y="8"/>
                </a:cubicBezTo>
                <a:cubicBezTo>
                  <a:pt x="8" y="8"/>
                  <a:pt x="8" y="8"/>
                  <a:pt x="8" y="8"/>
                </a:cubicBezTo>
                <a:moveTo>
                  <a:pt x="8" y="0"/>
                </a:moveTo>
                <a:cubicBezTo>
                  <a:pt x="4" y="0"/>
                  <a:pt x="0" y="3"/>
                  <a:pt x="0" y="8"/>
                </a:cubicBezTo>
                <a:cubicBezTo>
                  <a:pt x="0" y="13"/>
                  <a:pt x="4" y="17"/>
                  <a:pt x="8" y="17"/>
                </a:cubicBezTo>
                <a:cubicBezTo>
                  <a:pt x="13" y="17"/>
                  <a:pt x="17" y="13"/>
                  <a:pt x="17" y="8"/>
                </a:cubicBezTo>
                <a:cubicBezTo>
                  <a:pt x="17" y="3"/>
                  <a:pt x="13" y="0"/>
                  <a:pt x="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AC4D2591-C05E-481D-9773-1F0B67A33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858" y="2752725"/>
            <a:ext cx="385763" cy="30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DF771512-3F1F-43E6-89B3-CE478932803F}"/>
              </a:ext>
            </a:extLst>
          </p:cNvPr>
          <p:cNvSpPr>
            <a:spLocks noEditPoints="1"/>
          </p:cNvSpPr>
          <p:nvPr/>
        </p:nvSpPr>
        <p:spPr bwMode="auto">
          <a:xfrm>
            <a:off x="1707471" y="2832100"/>
            <a:ext cx="492125" cy="600075"/>
          </a:xfrm>
          <a:custGeom>
            <a:avLst/>
            <a:gdLst>
              <a:gd name="T0" fmla="*/ 2147483646 w 310"/>
              <a:gd name="T1" fmla="*/ 2147483646 h 378"/>
              <a:gd name="T2" fmla="*/ 2147483646 w 310"/>
              <a:gd name="T3" fmla="*/ 2147483646 h 378"/>
              <a:gd name="T4" fmla="*/ 0 w 310"/>
              <a:gd name="T5" fmla="*/ 2147483646 h 378"/>
              <a:gd name="T6" fmla="*/ 2147483646 w 310"/>
              <a:gd name="T7" fmla="*/ 2147483646 h 378"/>
              <a:gd name="T8" fmla="*/ 2147483646 w 310"/>
              <a:gd name="T9" fmla="*/ 0 h 378"/>
              <a:gd name="T10" fmla="*/ 2147483646 w 310"/>
              <a:gd name="T11" fmla="*/ 0 h 378"/>
              <a:gd name="T12" fmla="*/ 2147483646 w 310"/>
              <a:gd name="T13" fmla="*/ 2147483646 h 378"/>
              <a:gd name="T14" fmla="*/ 2147483646 w 310"/>
              <a:gd name="T15" fmla="*/ 2147483646 h 378"/>
              <a:gd name="T16" fmla="*/ 2147483646 w 310"/>
              <a:gd name="T17" fmla="*/ 2147483646 h 378"/>
              <a:gd name="T18" fmla="*/ 2147483646 w 310"/>
              <a:gd name="T19" fmla="*/ 2147483646 h 378"/>
              <a:gd name="T20" fmla="*/ 2147483646 w 310"/>
              <a:gd name="T21" fmla="*/ 2147483646 h 378"/>
              <a:gd name="T22" fmla="*/ 2147483646 w 310"/>
              <a:gd name="T23" fmla="*/ 2147483646 h 378"/>
              <a:gd name="T24" fmla="*/ 2147483646 w 310"/>
              <a:gd name="T25" fmla="*/ 2147483646 h 378"/>
              <a:gd name="T26" fmla="*/ 2147483646 w 310"/>
              <a:gd name="T27" fmla="*/ 2147483646 h 378"/>
              <a:gd name="T28" fmla="*/ 2147483646 w 310"/>
              <a:gd name="T29" fmla="*/ 2147483646 h 378"/>
              <a:gd name="T30" fmla="*/ 2147483646 w 310"/>
              <a:gd name="T31" fmla="*/ 2147483646 h 378"/>
              <a:gd name="T32" fmla="*/ 2147483646 w 310"/>
              <a:gd name="T33" fmla="*/ 2147483646 h 378"/>
              <a:gd name="T34" fmla="*/ 2147483646 w 310"/>
              <a:gd name="T35" fmla="*/ 2147483646 h 37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10" h="378">
                <a:moveTo>
                  <a:pt x="165" y="378"/>
                </a:moveTo>
                <a:lnTo>
                  <a:pt x="144" y="378"/>
                </a:lnTo>
                <a:lnTo>
                  <a:pt x="0" y="193"/>
                </a:lnTo>
                <a:lnTo>
                  <a:pt x="64" y="62"/>
                </a:lnTo>
                <a:lnTo>
                  <a:pt x="64" y="0"/>
                </a:lnTo>
                <a:lnTo>
                  <a:pt x="246" y="0"/>
                </a:lnTo>
                <a:lnTo>
                  <a:pt x="246" y="62"/>
                </a:lnTo>
                <a:lnTo>
                  <a:pt x="310" y="193"/>
                </a:lnTo>
                <a:lnTo>
                  <a:pt x="165" y="378"/>
                </a:lnTo>
                <a:close/>
                <a:moveTo>
                  <a:pt x="154" y="359"/>
                </a:moveTo>
                <a:lnTo>
                  <a:pt x="156" y="359"/>
                </a:lnTo>
                <a:lnTo>
                  <a:pt x="286" y="190"/>
                </a:lnTo>
                <a:lnTo>
                  <a:pt x="227" y="66"/>
                </a:lnTo>
                <a:lnTo>
                  <a:pt x="227" y="19"/>
                </a:lnTo>
                <a:lnTo>
                  <a:pt x="83" y="19"/>
                </a:lnTo>
                <a:lnTo>
                  <a:pt x="83" y="66"/>
                </a:lnTo>
                <a:lnTo>
                  <a:pt x="21" y="190"/>
                </a:lnTo>
                <a:lnTo>
                  <a:pt x="154" y="3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稻壳儿原创设计师【幻雨工作室】_6">
            <a:extLst>
              <a:ext uri="{FF2B5EF4-FFF2-40B4-BE49-F238E27FC236}">
                <a16:creationId xmlns:a16="http://schemas.microsoft.com/office/drawing/2014/main" id="{6E9966CB-983E-4939-B86C-A16FBAF2B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5281" y="2158402"/>
            <a:ext cx="1845454" cy="1858572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6" name="稻壳儿原创设计师【幻雨工作室】_7">
            <a:extLst>
              <a:ext uri="{FF2B5EF4-FFF2-40B4-BE49-F238E27FC236}">
                <a16:creationId xmlns:a16="http://schemas.microsoft.com/office/drawing/2014/main" id="{D8FE674D-1551-4AF3-96B4-E39B1D78C6DF}"/>
              </a:ext>
            </a:extLst>
          </p:cNvPr>
          <p:cNvSpPr>
            <a:spLocks noEditPoints="1"/>
          </p:cNvSpPr>
          <p:nvPr/>
        </p:nvSpPr>
        <p:spPr bwMode="auto">
          <a:xfrm>
            <a:off x="4368121" y="2809875"/>
            <a:ext cx="709613" cy="465137"/>
          </a:xfrm>
          <a:custGeom>
            <a:avLst/>
            <a:gdLst>
              <a:gd name="T0" fmla="*/ 2147483646 w 189"/>
              <a:gd name="T1" fmla="*/ 2147483646 h 123"/>
              <a:gd name="T2" fmla="*/ 2147483646 w 189"/>
              <a:gd name="T3" fmla="*/ 2147483646 h 123"/>
              <a:gd name="T4" fmla="*/ 0 w 189"/>
              <a:gd name="T5" fmla="*/ 2147483646 h 123"/>
              <a:gd name="T6" fmla="*/ 0 w 189"/>
              <a:gd name="T7" fmla="*/ 2147483646 h 123"/>
              <a:gd name="T8" fmla="*/ 2147483646 w 189"/>
              <a:gd name="T9" fmla="*/ 0 h 123"/>
              <a:gd name="T10" fmla="*/ 2147483646 w 189"/>
              <a:gd name="T11" fmla="*/ 0 h 123"/>
              <a:gd name="T12" fmla="*/ 2147483646 w 189"/>
              <a:gd name="T13" fmla="*/ 2147483646 h 123"/>
              <a:gd name="T14" fmla="*/ 2147483646 w 189"/>
              <a:gd name="T15" fmla="*/ 2147483646 h 123"/>
              <a:gd name="T16" fmla="*/ 2147483646 w 189"/>
              <a:gd name="T17" fmla="*/ 2147483646 h 123"/>
              <a:gd name="T18" fmla="*/ 2147483646 w 189"/>
              <a:gd name="T19" fmla="*/ 2147483646 h 123"/>
              <a:gd name="T20" fmla="*/ 2147483646 w 189"/>
              <a:gd name="T21" fmla="*/ 2147483646 h 123"/>
              <a:gd name="T22" fmla="*/ 2147483646 w 189"/>
              <a:gd name="T23" fmla="*/ 2147483646 h 123"/>
              <a:gd name="T24" fmla="*/ 2147483646 w 189"/>
              <a:gd name="T25" fmla="*/ 2147483646 h 123"/>
              <a:gd name="T26" fmla="*/ 2147483646 w 189"/>
              <a:gd name="T27" fmla="*/ 2147483646 h 12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89" h="123">
                <a:moveTo>
                  <a:pt x="185" y="123"/>
                </a:moveTo>
                <a:cubicBezTo>
                  <a:pt x="4" y="123"/>
                  <a:pt x="4" y="123"/>
                  <a:pt x="4" y="123"/>
                </a:cubicBezTo>
                <a:cubicBezTo>
                  <a:pt x="2" y="123"/>
                  <a:pt x="0" y="121"/>
                  <a:pt x="0" y="119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85" y="0"/>
                  <a:pt x="185" y="0"/>
                  <a:pt x="185" y="0"/>
                </a:cubicBezTo>
                <a:cubicBezTo>
                  <a:pt x="187" y="0"/>
                  <a:pt x="189" y="2"/>
                  <a:pt x="189" y="4"/>
                </a:cubicBezTo>
                <a:cubicBezTo>
                  <a:pt x="189" y="119"/>
                  <a:pt x="189" y="119"/>
                  <a:pt x="189" y="119"/>
                </a:cubicBezTo>
                <a:cubicBezTo>
                  <a:pt x="189" y="121"/>
                  <a:pt x="187" y="123"/>
                  <a:pt x="185" y="123"/>
                </a:cubicBezTo>
                <a:close/>
                <a:moveTo>
                  <a:pt x="8" y="115"/>
                </a:moveTo>
                <a:cubicBezTo>
                  <a:pt x="181" y="115"/>
                  <a:pt x="181" y="115"/>
                  <a:pt x="181" y="115"/>
                </a:cubicBezTo>
                <a:cubicBezTo>
                  <a:pt x="181" y="8"/>
                  <a:pt x="181" y="8"/>
                  <a:pt x="181" y="8"/>
                </a:cubicBezTo>
                <a:cubicBezTo>
                  <a:pt x="8" y="8"/>
                  <a:pt x="8" y="8"/>
                  <a:pt x="8" y="8"/>
                </a:cubicBezTo>
                <a:lnTo>
                  <a:pt x="8" y="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稻壳儿原创设计师【幻雨工作室】_8">
            <a:extLst>
              <a:ext uri="{FF2B5EF4-FFF2-40B4-BE49-F238E27FC236}">
                <a16:creationId xmlns:a16="http://schemas.microsoft.com/office/drawing/2014/main" id="{D8888557-C4B5-4D4F-BBC4-D5E08F3AD863}"/>
              </a:ext>
            </a:extLst>
          </p:cNvPr>
          <p:cNvSpPr>
            <a:spLocks noEditPoints="1"/>
          </p:cNvSpPr>
          <p:nvPr/>
        </p:nvSpPr>
        <p:spPr bwMode="auto">
          <a:xfrm>
            <a:off x="4428446" y="2870200"/>
            <a:ext cx="585788" cy="341312"/>
          </a:xfrm>
          <a:custGeom>
            <a:avLst/>
            <a:gdLst>
              <a:gd name="T0" fmla="*/ 2147483646 w 156"/>
              <a:gd name="T1" fmla="*/ 2147483646 h 90"/>
              <a:gd name="T2" fmla="*/ 2147483646 w 156"/>
              <a:gd name="T3" fmla="*/ 2147483646 h 90"/>
              <a:gd name="T4" fmla="*/ 0 w 156"/>
              <a:gd name="T5" fmla="*/ 2147483646 h 90"/>
              <a:gd name="T6" fmla="*/ 0 w 156"/>
              <a:gd name="T7" fmla="*/ 2147483646 h 90"/>
              <a:gd name="T8" fmla="*/ 2147483646 w 156"/>
              <a:gd name="T9" fmla="*/ 0 h 90"/>
              <a:gd name="T10" fmla="*/ 2147483646 w 156"/>
              <a:gd name="T11" fmla="*/ 0 h 90"/>
              <a:gd name="T12" fmla="*/ 2147483646 w 156"/>
              <a:gd name="T13" fmla="*/ 2147483646 h 90"/>
              <a:gd name="T14" fmla="*/ 2147483646 w 156"/>
              <a:gd name="T15" fmla="*/ 2147483646 h 90"/>
              <a:gd name="T16" fmla="*/ 2147483646 w 156"/>
              <a:gd name="T17" fmla="*/ 2147483646 h 90"/>
              <a:gd name="T18" fmla="*/ 2147483646 w 156"/>
              <a:gd name="T19" fmla="*/ 2147483646 h 90"/>
              <a:gd name="T20" fmla="*/ 2147483646 w 156"/>
              <a:gd name="T21" fmla="*/ 2147483646 h 90"/>
              <a:gd name="T22" fmla="*/ 2147483646 w 156"/>
              <a:gd name="T23" fmla="*/ 2147483646 h 90"/>
              <a:gd name="T24" fmla="*/ 2147483646 w 156"/>
              <a:gd name="T25" fmla="*/ 2147483646 h 90"/>
              <a:gd name="T26" fmla="*/ 2147483646 w 156"/>
              <a:gd name="T27" fmla="*/ 2147483646 h 9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56" h="90">
                <a:moveTo>
                  <a:pt x="152" y="90"/>
                </a:moveTo>
                <a:cubicBezTo>
                  <a:pt x="4" y="90"/>
                  <a:pt x="4" y="90"/>
                  <a:pt x="4" y="90"/>
                </a:cubicBezTo>
                <a:cubicBezTo>
                  <a:pt x="2" y="90"/>
                  <a:pt x="0" y="89"/>
                  <a:pt x="0" y="86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4" y="0"/>
                  <a:pt x="156" y="2"/>
                  <a:pt x="156" y="4"/>
                </a:cubicBezTo>
                <a:cubicBezTo>
                  <a:pt x="156" y="86"/>
                  <a:pt x="156" y="86"/>
                  <a:pt x="156" y="86"/>
                </a:cubicBezTo>
                <a:cubicBezTo>
                  <a:pt x="156" y="89"/>
                  <a:pt x="154" y="90"/>
                  <a:pt x="152" y="90"/>
                </a:cubicBezTo>
                <a:close/>
                <a:moveTo>
                  <a:pt x="8" y="82"/>
                </a:moveTo>
                <a:cubicBezTo>
                  <a:pt x="148" y="82"/>
                  <a:pt x="148" y="82"/>
                  <a:pt x="148" y="82"/>
                </a:cubicBezTo>
                <a:cubicBezTo>
                  <a:pt x="148" y="8"/>
                  <a:pt x="148" y="8"/>
                  <a:pt x="148" y="8"/>
                </a:cubicBezTo>
                <a:cubicBezTo>
                  <a:pt x="8" y="8"/>
                  <a:pt x="8" y="8"/>
                  <a:pt x="8" y="8"/>
                </a:cubicBezTo>
                <a:lnTo>
                  <a:pt x="8" y="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稻壳儿原创设计师【幻雨工作室】_9">
            <a:extLst>
              <a:ext uri="{FF2B5EF4-FFF2-40B4-BE49-F238E27FC236}">
                <a16:creationId xmlns:a16="http://schemas.microsoft.com/office/drawing/2014/main" id="{CB036AD9-D0A3-492B-9F41-95E022D810FB}"/>
              </a:ext>
            </a:extLst>
          </p:cNvPr>
          <p:cNvSpPr>
            <a:spLocks/>
          </p:cNvSpPr>
          <p:nvPr/>
        </p:nvSpPr>
        <p:spPr bwMode="auto">
          <a:xfrm>
            <a:off x="4282396" y="3335338"/>
            <a:ext cx="889000" cy="30162"/>
          </a:xfrm>
          <a:custGeom>
            <a:avLst/>
            <a:gdLst>
              <a:gd name="T0" fmla="*/ 2147483646 w 237"/>
              <a:gd name="T1" fmla="*/ 2147483646 h 8"/>
              <a:gd name="T2" fmla="*/ 2147483646 w 237"/>
              <a:gd name="T3" fmla="*/ 2147483646 h 8"/>
              <a:gd name="T4" fmla="*/ 0 w 237"/>
              <a:gd name="T5" fmla="*/ 2147483646 h 8"/>
              <a:gd name="T6" fmla="*/ 2147483646 w 237"/>
              <a:gd name="T7" fmla="*/ 0 h 8"/>
              <a:gd name="T8" fmla="*/ 2147483646 w 237"/>
              <a:gd name="T9" fmla="*/ 0 h 8"/>
              <a:gd name="T10" fmla="*/ 2147483646 w 237"/>
              <a:gd name="T11" fmla="*/ 2147483646 h 8"/>
              <a:gd name="T12" fmla="*/ 2147483646 w 237"/>
              <a:gd name="T13" fmla="*/ 2147483646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7" h="8">
                <a:moveTo>
                  <a:pt x="233" y="8"/>
                </a:move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235" y="0"/>
                  <a:pt x="237" y="2"/>
                  <a:pt x="237" y="4"/>
                </a:cubicBezTo>
                <a:cubicBezTo>
                  <a:pt x="237" y="6"/>
                  <a:pt x="235" y="8"/>
                  <a:pt x="233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稻壳儿原创设计师【幻雨工作室】_10">
            <a:extLst>
              <a:ext uri="{FF2B5EF4-FFF2-40B4-BE49-F238E27FC236}">
                <a16:creationId xmlns:a16="http://schemas.microsoft.com/office/drawing/2014/main" id="{457A5634-1115-4998-BCE7-35B032A33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243" y="2159000"/>
            <a:ext cx="1841082" cy="1854200"/>
          </a:xfrm>
          <a:prstGeom prst="ellipse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" name="稻壳儿原创设计师【幻雨工作室】_11">
            <a:extLst>
              <a:ext uri="{FF2B5EF4-FFF2-40B4-BE49-F238E27FC236}">
                <a16:creationId xmlns:a16="http://schemas.microsoft.com/office/drawing/2014/main" id="{F7BF19DB-DE02-4F7E-B440-EE9ED77CD533}"/>
              </a:ext>
            </a:extLst>
          </p:cNvPr>
          <p:cNvSpPr>
            <a:spLocks noEditPoints="1"/>
          </p:cNvSpPr>
          <p:nvPr/>
        </p:nvSpPr>
        <p:spPr bwMode="auto">
          <a:xfrm>
            <a:off x="7168471" y="2719388"/>
            <a:ext cx="682625" cy="687387"/>
          </a:xfrm>
          <a:custGeom>
            <a:avLst/>
            <a:gdLst>
              <a:gd name="T0" fmla="*/ 2147483646 w 182"/>
              <a:gd name="T1" fmla="*/ 2147483646 h 182"/>
              <a:gd name="T2" fmla="*/ 2147483646 w 182"/>
              <a:gd name="T3" fmla="*/ 2147483646 h 182"/>
              <a:gd name="T4" fmla="*/ 2147483646 w 182"/>
              <a:gd name="T5" fmla="*/ 2147483646 h 182"/>
              <a:gd name="T6" fmla="*/ 2147483646 w 182"/>
              <a:gd name="T7" fmla="*/ 2147483646 h 182"/>
              <a:gd name="T8" fmla="*/ 2147483646 w 182"/>
              <a:gd name="T9" fmla="*/ 2147483646 h 182"/>
              <a:gd name="T10" fmla="*/ 0 w 182"/>
              <a:gd name="T11" fmla="*/ 2147483646 h 182"/>
              <a:gd name="T12" fmla="*/ 2147483646 w 182"/>
              <a:gd name="T13" fmla="*/ 2147483646 h 182"/>
              <a:gd name="T14" fmla="*/ 2147483646 w 182"/>
              <a:gd name="T15" fmla="*/ 2147483646 h 182"/>
              <a:gd name="T16" fmla="*/ 2147483646 w 182"/>
              <a:gd name="T17" fmla="*/ 2147483646 h 182"/>
              <a:gd name="T18" fmla="*/ 2147483646 w 182"/>
              <a:gd name="T19" fmla="*/ 2147483646 h 182"/>
              <a:gd name="T20" fmla="*/ 2147483646 w 182"/>
              <a:gd name="T21" fmla="*/ 2147483646 h 182"/>
              <a:gd name="T22" fmla="*/ 2147483646 w 182"/>
              <a:gd name="T23" fmla="*/ 0 h 182"/>
              <a:gd name="T24" fmla="*/ 2147483646 w 182"/>
              <a:gd name="T25" fmla="*/ 2147483646 h 182"/>
              <a:gd name="T26" fmla="*/ 2147483646 w 182"/>
              <a:gd name="T27" fmla="*/ 2147483646 h 182"/>
              <a:gd name="T28" fmla="*/ 2147483646 w 182"/>
              <a:gd name="T29" fmla="*/ 2147483646 h 182"/>
              <a:gd name="T30" fmla="*/ 2147483646 w 182"/>
              <a:gd name="T31" fmla="*/ 2147483646 h 182"/>
              <a:gd name="T32" fmla="*/ 2147483646 w 182"/>
              <a:gd name="T33" fmla="*/ 2147483646 h 182"/>
              <a:gd name="T34" fmla="*/ 2147483646 w 182"/>
              <a:gd name="T35" fmla="*/ 2147483646 h 182"/>
              <a:gd name="T36" fmla="*/ 2147483646 w 182"/>
              <a:gd name="T37" fmla="*/ 2147483646 h 182"/>
              <a:gd name="T38" fmla="*/ 2147483646 w 182"/>
              <a:gd name="T39" fmla="*/ 2147483646 h 182"/>
              <a:gd name="T40" fmla="*/ 2147483646 w 182"/>
              <a:gd name="T41" fmla="*/ 2147483646 h 182"/>
              <a:gd name="T42" fmla="*/ 2147483646 w 182"/>
              <a:gd name="T43" fmla="*/ 2147483646 h 182"/>
              <a:gd name="T44" fmla="*/ 2147483646 w 182"/>
              <a:gd name="T45" fmla="*/ 2147483646 h 182"/>
              <a:gd name="T46" fmla="*/ 2147483646 w 182"/>
              <a:gd name="T47" fmla="*/ 2147483646 h 182"/>
              <a:gd name="T48" fmla="*/ 2147483646 w 182"/>
              <a:gd name="T49" fmla="*/ 2147483646 h 182"/>
              <a:gd name="T50" fmla="*/ 2147483646 w 182"/>
              <a:gd name="T51" fmla="*/ 2147483646 h 182"/>
              <a:gd name="T52" fmla="*/ 2147483646 w 182"/>
              <a:gd name="T53" fmla="*/ 2147483646 h 182"/>
              <a:gd name="T54" fmla="*/ 2147483646 w 182"/>
              <a:gd name="T55" fmla="*/ 2147483646 h 182"/>
              <a:gd name="T56" fmla="*/ 2147483646 w 182"/>
              <a:gd name="T57" fmla="*/ 2147483646 h 182"/>
              <a:gd name="T58" fmla="*/ 2147483646 w 182"/>
              <a:gd name="T59" fmla="*/ 2147483646 h 182"/>
              <a:gd name="T60" fmla="*/ 2147483646 w 182"/>
              <a:gd name="T61" fmla="*/ 2147483646 h 182"/>
              <a:gd name="T62" fmla="*/ 2147483646 w 182"/>
              <a:gd name="T63" fmla="*/ 2147483646 h 182"/>
              <a:gd name="T64" fmla="*/ 2147483646 w 182"/>
              <a:gd name="T65" fmla="*/ 2147483646 h 182"/>
              <a:gd name="T66" fmla="*/ 2147483646 w 182"/>
              <a:gd name="T67" fmla="*/ 2147483646 h 182"/>
              <a:gd name="T68" fmla="*/ 2147483646 w 182"/>
              <a:gd name="T69" fmla="*/ 2147483646 h 182"/>
              <a:gd name="T70" fmla="*/ 2147483646 w 182"/>
              <a:gd name="T71" fmla="*/ 2147483646 h 182"/>
              <a:gd name="T72" fmla="*/ 2147483646 w 182"/>
              <a:gd name="T73" fmla="*/ 2147483646 h 182"/>
              <a:gd name="T74" fmla="*/ 2147483646 w 182"/>
              <a:gd name="T75" fmla="*/ 2147483646 h 182"/>
              <a:gd name="T76" fmla="*/ 2147483646 w 182"/>
              <a:gd name="T77" fmla="*/ 2147483646 h 182"/>
              <a:gd name="T78" fmla="*/ 2147483646 w 182"/>
              <a:gd name="T79" fmla="*/ 2147483646 h 182"/>
              <a:gd name="T80" fmla="*/ 2147483646 w 182"/>
              <a:gd name="T81" fmla="*/ 2147483646 h 182"/>
              <a:gd name="T82" fmla="*/ 2147483646 w 182"/>
              <a:gd name="T83" fmla="*/ 2147483646 h 182"/>
              <a:gd name="T84" fmla="*/ 2147483646 w 182"/>
              <a:gd name="T85" fmla="*/ 2147483646 h 182"/>
              <a:gd name="T86" fmla="*/ 2147483646 w 182"/>
              <a:gd name="T87" fmla="*/ 2147483646 h 182"/>
              <a:gd name="T88" fmla="*/ 2147483646 w 182"/>
              <a:gd name="T89" fmla="*/ 2147483646 h 182"/>
              <a:gd name="T90" fmla="*/ 2147483646 w 182"/>
              <a:gd name="T91" fmla="*/ 2147483646 h 182"/>
              <a:gd name="T92" fmla="*/ 2147483646 w 182"/>
              <a:gd name="T93" fmla="*/ 2147483646 h 182"/>
              <a:gd name="T94" fmla="*/ 2147483646 w 182"/>
              <a:gd name="T95" fmla="*/ 2147483646 h 182"/>
              <a:gd name="T96" fmla="*/ 2147483646 w 182"/>
              <a:gd name="T97" fmla="*/ 2147483646 h 182"/>
              <a:gd name="T98" fmla="*/ 2147483646 w 182"/>
              <a:gd name="T99" fmla="*/ 2147483646 h 182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182" h="182">
                <a:moveTo>
                  <a:pt x="102" y="182"/>
                </a:moveTo>
                <a:cubicBezTo>
                  <a:pt x="81" y="182"/>
                  <a:pt x="81" y="182"/>
                  <a:pt x="81" y="182"/>
                </a:cubicBezTo>
                <a:cubicBezTo>
                  <a:pt x="76" y="182"/>
                  <a:pt x="71" y="178"/>
                  <a:pt x="71" y="172"/>
                </a:cubicBezTo>
                <a:cubicBezTo>
                  <a:pt x="71" y="159"/>
                  <a:pt x="71" y="159"/>
                  <a:pt x="71" y="159"/>
                </a:cubicBezTo>
                <a:cubicBezTo>
                  <a:pt x="71" y="158"/>
                  <a:pt x="70" y="156"/>
                  <a:pt x="69" y="155"/>
                </a:cubicBezTo>
                <a:cubicBezTo>
                  <a:pt x="62" y="153"/>
                  <a:pt x="62" y="153"/>
                  <a:pt x="62" y="153"/>
                </a:cubicBezTo>
                <a:cubicBezTo>
                  <a:pt x="60" y="152"/>
                  <a:pt x="59" y="152"/>
                  <a:pt x="58" y="153"/>
                </a:cubicBezTo>
                <a:cubicBezTo>
                  <a:pt x="48" y="163"/>
                  <a:pt x="48" y="163"/>
                  <a:pt x="48" y="163"/>
                </a:cubicBezTo>
                <a:cubicBezTo>
                  <a:pt x="44" y="166"/>
                  <a:pt x="38" y="166"/>
                  <a:pt x="34" y="163"/>
                </a:cubicBezTo>
                <a:cubicBezTo>
                  <a:pt x="20" y="148"/>
                  <a:pt x="20" y="148"/>
                  <a:pt x="20" y="148"/>
                </a:cubicBezTo>
                <a:cubicBezTo>
                  <a:pt x="18" y="146"/>
                  <a:pt x="17" y="144"/>
                  <a:pt x="17" y="141"/>
                </a:cubicBezTo>
                <a:cubicBezTo>
                  <a:pt x="17" y="139"/>
                  <a:pt x="18" y="136"/>
                  <a:pt x="20" y="134"/>
                </a:cubicBezTo>
                <a:cubicBezTo>
                  <a:pt x="29" y="125"/>
                  <a:pt x="29" y="125"/>
                  <a:pt x="29" y="125"/>
                </a:cubicBezTo>
                <a:cubicBezTo>
                  <a:pt x="30" y="124"/>
                  <a:pt x="31" y="122"/>
                  <a:pt x="30" y="120"/>
                </a:cubicBezTo>
                <a:cubicBezTo>
                  <a:pt x="27" y="114"/>
                  <a:pt x="27" y="114"/>
                  <a:pt x="27" y="114"/>
                </a:cubicBezTo>
                <a:cubicBezTo>
                  <a:pt x="27" y="113"/>
                  <a:pt x="25" y="111"/>
                  <a:pt x="24" y="111"/>
                </a:cubicBezTo>
                <a:cubicBezTo>
                  <a:pt x="10" y="111"/>
                  <a:pt x="10" y="111"/>
                  <a:pt x="10" y="111"/>
                </a:cubicBezTo>
                <a:cubicBezTo>
                  <a:pt x="5" y="111"/>
                  <a:pt x="0" y="107"/>
                  <a:pt x="0" y="101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75"/>
                  <a:pt x="5" y="71"/>
                  <a:pt x="10" y="71"/>
                </a:cubicBezTo>
                <a:cubicBezTo>
                  <a:pt x="24" y="71"/>
                  <a:pt x="24" y="71"/>
                  <a:pt x="24" y="71"/>
                </a:cubicBezTo>
                <a:cubicBezTo>
                  <a:pt x="25" y="71"/>
                  <a:pt x="27" y="70"/>
                  <a:pt x="27" y="68"/>
                </a:cubicBezTo>
                <a:cubicBezTo>
                  <a:pt x="30" y="62"/>
                  <a:pt x="30" y="62"/>
                  <a:pt x="30" y="62"/>
                </a:cubicBezTo>
                <a:cubicBezTo>
                  <a:pt x="31" y="60"/>
                  <a:pt x="30" y="58"/>
                  <a:pt x="29" y="57"/>
                </a:cubicBezTo>
                <a:cubicBezTo>
                  <a:pt x="20" y="48"/>
                  <a:pt x="20" y="48"/>
                  <a:pt x="20" y="48"/>
                </a:cubicBezTo>
                <a:cubicBezTo>
                  <a:pt x="18" y="46"/>
                  <a:pt x="17" y="44"/>
                  <a:pt x="17" y="41"/>
                </a:cubicBezTo>
                <a:cubicBezTo>
                  <a:pt x="17" y="38"/>
                  <a:pt x="18" y="36"/>
                  <a:pt x="20" y="34"/>
                </a:cubicBezTo>
                <a:cubicBezTo>
                  <a:pt x="34" y="19"/>
                  <a:pt x="34" y="19"/>
                  <a:pt x="34" y="19"/>
                </a:cubicBezTo>
                <a:cubicBezTo>
                  <a:pt x="38" y="16"/>
                  <a:pt x="44" y="16"/>
                  <a:pt x="48" y="19"/>
                </a:cubicBezTo>
                <a:cubicBezTo>
                  <a:pt x="58" y="29"/>
                  <a:pt x="58" y="29"/>
                  <a:pt x="58" y="29"/>
                </a:cubicBezTo>
                <a:cubicBezTo>
                  <a:pt x="59" y="30"/>
                  <a:pt x="61" y="30"/>
                  <a:pt x="62" y="30"/>
                </a:cubicBezTo>
                <a:cubicBezTo>
                  <a:pt x="68" y="27"/>
                  <a:pt x="68" y="27"/>
                  <a:pt x="68" y="27"/>
                </a:cubicBezTo>
                <a:cubicBezTo>
                  <a:pt x="70" y="26"/>
                  <a:pt x="71" y="25"/>
                  <a:pt x="71" y="23"/>
                </a:cubicBezTo>
                <a:cubicBezTo>
                  <a:pt x="71" y="10"/>
                  <a:pt x="71" y="10"/>
                  <a:pt x="71" y="10"/>
                </a:cubicBezTo>
                <a:cubicBezTo>
                  <a:pt x="71" y="4"/>
                  <a:pt x="76" y="0"/>
                  <a:pt x="81" y="0"/>
                </a:cubicBezTo>
                <a:cubicBezTo>
                  <a:pt x="102" y="0"/>
                  <a:pt x="102" y="0"/>
                  <a:pt x="102" y="0"/>
                </a:cubicBezTo>
                <a:cubicBezTo>
                  <a:pt x="107" y="0"/>
                  <a:pt x="112" y="4"/>
                  <a:pt x="112" y="10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5"/>
                  <a:pt x="113" y="26"/>
                  <a:pt x="114" y="27"/>
                </a:cubicBezTo>
                <a:cubicBezTo>
                  <a:pt x="120" y="29"/>
                  <a:pt x="120" y="29"/>
                  <a:pt x="120" y="29"/>
                </a:cubicBezTo>
                <a:cubicBezTo>
                  <a:pt x="122" y="30"/>
                  <a:pt x="124" y="30"/>
                  <a:pt x="125" y="29"/>
                </a:cubicBezTo>
                <a:cubicBezTo>
                  <a:pt x="135" y="19"/>
                  <a:pt x="135" y="19"/>
                  <a:pt x="135" y="19"/>
                </a:cubicBezTo>
                <a:cubicBezTo>
                  <a:pt x="138" y="16"/>
                  <a:pt x="145" y="16"/>
                  <a:pt x="148" y="19"/>
                </a:cubicBezTo>
                <a:cubicBezTo>
                  <a:pt x="163" y="34"/>
                  <a:pt x="163" y="34"/>
                  <a:pt x="163" y="34"/>
                </a:cubicBezTo>
                <a:cubicBezTo>
                  <a:pt x="165" y="36"/>
                  <a:pt x="166" y="38"/>
                  <a:pt x="166" y="41"/>
                </a:cubicBezTo>
                <a:cubicBezTo>
                  <a:pt x="166" y="44"/>
                  <a:pt x="165" y="46"/>
                  <a:pt x="163" y="48"/>
                </a:cubicBezTo>
                <a:cubicBezTo>
                  <a:pt x="154" y="57"/>
                  <a:pt x="154" y="57"/>
                  <a:pt x="154" y="57"/>
                </a:cubicBezTo>
                <a:cubicBezTo>
                  <a:pt x="153" y="58"/>
                  <a:pt x="152" y="60"/>
                  <a:pt x="153" y="62"/>
                </a:cubicBezTo>
                <a:cubicBezTo>
                  <a:pt x="156" y="68"/>
                  <a:pt x="156" y="68"/>
                  <a:pt x="156" y="68"/>
                </a:cubicBezTo>
                <a:cubicBezTo>
                  <a:pt x="156" y="70"/>
                  <a:pt x="158" y="71"/>
                  <a:pt x="159" y="71"/>
                </a:cubicBezTo>
                <a:cubicBezTo>
                  <a:pt x="173" y="71"/>
                  <a:pt x="173" y="71"/>
                  <a:pt x="173" y="71"/>
                </a:cubicBezTo>
                <a:cubicBezTo>
                  <a:pt x="178" y="71"/>
                  <a:pt x="182" y="75"/>
                  <a:pt x="182" y="81"/>
                </a:cubicBezTo>
                <a:cubicBezTo>
                  <a:pt x="182" y="101"/>
                  <a:pt x="182" y="101"/>
                  <a:pt x="182" y="101"/>
                </a:cubicBezTo>
                <a:cubicBezTo>
                  <a:pt x="182" y="107"/>
                  <a:pt x="178" y="111"/>
                  <a:pt x="173" y="111"/>
                </a:cubicBezTo>
                <a:cubicBezTo>
                  <a:pt x="159" y="111"/>
                  <a:pt x="159" y="111"/>
                  <a:pt x="159" y="111"/>
                </a:cubicBezTo>
                <a:cubicBezTo>
                  <a:pt x="158" y="111"/>
                  <a:pt x="156" y="112"/>
                  <a:pt x="156" y="114"/>
                </a:cubicBezTo>
                <a:cubicBezTo>
                  <a:pt x="153" y="120"/>
                  <a:pt x="153" y="120"/>
                  <a:pt x="153" y="120"/>
                </a:cubicBezTo>
                <a:cubicBezTo>
                  <a:pt x="152" y="122"/>
                  <a:pt x="153" y="124"/>
                  <a:pt x="154" y="125"/>
                </a:cubicBezTo>
                <a:cubicBezTo>
                  <a:pt x="163" y="134"/>
                  <a:pt x="163" y="134"/>
                  <a:pt x="163" y="134"/>
                </a:cubicBezTo>
                <a:cubicBezTo>
                  <a:pt x="165" y="136"/>
                  <a:pt x="166" y="139"/>
                  <a:pt x="166" y="141"/>
                </a:cubicBezTo>
                <a:cubicBezTo>
                  <a:pt x="166" y="144"/>
                  <a:pt x="165" y="146"/>
                  <a:pt x="163" y="148"/>
                </a:cubicBezTo>
                <a:cubicBezTo>
                  <a:pt x="148" y="163"/>
                  <a:pt x="148" y="163"/>
                  <a:pt x="148" y="163"/>
                </a:cubicBezTo>
                <a:cubicBezTo>
                  <a:pt x="145" y="166"/>
                  <a:pt x="138" y="166"/>
                  <a:pt x="135" y="163"/>
                </a:cubicBezTo>
                <a:cubicBezTo>
                  <a:pt x="125" y="153"/>
                  <a:pt x="125" y="153"/>
                  <a:pt x="125" y="153"/>
                </a:cubicBezTo>
                <a:cubicBezTo>
                  <a:pt x="124" y="152"/>
                  <a:pt x="122" y="152"/>
                  <a:pt x="121" y="153"/>
                </a:cubicBezTo>
                <a:cubicBezTo>
                  <a:pt x="114" y="155"/>
                  <a:pt x="114" y="155"/>
                  <a:pt x="114" y="155"/>
                </a:cubicBezTo>
                <a:cubicBezTo>
                  <a:pt x="113" y="156"/>
                  <a:pt x="112" y="158"/>
                  <a:pt x="112" y="159"/>
                </a:cubicBezTo>
                <a:cubicBezTo>
                  <a:pt x="112" y="172"/>
                  <a:pt x="112" y="172"/>
                  <a:pt x="112" y="172"/>
                </a:cubicBezTo>
                <a:cubicBezTo>
                  <a:pt x="112" y="178"/>
                  <a:pt x="107" y="182"/>
                  <a:pt x="102" y="182"/>
                </a:cubicBezTo>
                <a:close/>
                <a:moveTo>
                  <a:pt x="61" y="144"/>
                </a:moveTo>
                <a:cubicBezTo>
                  <a:pt x="62" y="144"/>
                  <a:pt x="64" y="145"/>
                  <a:pt x="66" y="145"/>
                </a:cubicBezTo>
                <a:cubicBezTo>
                  <a:pt x="71" y="148"/>
                  <a:pt x="71" y="148"/>
                  <a:pt x="71" y="148"/>
                </a:cubicBezTo>
                <a:cubicBezTo>
                  <a:pt x="76" y="149"/>
                  <a:pt x="79" y="154"/>
                  <a:pt x="79" y="159"/>
                </a:cubicBezTo>
                <a:cubicBezTo>
                  <a:pt x="79" y="172"/>
                  <a:pt x="79" y="172"/>
                  <a:pt x="79" y="172"/>
                </a:cubicBezTo>
                <a:cubicBezTo>
                  <a:pt x="79" y="173"/>
                  <a:pt x="80" y="174"/>
                  <a:pt x="81" y="174"/>
                </a:cubicBezTo>
                <a:cubicBezTo>
                  <a:pt x="102" y="174"/>
                  <a:pt x="102" y="174"/>
                  <a:pt x="102" y="174"/>
                </a:cubicBezTo>
                <a:cubicBezTo>
                  <a:pt x="103" y="174"/>
                  <a:pt x="103" y="173"/>
                  <a:pt x="103" y="172"/>
                </a:cubicBezTo>
                <a:cubicBezTo>
                  <a:pt x="103" y="159"/>
                  <a:pt x="103" y="159"/>
                  <a:pt x="103" y="159"/>
                </a:cubicBezTo>
                <a:cubicBezTo>
                  <a:pt x="103" y="154"/>
                  <a:pt x="107" y="149"/>
                  <a:pt x="112" y="148"/>
                </a:cubicBezTo>
                <a:cubicBezTo>
                  <a:pt x="117" y="145"/>
                  <a:pt x="117" y="145"/>
                  <a:pt x="117" y="145"/>
                </a:cubicBezTo>
                <a:cubicBezTo>
                  <a:pt x="119" y="145"/>
                  <a:pt x="120" y="144"/>
                  <a:pt x="122" y="144"/>
                </a:cubicBezTo>
                <a:cubicBezTo>
                  <a:pt x="126" y="144"/>
                  <a:pt x="129" y="145"/>
                  <a:pt x="131" y="148"/>
                </a:cubicBezTo>
                <a:cubicBezTo>
                  <a:pt x="140" y="157"/>
                  <a:pt x="140" y="157"/>
                  <a:pt x="140" y="157"/>
                </a:cubicBezTo>
                <a:cubicBezTo>
                  <a:pt x="141" y="158"/>
                  <a:pt x="142" y="158"/>
                  <a:pt x="143" y="157"/>
                </a:cubicBezTo>
                <a:cubicBezTo>
                  <a:pt x="157" y="142"/>
                  <a:pt x="157" y="142"/>
                  <a:pt x="157" y="142"/>
                </a:cubicBezTo>
                <a:cubicBezTo>
                  <a:pt x="158" y="142"/>
                  <a:pt x="158" y="141"/>
                  <a:pt x="158" y="141"/>
                </a:cubicBezTo>
                <a:cubicBezTo>
                  <a:pt x="158" y="141"/>
                  <a:pt x="158" y="140"/>
                  <a:pt x="157" y="140"/>
                </a:cubicBezTo>
                <a:cubicBezTo>
                  <a:pt x="148" y="131"/>
                  <a:pt x="148" y="131"/>
                  <a:pt x="148" y="131"/>
                </a:cubicBezTo>
                <a:cubicBezTo>
                  <a:pt x="144" y="127"/>
                  <a:pt x="143" y="121"/>
                  <a:pt x="146" y="117"/>
                </a:cubicBezTo>
                <a:cubicBezTo>
                  <a:pt x="148" y="111"/>
                  <a:pt x="148" y="111"/>
                  <a:pt x="148" y="111"/>
                </a:cubicBezTo>
                <a:cubicBezTo>
                  <a:pt x="149" y="107"/>
                  <a:pt x="154" y="103"/>
                  <a:pt x="159" y="103"/>
                </a:cubicBezTo>
                <a:cubicBezTo>
                  <a:pt x="173" y="103"/>
                  <a:pt x="173" y="103"/>
                  <a:pt x="173" y="103"/>
                </a:cubicBezTo>
                <a:cubicBezTo>
                  <a:pt x="174" y="103"/>
                  <a:pt x="174" y="102"/>
                  <a:pt x="174" y="101"/>
                </a:cubicBezTo>
                <a:cubicBezTo>
                  <a:pt x="174" y="81"/>
                  <a:pt x="174" y="81"/>
                  <a:pt x="174" y="81"/>
                </a:cubicBezTo>
                <a:cubicBezTo>
                  <a:pt x="174" y="80"/>
                  <a:pt x="174" y="79"/>
                  <a:pt x="173" y="79"/>
                </a:cubicBezTo>
                <a:cubicBezTo>
                  <a:pt x="159" y="79"/>
                  <a:pt x="159" y="79"/>
                  <a:pt x="159" y="79"/>
                </a:cubicBezTo>
                <a:cubicBezTo>
                  <a:pt x="154" y="79"/>
                  <a:pt x="149" y="76"/>
                  <a:pt x="148" y="71"/>
                </a:cubicBezTo>
                <a:cubicBezTo>
                  <a:pt x="146" y="65"/>
                  <a:pt x="146" y="65"/>
                  <a:pt x="146" y="65"/>
                </a:cubicBezTo>
                <a:cubicBezTo>
                  <a:pt x="143" y="61"/>
                  <a:pt x="144" y="55"/>
                  <a:pt x="148" y="52"/>
                </a:cubicBezTo>
                <a:cubicBezTo>
                  <a:pt x="157" y="42"/>
                  <a:pt x="157" y="42"/>
                  <a:pt x="157" y="42"/>
                </a:cubicBezTo>
                <a:cubicBezTo>
                  <a:pt x="158" y="42"/>
                  <a:pt x="158" y="41"/>
                  <a:pt x="158" y="41"/>
                </a:cubicBezTo>
                <a:cubicBezTo>
                  <a:pt x="158" y="41"/>
                  <a:pt x="158" y="40"/>
                  <a:pt x="157" y="40"/>
                </a:cubicBezTo>
                <a:cubicBezTo>
                  <a:pt x="143" y="25"/>
                  <a:pt x="143" y="25"/>
                  <a:pt x="143" y="25"/>
                </a:cubicBezTo>
                <a:cubicBezTo>
                  <a:pt x="142" y="24"/>
                  <a:pt x="141" y="24"/>
                  <a:pt x="140" y="25"/>
                </a:cubicBezTo>
                <a:cubicBezTo>
                  <a:pt x="131" y="35"/>
                  <a:pt x="131" y="35"/>
                  <a:pt x="131" y="35"/>
                </a:cubicBezTo>
                <a:cubicBezTo>
                  <a:pt x="128" y="38"/>
                  <a:pt x="121" y="39"/>
                  <a:pt x="117" y="37"/>
                </a:cubicBezTo>
                <a:cubicBezTo>
                  <a:pt x="111" y="34"/>
                  <a:pt x="111" y="34"/>
                  <a:pt x="111" y="34"/>
                </a:cubicBezTo>
                <a:cubicBezTo>
                  <a:pt x="107" y="33"/>
                  <a:pt x="103" y="28"/>
                  <a:pt x="103" y="23"/>
                </a:cubicBezTo>
                <a:cubicBezTo>
                  <a:pt x="103" y="10"/>
                  <a:pt x="103" y="10"/>
                  <a:pt x="103" y="10"/>
                </a:cubicBezTo>
                <a:cubicBezTo>
                  <a:pt x="103" y="9"/>
                  <a:pt x="103" y="8"/>
                  <a:pt x="102" y="8"/>
                </a:cubicBezTo>
                <a:cubicBezTo>
                  <a:pt x="81" y="8"/>
                  <a:pt x="81" y="8"/>
                  <a:pt x="81" y="8"/>
                </a:cubicBezTo>
                <a:cubicBezTo>
                  <a:pt x="80" y="8"/>
                  <a:pt x="79" y="9"/>
                  <a:pt x="79" y="10"/>
                </a:cubicBezTo>
                <a:cubicBezTo>
                  <a:pt x="79" y="23"/>
                  <a:pt x="79" y="23"/>
                  <a:pt x="79" y="23"/>
                </a:cubicBezTo>
                <a:cubicBezTo>
                  <a:pt x="79" y="28"/>
                  <a:pt x="76" y="33"/>
                  <a:pt x="71" y="35"/>
                </a:cubicBezTo>
                <a:cubicBezTo>
                  <a:pt x="65" y="37"/>
                  <a:pt x="65" y="37"/>
                  <a:pt x="65" y="37"/>
                </a:cubicBezTo>
                <a:cubicBezTo>
                  <a:pt x="64" y="38"/>
                  <a:pt x="62" y="38"/>
                  <a:pt x="61" y="38"/>
                </a:cubicBezTo>
                <a:cubicBezTo>
                  <a:pt x="57" y="38"/>
                  <a:pt x="54" y="37"/>
                  <a:pt x="52" y="35"/>
                </a:cubicBezTo>
                <a:cubicBezTo>
                  <a:pt x="42" y="25"/>
                  <a:pt x="42" y="25"/>
                  <a:pt x="42" y="25"/>
                </a:cubicBezTo>
                <a:cubicBezTo>
                  <a:pt x="42" y="24"/>
                  <a:pt x="41" y="24"/>
                  <a:pt x="40" y="25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40"/>
                  <a:pt x="25" y="41"/>
                  <a:pt x="25" y="41"/>
                </a:cubicBezTo>
                <a:cubicBezTo>
                  <a:pt x="25" y="41"/>
                  <a:pt x="25" y="42"/>
                  <a:pt x="25" y="42"/>
                </a:cubicBezTo>
                <a:cubicBezTo>
                  <a:pt x="35" y="52"/>
                  <a:pt x="35" y="52"/>
                  <a:pt x="35" y="52"/>
                </a:cubicBezTo>
                <a:cubicBezTo>
                  <a:pt x="38" y="55"/>
                  <a:pt x="39" y="61"/>
                  <a:pt x="37" y="65"/>
                </a:cubicBezTo>
                <a:cubicBezTo>
                  <a:pt x="35" y="71"/>
                  <a:pt x="35" y="71"/>
                  <a:pt x="35" y="71"/>
                </a:cubicBezTo>
                <a:cubicBezTo>
                  <a:pt x="33" y="76"/>
                  <a:pt x="28" y="79"/>
                  <a:pt x="24" y="79"/>
                </a:cubicBezTo>
                <a:cubicBezTo>
                  <a:pt x="10" y="79"/>
                  <a:pt x="10" y="79"/>
                  <a:pt x="10" y="79"/>
                </a:cubicBezTo>
                <a:cubicBezTo>
                  <a:pt x="9" y="79"/>
                  <a:pt x="8" y="80"/>
                  <a:pt x="8" y="81"/>
                </a:cubicBezTo>
                <a:cubicBezTo>
                  <a:pt x="8" y="101"/>
                  <a:pt x="8" y="101"/>
                  <a:pt x="8" y="101"/>
                </a:cubicBezTo>
                <a:cubicBezTo>
                  <a:pt x="8" y="102"/>
                  <a:pt x="9" y="103"/>
                  <a:pt x="10" y="103"/>
                </a:cubicBezTo>
                <a:cubicBezTo>
                  <a:pt x="24" y="103"/>
                  <a:pt x="24" y="103"/>
                  <a:pt x="24" y="103"/>
                </a:cubicBezTo>
                <a:cubicBezTo>
                  <a:pt x="28" y="103"/>
                  <a:pt x="33" y="107"/>
                  <a:pt x="35" y="111"/>
                </a:cubicBezTo>
                <a:cubicBezTo>
                  <a:pt x="37" y="117"/>
                  <a:pt x="37" y="117"/>
                  <a:pt x="37" y="117"/>
                </a:cubicBezTo>
                <a:cubicBezTo>
                  <a:pt x="39" y="121"/>
                  <a:pt x="38" y="127"/>
                  <a:pt x="35" y="131"/>
                </a:cubicBezTo>
                <a:cubicBezTo>
                  <a:pt x="25" y="140"/>
                  <a:pt x="25" y="140"/>
                  <a:pt x="25" y="140"/>
                </a:cubicBezTo>
                <a:cubicBezTo>
                  <a:pt x="25" y="140"/>
                  <a:pt x="25" y="141"/>
                  <a:pt x="25" y="141"/>
                </a:cubicBezTo>
                <a:cubicBezTo>
                  <a:pt x="25" y="141"/>
                  <a:pt x="25" y="142"/>
                  <a:pt x="25" y="142"/>
                </a:cubicBezTo>
                <a:cubicBezTo>
                  <a:pt x="40" y="157"/>
                  <a:pt x="40" y="157"/>
                  <a:pt x="40" y="157"/>
                </a:cubicBezTo>
                <a:cubicBezTo>
                  <a:pt x="41" y="158"/>
                  <a:pt x="42" y="158"/>
                  <a:pt x="42" y="157"/>
                </a:cubicBezTo>
                <a:cubicBezTo>
                  <a:pt x="52" y="148"/>
                  <a:pt x="52" y="148"/>
                  <a:pt x="52" y="148"/>
                </a:cubicBezTo>
                <a:cubicBezTo>
                  <a:pt x="54" y="145"/>
                  <a:pt x="57" y="144"/>
                  <a:pt x="61" y="144"/>
                </a:cubicBezTo>
                <a:close/>
                <a:moveTo>
                  <a:pt x="91" y="123"/>
                </a:moveTo>
                <a:cubicBezTo>
                  <a:pt x="74" y="123"/>
                  <a:pt x="60" y="108"/>
                  <a:pt x="60" y="91"/>
                </a:cubicBezTo>
                <a:cubicBezTo>
                  <a:pt x="60" y="74"/>
                  <a:pt x="74" y="60"/>
                  <a:pt x="91" y="60"/>
                </a:cubicBezTo>
                <a:cubicBezTo>
                  <a:pt x="109" y="60"/>
                  <a:pt x="123" y="74"/>
                  <a:pt x="123" y="91"/>
                </a:cubicBezTo>
                <a:cubicBezTo>
                  <a:pt x="123" y="108"/>
                  <a:pt x="109" y="123"/>
                  <a:pt x="91" y="123"/>
                </a:cubicBezTo>
                <a:close/>
                <a:moveTo>
                  <a:pt x="91" y="68"/>
                </a:moveTo>
                <a:cubicBezTo>
                  <a:pt x="79" y="68"/>
                  <a:pt x="68" y="78"/>
                  <a:pt x="68" y="91"/>
                </a:cubicBezTo>
                <a:cubicBezTo>
                  <a:pt x="68" y="104"/>
                  <a:pt x="79" y="114"/>
                  <a:pt x="91" y="114"/>
                </a:cubicBezTo>
                <a:cubicBezTo>
                  <a:pt x="104" y="114"/>
                  <a:pt x="115" y="104"/>
                  <a:pt x="115" y="91"/>
                </a:cubicBezTo>
                <a:cubicBezTo>
                  <a:pt x="115" y="78"/>
                  <a:pt x="104" y="68"/>
                  <a:pt x="91" y="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稻壳儿原创设计师【幻雨工作室】_12">
            <a:extLst>
              <a:ext uri="{FF2B5EF4-FFF2-40B4-BE49-F238E27FC236}">
                <a16:creationId xmlns:a16="http://schemas.microsoft.com/office/drawing/2014/main" id="{F650264B-5337-44EF-BC39-A2CCE5311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9730" y="2159000"/>
            <a:ext cx="1838894" cy="1854200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13">
            <a:extLst>
              <a:ext uri="{FF2B5EF4-FFF2-40B4-BE49-F238E27FC236}">
                <a16:creationId xmlns:a16="http://schemas.microsoft.com/office/drawing/2014/main" id="{07A535EA-B02F-446D-AA36-D964D456DA03}"/>
              </a:ext>
            </a:extLst>
          </p:cNvPr>
          <p:cNvSpPr>
            <a:spLocks noEditPoints="1"/>
          </p:cNvSpPr>
          <p:nvPr/>
        </p:nvSpPr>
        <p:spPr bwMode="auto">
          <a:xfrm>
            <a:off x="9925958" y="2746375"/>
            <a:ext cx="593725" cy="539750"/>
          </a:xfrm>
          <a:custGeom>
            <a:avLst/>
            <a:gdLst>
              <a:gd name="T0" fmla="*/ 2147483646 w 158"/>
              <a:gd name="T1" fmla="*/ 2147483646 h 143"/>
              <a:gd name="T2" fmla="*/ 2147483646 w 158"/>
              <a:gd name="T3" fmla="*/ 2147483646 h 143"/>
              <a:gd name="T4" fmla="*/ 2147483646 w 158"/>
              <a:gd name="T5" fmla="*/ 2147483646 h 143"/>
              <a:gd name="T6" fmla="*/ 2147483646 w 158"/>
              <a:gd name="T7" fmla="*/ 2147483646 h 143"/>
              <a:gd name="T8" fmla="*/ 2147483646 w 158"/>
              <a:gd name="T9" fmla="*/ 2147483646 h 143"/>
              <a:gd name="T10" fmla="*/ 0 w 158"/>
              <a:gd name="T11" fmla="*/ 2147483646 h 143"/>
              <a:gd name="T12" fmla="*/ 2147483646 w 158"/>
              <a:gd name="T13" fmla="*/ 0 h 143"/>
              <a:gd name="T14" fmla="*/ 2147483646 w 158"/>
              <a:gd name="T15" fmla="*/ 2147483646 h 143"/>
              <a:gd name="T16" fmla="*/ 2147483646 w 158"/>
              <a:gd name="T17" fmla="*/ 2147483646 h 143"/>
              <a:gd name="T18" fmla="*/ 2147483646 w 158"/>
              <a:gd name="T19" fmla="*/ 2147483646 h 143"/>
              <a:gd name="T20" fmla="*/ 2147483646 w 158"/>
              <a:gd name="T21" fmla="*/ 2147483646 h 143"/>
              <a:gd name="T22" fmla="*/ 2147483646 w 158"/>
              <a:gd name="T23" fmla="*/ 2147483646 h 143"/>
              <a:gd name="T24" fmla="*/ 2147483646 w 158"/>
              <a:gd name="T25" fmla="*/ 2147483646 h 143"/>
              <a:gd name="T26" fmla="*/ 2147483646 w 158"/>
              <a:gd name="T27" fmla="*/ 2147483646 h 143"/>
              <a:gd name="T28" fmla="*/ 2147483646 w 158"/>
              <a:gd name="T29" fmla="*/ 2147483646 h 143"/>
              <a:gd name="T30" fmla="*/ 2147483646 w 158"/>
              <a:gd name="T31" fmla="*/ 2147483646 h 143"/>
              <a:gd name="T32" fmla="*/ 2147483646 w 158"/>
              <a:gd name="T33" fmla="*/ 2147483646 h 143"/>
              <a:gd name="T34" fmla="*/ 2147483646 w 158"/>
              <a:gd name="T35" fmla="*/ 2147483646 h 143"/>
              <a:gd name="T36" fmla="*/ 2147483646 w 158"/>
              <a:gd name="T37" fmla="*/ 2147483646 h 143"/>
              <a:gd name="T38" fmla="*/ 2147483646 w 158"/>
              <a:gd name="T39" fmla="*/ 2147483646 h 143"/>
              <a:gd name="T40" fmla="*/ 2147483646 w 158"/>
              <a:gd name="T41" fmla="*/ 2147483646 h 143"/>
              <a:gd name="T42" fmla="*/ 2147483646 w 158"/>
              <a:gd name="T43" fmla="*/ 2147483646 h 143"/>
              <a:gd name="T44" fmla="*/ 2147483646 w 158"/>
              <a:gd name="T45" fmla="*/ 2147483646 h 14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58" h="143">
                <a:moveTo>
                  <a:pt x="30" y="143"/>
                </a:moveTo>
                <a:cubicBezTo>
                  <a:pt x="28" y="143"/>
                  <a:pt x="26" y="143"/>
                  <a:pt x="24" y="143"/>
                </a:cubicBezTo>
                <a:cubicBezTo>
                  <a:pt x="23" y="143"/>
                  <a:pt x="21" y="142"/>
                  <a:pt x="21" y="140"/>
                </a:cubicBezTo>
                <a:cubicBezTo>
                  <a:pt x="20" y="138"/>
                  <a:pt x="21" y="136"/>
                  <a:pt x="23" y="135"/>
                </a:cubicBezTo>
                <a:cubicBezTo>
                  <a:pt x="31" y="132"/>
                  <a:pt x="37" y="126"/>
                  <a:pt x="41" y="119"/>
                </a:cubicBezTo>
                <a:cubicBezTo>
                  <a:pt x="16" y="108"/>
                  <a:pt x="0" y="87"/>
                  <a:pt x="0" y="64"/>
                </a:cubicBezTo>
                <a:cubicBezTo>
                  <a:pt x="0" y="29"/>
                  <a:pt x="36" y="0"/>
                  <a:pt x="79" y="0"/>
                </a:cubicBezTo>
                <a:cubicBezTo>
                  <a:pt x="123" y="0"/>
                  <a:pt x="158" y="29"/>
                  <a:pt x="158" y="64"/>
                </a:cubicBezTo>
                <a:cubicBezTo>
                  <a:pt x="158" y="98"/>
                  <a:pt x="123" y="127"/>
                  <a:pt x="79" y="127"/>
                </a:cubicBezTo>
                <a:cubicBezTo>
                  <a:pt x="78" y="127"/>
                  <a:pt x="76" y="127"/>
                  <a:pt x="75" y="127"/>
                </a:cubicBezTo>
                <a:cubicBezTo>
                  <a:pt x="64" y="137"/>
                  <a:pt x="48" y="143"/>
                  <a:pt x="30" y="143"/>
                </a:cubicBezTo>
                <a:close/>
                <a:moveTo>
                  <a:pt x="79" y="8"/>
                </a:moveTo>
                <a:cubicBezTo>
                  <a:pt x="40" y="8"/>
                  <a:pt x="8" y="33"/>
                  <a:pt x="8" y="64"/>
                </a:cubicBezTo>
                <a:cubicBezTo>
                  <a:pt x="8" y="85"/>
                  <a:pt x="24" y="104"/>
                  <a:pt x="49" y="113"/>
                </a:cubicBezTo>
                <a:cubicBezTo>
                  <a:pt x="50" y="114"/>
                  <a:pt x="50" y="115"/>
                  <a:pt x="51" y="116"/>
                </a:cubicBezTo>
                <a:cubicBezTo>
                  <a:pt x="51" y="117"/>
                  <a:pt x="51" y="118"/>
                  <a:pt x="51" y="119"/>
                </a:cubicBezTo>
                <a:cubicBezTo>
                  <a:pt x="50" y="120"/>
                  <a:pt x="50" y="120"/>
                  <a:pt x="50" y="120"/>
                </a:cubicBezTo>
                <a:cubicBezTo>
                  <a:pt x="50" y="121"/>
                  <a:pt x="50" y="121"/>
                  <a:pt x="49" y="122"/>
                </a:cubicBezTo>
                <a:cubicBezTo>
                  <a:pt x="46" y="127"/>
                  <a:pt x="43" y="131"/>
                  <a:pt x="39" y="135"/>
                </a:cubicBezTo>
                <a:cubicBezTo>
                  <a:pt x="51" y="133"/>
                  <a:pt x="62" y="128"/>
                  <a:pt x="70" y="120"/>
                </a:cubicBezTo>
                <a:cubicBezTo>
                  <a:pt x="71" y="119"/>
                  <a:pt x="72" y="119"/>
                  <a:pt x="74" y="119"/>
                </a:cubicBezTo>
                <a:cubicBezTo>
                  <a:pt x="115" y="121"/>
                  <a:pt x="150" y="95"/>
                  <a:pt x="150" y="64"/>
                </a:cubicBezTo>
                <a:cubicBezTo>
                  <a:pt x="150" y="33"/>
                  <a:pt x="118" y="8"/>
                  <a:pt x="79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稻壳儿原创设计师【幻雨工作室】_14">
            <a:extLst>
              <a:ext uri="{FF2B5EF4-FFF2-40B4-BE49-F238E27FC236}">
                <a16:creationId xmlns:a16="http://schemas.microsoft.com/office/drawing/2014/main" id="{1728BBF4-A3F2-4603-95CF-B75B4A2C843A}"/>
              </a:ext>
            </a:extLst>
          </p:cNvPr>
          <p:cNvSpPr>
            <a:spLocks/>
          </p:cNvSpPr>
          <p:nvPr/>
        </p:nvSpPr>
        <p:spPr bwMode="auto">
          <a:xfrm>
            <a:off x="10195833" y="2949575"/>
            <a:ext cx="481013" cy="431800"/>
          </a:xfrm>
          <a:custGeom>
            <a:avLst/>
            <a:gdLst>
              <a:gd name="T0" fmla="*/ 2147483646 w 128"/>
              <a:gd name="T1" fmla="*/ 2147483646 h 114"/>
              <a:gd name="T2" fmla="*/ 2147483646 w 128"/>
              <a:gd name="T3" fmla="*/ 2147483646 h 114"/>
              <a:gd name="T4" fmla="*/ 2147483646 w 128"/>
              <a:gd name="T5" fmla="*/ 2147483646 h 114"/>
              <a:gd name="T6" fmla="*/ 2147483646 w 128"/>
              <a:gd name="T7" fmla="*/ 2147483646 h 114"/>
              <a:gd name="T8" fmla="*/ 2147483646 w 128"/>
              <a:gd name="T9" fmla="*/ 2147483646 h 114"/>
              <a:gd name="T10" fmla="*/ 2147483646 w 128"/>
              <a:gd name="T11" fmla="*/ 2147483646 h 114"/>
              <a:gd name="T12" fmla="*/ 2147483646 w 128"/>
              <a:gd name="T13" fmla="*/ 2147483646 h 114"/>
              <a:gd name="T14" fmla="*/ 2147483646 w 128"/>
              <a:gd name="T15" fmla="*/ 2147483646 h 114"/>
              <a:gd name="T16" fmla="*/ 2147483646 w 128"/>
              <a:gd name="T17" fmla="*/ 2147483646 h 114"/>
              <a:gd name="T18" fmla="*/ 2147483646 w 128"/>
              <a:gd name="T19" fmla="*/ 2147483646 h 114"/>
              <a:gd name="T20" fmla="*/ 2147483646 w 128"/>
              <a:gd name="T21" fmla="*/ 2147483646 h 114"/>
              <a:gd name="T22" fmla="*/ 2147483646 w 128"/>
              <a:gd name="T23" fmla="*/ 2147483646 h 114"/>
              <a:gd name="T24" fmla="*/ 2147483646 w 128"/>
              <a:gd name="T25" fmla="*/ 2147483646 h 114"/>
              <a:gd name="T26" fmla="*/ 2147483646 w 128"/>
              <a:gd name="T27" fmla="*/ 2147483646 h 114"/>
              <a:gd name="T28" fmla="*/ 2147483646 w 128"/>
              <a:gd name="T29" fmla="*/ 2147483646 h 114"/>
              <a:gd name="T30" fmla="*/ 2147483646 w 128"/>
              <a:gd name="T31" fmla="*/ 2147483646 h 114"/>
              <a:gd name="T32" fmla="*/ 2147483646 w 128"/>
              <a:gd name="T33" fmla="*/ 2147483646 h 114"/>
              <a:gd name="T34" fmla="*/ 2147483646 w 128"/>
              <a:gd name="T35" fmla="*/ 2147483646 h 114"/>
              <a:gd name="T36" fmla="*/ 2147483646 w 128"/>
              <a:gd name="T37" fmla="*/ 2147483646 h 114"/>
              <a:gd name="T38" fmla="*/ 2147483646 w 128"/>
              <a:gd name="T39" fmla="*/ 2147483646 h 114"/>
              <a:gd name="T40" fmla="*/ 2147483646 w 128"/>
              <a:gd name="T41" fmla="*/ 2147483646 h 114"/>
              <a:gd name="T42" fmla="*/ 2147483646 w 128"/>
              <a:gd name="T43" fmla="*/ 2147483646 h 114"/>
              <a:gd name="T44" fmla="*/ 2147483646 w 128"/>
              <a:gd name="T45" fmla="*/ 2147483646 h 114"/>
              <a:gd name="T46" fmla="*/ 2147483646 w 128"/>
              <a:gd name="T47" fmla="*/ 2147483646 h 114"/>
              <a:gd name="T48" fmla="*/ 2147483646 w 128"/>
              <a:gd name="T49" fmla="*/ 2147483646 h 114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128" h="114">
                <a:moveTo>
                  <a:pt x="101" y="114"/>
                </a:moveTo>
                <a:cubicBezTo>
                  <a:pt x="90" y="114"/>
                  <a:pt x="81" y="111"/>
                  <a:pt x="73" y="105"/>
                </a:cubicBezTo>
                <a:cubicBezTo>
                  <a:pt x="72" y="105"/>
                  <a:pt x="71" y="106"/>
                  <a:pt x="70" y="106"/>
                </a:cubicBezTo>
                <a:cubicBezTo>
                  <a:pt x="40" y="111"/>
                  <a:pt x="11" y="98"/>
                  <a:pt x="1" y="74"/>
                </a:cubicBezTo>
                <a:cubicBezTo>
                  <a:pt x="0" y="72"/>
                  <a:pt x="1" y="70"/>
                  <a:pt x="3" y="69"/>
                </a:cubicBezTo>
                <a:cubicBezTo>
                  <a:pt x="5" y="68"/>
                  <a:pt x="8" y="69"/>
                  <a:pt x="9" y="71"/>
                </a:cubicBezTo>
                <a:cubicBezTo>
                  <a:pt x="17" y="91"/>
                  <a:pt x="42" y="103"/>
                  <a:pt x="69" y="98"/>
                </a:cubicBezTo>
                <a:cubicBezTo>
                  <a:pt x="70" y="98"/>
                  <a:pt x="71" y="97"/>
                  <a:pt x="73" y="97"/>
                </a:cubicBezTo>
                <a:cubicBezTo>
                  <a:pt x="74" y="97"/>
                  <a:pt x="75" y="97"/>
                  <a:pt x="76" y="98"/>
                </a:cubicBezTo>
                <a:cubicBezTo>
                  <a:pt x="83" y="103"/>
                  <a:pt x="92" y="106"/>
                  <a:pt x="101" y="106"/>
                </a:cubicBezTo>
                <a:cubicBezTo>
                  <a:pt x="98" y="103"/>
                  <a:pt x="95" y="101"/>
                  <a:pt x="92" y="97"/>
                </a:cubicBezTo>
                <a:cubicBezTo>
                  <a:pt x="92" y="97"/>
                  <a:pt x="91" y="96"/>
                  <a:pt x="91" y="95"/>
                </a:cubicBezTo>
                <a:cubicBezTo>
                  <a:pt x="91" y="95"/>
                  <a:pt x="91" y="95"/>
                  <a:pt x="91" y="95"/>
                </a:cubicBezTo>
                <a:cubicBezTo>
                  <a:pt x="90" y="94"/>
                  <a:pt x="90" y="93"/>
                  <a:pt x="90" y="92"/>
                </a:cubicBezTo>
                <a:cubicBezTo>
                  <a:pt x="90" y="91"/>
                  <a:pt x="91" y="90"/>
                  <a:pt x="92" y="89"/>
                </a:cubicBezTo>
                <a:cubicBezTo>
                  <a:pt x="110" y="78"/>
                  <a:pt x="120" y="59"/>
                  <a:pt x="117" y="41"/>
                </a:cubicBezTo>
                <a:cubicBezTo>
                  <a:pt x="115" y="27"/>
                  <a:pt x="104" y="15"/>
                  <a:pt x="89" y="9"/>
                </a:cubicBezTo>
                <a:cubicBezTo>
                  <a:pt x="87" y="8"/>
                  <a:pt x="86" y="5"/>
                  <a:pt x="87" y="3"/>
                </a:cubicBezTo>
                <a:cubicBezTo>
                  <a:pt x="88" y="1"/>
                  <a:pt x="90" y="0"/>
                  <a:pt x="92" y="1"/>
                </a:cubicBezTo>
                <a:cubicBezTo>
                  <a:pt x="110" y="8"/>
                  <a:pt x="122" y="23"/>
                  <a:pt x="125" y="40"/>
                </a:cubicBezTo>
                <a:cubicBezTo>
                  <a:pt x="128" y="60"/>
                  <a:pt x="118" y="80"/>
                  <a:pt x="100" y="93"/>
                </a:cubicBezTo>
                <a:cubicBezTo>
                  <a:pt x="104" y="98"/>
                  <a:pt x="109" y="102"/>
                  <a:pt x="116" y="104"/>
                </a:cubicBezTo>
                <a:cubicBezTo>
                  <a:pt x="118" y="105"/>
                  <a:pt x="119" y="106"/>
                  <a:pt x="119" y="108"/>
                </a:cubicBezTo>
                <a:cubicBezTo>
                  <a:pt x="119" y="110"/>
                  <a:pt x="117" y="111"/>
                  <a:pt x="116" y="112"/>
                </a:cubicBezTo>
                <a:cubicBezTo>
                  <a:pt x="111" y="113"/>
                  <a:pt x="106" y="114"/>
                  <a:pt x="101" y="1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稻壳儿原创设计师【幻雨工作室】_15">
            <a:extLst>
              <a:ext uri="{FF2B5EF4-FFF2-40B4-BE49-F238E27FC236}">
                <a16:creationId xmlns:a16="http://schemas.microsoft.com/office/drawing/2014/main" id="{C10B36B0-1CAD-4455-84F5-4B1B5A278BC6}"/>
              </a:ext>
            </a:extLst>
          </p:cNvPr>
          <p:cNvSpPr>
            <a:spLocks noEditPoints="1"/>
          </p:cNvSpPr>
          <p:nvPr/>
        </p:nvSpPr>
        <p:spPr bwMode="auto">
          <a:xfrm>
            <a:off x="10065658" y="2949575"/>
            <a:ext cx="77788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1" y="8"/>
                  <a:pt x="13" y="9"/>
                  <a:pt x="13" y="11"/>
                </a:cubicBezTo>
                <a:cubicBezTo>
                  <a:pt x="13" y="12"/>
                  <a:pt x="11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4" y="0"/>
                  <a:pt x="0" y="5"/>
                  <a:pt x="0" y="11"/>
                </a:cubicBezTo>
                <a:cubicBezTo>
                  <a:pt x="0" y="16"/>
                  <a:pt x="4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稻壳儿原创设计师【幻雨工作室】_16">
            <a:extLst>
              <a:ext uri="{FF2B5EF4-FFF2-40B4-BE49-F238E27FC236}">
                <a16:creationId xmlns:a16="http://schemas.microsoft.com/office/drawing/2014/main" id="{B5826852-5CFB-426F-A560-8BEFC99572F4}"/>
              </a:ext>
            </a:extLst>
          </p:cNvPr>
          <p:cNvSpPr>
            <a:spLocks noEditPoints="1"/>
          </p:cNvSpPr>
          <p:nvPr/>
        </p:nvSpPr>
        <p:spPr bwMode="auto">
          <a:xfrm>
            <a:off x="1018472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稻壳儿原创设计师【幻雨工作室】_17">
            <a:extLst>
              <a:ext uri="{FF2B5EF4-FFF2-40B4-BE49-F238E27FC236}">
                <a16:creationId xmlns:a16="http://schemas.microsoft.com/office/drawing/2014/main" id="{6DC3C6DD-955E-4999-8CF1-16A6B8648EBB}"/>
              </a:ext>
            </a:extLst>
          </p:cNvPr>
          <p:cNvSpPr>
            <a:spLocks noEditPoints="1"/>
          </p:cNvSpPr>
          <p:nvPr/>
        </p:nvSpPr>
        <p:spPr bwMode="auto">
          <a:xfrm>
            <a:off x="1030537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1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1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1" y="8"/>
                </a:cubicBezTo>
                <a:moveTo>
                  <a:pt x="11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1" y="21"/>
                </a:cubicBezTo>
                <a:cubicBezTo>
                  <a:pt x="17" y="21"/>
                  <a:pt x="21" y="16"/>
                  <a:pt x="21" y="11"/>
                </a:cubicBezTo>
                <a:cubicBezTo>
                  <a:pt x="21" y="5"/>
                  <a:pt x="17" y="0"/>
                  <a:pt x="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0AB846-F854-4F5F-B670-3B9A0B62A54D}"/>
              </a:ext>
            </a:extLst>
          </p:cNvPr>
          <p:cNvSpPr/>
          <p:nvPr/>
        </p:nvSpPr>
        <p:spPr>
          <a:xfrm>
            <a:off x="867087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研究环境</a:t>
            </a:r>
          </a:p>
          <a:p>
            <a:pPr algn="ctr">
              <a:lnSpc>
                <a:spcPct val="150000"/>
              </a:lnSpc>
            </a:pPr>
            <a:r>
              <a:rPr 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606030504020204" pitchFamily="34" charset="0"/>
                <a:cs typeface="Arial" panose="020B0604020202020204" pitchFamily="34" charset="0"/>
              </a:rPr>
              <a:t>TRE 从封闭安全实验室，到云化 AI 训练，再到多节点联邦化，正从单点环境走向跨机构联合分析。</a:t>
            </a:r>
          </a:p>
        </p:txBody>
      </p:sp>
      <p:sp>
        <p:nvSpPr>
          <p:cNvPr id="48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71E4E05-01F1-4612-88E5-F21DD28D27D5}"/>
              </a:ext>
            </a:extLst>
          </p:cNvPr>
          <p:cNvSpPr/>
          <p:nvPr/>
        </p:nvSpPr>
        <p:spPr>
          <a:xfrm>
            <a:off x="3638861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空间互联</a:t>
            </a:r>
          </a:p>
          <a:p>
            <a:pPr algn="ctr">
              <a:lnSpc>
                <a:spcPct val="150000"/>
              </a:lnSpc>
            </a:pPr>
            <a:r>
              <a:rPr 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606030504020204" pitchFamily="34" charset="0"/>
                <a:cs typeface="Arial" panose="020B0604020202020204" pitchFamily="34" charset="0"/>
              </a:rPr>
              <a:t>TDS 从数据目录共享，到 2024 年可信数据空间，再到 2025 年跨空间身份互认、规则互认与跨域协作。</a:t>
            </a:r>
          </a:p>
        </p:txBody>
      </p:sp>
      <p:sp>
        <p:nvSpPr>
          <p:cNvPr id="49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A3BCADE-C619-4968-ACC9-69E63EED36BD}"/>
              </a:ext>
            </a:extLst>
          </p:cNvPr>
          <p:cNvSpPr/>
          <p:nvPr/>
        </p:nvSpPr>
        <p:spPr>
          <a:xfrm>
            <a:off x="6410636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怎么计算</a:t>
            </a:r>
          </a:p>
          <a:p>
            <a:pPr algn="ctr">
              <a:lnSpc>
                <a:spcPct val="150000"/>
              </a:lnSpc>
            </a:pPr>
            <a:r>
              <a:rPr 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606030504020204" pitchFamily="34" charset="0"/>
                <a:cs typeface="Arial" panose="020B0604020202020204" pitchFamily="34" charset="0"/>
              </a:rPr>
              <a:t>TRE 管环境、研究、计算与输出，解决敏感数据怎么算；病历留在环境内，只导出审查后的结果。</a:t>
            </a:r>
          </a:p>
        </p:txBody>
      </p:sp>
      <p:sp>
        <p:nvSpPr>
          <p:cNvPr id="50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DF02438-F7E8-4870-AC27-D3AA7B773CE9}"/>
              </a:ext>
            </a:extLst>
          </p:cNvPr>
          <p:cNvSpPr/>
          <p:nvPr/>
        </p:nvSpPr>
        <p:spPr>
          <a:xfrm>
            <a:off x="9164949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怎么流通</a:t>
            </a:r>
          </a:p>
          <a:p>
            <a:pPr algn="ctr">
              <a:lnSpc>
                <a:spcPct val="150000"/>
              </a:lnSpc>
            </a:pPr>
            <a:r>
              <a:rPr 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606030504020204" pitchFamily="34" charset="0"/>
                <a:cs typeface="Arial" panose="020B0604020202020204" pitchFamily="34" charset="0"/>
              </a:rPr>
              <a:t>TDS 管连接、规则、流通、价值，解决数据怎么流通；把十几家医院的保密实验室连成一张协作网。</a:t>
            </a:r>
          </a:p>
        </p:txBody>
      </p:sp>
    </p:spTree>
    <p:extLst>
      <p:ext uri="{BB962C8B-B14F-4D97-AF65-F5344CB8AC3E}">
        <p14:creationId xmlns:p14="http://schemas.microsoft.com/office/powerpoint/2010/main" val="4168615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稻壳儿原创设计师【幻雨工作室】_4">
            <a:extLst>
              <a:ext uri="{FF2B5EF4-FFF2-40B4-BE49-F238E27FC236}">
                <a16:creationId xmlns:a16="http://schemas.microsoft.com/office/drawing/2014/main" id="{C06DB9E7-8D33-4EB2-8060-B7192908EC23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趋势与能力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Technology</a:t>
            </a:r>
          </a:p>
        </p:txBody>
      </p:sp>
      <p:sp>
        <p:nvSpPr>
          <p:cNvPr id="32" name="稻壳儿原创设计师【幻雨工作室】_4">
            <a:extLst>
              <a:ext uri="{FF2B5EF4-FFF2-40B4-BE49-F238E27FC236}">
                <a16:creationId xmlns:a16="http://schemas.microsoft.com/office/drawing/2014/main" id="{89C585AA-E656-4AFF-AF53-1500E2E76D60}"/>
              </a:ext>
            </a:extLst>
          </p:cNvPr>
          <p:cNvSpPr/>
          <p:nvPr/>
        </p:nvSpPr>
        <p:spPr>
          <a:xfrm>
            <a:off x="2708269" y="2232833"/>
            <a:ext cx="2323117" cy="2323117"/>
          </a:xfrm>
          <a:custGeom>
            <a:avLst/>
            <a:gdLst>
              <a:gd name="connsiteX0" fmla="*/ 1161559 w 2323117"/>
              <a:gd name="connsiteY0" fmla="*/ 0 h 2323117"/>
              <a:gd name="connsiteX1" fmla="*/ 2323117 w 2323117"/>
              <a:gd name="connsiteY1" fmla="*/ 1161559 h 2323117"/>
              <a:gd name="connsiteX2" fmla="*/ 1161559 w 2323117"/>
              <a:gd name="connsiteY2" fmla="*/ 2323117 h 2323117"/>
              <a:gd name="connsiteX3" fmla="*/ 0 w 2323117"/>
              <a:gd name="connsiteY3" fmla="*/ 1161559 h 2323117"/>
              <a:gd name="connsiteX4" fmla="*/ 1161559 w 2323117"/>
              <a:gd name="connsiteY4" fmla="*/ 0 h 2323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3117" h="2323117">
                <a:moveTo>
                  <a:pt x="1161559" y="0"/>
                </a:moveTo>
                <a:lnTo>
                  <a:pt x="2323117" y="1161559"/>
                </a:lnTo>
                <a:lnTo>
                  <a:pt x="1161559" y="2323117"/>
                </a:lnTo>
                <a:lnTo>
                  <a:pt x="0" y="1161559"/>
                </a:lnTo>
                <a:lnTo>
                  <a:pt x="1161559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稻壳儿原创设计师【幻雨工作室】_5">
            <a:extLst>
              <a:ext uri="{FF2B5EF4-FFF2-40B4-BE49-F238E27FC236}">
                <a16:creationId xmlns:a16="http://schemas.microsoft.com/office/drawing/2014/main" id="{6867D541-8D74-472F-93F6-ACD1D369199D}"/>
              </a:ext>
            </a:extLst>
          </p:cNvPr>
          <p:cNvSpPr/>
          <p:nvPr/>
        </p:nvSpPr>
        <p:spPr>
          <a:xfrm>
            <a:off x="2093870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稻壳儿原创设计师【幻雨工作室】_6">
            <a:extLst>
              <a:ext uri="{FF2B5EF4-FFF2-40B4-BE49-F238E27FC236}">
                <a16:creationId xmlns:a16="http://schemas.microsoft.com/office/drawing/2014/main" id="{6E680FED-5EAB-4280-B793-A22694C027FB}"/>
              </a:ext>
            </a:extLst>
          </p:cNvPr>
          <p:cNvSpPr/>
          <p:nvPr/>
        </p:nvSpPr>
        <p:spPr>
          <a:xfrm>
            <a:off x="4139321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5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稻壳儿原创设计师【幻雨工作室】_7">
            <a:extLst>
              <a:ext uri="{FF2B5EF4-FFF2-40B4-BE49-F238E27FC236}">
                <a16:creationId xmlns:a16="http://schemas.microsoft.com/office/drawing/2014/main" id="{6D607A51-3461-4A37-B2B6-B80224299AEF}"/>
              </a:ext>
            </a:extLst>
          </p:cNvPr>
          <p:cNvSpPr/>
          <p:nvPr/>
        </p:nvSpPr>
        <p:spPr>
          <a:xfrm>
            <a:off x="2362266" y="1891236"/>
            <a:ext cx="2986315" cy="2986315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6" name="稻壳儿原创设计师【幻雨工作室】_8">
            <a:extLst>
              <a:ext uri="{FF2B5EF4-FFF2-40B4-BE49-F238E27FC236}">
                <a16:creationId xmlns:a16="http://schemas.microsoft.com/office/drawing/2014/main" id="{2C023325-6DEB-4319-BCC3-C753EE7DA230}"/>
              </a:ext>
            </a:extLst>
          </p:cNvPr>
          <p:cNvSpPr/>
          <p:nvPr/>
        </p:nvSpPr>
        <p:spPr>
          <a:xfrm>
            <a:off x="1881485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7" name="稻壳儿原创设计师【幻雨工作室】_9">
            <a:extLst>
              <a:ext uri="{FF2B5EF4-FFF2-40B4-BE49-F238E27FC236}">
                <a16:creationId xmlns:a16="http://schemas.microsoft.com/office/drawing/2014/main" id="{F6E83442-B808-4398-98F6-FC66C39A0C03}"/>
              </a:ext>
            </a:extLst>
          </p:cNvPr>
          <p:cNvSpPr/>
          <p:nvPr/>
        </p:nvSpPr>
        <p:spPr>
          <a:xfrm>
            <a:off x="3926936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8" name="稻壳儿原创设计师【幻雨工作室】_10">
            <a:extLst>
              <a:ext uri="{FF2B5EF4-FFF2-40B4-BE49-F238E27FC236}">
                <a16:creationId xmlns:a16="http://schemas.microsoft.com/office/drawing/2014/main" id="{8C9F0CDA-2491-40EA-A618-8BCCF5FAEF89}"/>
              </a:ext>
            </a:extLst>
          </p:cNvPr>
          <p:cNvSpPr/>
          <p:nvPr/>
        </p:nvSpPr>
        <p:spPr>
          <a:xfrm>
            <a:off x="6472789" y="1884062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01</a:t>
            </a:r>
          </a:p>
        </p:txBody>
      </p:sp>
      <p:sp>
        <p:nvSpPr>
          <p:cNvPr id="39" name="稻壳儿原创设计师【幻雨工作室】_11">
            <a:extLst>
              <a:ext uri="{FF2B5EF4-FFF2-40B4-BE49-F238E27FC236}">
                <a16:creationId xmlns:a16="http://schemas.microsoft.com/office/drawing/2014/main" id="{4DDA596D-26B8-45D4-B8C0-B8E86A2812F7}"/>
              </a:ext>
            </a:extLst>
          </p:cNvPr>
          <p:cNvSpPr/>
          <p:nvPr/>
        </p:nvSpPr>
        <p:spPr>
          <a:xfrm>
            <a:off x="6480045" y="3446425"/>
            <a:ext cx="1038294" cy="1038294"/>
          </a:xfrm>
          <a:prstGeom prst="diamond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" name="稻壳儿原创设计师【幻雨工作室】_12">
            <a:extLst>
              <a:ext uri="{FF2B5EF4-FFF2-40B4-BE49-F238E27FC236}">
                <a16:creationId xmlns:a16="http://schemas.microsoft.com/office/drawing/2014/main" id="{B1C77998-74F0-475C-B38C-301C6CE2E9BF}"/>
              </a:ext>
            </a:extLst>
          </p:cNvPr>
          <p:cNvSpPr/>
          <p:nvPr/>
        </p:nvSpPr>
        <p:spPr>
          <a:xfrm>
            <a:off x="6480045" y="5008788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D02E4EE-4A32-4E16-89F2-6E92ED7A4BB3}"/>
              </a:ext>
            </a:extLst>
          </p:cNvPr>
          <p:cNvSpPr/>
          <p:nvPr/>
        </p:nvSpPr>
        <p:spPr>
          <a:xfrm>
            <a:off x="7655188" y="3330557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dirty="0">
                <a:solidFill>
                  <a:schemeClr val="accent1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管得住</a:t>
            </a:r>
          </a:p>
          <a:p>
            <a:pPr>
              <a:lnSpc>
                <a:spcPct val="150000"/>
              </a:lnSpc>
            </a:pPr>
            <a:r>
              <a:rPr 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606030504020204" pitchFamily="34" charset="0"/>
                <a:cs typeface="Arial" panose="020B0604020202020204" pitchFamily="34" charset="0"/>
              </a:rPr>
              <a:t>数字合约把人员、期限、工具、次数写入链上规则；使用控制引擎按约执行，仅限研究用途、限 100 次调用，自动计量、可审计。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7402DA-7580-47A0-90DC-439CBE276C9D}"/>
              </a:ext>
            </a:extLst>
          </p:cNvPr>
          <p:cNvSpPr/>
          <p:nvPr/>
        </p:nvSpPr>
        <p:spPr>
          <a:xfrm>
            <a:off x="7655188" y="1773682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dirty="0">
                <a:solidFill>
                  <a:schemeClr val="accent1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认得准 · 找得到</a:t>
            </a:r>
          </a:p>
          <a:p>
            <a:pPr>
              <a:lnSpc>
                <a:spcPct val="150000"/>
              </a:lnSpc>
            </a:pPr>
            <a:r>
              <a:rPr 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606030504020204" pitchFamily="34" charset="0"/>
                <a:cs typeface="Arial" panose="020B0604020202020204" pitchFamily="34" charset="0"/>
              </a:rPr>
              <a:t>融合身份认证用 CA + DID 实现权威签发、链上存证、跨域互认；智能检索用 RAG + 医学知识图谱，语义匹配脱敏病例集。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624EA11-FCA3-4083-AF81-662704D7E75F}"/>
              </a:ext>
            </a:extLst>
          </p:cNvPr>
          <p:cNvSpPr/>
          <p:nvPr/>
        </p:nvSpPr>
        <p:spPr>
          <a:xfrm>
            <a:off x="7655188" y="4892920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dirty="0">
                <a:solidFill>
                  <a:schemeClr val="accent1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送不出 · 算得了</a:t>
            </a:r>
          </a:p>
          <a:p>
            <a:pPr>
              <a:lnSpc>
                <a:spcPct val="150000"/>
              </a:lnSpc>
            </a:pPr>
            <a:r>
              <a:rPr 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606030504020204" pitchFamily="34" charset="0"/>
                <a:cs typeface="Arial" panose="020B0604020202020204" pitchFamily="34" charset="0"/>
              </a:rPr>
              <a:t>云桌面 + 数据沙箱双重隔离，可用不可见、终端不落地；联邦学习、多方安全计算、差分隐私与同态加密，实现数据不动模型动。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829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融合与实践 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Workflow &amp; architecture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2069059F-E215-46BA-84BD-1AC6FB369BD1}"/>
              </a:ext>
            </a:extLst>
          </p:cNvPr>
          <p:cNvSpPr>
            <a:spLocks noEditPoints="1"/>
          </p:cNvSpPr>
          <p:nvPr/>
        </p:nvSpPr>
        <p:spPr bwMode="auto">
          <a:xfrm>
            <a:off x="4269491" y="2238564"/>
            <a:ext cx="3653019" cy="3649229"/>
          </a:xfrm>
          <a:custGeom>
            <a:avLst/>
            <a:gdLst>
              <a:gd name="T0" fmla="*/ 870 w 935"/>
              <a:gd name="T1" fmla="*/ 608 h 935"/>
              <a:gd name="T2" fmla="*/ 870 w 935"/>
              <a:gd name="T3" fmla="*/ 608 h 935"/>
              <a:gd name="T4" fmla="*/ 806 w 935"/>
              <a:gd name="T5" fmla="*/ 468 h 935"/>
              <a:gd name="T6" fmla="*/ 870 w 935"/>
              <a:gd name="T7" fmla="*/ 327 h 935"/>
              <a:gd name="T8" fmla="*/ 870 w 935"/>
              <a:gd name="T9" fmla="*/ 327 h 935"/>
              <a:gd name="T10" fmla="*/ 935 w 935"/>
              <a:gd name="T11" fmla="*/ 186 h 935"/>
              <a:gd name="T12" fmla="*/ 750 w 935"/>
              <a:gd name="T13" fmla="*/ 0 h 935"/>
              <a:gd name="T14" fmla="*/ 608 w 935"/>
              <a:gd name="T15" fmla="*/ 65 h 935"/>
              <a:gd name="T16" fmla="*/ 608 w 935"/>
              <a:gd name="T17" fmla="*/ 65 h 935"/>
              <a:gd name="T18" fmla="*/ 468 w 935"/>
              <a:gd name="T19" fmla="*/ 129 h 935"/>
              <a:gd name="T20" fmla="*/ 328 w 935"/>
              <a:gd name="T21" fmla="*/ 65 h 935"/>
              <a:gd name="T22" fmla="*/ 328 w 935"/>
              <a:gd name="T23" fmla="*/ 65 h 935"/>
              <a:gd name="T24" fmla="*/ 186 w 935"/>
              <a:gd name="T25" fmla="*/ 0 h 935"/>
              <a:gd name="T26" fmla="*/ 0 w 935"/>
              <a:gd name="T27" fmla="*/ 186 h 935"/>
              <a:gd name="T28" fmla="*/ 66 w 935"/>
              <a:gd name="T29" fmla="*/ 327 h 935"/>
              <a:gd name="T30" fmla="*/ 66 w 935"/>
              <a:gd name="T31" fmla="*/ 327 h 935"/>
              <a:gd name="T32" fmla="*/ 130 w 935"/>
              <a:gd name="T33" fmla="*/ 468 h 935"/>
              <a:gd name="T34" fmla="*/ 66 w 935"/>
              <a:gd name="T35" fmla="*/ 608 h 935"/>
              <a:gd name="T36" fmla="*/ 66 w 935"/>
              <a:gd name="T37" fmla="*/ 608 h 935"/>
              <a:gd name="T38" fmla="*/ 0 w 935"/>
              <a:gd name="T39" fmla="*/ 749 h 935"/>
              <a:gd name="T40" fmla="*/ 186 w 935"/>
              <a:gd name="T41" fmla="*/ 935 h 935"/>
              <a:gd name="T42" fmla="*/ 328 w 935"/>
              <a:gd name="T43" fmla="*/ 870 h 935"/>
              <a:gd name="T44" fmla="*/ 328 w 935"/>
              <a:gd name="T45" fmla="*/ 870 h 935"/>
              <a:gd name="T46" fmla="*/ 468 w 935"/>
              <a:gd name="T47" fmla="*/ 806 h 935"/>
              <a:gd name="T48" fmla="*/ 608 w 935"/>
              <a:gd name="T49" fmla="*/ 870 h 935"/>
              <a:gd name="T50" fmla="*/ 608 w 935"/>
              <a:gd name="T51" fmla="*/ 870 h 935"/>
              <a:gd name="T52" fmla="*/ 750 w 935"/>
              <a:gd name="T53" fmla="*/ 935 h 935"/>
              <a:gd name="T54" fmla="*/ 935 w 935"/>
              <a:gd name="T55" fmla="*/ 749 h 935"/>
              <a:gd name="T56" fmla="*/ 870 w 935"/>
              <a:gd name="T57" fmla="*/ 608 h 935"/>
              <a:gd name="T58" fmla="*/ 468 w 935"/>
              <a:gd name="T59" fmla="*/ 681 h 935"/>
              <a:gd name="T60" fmla="*/ 255 w 935"/>
              <a:gd name="T61" fmla="*/ 468 h 935"/>
              <a:gd name="T62" fmla="*/ 468 w 935"/>
              <a:gd name="T63" fmla="*/ 255 h 935"/>
              <a:gd name="T64" fmla="*/ 681 w 935"/>
              <a:gd name="T65" fmla="*/ 468 h 935"/>
              <a:gd name="T66" fmla="*/ 468 w 935"/>
              <a:gd name="T67" fmla="*/ 681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35" h="935">
                <a:moveTo>
                  <a:pt x="870" y="608"/>
                </a:moveTo>
                <a:cubicBezTo>
                  <a:pt x="870" y="608"/>
                  <a:pt x="870" y="608"/>
                  <a:pt x="870" y="608"/>
                </a:cubicBezTo>
                <a:cubicBezTo>
                  <a:pt x="831" y="574"/>
                  <a:pt x="806" y="524"/>
                  <a:pt x="806" y="468"/>
                </a:cubicBezTo>
                <a:cubicBezTo>
                  <a:pt x="806" y="412"/>
                  <a:pt x="831" y="362"/>
                  <a:pt x="870" y="327"/>
                </a:cubicBezTo>
                <a:cubicBezTo>
                  <a:pt x="870" y="327"/>
                  <a:pt x="870" y="327"/>
                  <a:pt x="870" y="327"/>
                </a:cubicBezTo>
                <a:cubicBezTo>
                  <a:pt x="910" y="293"/>
                  <a:pt x="935" y="243"/>
                  <a:pt x="935" y="186"/>
                </a:cubicBezTo>
                <a:cubicBezTo>
                  <a:pt x="935" y="83"/>
                  <a:pt x="852" y="0"/>
                  <a:pt x="750" y="0"/>
                </a:cubicBezTo>
                <a:cubicBezTo>
                  <a:pt x="693" y="0"/>
                  <a:pt x="642" y="25"/>
                  <a:pt x="608" y="65"/>
                </a:cubicBezTo>
                <a:cubicBezTo>
                  <a:pt x="608" y="65"/>
                  <a:pt x="608" y="65"/>
                  <a:pt x="608" y="65"/>
                </a:cubicBezTo>
                <a:cubicBezTo>
                  <a:pt x="574" y="105"/>
                  <a:pt x="524" y="129"/>
                  <a:pt x="468" y="129"/>
                </a:cubicBezTo>
                <a:cubicBezTo>
                  <a:pt x="412" y="129"/>
                  <a:pt x="362" y="105"/>
                  <a:pt x="328" y="65"/>
                </a:cubicBezTo>
                <a:cubicBezTo>
                  <a:pt x="328" y="65"/>
                  <a:pt x="328" y="65"/>
                  <a:pt x="328" y="65"/>
                </a:cubicBezTo>
                <a:cubicBezTo>
                  <a:pt x="294" y="25"/>
                  <a:pt x="243" y="0"/>
                  <a:pt x="186" y="0"/>
                </a:cubicBezTo>
                <a:cubicBezTo>
                  <a:pt x="83" y="0"/>
                  <a:pt x="0" y="83"/>
                  <a:pt x="0" y="186"/>
                </a:cubicBezTo>
                <a:cubicBezTo>
                  <a:pt x="0" y="243"/>
                  <a:pt x="26" y="293"/>
                  <a:pt x="66" y="327"/>
                </a:cubicBezTo>
                <a:cubicBezTo>
                  <a:pt x="66" y="327"/>
                  <a:pt x="66" y="327"/>
                  <a:pt x="66" y="327"/>
                </a:cubicBezTo>
                <a:cubicBezTo>
                  <a:pt x="105" y="362"/>
                  <a:pt x="130" y="412"/>
                  <a:pt x="130" y="468"/>
                </a:cubicBezTo>
                <a:cubicBezTo>
                  <a:pt x="130" y="524"/>
                  <a:pt x="105" y="574"/>
                  <a:pt x="66" y="608"/>
                </a:cubicBezTo>
                <a:cubicBezTo>
                  <a:pt x="66" y="608"/>
                  <a:pt x="66" y="608"/>
                  <a:pt x="66" y="608"/>
                </a:cubicBezTo>
                <a:cubicBezTo>
                  <a:pt x="26" y="642"/>
                  <a:pt x="0" y="693"/>
                  <a:pt x="0" y="749"/>
                </a:cubicBezTo>
                <a:cubicBezTo>
                  <a:pt x="0" y="852"/>
                  <a:pt x="83" y="935"/>
                  <a:pt x="186" y="935"/>
                </a:cubicBezTo>
                <a:cubicBezTo>
                  <a:pt x="243" y="935"/>
                  <a:pt x="294" y="910"/>
                  <a:pt x="328" y="870"/>
                </a:cubicBezTo>
                <a:cubicBezTo>
                  <a:pt x="328" y="870"/>
                  <a:pt x="328" y="870"/>
                  <a:pt x="328" y="870"/>
                </a:cubicBezTo>
                <a:cubicBezTo>
                  <a:pt x="362" y="831"/>
                  <a:pt x="412" y="806"/>
                  <a:pt x="468" y="806"/>
                </a:cubicBezTo>
                <a:cubicBezTo>
                  <a:pt x="524" y="806"/>
                  <a:pt x="574" y="831"/>
                  <a:pt x="608" y="870"/>
                </a:cubicBezTo>
                <a:cubicBezTo>
                  <a:pt x="608" y="870"/>
                  <a:pt x="608" y="870"/>
                  <a:pt x="608" y="870"/>
                </a:cubicBezTo>
                <a:cubicBezTo>
                  <a:pt x="642" y="910"/>
                  <a:pt x="693" y="935"/>
                  <a:pt x="750" y="935"/>
                </a:cubicBezTo>
                <a:cubicBezTo>
                  <a:pt x="852" y="935"/>
                  <a:pt x="935" y="852"/>
                  <a:pt x="935" y="749"/>
                </a:cubicBezTo>
                <a:cubicBezTo>
                  <a:pt x="935" y="693"/>
                  <a:pt x="910" y="642"/>
                  <a:pt x="870" y="608"/>
                </a:cubicBezTo>
                <a:close/>
                <a:moveTo>
                  <a:pt x="468" y="681"/>
                </a:moveTo>
                <a:cubicBezTo>
                  <a:pt x="350" y="681"/>
                  <a:pt x="255" y="585"/>
                  <a:pt x="255" y="468"/>
                </a:cubicBezTo>
                <a:cubicBezTo>
                  <a:pt x="255" y="350"/>
                  <a:pt x="350" y="255"/>
                  <a:pt x="468" y="255"/>
                </a:cubicBezTo>
                <a:cubicBezTo>
                  <a:pt x="585" y="255"/>
                  <a:pt x="681" y="350"/>
                  <a:pt x="681" y="468"/>
                </a:cubicBezTo>
                <a:cubicBezTo>
                  <a:pt x="681" y="585"/>
                  <a:pt x="585" y="681"/>
                  <a:pt x="468" y="681"/>
                </a:cubicBezTo>
                <a:close/>
              </a:path>
            </a:pathLst>
          </a:custGeom>
          <a:noFill/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C92A690F-FB1A-4633-9418-DA7F53B1E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2411041"/>
            <a:ext cx="1059149" cy="10534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02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155BB3A3-1CFA-4A44-8B52-2406D97C7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4608916"/>
            <a:ext cx="1059149" cy="1057253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04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B159313-E6EA-4DE0-AE4C-36D8046AC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4608916"/>
            <a:ext cx="1055359" cy="10572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03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EFEB2894-40F5-4942-97B5-4BC8FBF93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2411041"/>
            <a:ext cx="1055359" cy="1053464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01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88BA1C1A-56B6-4125-B384-BAD713138AA8}"/>
              </a:ext>
            </a:extLst>
          </p:cNvPr>
          <p:cNvSpPr/>
          <p:nvPr/>
        </p:nvSpPr>
        <p:spPr>
          <a:xfrm>
            <a:off x="5478839" y="3389533"/>
            <a:ext cx="1294356" cy="1294356"/>
          </a:xfrm>
          <a:prstGeom prst="ellipse">
            <a:avLst/>
          </a:prstGeom>
          <a:solidFill>
            <a:schemeClr val="accent1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/>
        </p:spPr>
        <p:txBody>
          <a:bodyPr anchor="ctr"/>
          <a:lstStyle/>
          <a:p>
            <a:pPr algn="ctr" defTabSz="914400">
              <a:defRPr/>
            </a:pPr>
            <a:endParaRPr lang="zh-CN" altLang="en-US" sz="2400" kern="0">
              <a:solidFill>
                <a:srgbClr val="00206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0D73EBAA-5BED-42D6-BED0-DA504500BC5B}"/>
              </a:ext>
            </a:extLst>
          </p:cNvPr>
          <p:cNvSpPr txBox="1"/>
          <p:nvPr/>
        </p:nvSpPr>
        <p:spPr>
          <a:xfrm>
            <a:off x="5482875" y="3847481"/>
            <a:ext cx="1290320" cy="378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LOOP</a:t>
            </a:r>
          </a:p>
        </p:txBody>
      </p:sp>
      <p:sp>
        <p:nvSpPr>
          <p:cNvPr id="10" name="稻壳儿原创设计师【幻雨工作室】_1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6B82795-4100-42C5-98AB-36C06ED933E6}"/>
              </a:ext>
            </a:extLst>
          </p:cNvPr>
          <p:cNvSpPr/>
          <p:nvPr/>
        </p:nvSpPr>
        <p:spPr>
          <a:xfrm>
            <a:off x="8219260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chemeClr val="accent1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申请与授权</a:t>
            </a:r>
          </a:p>
          <a:p>
            <a:pPr>
              <a:lnSpc>
                <a:spcPct val="150000"/>
              </a:lnSpc>
            </a:pPr>
            <a:r>
              <a:rPr lang="zh-CN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606030504020204" pitchFamily="34" charset="0"/>
                <a:cs typeface="Arial" panose="020B0604020202020204" pitchFamily="34" charset="0"/>
              </a:rPr>
              <a:t>牵头方提出需求，在目录中匹配医院；数字合约固化人员、期限、工具、输出要求与责任边界。</a:t>
            </a:r>
          </a:p>
        </p:txBody>
      </p:sp>
      <p:sp>
        <p:nvSpPr>
          <p:cNvPr id="11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0538D9A8-2FC5-4107-8A7B-E1D62E41FDB0}"/>
              </a:ext>
            </a:extLst>
          </p:cNvPr>
          <p:cNvSpPr/>
          <p:nvPr/>
        </p:nvSpPr>
        <p:spPr>
          <a:xfrm>
            <a:off x="8219260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chemeClr val="accent1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审查与交付</a:t>
            </a:r>
          </a:p>
          <a:p>
            <a:pPr>
              <a:lnSpc>
                <a:spcPct val="150000"/>
              </a:lnSpc>
            </a:pPr>
            <a:r>
              <a:rPr lang="zh-CN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606030504020204" pitchFamily="34" charset="0"/>
                <a:cs typeface="Arial" panose="020B0604020202020204" pitchFamily="34" charset="0"/>
              </a:rPr>
              <a:t>结果经风险披露审查后才能导出；仅合规汇总结果上浮，支撑跨机构联合研究与真实世界研究。</a:t>
            </a: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DAA2FB0-0963-4A6F-88DC-3962BD5B5E7C}"/>
              </a:ext>
            </a:extLst>
          </p:cNvPr>
          <p:cNvSpPr/>
          <p:nvPr/>
        </p:nvSpPr>
        <p:spPr>
          <a:xfrm>
            <a:off x="1109049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zh-CN" sz="2000" dirty="0">
                <a:solidFill>
                  <a:schemeClr val="accent1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接入与发布</a:t>
            </a:r>
          </a:p>
          <a:p>
            <a:pPr algn="r">
              <a:lnSpc>
                <a:spcPct val="150000"/>
              </a:lnSpc>
            </a:pPr>
            <a:r>
              <a:rPr lang="zh-CN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606030504020204" pitchFamily="34" charset="0"/>
                <a:cs typeface="Arial" panose="020B0604020202020204" pitchFamily="34" charset="0"/>
              </a:rPr>
              <a:t>医院通过连接器接入，只发布脱敏目录，不上传病人原始数据；原始数据留在本地 TRE 受控工作区。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2B14BEE-68BF-4DFD-BFE2-7DDFF7EA07F6}"/>
              </a:ext>
            </a:extLst>
          </p:cNvPr>
          <p:cNvSpPr/>
          <p:nvPr/>
        </p:nvSpPr>
        <p:spPr>
          <a:xfrm>
            <a:off x="1109049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zh-CN" sz="2000" dirty="0">
                <a:solidFill>
                  <a:schemeClr val="accent1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可信计算</a:t>
            </a:r>
          </a:p>
          <a:p>
            <a:pPr algn="r">
              <a:lnSpc>
                <a:spcPct val="150000"/>
              </a:lnSpc>
            </a:pPr>
            <a:r>
              <a:rPr lang="zh-CN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606030504020204" pitchFamily="34" charset="0"/>
                <a:cs typeface="Arial" panose="020B0604020202020204" pitchFamily="34" charset="0"/>
              </a:rPr>
              <a:t>数据不出院，在本院 TRE 完成分析与训练；平台统一管理身份、项目、任务与审计。</a:t>
            </a:r>
          </a:p>
        </p:txBody>
      </p:sp>
    </p:spTree>
    <p:extLst>
      <p:ext uri="{BB962C8B-B14F-4D97-AF65-F5344CB8AC3E}">
        <p14:creationId xmlns:p14="http://schemas.microsoft.com/office/powerpoint/2010/main" val="2152458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融合与实践 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Practice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0570A5AC-9D0A-43FD-BE1F-66834878845E}"/>
              </a:ext>
            </a:extLst>
          </p:cNvPr>
          <p:cNvSpPr/>
          <p:nvPr/>
        </p:nvSpPr>
        <p:spPr>
          <a:xfrm>
            <a:off x="7901993" y="1776945"/>
            <a:ext cx="2678806" cy="1635617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4E87AFDF-7F80-49E8-9158-532FC776D0F6}"/>
              </a:ext>
            </a:extLst>
          </p:cNvPr>
          <p:cNvSpPr/>
          <p:nvPr/>
        </p:nvSpPr>
        <p:spPr>
          <a:xfrm>
            <a:off x="7901993" y="3412563"/>
            <a:ext cx="2678806" cy="4765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zh-CN" dirty="0">
                <a:solidFill>
                  <a:schemeClr val="bg1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统一授权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稻壳儿搜索【幻雨工作室】_7">
            <a:extLst>
              <a:ext uri="{FF2B5EF4-FFF2-40B4-BE49-F238E27FC236}">
                <a16:creationId xmlns:a16="http://schemas.microsoft.com/office/drawing/2014/main" id="{6622E2A0-B8A3-4BFA-9879-C899726ACE2C}"/>
              </a:ext>
            </a:extLst>
          </p:cNvPr>
          <p:cNvSpPr/>
          <p:nvPr/>
        </p:nvSpPr>
        <p:spPr>
          <a:xfrm>
            <a:off x="1611201" y="1776945"/>
            <a:ext cx="5989730" cy="21121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E5811B4-3B7F-4AB8-9251-80B156F3B91D}"/>
              </a:ext>
            </a:extLst>
          </p:cNvPr>
          <p:cNvSpPr/>
          <p:nvPr/>
        </p:nvSpPr>
        <p:spPr>
          <a:xfrm>
            <a:off x="2060292" y="2085491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商保直付：统一授权，理赔提速</a:t>
            </a:r>
          </a:p>
          <a:p>
            <a:pPr>
              <a:lnSpc>
                <a:spcPct val="150000"/>
              </a:lnSpc>
            </a:pPr>
            <a:r>
              <a:rPr 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微软雅黑" panose="020B0606030504020204" pitchFamily="34" charset="0"/>
                <a:cs typeface="Arial" panose="020B0604020202020204" pitchFamily="34" charset="0"/>
              </a:rPr>
              <a:t>深圳依托数据交易所可信数据空间与统一授权平台，在挂号与理赔两端建立双重个人授权，拉通医院 HIS、卫健委平台与保险公司；覆盖就诊 300 万人、住院 14 万人，门诊平均理赔 28 分钟、住院最快 2 小时，保司降本 50%。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搜索【幻雨工作室】_10">
            <a:extLst>
              <a:ext uri="{FF2B5EF4-FFF2-40B4-BE49-F238E27FC236}">
                <a16:creationId xmlns:a16="http://schemas.microsoft.com/office/drawing/2014/main" id="{6C15D546-61D4-4623-A330-796A236166DB}"/>
              </a:ext>
            </a:extLst>
          </p:cNvPr>
          <p:cNvSpPr/>
          <p:nvPr/>
        </p:nvSpPr>
        <p:spPr>
          <a:xfrm flipH="1">
            <a:off x="1611201" y="4106057"/>
            <a:ext cx="2678806" cy="1635617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稻壳儿搜索【幻雨工作室】_11">
            <a:extLst>
              <a:ext uri="{FF2B5EF4-FFF2-40B4-BE49-F238E27FC236}">
                <a16:creationId xmlns:a16="http://schemas.microsoft.com/office/drawing/2014/main" id="{98C90AC5-0301-4589-9703-47FBF6D91A2D}"/>
              </a:ext>
            </a:extLst>
          </p:cNvPr>
          <p:cNvSpPr/>
          <p:nvPr/>
        </p:nvSpPr>
        <p:spPr>
          <a:xfrm flipH="1">
            <a:off x="1611201" y="5741675"/>
            <a:ext cx="2678806" cy="476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密文建模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稻壳儿搜索【幻雨工作室】_7">
            <a:extLst>
              <a:ext uri="{FF2B5EF4-FFF2-40B4-BE49-F238E27FC236}">
                <a16:creationId xmlns:a16="http://schemas.microsoft.com/office/drawing/2014/main" id="{9AA00493-47FB-44B8-802E-869B831598D6}"/>
              </a:ext>
            </a:extLst>
          </p:cNvPr>
          <p:cNvSpPr/>
          <p:nvPr/>
        </p:nvSpPr>
        <p:spPr>
          <a:xfrm flipH="1">
            <a:off x="4591069" y="4106057"/>
            <a:ext cx="5989730" cy="2112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D0C383D-5FC0-4834-8152-BFA43E48379A}"/>
              </a:ext>
            </a:extLst>
          </p:cNvPr>
          <p:cNvSpPr/>
          <p:nvPr/>
        </p:nvSpPr>
        <p:spPr>
          <a:xfrm flipH="1">
            <a:off x="5040161" y="4490370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密文诊断：多院联合建模</a:t>
            </a:r>
          </a:p>
          <a:p>
            <a:pPr>
              <a:lnSpc>
                <a:spcPct val="150000"/>
              </a:lnSpc>
            </a:pPr>
            <a:r>
              <a:rPr 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606030504020204" pitchFamily="34" charset="0"/>
                <a:cs typeface="Arial" panose="020B0604020202020204" pitchFamily="34" charset="0"/>
              </a:rPr>
              <a:t>医院 A、B、C 接入，原始数据留在本院加密；密文进入隐私计算环境，多方安全融合、联合建模，支撑心脏病风险预测、基层诊疗与真实世界研究。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572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指标与展望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Outlook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3080B17D-7B9E-4E74-8486-2A34C0687BB3}"/>
              </a:ext>
            </a:extLst>
          </p:cNvPr>
          <p:cNvSpPr/>
          <p:nvPr/>
        </p:nvSpPr>
        <p:spPr>
          <a:xfrm>
            <a:off x="1374662" y="2231646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BA49B73B-B32A-477B-9EEA-6660F6A8B181}"/>
              </a:ext>
            </a:extLst>
          </p:cNvPr>
          <p:cNvSpPr/>
          <p:nvPr/>
        </p:nvSpPr>
        <p:spPr>
          <a:xfrm>
            <a:off x="6670553" y="2231646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7303DF73-D386-4535-AADC-993B5E70333F}"/>
              </a:ext>
            </a:extLst>
          </p:cNvPr>
          <p:cNvSpPr/>
          <p:nvPr/>
        </p:nvSpPr>
        <p:spPr>
          <a:xfrm>
            <a:off x="1374662" y="4690174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757AF709-70DE-4CF9-B3CF-44F17B540D7F}"/>
              </a:ext>
            </a:extLst>
          </p:cNvPr>
          <p:cNvSpPr/>
          <p:nvPr/>
        </p:nvSpPr>
        <p:spPr>
          <a:xfrm>
            <a:off x="6670553" y="4690174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6AF91386-7442-4C8B-9CC3-7C1BEADCA927}"/>
              </a:ext>
            </a:extLst>
          </p:cNvPr>
          <p:cNvSpPr txBox="1">
            <a:spLocks/>
          </p:cNvSpPr>
          <p:nvPr/>
        </p:nvSpPr>
        <p:spPr>
          <a:xfrm>
            <a:off x="1704200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1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1009BF9B-5760-4926-A266-E432DE247AD3}"/>
              </a:ext>
            </a:extLst>
          </p:cNvPr>
          <p:cNvSpPr txBox="1">
            <a:spLocks/>
          </p:cNvSpPr>
          <p:nvPr/>
        </p:nvSpPr>
        <p:spPr>
          <a:xfrm>
            <a:off x="7000091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2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0" name="稻壳儿原创设计师【幻雨工作室】_10">
            <a:extLst>
              <a:ext uri="{FF2B5EF4-FFF2-40B4-BE49-F238E27FC236}">
                <a16:creationId xmlns:a16="http://schemas.microsoft.com/office/drawing/2014/main" id="{D40FD20E-1B71-4F57-A46A-73AE4FB82506}"/>
              </a:ext>
            </a:extLst>
          </p:cNvPr>
          <p:cNvSpPr txBox="1">
            <a:spLocks/>
          </p:cNvSpPr>
          <p:nvPr/>
        </p:nvSpPr>
        <p:spPr>
          <a:xfrm>
            <a:off x="1704200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3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1" name="稻壳儿原创设计师【幻雨工作室】_11">
            <a:extLst>
              <a:ext uri="{FF2B5EF4-FFF2-40B4-BE49-F238E27FC236}">
                <a16:creationId xmlns:a16="http://schemas.microsoft.com/office/drawing/2014/main" id="{78BD647D-AC47-4B4B-87E7-A7D92F6621AE}"/>
              </a:ext>
            </a:extLst>
          </p:cNvPr>
          <p:cNvSpPr txBox="1">
            <a:spLocks/>
          </p:cNvSpPr>
          <p:nvPr/>
        </p:nvSpPr>
        <p:spPr>
          <a:xfrm>
            <a:off x="7000091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4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A380945-EBEA-419C-9A48-2B8A4D236984}"/>
              </a:ext>
            </a:extLst>
          </p:cNvPr>
          <p:cNvSpPr/>
          <p:nvPr/>
        </p:nvSpPr>
        <p:spPr>
          <a:xfrm>
            <a:off x="7994072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82–133%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606030504020204" pitchFamily="34" charset="0"/>
                <a:cs typeface="Arial" panose="020B0604020202020204" pitchFamily="34" charset="0"/>
              </a:rPr>
              <a:t>跨数据集、任务与模型规模，综合效果达成度 82%–133%；多任务与预训练语料达 108.2%。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BC99380-6022-472A-BBC6-F182C8FC8D32}"/>
              </a:ext>
            </a:extLst>
          </p:cNvPr>
          <p:cNvSpPr/>
          <p:nvPr/>
        </p:nvSpPr>
        <p:spPr>
          <a:xfrm>
            <a:off x="7994072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606030504020204" pitchFamily="34" charset="0"/>
                <a:cs typeface="Arial" panose="020B0604020202020204" pitchFamily="34" charset="0"/>
              </a:rPr>
              <a:t>合规共享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606030504020204" pitchFamily="34" charset="0"/>
                <a:cs typeface="Arial" panose="020B0604020202020204" pitchFamily="34" charset="0"/>
              </a:rPr>
              <a:t>任务跨境分发、结果受控回传；只共享经审查的合规结果，连成大湾区科研网。</a:t>
            </a:r>
          </a:p>
        </p:txBody>
      </p:sp>
      <p:sp>
        <p:nvSpPr>
          <p:cNvPr id="14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DC7A08F-24BF-4781-B36F-B6F3F5A537A2}"/>
              </a:ext>
            </a:extLst>
          </p:cNvPr>
          <p:cNvSpPr/>
          <p:nvPr/>
        </p:nvSpPr>
        <p:spPr>
          <a:xfrm>
            <a:off x="2698181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92.85%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606030504020204" pitchFamily="34" charset="0"/>
                <a:cs typeface="Arial" panose="020B0604020202020204" pitchFamily="34" charset="0"/>
              </a:rPr>
              <a:t>中文医疗对话 medical_zh：数据不合并、本地训练再融合，达到全量合并效果的 92.85%；14B/8B/4B 模型达 108%–133%。</a:t>
            </a:r>
          </a:p>
        </p:txBody>
      </p:sp>
      <p:sp>
        <p:nvSpPr>
          <p:cNvPr id="15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7C55F7B0-C7A3-4581-B4A9-7AC3A1D27612}"/>
              </a:ext>
            </a:extLst>
          </p:cNvPr>
          <p:cNvSpPr/>
          <p:nvPr/>
        </p:nvSpPr>
        <p:spPr>
          <a:xfrm>
            <a:off x="2698181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606030504020204" pitchFamily="34" charset="0"/>
                <a:cs typeface="Arial" panose="020B0604020202020204" pitchFamily="34" charset="0"/>
              </a:rPr>
              <a:t>跨境互认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606030504020204" pitchFamily="34" charset="0"/>
                <a:cs typeface="Arial" panose="020B0604020202020204" pitchFamily="34" charset="0"/>
              </a:rPr>
              <a:t>内地、港澳与海外机构身份互认、规则互认；原始数据各自留在本地，不跨境搬运。</a:t>
            </a:r>
          </a:p>
        </p:txBody>
      </p:sp>
    </p:spTree>
    <p:extLst>
      <p:ext uri="{BB962C8B-B14F-4D97-AF65-F5344CB8AC3E}">
        <p14:creationId xmlns:p14="http://schemas.microsoft.com/office/powerpoint/2010/main" val="1157939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价值闭环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Value anchors</a:t>
            </a: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6A3C9DE7-5AC9-4129-85AA-5F5BD456E7BE}"/>
              </a:ext>
            </a:extLst>
          </p:cNvPr>
          <p:cNvSpPr>
            <a:spLocks/>
          </p:cNvSpPr>
          <p:nvPr/>
        </p:nvSpPr>
        <p:spPr bwMode="auto">
          <a:xfrm>
            <a:off x="937579" y="2557702"/>
            <a:ext cx="9237294" cy="3530596"/>
          </a:xfrm>
          <a:custGeom>
            <a:avLst/>
            <a:gdLst/>
            <a:ahLst/>
            <a:cxnLst>
              <a:cxn ang="0">
                <a:pos x="1548" y="674"/>
              </a:cxn>
              <a:cxn ang="0">
                <a:pos x="1577" y="645"/>
              </a:cxn>
              <a:cxn ang="0">
                <a:pos x="1735" y="724"/>
              </a:cxn>
              <a:cxn ang="0">
                <a:pos x="1437" y="784"/>
              </a:cxn>
              <a:cxn ang="0">
                <a:pos x="1474" y="748"/>
              </a:cxn>
              <a:cxn ang="0">
                <a:pos x="1328" y="742"/>
              </a:cxn>
              <a:cxn ang="0">
                <a:pos x="930" y="692"/>
              </a:cxn>
              <a:cxn ang="0">
                <a:pos x="571" y="498"/>
              </a:cxn>
              <a:cxn ang="0">
                <a:pos x="702" y="361"/>
              </a:cxn>
              <a:cxn ang="0">
                <a:pos x="948" y="236"/>
              </a:cxn>
              <a:cxn ang="0">
                <a:pos x="0" y="0"/>
              </a:cxn>
              <a:cxn ang="0">
                <a:pos x="993" y="243"/>
              </a:cxn>
              <a:cxn ang="0">
                <a:pos x="777" y="359"/>
              </a:cxn>
              <a:cxn ang="0">
                <a:pos x="678" y="520"/>
              </a:cxn>
              <a:cxn ang="0">
                <a:pos x="1328" y="670"/>
              </a:cxn>
              <a:cxn ang="0">
                <a:pos x="1548" y="674"/>
              </a:cxn>
            </a:cxnLst>
            <a:rect l="0" t="0" r="r" b="b"/>
            <a:pathLst>
              <a:path w="1735" h="784">
                <a:moveTo>
                  <a:pt x="1548" y="674"/>
                </a:moveTo>
                <a:cubicBezTo>
                  <a:pt x="1577" y="645"/>
                  <a:pt x="1577" y="645"/>
                  <a:pt x="1577" y="645"/>
                </a:cubicBezTo>
                <a:cubicBezTo>
                  <a:pt x="1735" y="724"/>
                  <a:pt x="1735" y="724"/>
                  <a:pt x="1735" y="724"/>
                </a:cubicBezTo>
                <a:cubicBezTo>
                  <a:pt x="1437" y="784"/>
                  <a:pt x="1437" y="784"/>
                  <a:pt x="1437" y="784"/>
                </a:cubicBezTo>
                <a:cubicBezTo>
                  <a:pt x="1474" y="748"/>
                  <a:pt x="1474" y="748"/>
                  <a:pt x="1474" y="748"/>
                </a:cubicBezTo>
                <a:cubicBezTo>
                  <a:pt x="1425" y="747"/>
                  <a:pt x="1376" y="745"/>
                  <a:pt x="1328" y="742"/>
                </a:cubicBezTo>
                <a:cubicBezTo>
                  <a:pt x="1190" y="733"/>
                  <a:pt x="1058" y="716"/>
                  <a:pt x="930" y="692"/>
                </a:cubicBezTo>
                <a:cubicBezTo>
                  <a:pt x="698" y="635"/>
                  <a:pt x="578" y="571"/>
                  <a:pt x="571" y="498"/>
                </a:cubicBezTo>
                <a:cubicBezTo>
                  <a:pt x="562" y="453"/>
                  <a:pt x="606" y="407"/>
                  <a:pt x="702" y="361"/>
                </a:cubicBezTo>
                <a:cubicBezTo>
                  <a:pt x="824" y="313"/>
                  <a:pt x="906" y="271"/>
                  <a:pt x="948" y="236"/>
                </a:cubicBezTo>
                <a:cubicBezTo>
                  <a:pt x="1053" y="130"/>
                  <a:pt x="737" y="51"/>
                  <a:pt x="0" y="0"/>
                </a:cubicBezTo>
                <a:cubicBezTo>
                  <a:pt x="754" y="31"/>
                  <a:pt x="1085" y="112"/>
                  <a:pt x="993" y="243"/>
                </a:cubicBezTo>
                <a:cubicBezTo>
                  <a:pt x="968" y="274"/>
                  <a:pt x="896" y="312"/>
                  <a:pt x="777" y="359"/>
                </a:cubicBezTo>
                <a:cubicBezTo>
                  <a:pt x="664" y="409"/>
                  <a:pt x="631" y="463"/>
                  <a:pt x="678" y="520"/>
                </a:cubicBezTo>
                <a:cubicBezTo>
                  <a:pt x="761" y="606"/>
                  <a:pt x="977" y="656"/>
                  <a:pt x="1328" y="670"/>
                </a:cubicBezTo>
                <a:cubicBezTo>
                  <a:pt x="1396" y="673"/>
                  <a:pt x="1470" y="674"/>
                  <a:pt x="1548" y="674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lIns="121682" tIns="60841" rIns="121682" bIns="60841"/>
          <a:lstStyle/>
          <a:p>
            <a:pPr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85EA6C08-D2C4-4309-9AC1-7AEE84F29A1B}"/>
              </a:ext>
            </a:extLst>
          </p:cNvPr>
          <p:cNvSpPr/>
          <p:nvPr/>
        </p:nvSpPr>
        <p:spPr>
          <a:xfrm>
            <a:off x="7587605" y="4760232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903FB831-686F-46B6-8D4F-5D577AE82AC3}"/>
              </a:ext>
            </a:extLst>
          </p:cNvPr>
          <p:cNvSpPr/>
          <p:nvPr/>
        </p:nvSpPr>
        <p:spPr>
          <a:xfrm>
            <a:off x="7463778" y="5983026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D52BDC23-5F98-448C-A97D-B0567327BC09}"/>
              </a:ext>
            </a:extLst>
          </p:cNvPr>
          <p:cNvSpPr/>
          <p:nvPr/>
        </p:nvSpPr>
        <p:spPr>
          <a:xfrm>
            <a:off x="7538074" y="4760232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稻壳儿原创设计师【幻雨工作室】_8">
            <a:extLst>
              <a:ext uri="{FF2B5EF4-FFF2-40B4-BE49-F238E27FC236}">
                <a16:creationId xmlns:a16="http://schemas.microsoft.com/office/drawing/2014/main" id="{2C1FEB88-F9F7-4C5F-AEF1-F423B9243401}"/>
              </a:ext>
            </a:extLst>
          </p:cNvPr>
          <p:cNvSpPr/>
          <p:nvPr/>
        </p:nvSpPr>
        <p:spPr>
          <a:xfrm>
            <a:off x="3911870" y="4038891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5DBB8F8C-9BD3-4748-A0B6-5135F0E99453}"/>
              </a:ext>
            </a:extLst>
          </p:cNvPr>
          <p:cNvSpPr/>
          <p:nvPr/>
        </p:nvSpPr>
        <p:spPr>
          <a:xfrm>
            <a:off x="3788043" y="5261685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648827B0-0BC0-401B-9628-80BF2F646EAC}"/>
              </a:ext>
            </a:extLst>
          </p:cNvPr>
          <p:cNvSpPr/>
          <p:nvPr/>
        </p:nvSpPr>
        <p:spPr>
          <a:xfrm>
            <a:off x="3862339" y="4038891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稻壳儿原创设计师【幻雨工作室】_11">
            <a:extLst>
              <a:ext uri="{FF2B5EF4-FFF2-40B4-BE49-F238E27FC236}">
                <a16:creationId xmlns:a16="http://schemas.microsoft.com/office/drawing/2014/main" id="{261E71DD-AB0E-4DA5-8D5A-9C99AEBCCA00}"/>
              </a:ext>
            </a:extLst>
          </p:cNvPr>
          <p:cNvSpPr/>
          <p:nvPr/>
        </p:nvSpPr>
        <p:spPr>
          <a:xfrm>
            <a:off x="6487039" y="2335195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稻壳儿原创设计师【幻雨工作室】_12">
            <a:extLst>
              <a:ext uri="{FF2B5EF4-FFF2-40B4-BE49-F238E27FC236}">
                <a16:creationId xmlns:a16="http://schemas.microsoft.com/office/drawing/2014/main" id="{20A91E9E-E8BB-4CD5-A505-C8EC3B9182EB}"/>
              </a:ext>
            </a:extLst>
          </p:cNvPr>
          <p:cNvSpPr/>
          <p:nvPr/>
        </p:nvSpPr>
        <p:spPr>
          <a:xfrm>
            <a:off x="6363212" y="3557989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稻壳儿原创设计师【幻雨工作室】_13">
            <a:extLst>
              <a:ext uri="{FF2B5EF4-FFF2-40B4-BE49-F238E27FC236}">
                <a16:creationId xmlns:a16="http://schemas.microsoft.com/office/drawing/2014/main" id="{6DC33A77-DA90-4156-B7B5-995AABCAFE46}"/>
              </a:ext>
            </a:extLst>
          </p:cNvPr>
          <p:cNvSpPr/>
          <p:nvPr/>
        </p:nvSpPr>
        <p:spPr>
          <a:xfrm>
            <a:off x="6437508" y="2335195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稻壳儿原创设计师【幻雨工作室】_14">
            <a:extLst>
              <a:ext uri="{FF2B5EF4-FFF2-40B4-BE49-F238E27FC236}">
                <a16:creationId xmlns:a16="http://schemas.microsoft.com/office/drawing/2014/main" id="{C3C8560A-041E-466F-8B3D-5CA3EE2C5EA8}"/>
              </a:ext>
            </a:extLst>
          </p:cNvPr>
          <p:cNvSpPr/>
          <p:nvPr/>
        </p:nvSpPr>
        <p:spPr>
          <a:xfrm>
            <a:off x="2743377" y="1909157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稻壳儿原创设计师【幻雨工作室】_15">
            <a:extLst>
              <a:ext uri="{FF2B5EF4-FFF2-40B4-BE49-F238E27FC236}">
                <a16:creationId xmlns:a16="http://schemas.microsoft.com/office/drawing/2014/main" id="{6CA8B467-9375-4E95-AA62-839A8647704D}"/>
              </a:ext>
            </a:extLst>
          </p:cNvPr>
          <p:cNvSpPr/>
          <p:nvPr/>
        </p:nvSpPr>
        <p:spPr>
          <a:xfrm>
            <a:off x="2619550" y="3131951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稻壳儿原创设计师【幻雨工作室】_16">
            <a:extLst>
              <a:ext uri="{FF2B5EF4-FFF2-40B4-BE49-F238E27FC236}">
                <a16:creationId xmlns:a16="http://schemas.microsoft.com/office/drawing/2014/main" id="{C334E7BA-71E2-4D62-8AB2-662D604892D0}"/>
              </a:ext>
            </a:extLst>
          </p:cNvPr>
          <p:cNvSpPr/>
          <p:nvPr/>
        </p:nvSpPr>
        <p:spPr>
          <a:xfrm>
            <a:off x="2693846" y="1909157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稻壳儿原创设计师【幻雨工作室】_17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BDBFAE53-9E75-4214-9DCB-9C736AE8E08F}"/>
              </a:ext>
            </a:extLst>
          </p:cNvPr>
          <p:cNvSpPr/>
          <p:nvPr/>
        </p:nvSpPr>
        <p:spPr>
          <a:xfrm>
            <a:off x="1527547" y="4202847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可管控</a:t>
            </a:r>
          </a:p>
          <a:p>
            <a:pPr>
              <a:lnSpc>
                <a:spcPct val="150000"/>
              </a:lnSpc>
            </a:pPr>
            <a:r>
              <a:rPr 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606030504020204" pitchFamily="34" charset="0"/>
                <a:cs typeface="Arial" panose="020B0604020202020204" pitchFamily="34" charset="0"/>
              </a:rPr>
              <a:t>合约锁定人员、期限与次数。</a:t>
            </a:r>
          </a:p>
        </p:txBody>
      </p:sp>
      <p:sp>
        <p:nvSpPr>
          <p:cNvPr id="19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34F2C9D-C912-44EB-89B4-8C19D9D3E3DC}"/>
              </a:ext>
            </a:extLst>
          </p:cNvPr>
          <p:cNvSpPr/>
          <p:nvPr/>
        </p:nvSpPr>
        <p:spPr>
          <a:xfrm>
            <a:off x="3702461" y="1454300"/>
            <a:ext cx="2710281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数据在本地</a:t>
            </a:r>
          </a:p>
          <a:p>
            <a:pPr>
              <a:lnSpc>
                <a:spcPct val="150000"/>
              </a:lnSpc>
            </a:pPr>
            <a:r>
              <a:rPr 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606030504020204" pitchFamily="34" charset="0"/>
                <a:cs typeface="Arial" panose="020B0604020202020204" pitchFamily="34" charset="0"/>
              </a:rPr>
              <a:t>原始数据 100% 留在医院与机构本地，数据主权属地化，核心资产不被拷走。</a:t>
            </a:r>
          </a:p>
        </p:txBody>
      </p:sp>
      <p:sp>
        <p:nvSpPr>
          <p:cNvPr id="20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8373F3B-77E8-45A8-9CDA-5D04D24D63C7}"/>
              </a:ext>
            </a:extLst>
          </p:cNvPr>
          <p:cNvSpPr/>
          <p:nvPr/>
        </p:nvSpPr>
        <p:spPr>
          <a:xfrm>
            <a:off x="7258988" y="2222373"/>
            <a:ext cx="2773589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隐私保护</a:t>
            </a:r>
          </a:p>
          <a:p>
            <a:pPr>
              <a:lnSpc>
                <a:spcPct val="150000"/>
              </a:lnSpc>
            </a:pPr>
            <a:r>
              <a:rPr 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606030504020204" pitchFamily="34" charset="0"/>
                <a:cs typeface="Arial" panose="020B0604020202020204" pitchFamily="34" charset="0"/>
              </a:rPr>
              <a:t>全栈隐私内生：沙箱隔离、加密像素流、隐私计算，可用不可见、终端不落地。</a:t>
            </a:r>
          </a:p>
        </p:txBody>
      </p:sp>
      <p:sp>
        <p:nvSpPr>
          <p:cNvPr id="2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B9D2A2B-7460-4952-9A3A-2E4A3F8DAAC5}"/>
              </a:ext>
            </a:extLst>
          </p:cNvPr>
          <p:cNvSpPr/>
          <p:nvPr/>
        </p:nvSpPr>
        <p:spPr>
          <a:xfrm>
            <a:off x="8437096" y="4186056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能做大科研</a:t>
            </a:r>
          </a:p>
          <a:p>
            <a:pPr>
              <a:lnSpc>
                <a:spcPct val="150000"/>
              </a:lnSpc>
            </a:pPr>
            <a:r>
              <a:rPr 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606030504020204" pitchFamily="34" charset="0"/>
                <a:cs typeface="Arial" panose="020B0604020202020204" pitchFamily="34" charset="0"/>
              </a:rPr>
              <a:t>跨域协同大科研：多中心联合分析、真实世界研究，连接国家级、国际级科研网络。</a:t>
            </a:r>
          </a:p>
        </p:txBody>
      </p:sp>
    </p:spTree>
    <p:extLst>
      <p:ext uri="{BB962C8B-B14F-4D97-AF65-F5344CB8AC3E}">
        <p14:creationId xmlns:p14="http://schemas.microsoft.com/office/powerpoint/2010/main" val="2049316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10094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THANK YOU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经典行书简" panose="02010609010101010101" pitchFamily="49" charset="-122"/>
              </a:rPr>
              <a:t>李化名·敬上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309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经典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5275"/>
      </a:accent1>
      <a:accent2>
        <a:srgbClr val="485275"/>
      </a:accent2>
      <a:accent3>
        <a:srgbClr val="485275"/>
      </a:accent3>
      <a:accent4>
        <a:srgbClr val="485275"/>
      </a:accent4>
      <a:accent5>
        <a:srgbClr val="485275"/>
      </a:accent5>
      <a:accent6>
        <a:srgbClr val="485275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3680</Words>
  <Application>Microsoft Office PowerPoint</Application>
  <PresentationFormat>宽屏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等线</vt:lpstr>
      <vt:lpstr>等线 Light</vt:lpstr>
      <vt:lpstr>微软雅黑</vt:lpstr>
      <vt:lpstr>微软雅黑 Light</vt:lpstr>
      <vt:lpstr>Arial</vt:lpstr>
      <vt:lpstr>Arial Rounded MT Bold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TREMAC与可信数据空间技术融合探索</dc:title>
  <dc:subject>从可信研究环境到可信科研协同网络</dc:subject>
  <dc:creator>中国电子云 李化名</dc:creator>
  <cp:keywords>TREMAC, 可信数据空间, TDS, 隐私计算, 医疗科研</cp:keywords>
  <dc:description>使用 minimal-business-summary 模板生成；逐字稿已写入演讲者备注。</dc:description>
  <cp:lastModifiedBy>祖天 夏</cp:lastModifiedBy>
  <cp:revision>16</cp:revision>
  <dcterms:created xsi:type="dcterms:W3CDTF">2020-05-18T03:48:39Z</dcterms:created>
  <dcterms:modified xsi:type="dcterms:W3CDTF">2026-10-21T12:04:24Z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  <property fmtid="{D5CDD505-2E9C-101B-9397-08002B2CF9AE}" pid="3" name="KSOTemplateUUID">
    <vt:lpwstr>v1.0_mb_gAoP81zLHtv9kWQ9r7oE8w==</vt:lpwstr>
  </property>
</Properties>
</file>
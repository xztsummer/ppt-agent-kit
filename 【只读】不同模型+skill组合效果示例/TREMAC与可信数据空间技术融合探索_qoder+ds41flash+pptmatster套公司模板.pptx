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  <p:sldMasterId id="2147483649" r:id="rId18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  <Relationship Id="rId18" Type="http://schemas.openxmlformats.org/officeDocument/2006/relationships/slideMaster" Target="slideMasters/slideMaster2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各位领导、各位专家，大家下午好！我是中国电子云的李化名，非常荣幸向各位做一次汇报与分享。</a:t>
            </a:r>
          </a:p>
          <a:p>
            <a:pPr/>
            <a:endParaRPr lang="zh-CN" dirty="0"/>
          </a:p>
          <a:p>
            <a:pPr/>
            <a:r>
              <a:rPr lang="zh-CN" dirty="0"/>
              <a:t>前面有专家介绍了 TRE 在国外的应用；国内面向数据流通利用，也有自己的技术路线——可信数据空间。</a:t>
            </a:r>
          </a:p>
          <a:p>
            <a:pPr/>
            <a:endParaRPr lang="zh-CN" dirty="0"/>
          </a:p>
          <a:p>
            <a:pPr/>
            <a:r>
              <a:rPr lang="zh-CN" dirty="0"/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>
            <a:pPr/>
            <a:endParaRPr lang="zh-CN" dirty="0"/>
          </a:p>
          <a:p>
            <a:pPr/>
            <a:r>
              <a:rPr lang="zh-CN" dirty="0"/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“可信研究环境”，走向跨机构的“可信科研协同网络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先看一眼国家大势。很多专家会问：医疗数据安全管得这么严，我们搞跨院协同合规吗？</a:t>
            </a:r>
          </a:p>
          <a:p>
            <a:pPr/>
            <a:endParaRPr lang="zh-CN" dirty="0"/>
          </a:p>
          <a:p>
            <a:pPr/>
            <a:r>
              <a:rPr lang="zh-CN" dirty="0"/>
              <a:t>请看这张政策脉络图。从顶层的“数据二十条”——数据领域的宪法，到国家数据局的《国家数据基础设施建设指引》和《可信数据空间发展行动计划》，国家已明确把“可信数据空间”定为核心技术路线。信号很清楚：不是让大家冒着违规风险“私下拷硬盘”，而是用国家标准的可信数据基础设施，既守住安全红线，又名正言顺地支撑科研与临床创新。</a:t>
            </a:r>
          </a:p>
          <a:p>
            <a:pPr/>
            <a:endParaRPr lang="zh-CN" dirty="0"/>
          </a:p>
          <a:p>
            <a:pPr/>
            <a:r>
              <a:rPr lang="zh-CN" dirty="0"/>
              <a:t>那什么是可信数据空间？打个比方，就是一张“有严格门禁、有统一规则、还能自动记账的数据流通高速路网”，有三个核心能力：</a:t>
            </a:r>
          </a:p>
          <a:p>
            <a:pPr/>
            <a:endParaRPr lang="zh-CN" dirty="0"/>
          </a:p>
          <a:p>
            <a:pPr/>
            <a:r>
              <a:rPr lang="zh-CN" dirty="0"/>
              <a:t>一是可信管控：靠共识规则、数字合约和使用控制，让医院对自己的数据有绝对控制权；</a:t>
            </a:r>
          </a:p>
          <a:p>
            <a:pPr/>
            <a:endParaRPr lang="zh-CN" dirty="0"/>
          </a:p>
          <a:p>
            <a:pPr/>
            <a:r>
              <a:rPr lang="zh-CN" dirty="0"/>
              <a:t>二是资源交互：用标准连接器把数据孤岛连成网——但连网绝不等于搬空医院的库房；</a:t>
            </a:r>
          </a:p>
          <a:p>
            <a:pPr/>
            <a:endParaRPr lang="zh-CN" dirty="0"/>
          </a:p>
          <a:p>
            <a:pPr/>
            <a:r>
              <a:rPr lang="zh-CN" dirty="0"/>
              <a:t>三是价值共创：医院、高校、实验室、药企和算法团队协同做科研，成果按贡献清清楚楚分配权益。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再看今天的两位主角：TRE，可信研究环境；TDS，可信数据空间。它们以前沿两条线各自演进。</a:t>
            </a:r>
          </a:p>
          <a:p>
            <a:pPr/>
            <a:endParaRPr lang="zh-CN" dirty="0"/>
          </a:p>
          <a:p>
            <a:pPr/>
            <a:r>
              <a:rPr lang="zh-CN" dirty="0"/>
              <a:t>左边 TRE，各位在国际顶刊里经常看到：最早像医院自建的“全封闭安全实验室”，做隔离计算和成果审核；后来走向云化 AI 训练；今天单靠一家样本不够用了，正在走向“联邦化”，多个节点互联做跨机构联合分析。右边 TDS，从早期的数据目录共享，到 2024 年的可信数据空间，再到 2025 年跨空间的“身份互认、规则互认、跨域协作”。</a:t>
            </a:r>
          </a:p>
          <a:p>
            <a:pPr/>
            <a:endParaRPr lang="zh-CN" dirty="0"/>
          </a:p>
          <a:p>
            <a:pPr/>
            <a:r>
              <a:rPr lang="zh-CN" dirty="0"/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>
            <a:pPr/>
            <a:endParaRPr lang="zh-CN" dirty="0"/>
          </a:p>
          <a:p>
            <a:pPr/>
            <a:r>
              <a:rPr lang="zh-CN" dirty="0"/>
              <a:t>那已经有 TRE，为什么还要融合可信数据空间？两者都有可信身份、细粒度授权和隐私保护的基础，但能力层级不同：</a:t>
            </a:r>
          </a:p>
          <a:p>
            <a:pPr/>
            <a:endParaRPr lang="zh-CN" dirty="0"/>
          </a:p>
          <a:p>
            <a:pPr/>
            <a:r>
              <a:rPr lang="zh-CN" dirty="0"/>
              <a:t>TRE 管环境、研究、计算、输出，解决“敏感数据怎么算”——遵循国际五安全原则，原始病历死死留在环境内，研究员在虚拟桌面里算完，只能导出经审查的统计表、图表或模型参数，连一个病人的明细都带不走；</a:t>
            </a:r>
          </a:p>
          <a:p>
            <a:pPr/>
            <a:endParaRPr lang="zh-CN" dirty="0"/>
          </a:p>
          <a:p>
            <a:pPr/>
            <a:r>
              <a:rPr lang="zh-CN" dirty="0"/>
              <a:t>可信数据空间管连接、规则、流通、价值，解决“数据怎么流通”——十几家医院各有一间保密实验室，怎么连起来？怎么签联合研究合约？怎么监管履约、分配收益？</a:t>
            </a:r>
          </a:p>
          <a:p>
            <a:pPr/>
            <a:endParaRPr lang="zh-CN" dirty="0"/>
          </a:p>
          <a:p>
            <a:pPr/>
            <a:r>
              <a:rPr lang="zh-CN" dirty="0"/>
              <a:t>两者一组合，就从“单点的安全研究环境”升级成“跨机构的科研协作网络”。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融合之后，发起一项多中心科研分几步？我们总结了“五步闭环”：</a:t>
            </a:r>
          </a:p>
          <a:p>
            <a:pPr/>
            <a:endParaRPr lang="zh-CN" dirty="0"/>
          </a:p>
          <a:p>
            <a:pPr/>
            <a:r>
              <a:rPr lang="zh-CN" dirty="0"/>
              <a:t>第一步，主体接入与资源发布：医院通过连接器接入，不上传任何病人原始数据，只发布一条目录——“我院有 5000 例某呼吸疾病脱敏队列数据，可用于科研”；</a:t>
            </a:r>
          </a:p>
          <a:p>
            <a:pPr/>
            <a:endParaRPr lang="zh-CN" dirty="0"/>
          </a:p>
          <a:p>
            <a:pPr/>
            <a:r>
              <a:rPr lang="zh-CN" dirty="0"/>
              <a:t>第二步，项目申请与供需匹配：课题牵头方提出需求，在目录里匹配到合适的几家医院；</a:t>
            </a:r>
          </a:p>
          <a:p>
            <a:pPr/>
            <a:endParaRPr lang="zh-CN" dirty="0"/>
          </a:p>
          <a:p>
            <a:pPr/>
            <a:r>
              <a:rPr lang="zh-CN" dirty="0"/>
              <a:t>第三步，规则约定与授权：签署“数字合约”，允许哪几个人、什么期限、用什么工具、输出什么要求、责任边界，全部写成系统强制执行的规则；</a:t>
            </a:r>
          </a:p>
          <a:p>
            <a:pPr/>
            <a:endParaRPr lang="zh-CN" dirty="0"/>
          </a:p>
          <a:p>
            <a:pPr/>
            <a:r>
              <a:rPr lang="zh-CN" dirty="0"/>
              <a:t>第四步，进入 TRE 开展计算：数据不脱离医院控制，研究人员在受控环境做分析、训练与验证；</a:t>
            </a:r>
          </a:p>
          <a:p>
            <a:pPr/>
            <a:endParaRPr lang="zh-CN" dirty="0"/>
          </a:p>
          <a:p>
            <a:pPr/>
            <a:r>
              <a:rPr lang="zh-CN" dirty="0"/>
              <a:t>第五步，输出审查与成果交付：结果经风险披露审查才能导出；全程履约存证、计量、评价，作为收益与成果分配的依据。</a:t>
            </a:r>
          </a:p>
          <a:p>
            <a:pPr/>
            <a:endParaRPr lang="zh-CN" dirty="0"/>
          </a:p>
          <a:p>
            <a:pPr/>
            <a:r>
              <a:rPr lang="zh-CN" dirty="0"/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的受控工作区做本地计算，经输出审查后，只有合规的汇总结果往上走。中间层是可信数据空间协同服务平台，用“机构接入连接器 + 中心服务平台”把身份、目录、项目、授权、任务、审计全部管起来。</a:t>
            </a:r>
          </a:p>
          <a:p>
            <a:pPr/>
            <a:endParaRPr lang="zh-CN" dirty="0"/>
          </a:p>
          <a:p>
            <a:pPr/>
            <a:r>
              <a:rPr lang="zh-CN" dirty="0"/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要支撑这套闭环，需要五项关键技术，我用五个关键词概括：认得准、找得到、管得住、送不出、算得了。这一页先讲前三项。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第一，融合身份认证——认得准：把权威 CA 数字证书和区块链分布式身份（DID）结合，做到“权威签发、链上存证、跨域互认”。过去 10 家医院协同就有 10 套账号体系，重复登录、重复认证；现在患者、医生和机构统一身份认证一次、所有机构互认，既免去重复建号，又严防冒名调阅，打通“数据敢于供得出”的第一道信任门槛。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第二，智能检索推荐——找得到：A 医院写“慢阻肺”、B 医院写“COPD”，关键词搜半天也匹配不上。我们把大模型 RAG 检索增强生成和医学知识图谱结合，医生用自然语言输入“COPD + 肺功能下降 + 近 3 年”，系统直接推荐匹配的脱敏病例集。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数字合约与使用控制——管得住：这是可信数据空间的核心。过去签完纸质协议，对方用了几次、有没有超期乱用，医院很难实时掌握。现在把规则写进区块链数字合约，配合使用控制引擎：药企申请某批脱敏数据，系统严格按“仅限研究用途、限 100 次调用”自动控量，“付没付钱、能不能用、用多少次”全部变成机器执行的铁律。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后两项技术，解决“数据进来以后”的安全问题。</a:t>
            </a:r>
          </a:p>
          <a:p>
            <a:pPr/>
            <a:endParaRPr lang="zh-CN" dirty="0"/>
          </a:p>
          <a:p>
            <a:pPr/>
            <a:r>
              <a:rPr lang="zh-CN" dirty="0"/>
              <a:t>第四，安全数据交付——送不出：权限批了，研究人员进来分析住院病历，怎么防止复制走、U 盘拷走、截屏流出去？我们用“云桌面 + 数据沙箱”双重隔离：沙箱在底层用容器、虚拟化和硬件隔离（如 Intel SGX）保护数据处理，云桌面在前端控制访问会话。真实数据只在服务端运行，传到研究员屏幕上的只是一串加密的“画面像素流”——禁止复制粘贴、U 盘自动禁用、截屏自带溯源水印，做到“可用不可见、终端不落地”，一条原始数据都带不出医院。</a:t>
            </a:r>
          </a:p>
          <a:p>
            <a:pPr/>
            <a:endParaRPr lang="zh-CN" dirty="0"/>
          </a:p>
          <a:p>
            <a:pPr/>
            <a:r>
              <a:rPr lang="zh-CN" dirty="0"/>
              <a:t>第五，安全数据计算——算得了：如果多家医院的数据连进同一个沙箱都不允许，怎么一起算？这就用隐私保护计算：联邦学习、多方安全计算、差分隐私和同态加密。比如联合训练“肺癌早期筛查 AI 模型”：一家样本太少，模型泛化差、容易看走眼；集中训练又有极大隐私风险。现在各家 CT 影像和病历不出本院，只交换加密后的模型参数，实现“数据不动模型动”。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讲到这儿，搞医疗 AI 的专家一定会问最灵魂的问题：数据留在本地、只传参数合练，模型会变笨吗？比得上把所有数据堆在一起练吗？</a:t>
            </a:r>
          </a:p>
          <a:p>
            <a:pPr/>
            <a:endParaRPr lang="zh-CN" dirty="0"/>
          </a:p>
          <a:p>
            <a:pPr/>
            <a:r>
              <a:rPr lang="zh-CN" dirty="0"/>
              <a:t>为此我们研发了“异步本地更新的模型融合技术”：A、B 两家医院各自用私域临床数据在本地训练模型副本，数据完全不互通；再通过“梯度融合器”定期把两边学到的本地梯度同步融合，升级成全局行业模型——数据不出域，价值可流转，模型共同成长。</a:t>
            </a:r>
          </a:p>
          <a:p>
            <a:pPr/>
            <a:endParaRPr lang="zh-CN" dirty="0"/>
          </a:p>
          <a:p>
            <a:pPr/>
            <a:r>
              <a:rPr lang="zh-CN" dirty="0"/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>
            <a:pPr/>
            <a:endParaRPr lang="zh-CN" dirty="0"/>
          </a:p>
          <a:p>
            <a:pPr/>
            <a:r>
              <a:rPr lang="zh-CN" dirty="0"/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>
            <a:pPr/>
            <a:endParaRPr lang="zh-CN" dirty="0"/>
          </a:p>
          <a:p>
            <a:pPr/>
            <a:r>
              <a:rPr lang="zh-CN" dirty="0"/>
              <a:t>综合来看，效果达成度在 82% 到 133% 之间。数据留在本地，不仅安全合规，效果也完全能支撑顶尖的大科研！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接下来汇报两个已经跑通的标杆案例，都建在深圳数据基础设施与可信数据空间之上。</a:t>
            </a:r>
          </a:p>
          <a:p>
            <a:pPr/>
            <a:endParaRPr lang="zh-CN" dirty="0"/>
          </a:p>
          <a:p>
            <a:pPr/>
            <a:r>
              <a:rPr lang="zh-CN" dirty="0"/>
              <a:t>第一个，统一授权推动个人医疗数据合规流通——“商保理赔”。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HIS、卫健委人口健康平台与保险公司，并按“准许成本 + 合理收益”为医院构建定价与收益分配机制。</a:t>
            </a:r>
          </a:p>
          <a:p>
            <a:pPr/>
            <a:endParaRPr lang="zh-CN" dirty="0"/>
          </a:p>
          <a:p>
            <a:pPr/>
            <a:r>
              <a:rPr lang="zh-CN" dirty="0"/>
              <a:t>据公开报道，南山区通过公共数据授权运营，联合微信、微保落成深圳首个“商保直付”通道：覆盖公立医院就诊人群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  <a:p>
            <a:pPr/>
            <a:endParaRPr lang="zh-CN" dirty="0"/>
          </a:p>
          <a:p>
            <a:pPr/>
            <a:r>
              <a:rPr lang="zh-CN" dirty="0"/>
              <a:t>第二个，“心脏病 AI 密文风险诊断模型”。针对多院数据难共享、安全风险高、基层诊断能力不均、真实世界研究难开展四大痛点：医院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再往前看一步：我们不仅要在国内医院之间协同，更要跟港澳、跟国际顶尖科研机构做跨境联合研究，而数据出境管得更严，怎么办？</a:t>
            </a:r>
          </a:p>
          <a:p>
            <a:pPr/>
            <a:endParaRPr lang="zh-CN" dirty="0"/>
          </a:p>
          <a:p>
            <a:pPr/>
            <a:r>
              <a:rPr lang="zh-CN" dirty="0"/>
              <a:t>“TREMAC + 可信数据空间”天生就是破解跨境医工科研难题的金钥匙。国际上广泛使用 TRE 标准，国内正在推广可信数据空间标准。用这套融合架构，内地数据留在内地机房，港澳和海外数据留在当地，不做敏感的原始数据跨境搬运，只做“跨境身份互认、规则互认、任务跨境分发、合规结果跨境共享”，就能在符合国家数据出境安全监管的前提下，把大湾区乃至全球的医疗科研网络连成一体！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各位领导、各位专家：TREMAC 与可信数据空间的融合，归根结底是给实验室和医院打造一套“既能干得成大事，又能睡得着觉”的科研基座——</a:t>
            </a:r>
          </a:p>
          <a:p>
            <a:pPr/>
            <a:endParaRPr lang="zh-CN" dirty="0"/>
          </a:p>
          <a:p>
            <a:pPr/>
            <a:r>
              <a:rPr lang="zh-CN" dirty="0"/>
              <a:t>第一，数据稳稳留在本地，守住各家的核心资产；</a:t>
            </a:r>
          </a:p>
          <a:p>
            <a:pPr/>
            <a:endParaRPr lang="zh-CN" dirty="0"/>
          </a:p>
          <a:p>
            <a:pPr/>
            <a:r>
              <a:rPr lang="zh-CN" dirty="0"/>
              <a:t>第二，患者隐私全栈保护，不触碰法律与伦理红线；</a:t>
            </a:r>
          </a:p>
          <a:p>
            <a:pPr/>
            <a:endParaRPr lang="zh-CN" dirty="0"/>
          </a:p>
          <a:p>
            <a:pPr/>
            <a:r>
              <a:rPr lang="zh-CN" dirty="0"/>
              <a:t>第三，每一次数据使用清晰可控，数据持有方握着总开关；</a:t>
            </a:r>
          </a:p>
          <a:p>
            <a:pPr/>
            <a:endParaRPr lang="zh-CN" dirty="0"/>
          </a:p>
          <a:p>
            <a:pPr/>
            <a:r>
              <a:rPr lang="zh-CN" dirty="0"/>
              <a:t>最终，把各家医院和科研机构连接成网，一起做出具有国际影响力的大科研、大成果！</a:t>
            </a:r>
          </a:p>
          <a:p>
            <a:pPr/>
            <a:endParaRPr lang="zh-CN" dirty="0"/>
          </a:p>
          <a:p>
            <a:pPr/>
            <a:r>
              <a:rPr lang="zh-CN" dirty="0"/>
              <a:t>我的汇报就到这里，谢谢大家！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1047877f5c4e399.png"/>
  <Relationship Id="rId3" Type="http://schemas.openxmlformats.org/officeDocument/2006/relationships/image" Target="../media/image_0b7b144af6e64cd4.pn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2.xml"/>  <Relationship Id="rId2" Type="http://schemas.openxmlformats.org/officeDocument/2006/relationships/image" Target="../media/image_c6fa728138859012.pn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a3139547ff5d6bbb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-主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llustration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262" y="1044607"/>
            <a:ext cx="6668738" cy="4881277"/>
          </a:xfrm>
          <a:prstGeom prst="rect">
            <a:avLst/>
          </a:prstGeom>
        </p:spPr>
      </p:pic>
      <p:pic>
        <p:nvPicPr>
          <p:cNvPr id="3" name="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8" y="596932"/>
            <a:ext cx="3027045" cy="667988"/>
          </a:xfrm>
          <a:prstGeom prst="rect">
            <a:avLst/>
          </a:prstGeom>
        </p:spPr>
      </p:pic>
      <p:sp>
        <p:nvSpPr>
          <p:cNvPr id="4" name="cover-title-slot Placeholder"/>
          <p:cNvSpPr>
            <a:spLocks noGrp="1"/>
          </p:cNvSpPr>
          <p:nvPr>
            <p:ph type="title"/>
          </p:nvPr>
        </p:nvSpPr>
        <p:spPr>
          <a:xfrm>
            <a:off x="695325" y="2009775"/>
            <a:ext cx="8258175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400" lang="zh-CN"/>
            </a:lvl1pPr>
          </a:lstStyle>
          <a:p>
            <a:pPr algn="l"/>
            <a:r>
              <a:rPr lang="en-US" sz="5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5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695325" y="3228975"/>
            <a:ext cx="82581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 lang="zh-CN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FFFFFF">
                    <a:alphaMod val="90000"/>
                  </a:srgbClr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zh-CN"/>
          </a:p>
        </p:txBody>
      </p:sp>
      <p:sp>
        <p:nvSpPr>
          <p:cNvPr id="6" name="cover-author-slot Placeholder"/>
          <p:cNvSpPr>
            <a:spLocks noGrp="1"/>
          </p:cNvSpPr>
          <p:nvPr>
            <p:ph type="body" idx="2"/>
          </p:nvPr>
        </p:nvSpPr>
        <p:spPr>
          <a:xfrm>
            <a:off x="695325" y="5095875"/>
            <a:ext cx="82581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 lang="zh-CN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FFFFFF">
                    <a:alphaMod val="92000"/>
                  </a:srgbClr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  <p:sp>
        <p:nvSpPr>
          <p:cNvPr id="7" name="cover-date-slot Placeholder"/>
          <p:cNvSpPr>
            <a:spLocks noGrp="1"/>
          </p:cNvSpPr>
          <p:nvPr>
            <p:ph type="dt" idx="3"/>
          </p:nvPr>
        </p:nvSpPr>
        <p:spPr>
          <a:xfrm>
            <a:off x="695325" y="5438775"/>
            <a:ext cx="82581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120" lang="zh-CN"/>
            </a:lvl1pPr>
          </a:lstStyle>
          <a:p>
            <a:pPr algn="l"/>
            <a:fld id="{91D1CA1A-676C-42A8-ACF6-7EFB5894550E}" type="datetimeFigureOut">
              <a:rPr lang="zh-CN" sz="1120" dirty="0">
                <a:solidFill>
                  <a:srgbClr val="FFFFFF">
                    <a:alphaMod val="70000"/>
                  </a:srgbClr>
                </a:solidFill>
                <a:latin typeface="+mn-lt"/>
                <a:ea typeface="+mn-ea"/>
                <a:cs typeface="+mn-cs"/>
              </a:rPr>
              <a:t>2026 年 10 月　|　广州实验室 × 澳门科技大学</a:t>
            </a:fld>
            <a:endParaRPr lang="zh-CN"/>
          </a:p>
        </p:txBody>
      </p:sp>
    </p:spTree>
    <p:extLst>
      <p:ext uri="{BB962C8B-B14F-4D97-AF65-F5344CB8AC3E}">
        <p14:creationId val="849415637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内容页-自由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title-accent Layout"/>
          <p:cNvSpPr/>
          <p:nvPr/>
        </p:nvSpPr>
        <p:spPr>
          <a:xfrm>
            <a:off x="0" y="361950"/>
            <a:ext cx="309848" cy="323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3" name="content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297" y="290036"/>
            <a:ext cx="1918335" cy="423196"/>
          </a:xfrm>
          <a:prstGeom prst="rect">
            <a:avLst/>
          </a:prstGeom>
        </p:spPr>
      </p:pic>
      <p:sp>
        <p:nvSpPr>
          <p:cNvPr id="4" name="content-header-rule Layout"/>
          <p:cNvSpPr/>
          <p:nvPr/>
        </p:nvSpPr>
        <p:spPr>
          <a:xfrm>
            <a:off x="495300" y="12573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content-title-slot Placeholder"/>
          <p:cNvSpPr>
            <a:spLocks noGrp="1"/>
          </p:cNvSpPr>
          <p:nvPr>
            <p:ph type="title"/>
          </p:nvPr>
        </p:nvSpPr>
        <p:spPr>
          <a:xfrm>
            <a:off x="400050" y="285750"/>
            <a:ext cx="92868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400" lang="zh-CN"/>
            </a:lvl1pPr>
          </a:lstStyle>
          <a:p>
            <a:pPr algn="l"/>
            <a:r>
              <a:rPr lang="en-US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6" name="content-subtitle-slot Placeholder"/>
          <p:cNvSpPr>
            <a:spLocks noGrp="1"/>
          </p:cNvSpPr>
          <p:nvPr>
            <p:ph type="body" idx="1"/>
          </p:nvPr>
        </p:nvSpPr>
        <p:spPr>
          <a:xfrm>
            <a:off x="400050" y="752475"/>
            <a:ext cx="113823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00" lang="zh-CN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  <p:sp>
        <p:nvSpPr>
          <p:cNvPr id="7" name="content-slide-number-slot Placeholder"/>
          <p:cNvSpPr>
            <a:spLocks noGrp="1"/>
          </p:cNvSpPr>
          <p:nvPr>
            <p:ph type="sldNum" idx="3"/>
          </p:nvPr>
        </p:nvSpPr>
        <p:spPr>
          <a:xfrm>
            <a:off x="11563350" y="6496050"/>
            <a:ext cx="457200" cy="261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100" lang="zh-CN"/>
            </a:lvl1pPr>
          </a:lstStyle>
          <a:p>
            <a:pPr algn="r"/>
            <a:fld id="{6725B4B5-6D38-4544-977E-50829667A72E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‹#›</a:t>
            </a:fld>
            <a:endParaRPr lang="zh-CN"/>
          </a:p>
        </p:txBody>
      </p:sp>
    </p:spTree>
    <p:extLst>
      <p:ext uri="{BB962C8B-B14F-4D97-AF65-F5344CB8AC3E}">
        <p14:creationId val="2836592406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261" y="5009102"/>
            <a:ext cx="2677478" cy="590740"/>
          </a:xfrm>
          <a:prstGeom prst="rect">
            <a:avLst/>
          </a:prstGeom>
        </p:spPr>
      </p:pic>
      <p:sp>
        <p:nvSpPr>
          <p:cNvPr id="3" name="ending-title-slot Placeholder"/>
          <p:cNvSpPr>
            <a:spLocks noGrp="1"/>
          </p:cNvSpPr>
          <p:nvPr>
            <p:ph type="title"/>
          </p:nvPr>
        </p:nvSpPr>
        <p:spPr>
          <a:xfrm>
            <a:off x="1819275" y="2524125"/>
            <a:ext cx="8543925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400" lang="zh-CN"/>
            </a:lvl1pPr>
          </a:lstStyle>
          <a:p>
            <a:pPr algn="ctr"/>
            <a:r>
              <a:rPr lang="en-US" sz="5400" b="1" spc="3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4" name="ending-contact-slot Placeholder"/>
          <p:cNvSpPr>
            <a:spLocks noGrp="1"/>
          </p:cNvSpPr>
          <p:nvPr>
            <p:ph type="body" idx="1"/>
          </p:nvPr>
        </p:nvSpPr>
        <p:spPr>
          <a:xfrm>
            <a:off x="3238500" y="58293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zh-CN"/>
            </a:lvl1pPr>
          </a:lstStyle>
          <a:p>
            <a:pPr algn="ctr" marL="0" indent="0">
              <a:buNone/>
            </a:pPr>
            <a:r>
              <a:rPr lang="en-US" sz="1120" dirty="0">
                <a:solidFill>
                  <a:srgbClr val="FFFFFF">
                    <a:alphaMod val="70000"/>
                  </a:srgbClr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</p:spTree>
    <p:extLst>
      <p:ext uri="{BB962C8B-B14F-4D97-AF65-F5344CB8AC3E}">
        <p14:creationId val="2789742829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5ab6d2076446ff09.png"/>
  <Relationship Id="rId14" Type="http://schemas.openxmlformats.org/officeDocument/2006/relationships/slideLayout" Target="../slideLayouts/slideLayout12.xml"/>
  <Relationship Id="rId15" Type="http://schemas.openxmlformats.org/officeDocument/2006/relationships/slideLayout" Target="../slideLayouts/slideLayout14.xml"/>
</Relationships>
</file>

<file path=ppt/slideMasters/_rels/slideMaster2.xml.rels><?xml version='1.0' encoding='UTF-8' standalone='yes'?>
<Relationships xmlns="http://schemas.openxmlformats.org/package/2006/relationships"><Relationship Id="rId12" Type="http://schemas.openxmlformats.org/officeDocument/2006/relationships/theme" Target="../theme/theme3.xml"/>  <Relationship Id="rId13" Type="http://schemas.openxmlformats.org/officeDocument/2006/relationships/slideLayout" Target="../slideLayouts/slideLayout13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中国电子云品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c-master-bg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中国电子云内容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309825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  <Relationship Id="rId5" Type="http://schemas.openxmlformats.org/officeDocument/2006/relationships/notesSlide" Target="../notesSlides/notesSlide1.xml" 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2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3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4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5.xml" 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6.xml" 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7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8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Relationship Id="rId3" Type="http://schemas.openxmlformats.org/officeDocument/2006/relationships/notesSlide" Target="../notesSlides/notesSlide9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4.xml" />
  <Relationship Id="rId4" Type="http://schemas.openxmlformats.org/officeDocument/2006/relationships/notesSlide" Target="../notesSlides/notesSlide10.xml" 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-title-slot Placeholder Carrier"/>
          <p:cNvSpPr txBox="1"/>
          <p:nvPr>
            <p:ph type="title"/>
          </p:nvPr>
        </p:nvSpPr>
        <p:spPr>
          <a:xfrm>
            <a:off x="676275" y="2206625"/>
            <a:ext cx="7949489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TREMAC与可信数据空间</a:t>
            </a:r>
          </a:p>
        </p:txBody>
      </p:sp>
      <p:sp>
        <p:nvSpPr>
          <p:cNvPr id="6" name="cover-subtitle-slot Placeholder Carrier"/>
          <p:cNvSpPr txBox="1"/>
          <p:nvPr>
            <p:ph type="subTitle" idx="1"/>
          </p:nvPr>
        </p:nvSpPr>
        <p:spPr>
          <a:xfrm>
            <a:off x="683133" y="3355975"/>
            <a:ext cx="745540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400" dirty="0">
                <a:solidFill>
                  <a:srgbClr val="FFFFFF">
                    <a:alphaMod val="90000"/>
                  </a:srgbClr>
                </a:solidFill>
                <a:latin typeface="+mn-lt"/>
                <a:ea typeface="+mn-ea"/>
                <a:cs typeface="+mn-cs"/>
              </a:rPr>
              <a:t>技术融合探索：从可信研究环境到可信科研协同网络</a:t>
            </a:r>
          </a:p>
        </p:txBody>
      </p:sp>
      <p:sp>
        <p:nvSpPr>
          <p:cNvPr id="7" name="cover-author-slot Placeholder Carrier"/>
          <p:cNvSpPr txBox="1"/>
          <p:nvPr>
            <p:ph type="body" idx="2"/>
          </p:nvPr>
        </p:nvSpPr>
        <p:spPr>
          <a:xfrm>
            <a:off x="687705" y="51657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FFFFFF">
                    <a:alphaMod val="92000"/>
                  </a:srgbClr>
                </a:solidFill>
                <a:latin typeface="+mn-lt"/>
                <a:ea typeface="+mn-ea"/>
                <a:cs typeface="+mn-cs"/>
              </a:rPr>
              <a:t>中国电子云　李化名</a:t>
            </a:r>
          </a:p>
        </p:txBody>
      </p:sp>
      <p:sp>
        <p:nvSpPr>
          <p:cNvPr id="8" name="cover-date-slot Placeholder Carrier"/>
          <p:cNvSpPr txBox="1"/>
          <p:nvPr>
            <p:ph type="dt" idx="3"/>
          </p:nvPr>
        </p:nvSpPr>
        <p:spPr>
          <a:xfrm>
            <a:off x="689610" y="5546725"/>
            <a:ext cx="311285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FFF">
                    <a:alphaMod val="70000"/>
                  </a:srgbClr>
                </a:solidFill>
                <a:latin typeface="+mn-lt"/>
                <a:ea typeface="+mn-ea"/>
                <a:cs typeface="+mn-cs"/>
              </a:rPr>
              <a:t>2026 年 10 月　|　广州实验室 × 澳门科技大学</a:t>
            </a:r>
          </a:p>
        </p:txBody>
      </p:sp>
      <p:grpSp>
        <p:nvGrpSpPr>
          <p:cNvPr id="10" name="cover-kicker"/>
          <p:cNvGrpSpPr/>
          <p:nvPr/>
        </p:nvGrpSpPr>
        <p:grpSpPr>
          <a:xfrm>
            <a:off x="689610" y="1498600"/>
            <a:ext cx="3081823" cy="220028"/>
            <a:chOff x="689610" y="1498600"/>
            <a:chExt cx="3081823" cy="220028"/>
          </a:xfrm>
        </p:grpSpPr>
        <p:sp>
          <p:nvSpPr>
            <p:cNvPr id="9" name="TextBox 9"/>
            <p:cNvSpPr txBox="1"/>
            <p:nvPr/>
          </p:nvSpPr>
          <p:spPr>
            <a:xfrm>
              <a:off x="689610" y="1498600"/>
              <a:ext cx="3081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FFFFF">
                      <a:alphaMod val="66000"/>
                    </a:srgbClr>
                  </a:solidFill>
                  <a:latin typeface="+mn-lt"/>
                  <a:ea typeface="+mn-ea"/>
                  <a:cs typeface="+mn-cs"/>
                </a:rPr>
                <a:t>TREMAC × TRUSTED DATA SPACE</a:t>
              </a:r>
            </a:p>
          </p:txBody>
        </p:sp>
      </p:grpSp>
      <p:grpSp>
        <p:nvGrpSpPr>
          <p:cNvPr id="13" name="cover-anchor-line"/>
          <p:cNvGrpSpPr/>
          <p:nvPr/>
        </p:nvGrpSpPr>
        <p:grpSpPr>
          <a:xfrm>
            <a:off x="689610" y="6134100"/>
            <a:ext cx="8263890" cy="327978"/>
            <a:chOff x="689610" y="6134100"/>
            <a:chExt cx="8263890" cy="327978"/>
          </a:xfrm>
        </p:grpSpPr>
        <p:sp>
          <p:nvSpPr>
            <p:cNvPr id="11" name="Line 11"/>
            <p:cNvSpPr/>
            <p:nvPr/>
          </p:nvSpPr>
          <p:spPr>
            <a:xfrm>
              <a:off x="695325" y="6134100"/>
              <a:ext cx="8258175" cy="9525"/>
            </a:xfrm>
            <a:custGeom>
              <a:avLst/>
              <a:gdLst/>
              <a:ahLst/>
              <a:cxnLst/>
              <a:rect l="l" t="t" r="r" b="b"/>
              <a:pathLst>
                <a:path w="8258175" h="9525">
                  <a:moveTo>
                    <a:pt x="0" y="0"/>
                  </a:moveTo>
                  <a:lnTo>
                    <a:pt x="8258175" y="0"/>
                  </a:lnTo>
                </a:path>
              </a:pathLst>
            </a:custGeom>
            <a:noFill/>
            <a:ln w="9525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9610" y="6242050"/>
              <a:ext cx="4818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45" dirty="0">
                  <a:solidFill>
                    <a:srgbClr val="FFFFFF">
                      <a:alphaMod val="86000"/>
                    </a:srgbClr>
                  </a:solidFill>
                  <a:latin typeface="+mn-lt"/>
                  <a:ea typeface="+mn-ea"/>
                  <a:cs typeface="+mn-cs"/>
                </a:rPr>
                <a:t>数据不出域　·　隐私全栈内生　·　使用全程可控　·　跨域联合科研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6163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国家战略：可信数据空间成为核心技术路线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6262621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从顶层制度到数据基础设施，国家已给出数据合规流通的明确答案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2</a:t>
            </a:fld>
          </a:p>
        </p:txBody>
      </p:sp>
      <p:grpSp>
        <p:nvGrpSpPr>
          <p:cNvPr id="26" name="policy-lineage"/>
          <p:cNvGrpSpPr/>
          <p:nvPr/>
        </p:nvGrpSpPr>
        <p:grpSpPr>
          <a:xfrm>
            <a:off x="485394" y="1600200"/>
            <a:ext cx="11217021" cy="1816481"/>
            <a:chOff x="485394" y="1600200"/>
            <a:chExt cx="11217021" cy="1816481"/>
          </a:xfrm>
        </p:grpSpPr>
        <p:sp>
          <p:nvSpPr>
            <p:cNvPr id="9" name="Rectangle 9"/>
            <p:cNvSpPr/>
            <p:nvPr/>
          </p:nvSpPr>
          <p:spPr>
            <a:xfrm>
              <a:off x="495300" y="1600200"/>
              <a:ext cx="266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9585" y="1689100"/>
              <a:ext cx="1302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国家数据政策脉络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0918" y="16891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从制度到设施，再到技术路线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5394" y="19685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880" y="20320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数据二十条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785" y="20701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数据基础制度顶层设计，确立基础制度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89436" y="2070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顶层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95300" y="24003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E8EDF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5394" y="25019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5654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国家数据基础设施建设指引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26035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数据流通利用基础设施化，明确建设方向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9436" y="2603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设施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95300" y="29337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E8EDF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394" y="30353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0988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可信数据空间发展行动计划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99785" y="31369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定为核心技术路线，给出建设路径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9436" y="31369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</p:grpSp>
      <p:grpSp>
        <p:nvGrpSpPr>
          <p:cNvPr id="63" name="capability-cards"/>
          <p:cNvGrpSpPr/>
          <p:nvPr/>
        </p:nvGrpSpPr>
        <p:grpSpPr>
          <a:xfrm>
            <a:off x="489585" y="3498850"/>
            <a:ext cx="11207115" cy="2120900"/>
            <a:chOff x="489585" y="3498850"/>
            <a:chExt cx="11207115" cy="2120900"/>
          </a:xfrm>
        </p:grpSpPr>
        <p:sp>
          <p:nvSpPr>
            <p:cNvPr id="27" name="TextBox 27"/>
            <p:cNvSpPr txBox="1"/>
            <p:nvPr/>
          </p:nvSpPr>
          <p:spPr>
            <a:xfrm>
              <a:off x="489585" y="3498850"/>
              <a:ext cx="2116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可信数据空间的三大核心能力</a:t>
              </a:r>
            </a:p>
          </p:txBody>
        </p:sp>
        <p:grpSp>
          <p:nvGrpSpPr>
            <p:cNvPr id="36" name="capability-trust"/>
            <p:cNvGrpSpPr/>
            <p:nvPr/>
          </p:nvGrpSpPr>
          <p:grpSpPr>
            <a:xfrm>
              <a:off x="495300" y="3810000"/>
              <a:ext cx="3552825" cy="1809750"/>
              <a:chOff x="495300" y="3810000"/>
              <a:chExt cx="3552825" cy="1809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95300" y="3810000"/>
                <a:ext cx="3552825" cy="1809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743551" y="4055269"/>
                <a:ext cx="232508" cy="214312"/>
                <a:chOff x="743551" y="4055269"/>
                <a:chExt cx="232508" cy="214312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743551" y="4055269"/>
                  <a:ext cx="232508" cy="212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08" h="212479">
                      <a:moveTo>
                        <a:pt x="116795" y="212479"/>
                      </a:moveTo>
                      <a:cubicBezTo>
                        <a:pt x="42208" y="189358"/>
                        <a:pt x="0" y="110638"/>
                        <a:pt x="22021" y="35719"/>
                      </a:cubicBezTo>
                      <a:cubicBezTo>
                        <a:pt x="59115" y="37416"/>
                        <a:pt x="95413" y="24605"/>
                        <a:pt x="123224" y="0"/>
                      </a:cubicBezTo>
                      <a:cubicBezTo>
                        <a:pt x="151035" y="24605"/>
                        <a:pt x="187333" y="37416"/>
                        <a:pt x="224427" y="35719"/>
                      </a:cubicBezTo>
                      <a:cubicBezTo>
                        <a:pt x="232508" y="63212"/>
                        <a:pt x="232135" y="92499"/>
                        <a:pt x="223356" y="119777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02494" y="4221956"/>
                  <a:ext cx="7143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47625">
                      <a:moveTo>
                        <a:pt x="0" y="23812"/>
                      </a:moveTo>
                      <a:lnTo>
                        <a:pt x="23812" y="47625"/>
                      </a:lnTo>
                      <a:lnTo>
                        <a:pt x="71438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713994" y="436880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可信管控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18185" y="4794250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共识规则、数字合约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8185" y="5022850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与使用控制，让医院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18185" y="5251450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保有绝对控制权。</a:t>
                </a:r>
              </a:p>
            </p:txBody>
          </p:sp>
        </p:grpSp>
        <p:grpSp>
          <p:nvGrpSpPr>
            <p:cNvPr id="49" name="capability-resource"/>
            <p:cNvGrpSpPr/>
            <p:nvPr/>
          </p:nvGrpSpPr>
          <p:grpSpPr>
            <a:xfrm>
              <a:off x="4319588" y="3810000"/>
              <a:ext cx="3552825" cy="1809750"/>
              <a:chOff x="4319588" y="3810000"/>
              <a:chExt cx="3552825" cy="1809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319588" y="3810000"/>
                <a:ext cx="3552825" cy="1809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583906" y="4055269"/>
                <a:ext cx="214313" cy="214313"/>
                <a:chOff x="4583906" y="4055269"/>
                <a:chExt cx="214313" cy="214313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4598374" y="4162425"/>
                  <a:ext cx="92688" cy="92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88" h="92688">
                      <a:moveTo>
                        <a:pt x="33157" y="0"/>
                      </a:moveTo>
                      <a:lnTo>
                        <a:pt x="92688" y="59531"/>
                      </a:lnTo>
                      <a:lnTo>
                        <a:pt x="74829" y="77391"/>
                      </a:lnTo>
                      <a:cubicBezTo>
                        <a:pt x="64254" y="88315"/>
                        <a:pt x="48611" y="92688"/>
                        <a:pt x="33904" y="88833"/>
                      </a:cubicBezTo>
                      <a:cubicBezTo>
                        <a:pt x="19197" y="84977"/>
                        <a:pt x="7711" y="73492"/>
                        <a:pt x="3856" y="58784"/>
                      </a:cubicBezTo>
                      <a:cubicBezTo>
                        <a:pt x="0" y="44077"/>
                        <a:pt x="4374" y="28434"/>
                        <a:pt x="15298" y="17859"/>
                      </a:cubicBezTo>
                      <a:lnTo>
                        <a:pt x="33157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691062" y="4069737"/>
                  <a:ext cx="92688" cy="92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88" h="92688">
                      <a:moveTo>
                        <a:pt x="59531" y="92688"/>
                      </a:moveTo>
                      <a:lnTo>
                        <a:pt x="0" y="33157"/>
                      </a:lnTo>
                      <a:lnTo>
                        <a:pt x="17859" y="15298"/>
                      </a:lnTo>
                      <a:cubicBezTo>
                        <a:pt x="28434" y="4374"/>
                        <a:pt x="44077" y="0"/>
                        <a:pt x="58784" y="3856"/>
                      </a:cubicBezTo>
                      <a:cubicBezTo>
                        <a:pt x="73492" y="7711"/>
                        <a:pt x="84977" y="19197"/>
                        <a:pt x="88833" y="33904"/>
                      </a:cubicBezTo>
                      <a:cubicBezTo>
                        <a:pt x="92688" y="48611"/>
                        <a:pt x="88315" y="64254"/>
                        <a:pt x="77391" y="74829"/>
                      </a:cubicBezTo>
                      <a:lnTo>
                        <a:pt x="59531" y="92688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4583906" y="4239816"/>
                  <a:ext cx="29766" cy="29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29766">
                      <a:moveTo>
                        <a:pt x="0" y="29766"/>
                      </a:moveTo>
                      <a:lnTo>
                        <a:pt x="29766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768453" y="4055269"/>
                  <a:ext cx="29766" cy="29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29766">
                      <a:moveTo>
                        <a:pt x="0" y="29766"/>
                      </a:moveTo>
                      <a:lnTo>
                        <a:pt x="29766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643438" y="41505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23812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679156" y="4186238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23812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538282" y="436880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资源交互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42472" y="4794250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标准连接器把数据孤岛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42472" y="5022850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连成网；连网绝不等于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542472" y="5251450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搬空医院的库房。</a:t>
                </a:r>
              </a:p>
            </p:txBody>
          </p:sp>
        </p:grpSp>
        <p:grpSp>
          <p:nvGrpSpPr>
            <p:cNvPr id="62" name="capability-value"/>
            <p:cNvGrpSpPr/>
            <p:nvPr/>
          </p:nvGrpSpPr>
          <p:grpSpPr>
            <a:xfrm>
              <a:off x="8143875" y="3810000"/>
              <a:ext cx="3552825" cy="1809750"/>
              <a:chOff x="8143875" y="3810000"/>
              <a:chExt cx="3552825" cy="18097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8143875" y="3810000"/>
                <a:ext cx="3552825" cy="1809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8408194" y="4055269"/>
                <a:ext cx="214312" cy="214312"/>
                <a:chOff x="8408194" y="4055269"/>
                <a:chExt cx="214312" cy="214312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8491538" y="4150519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467725" y="4233862"/>
                  <a:ext cx="95250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35719">
                      <a:moveTo>
                        <a:pt x="0" y="35719"/>
                      </a:move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71438" y="0"/>
                      </a:lnTo>
                      <a:cubicBezTo>
                        <a:pt x="84589" y="0"/>
                        <a:pt x="95250" y="10661"/>
                        <a:pt x="95250" y="23812"/>
                      </a:cubicBezTo>
                      <a:lnTo>
                        <a:pt x="95250" y="35719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551069" y="4055269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574881" y="4138612"/>
                  <a:ext cx="476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5719">
                      <a:moveTo>
                        <a:pt x="0" y="0"/>
                      </a:moveTo>
                      <a:lnTo>
                        <a:pt x="23812" y="0"/>
                      </a:lnTo>
                      <a:cubicBezTo>
                        <a:pt x="36964" y="0"/>
                        <a:pt x="47625" y="10661"/>
                        <a:pt x="47625" y="23812"/>
                      </a:cubicBezTo>
                      <a:lnTo>
                        <a:pt x="47625" y="35719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432006" y="4055269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408194" y="4138612"/>
                  <a:ext cx="476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5719">
                      <a:moveTo>
                        <a:pt x="0" y="35719"/>
                      </a:move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47625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362569" y="436880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价值共创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366760" y="4794250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医院、高校、实验室、药企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366760" y="5022850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与算法团队协同，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366760" y="5251450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按贡献分配权益。</a:t>
                </a:r>
              </a:p>
            </p:txBody>
          </p:sp>
        </p:grpSp>
      </p:grpSp>
      <p:grpSp>
        <p:nvGrpSpPr>
          <p:cNvPr id="66" name="policy-takeaway"/>
          <p:cNvGrpSpPr/>
          <p:nvPr/>
        </p:nvGrpSpPr>
        <p:grpSpPr>
          <a:xfrm>
            <a:off x="495300" y="5867400"/>
            <a:ext cx="5852160" cy="334645"/>
            <a:chOff x="495300" y="5867400"/>
            <a:chExt cx="5852160" cy="334645"/>
          </a:xfrm>
        </p:grpSpPr>
        <p:sp>
          <p:nvSpPr>
            <p:cNvPr id="64" name="Rectangle 64"/>
            <p:cNvSpPr/>
            <p:nvPr/>
          </p:nvSpPr>
          <p:spPr>
            <a:xfrm>
              <a:off x="495300" y="5867400"/>
              <a:ext cx="2857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8180" y="59086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用国家标准的基础设施，既守安全红线，又支撑科研与临床创新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62686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TRE 与 TDS：两条路径在医疗科研场景交汇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6331709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TRE 管“敏感数据怎么算”，TDS 管“数据怎么流通”，能力层级互补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3</a:t>
            </a:fld>
          </a:p>
        </p:txBody>
      </p:sp>
      <p:grpSp>
        <p:nvGrpSpPr>
          <p:cNvPr id="38" name="evolution-lanes"/>
          <p:cNvGrpSpPr/>
          <p:nvPr/>
        </p:nvGrpSpPr>
        <p:grpSpPr>
          <a:xfrm>
            <a:off x="485394" y="1689100"/>
            <a:ext cx="9147924" cy="1934528"/>
            <a:chOff x="485394" y="1689100"/>
            <a:chExt cx="9147924" cy="1934528"/>
          </a:xfrm>
        </p:grpSpPr>
        <p:sp>
          <p:nvSpPr>
            <p:cNvPr id="9" name="TextBox 9"/>
            <p:cNvSpPr txBox="1"/>
            <p:nvPr/>
          </p:nvSpPr>
          <p:spPr>
            <a:xfrm>
              <a:off x="489585" y="1689100"/>
              <a:ext cx="1520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TRE · 可信研究环境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8085" y="1689100"/>
              <a:ext cx="1520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TDS · 可信数据空间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5394" y="20828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21082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封闭安全实验室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585" y="23749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隔离计算，成果审核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5394" y="259715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" y="2622550"/>
              <a:ext cx="11478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云化 AI 训练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585" y="28892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算力上云，弹性训练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5394" y="31115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8680" y="31369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联邦化协作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585" y="34036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多节点互联，跨机构分析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38594" y="20828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0" y="21082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数据目录共享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8085" y="2374900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先让数据“看得见”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8594" y="259715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6180" y="2622550"/>
              <a:ext cx="2097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可信数据空间（2024）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38085" y="28892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数据流通利用基础设施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38594" y="31115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6180" y="3136900"/>
              <a:ext cx="1895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跨空间互认（2025）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38085" y="34036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身份、规则与跨域协作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143500" y="2686050"/>
              <a:ext cx="53340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 flipH="1">
              <a:off x="6515100" y="2686050"/>
              <a:ext cx="41910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Ellipse 31"/>
            <p:cNvSpPr/>
            <p:nvPr/>
          </p:nvSpPr>
          <p:spPr>
            <a:xfrm>
              <a:off x="5753100" y="234315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995988" y="2630488"/>
              <a:ext cx="200026" cy="111125"/>
              <a:chOff x="5995988" y="2630488"/>
              <a:chExt cx="200026" cy="1111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995988" y="2630488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0" y="0"/>
                    </a:moveTo>
                    <a:lnTo>
                      <a:pt x="55563" y="0"/>
                    </a:lnTo>
                    <a:lnTo>
                      <a:pt x="94457" y="55563"/>
                    </a:lnTo>
                    <a:lnTo>
                      <a:pt x="200026" y="55563"/>
                    </a:lnTo>
                  </a:path>
                </a:pathLst>
              </a:custGeom>
              <a:noFill/>
              <a:ln w="16669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95988" y="2686050"/>
                <a:ext cx="94401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94401" h="55563">
                    <a:moveTo>
                      <a:pt x="0" y="55563"/>
                    </a:moveTo>
                    <a:lnTo>
                      <a:pt x="55563" y="55563"/>
                    </a:lnTo>
                    <a:lnTo>
                      <a:pt x="94401" y="0"/>
                    </a:lnTo>
                  </a:path>
                </a:pathLst>
              </a:custGeom>
              <a:noFill/>
              <a:ln w="16669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62676" y="2652713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6669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788736" y="30797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医疗科研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88736" y="32702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场景交汇</a:t>
              </a:r>
            </a:p>
          </p:txBody>
        </p:sp>
      </p:grpSp>
      <p:grpSp>
        <p:nvGrpSpPr>
          <p:cNvPr id="51" name="convergence-outcome"/>
          <p:cNvGrpSpPr/>
          <p:nvPr/>
        </p:nvGrpSpPr>
        <p:grpSpPr>
          <a:xfrm>
            <a:off x="495300" y="3714750"/>
            <a:ext cx="11201400" cy="457200"/>
            <a:chOff x="495300" y="3714750"/>
            <a:chExt cx="11201400" cy="457200"/>
          </a:xfrm>
        </p:grpSpPr>
        <p:sp>
          <p:nvSpPr>
            <p:cNvPr id="39" name="Rectangle 39"/>
            <p:cNvSpPr/>
            <p:nvPr/>
          </p:nvSpPr>
          <p:spPr>
            <a:xfrm>
              <a:off x="495300" y="3714750"/>
              <a:ext cx="112014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3714750"/>
              <a:ext cx="381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7230" y="38322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可信科研协同网络：既保证数据不出域，又能跨机构联合研究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1270456" y="3850481"/>
              <a:ext cx="185737" cy="196056"/>
              <a:chOff x="11270456" y="3850481"/>
              <a:chExt cx="185737" cy="19605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1301412" y="3850481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61912"/>
                    </a:moveTo>
                    <a:cubicBezTo>
                      <a:pt x="0" y="96106"/>
                      <a:pt x="27719" y="123825"/>
                      <a:pt x="61912" y="123825"/>
                    </a:cubicBezTo>
                    <a:cubicBezTo>
                      <a:pt x="96106" y="123825"/>
                      <a:pt x="123825" y="96106"/>
                      <a:pt x="123825" y="61912"/>
                    </a:cubicBezTo>
                    <a:cubicBezTo>
                      <a:pt x="123825" y="27719"/>
                      <a:pt x="96106" y="0"/>
                      <a:pt x="61912" y="0"/>
                    </a:cubicBezTo>
                    <a:cubicBezTo>
                      <a:pt x="27719" y="0"/>
                      <a:pt x="0" y="27719"/>
                      <a:pt x="0" y="61912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363325" y="3850481"/>
                <a:ext cx="20637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123825">
                    <a:moveTo>
                      <a:pt x="0" y="0"/>
                    </a:moveTo>
                    <a:cubicBezTo>
                      <a:pt x="13755" y="3436"/>
                      <a:pt x="20637" y="24074"/>
                      <a:pt x="20637" y="61912"/>
                    </a:cubicBezTo>
                    <a:cubicBezTo>
                      <a:pt x="20637" y="99751"/>
                      <a:pt x="13755" y="120388"/>
                      <a:pt x="0" y="123825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342687" y="3850481"/>
                <a:ext cx="20637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123825">
                    <a:moveTo>
                      <a:pt x="20637" y="0"/>
                    </a:moveTo>
                    <a:cubicBezTo>
                      <a:pt x="6883" y="3436"/>
                      <a:pt x="0" y="24074"/>
                      <a:pt x="0" y="61912"/>
                    </a:cubicBezTo>
                    <a:cubicBezTo>
                      <a:pt x="0" y="99751"/>
                      <a:pt x="6883" y="120388"/>
                      <a:pt x="20637" y="123825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301412" y="3912393"/>
                <a:ext cx="123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525">
                    <a:moveTo>
                      <a:pt x="0" y="0"/>
                    </a:moveTo>
                    <a:lnTo>
                      <a:pt x="123825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270456" y="4025899"/>
                <a:ext cx="7223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9525">
                    <a:moveTo>
                      <a:pt x="0" y="0"/>
                    </a:moveTo>
                    <a:lnTo>
                      <a:pt x="72231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83962" y="4025899"/>
                <a:ext cx="7223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9525">
                    <a:moveTo>
                      <a:pt x="0" y="0"/>
                    </a:moveTo>
                    <a:lnTo>
                      <a:pt x="72231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342687" y="4005262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363325" y="3974306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</p:grpSp>
      </p:grpSp>
      <p:grpSp>
        <p:nvGrpSpPr>
          <p:cNvPr id="69" name="comparison-panels"/>
          <p:cNvGrpSpPr/>
          <p:nvPr/>
        </p:nvGrpSpPr>
        <p:grpSpPr>
          <a:xfrm>
            <a:off x="495300" y="4305300"/>
            <a:ext cx="11201400" cy="1752600"/>
            <a:chOff x="495300" y="4305300"/>
            <a:chExt cx="11201400" cy="1752600"/>
          </a:xfrm>
        </p:grpSpPr>
        <p:sp>
          <p:nvSpPr>
            <p:cNvPr id="52" name="Rectangle 52"/>
            <p:cNvSpPr/>
            <p:nvPr/>
          </p:nvSpPr>
          <p:spPr>
            <a:xfrm>
              <a:off x="495300" y="4305300"/>
              <a:ext cx="53530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180" y="4470400"/>
              <a:ext cx="105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TRE 管什么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129314" y="4508500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解决“敏感数据怎么算”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8180" y="4794250"/>
              <a:ext cx="2362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 · 研究 · 计算 · 输出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0085" y="51371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原始病历死死留在环境内；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0085" y="5365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只导出经审查的统计表、图表、模型参数。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0085" y="57658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遵循国际五安全原则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343650" y="4305300"/>
              <a:ext cx="53530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26530" y="4470400"/>
              <a:ext cx="105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TDS 管什么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28438" y="450850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解决“数据怎么流通”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26530" y="4794250"/>
              <a:ext cx="2362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 · 规则 · 流通 · 价值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28435" y="513715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把十几家医院的保密实验室连起来；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28435" y="53657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签联合研究合约、监管履约、分配收益。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28435" y="5765800"/>
              <a:ext cx="2169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从“单点安全环境”到“协同网络”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096000" y="44386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5924550" y="5076825"/>
              <a:ext cx="342900" cy="34290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87415" y="51371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＋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551688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融合之后怎么跑：五步闭环与三层架构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4754877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原始数据一步不出院门，跨机构科研却高效跑起来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4</a:t>
            </a:fld>
          </a:p>
        </p:txBody>
      </p:sp>
      <p:grpSp>
        <p:nvGrpSpPr>
          <p:cNvPr id="35" name="five-step-loop"/>
          <p:cNvGrpSpPr/>
          <p:nvPr/>
        </p:nvGrpSpPr>
        <p:grpSpPr>
          <a:xfrm>
            <a:off x="489585" y="1651000"/>
            <a:ext cx="11073765" cy="1287462"/>
            <a:chOff x="489585" y="1651000"/>
            <a:chExt cx="11073765" cy="1287462"/>
          </a:xfrm>
        </p:grpSpPr>
        <p:sp>
          <p:nvSpPr>
            <p:cNvPr id="9" name="TextBox 9"/>
            <p:cNvSpPr txBox="1"/>
            <p:nvPr/>
          </p:nvSpPr>
          <p:spPr>
            <a:xfrm>
              <a:off x="489585" y="1651000"/>
              <a:ext cx="1302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科研协作五步闭环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95300" y="2076450"/>
              <a:ext cx="11068050" cy="9525"/>
            </a:xfrm>
            <a:custGeom>
              <a:avLst/>
              <a:gdLst/>
              <a:ahLst/>
              <a:cxnLst/>
              <a:rect l="l" t="t" r="r" b="b"/>
              <a:pathLst>
                <a:path w="11068050" h="9525">
                  <a:moveTo>
                    <a:pt x="0" y="0"/>
                  </a:moveTo>
                  <a:lnTo>
                    <a:pt x="110680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95300" y="1943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0193" y="2009775"/>
              <a:ext cx="7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9585" y="23368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主体接入与资源发布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0538" y="259080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只发布目录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0538" y="27622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不上传原始数据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733675" y="1943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28568" y="2009775"/>
              <a:ext cx="7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7960" y="23368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项目申请与供需匹配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28912" y="259080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在目录中匹配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28912" y="27622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合适的医院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972050" y="1943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66943" y="2009775"/>
              <a:ext cx="7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66335" y="23368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规则约定与授权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67288" y="2565400"/>
              <a:ext cx="9239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人、期限、工具、</a:t>
              </a:r>
              <a:b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输出与责任边界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210425" y="1943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05318" y="2009775"/>
              <a:ext cx="7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4235" y="2336800"/>
              <a:ext cx="129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 TRE 开展计算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15188" y="259080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受控环境分析、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15188" y="27622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训练与验证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448800" y="1943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43693" y="2009775"/>
              <a:ext cx="7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0" y="23368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输出审查与成果交付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53562" y="259080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审查通过才导出；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3562" y="27622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全程履约存证</a:t>
              </a:r>
            </a:p>
          </p:txBody>
        </p:sp>
      </p:grpSp>
      <p:grpSp>
        <p:nvGrpSpPr>
          <p:cNvPr id="82" name="three-layer-architecture"/>
          <p:cNvGrpSpPr/>
          <p:nvPr/>
        </p:nvGrpSpPr>
        <p:grpSpPr>
          <a:xfrm>
            <a:off x="489585" y="3276600"/>
            <a:ext cx="11207115" cy="2899728"/>
            <a:chOff x="489585" y="3276600"/>
            <a:chExt cx="11207115" cy="2899728"/>
          </a:xfrm>
        </p:grpSpPr>
        <p:sp>
          <p:nvSpPr>
            <p:cNvPr id="36" name="Rectangle 36"/>
            <p:cNvSpPr/>
            <p:nvPr/>
          </p:nvSpPr>
          <p:spPr>
            <a:xfrm>
              <a:off x="495300" y="3276600"/>
              <a:ext cx="112014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180" y="34036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跨机构联合研究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51785" y="3441700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多中心真实世界研究 · 联合建模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37964" y="340995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成果层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5300" y="3943350"/>
              <a:ext cx="112014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180" y="40703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可信数据空间协同服务平台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52035" y="4108450"/>
              <a:ext cx="268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身份 · 目录 · 项目 · 授权 · 任务 · 审计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37964" y="40767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协同层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171700" y="4419600"/>
              <a:ext cx="1" cy="238125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5" name="Line 45"/>
            <p:cNvSpPr/>
            <p:nvPr/>
          </p:nvSpPr>
          <p:spPr>
            <a:xfrm>
              <a:off x="5867400" y="4419600"/>
              <a:ext cx="1" cy="238125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9563100" y="4419600"/>
              <a:ext cx="1" cy="238125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0538" y="449580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授权与任务下发</a:t>
              </a:r>
            </a:p>
          </p:txBody>
        </p:sp>
        <p:sp>
          <p:nvSpPr>
            <p:cNvPr id="48" name="Line 48"/>
            <p:cNvSpPr/>
            <p:nvPr/>
          </p:nvSpPr>
          <p:spPr>
            <a:xfrm flipV="1">
              <a:off x="11468100" y="3762375"/>
              <a:ext cx="1" cy="180975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96716" y="376237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仅合规汇总结果上浮</a:t>
              </a:r>
            </a:p>
          </p:txBody>
        </p:sp>
        <p:grpSp>
          <p:nvGrpSpPr>
            <p:cNvPr id="60" name="institution-a"/>
            <p:cNvGrpSpPr/>
            <p:nvPr/>
          </p:nvGrpSpPr>
          <p:grpSpPr>
            <a:xfrm>
              <a:off x="495300" y="4705350"/>
              <a:ext cx="3352800" cy="1200150"/>
              <a:chOff x="495300" y="4705350"/>
              <a:chExt cx="3352800" cy="12001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95300" y="4705350"/>
                <a:ext cx="3352800" cy="12001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714375" y="4905375"/>
                <a:ext cx="171450" cy="180975"/>
                <a:chOff x="714375" y="4905375"/>
                <a:chExt cx="171450" cy="180975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14375" y="50768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33425" y="49053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71525" y="50196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571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571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81050" y="49625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00100" y="49434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78180" y="5175250"/>
                <a:ext cx="6095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医院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80085" y="54800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临床诊疗数据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81038" y="571500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原始数据 100% 留本地</a:t>
                </a:r>
              </a:p>
            </p:txBody>
          </p:sp>
        </p:grpSp>
        <p:grpSp>
          <p:nvGrpSpPr>
            <p:cNvPr id="71" name="institution-b"/>
            <p:cNvGrpSpPr/>
            <p:nvPr/>
          </p:nvGrpSpPr>
          <p:grpSpPr>
            <a:xfrm>
              <a:off x="4191000" y="4705350"/>
              <a:ext cx="3352800" cy="1200150"/>
              <a:chOff x="4191000" y="4705350"/>
              <a:chExt cx="3352800" cy="12001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4191000" y="4705350"/>
                <a:ext cx="3352800" cy="12001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4410075" y="4905375"/>
                <a:ext cx="171450" cy="180975"/>
                <a:chOff x="4410075" y="4905375"/>
                <a:chExt cx="171450" cy="180975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4410075" y="50768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429125" y="49053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4467225" y="50196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571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571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476750" y="49625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495800" y="49434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4373880" y="5175250"/>
                <a:ext cx="6095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 医院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375785" y="54800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医学影像数据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4376738" y="571500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原始数据 100% 留本地</a:t>
                </a:r>
              </a:p>
            </p:txBody>
          </p:sp>
        </p:grpSp>
        <p:grpSp>
          <p:nvGrpSpPr>
            <p:cNvPr id="80" name="institution-c"/>
            <p:cNvGrpSpPr/>
            <p:nvPr/>
          </p:nvGrpSpPr>
          <p:grpSpPr>
            <a:xfrm>
              <a:off x="7886700" y="4705350"/>
              <a:ext cx="3810000" cy="1200150"/>
              <a:chOff x="7886700" y="4705350"/>
              <a:chExt cx="3810000" cy="12001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7886700" y="4705350"/>
                <a:ext cx="3810000" cy="12001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8115300" y="4905375"/>
                <a:ext cx="152400" cy="171450"/>
                <a:chOff x="8115300" y="4905375"/>
                <a:chExt cx="152400" cy="171450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8115300" y="490537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8115300" y="49339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8115300" y="49911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8069580" y="5175250"/>
                <a:ext cx="10133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 科研机构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071485" y="54800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科研队列数据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072438" y="571500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原始数据 100% 留本地</a:t>
                </a:r>
              </a:p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489585" y="5956300"/>
              <a:ext cx="5688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资源跨机构发现　·　授权按项目协同　·　计算在可信环境执行　·　结果经审查共享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694331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五项关键技术（上）：认得准 · 找得到 · 管得住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4130241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把“敢共享”从承诺，变成可执行的系统规则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5</a:t>
            </a:fld>
          </a:p>
        </p:txBody>
      </p:sp>
      <p:grpSp>
        <p:nvGrpSpPr>
          <p:cNvPr id="19" name="tech-keyword-nav"/>
          <p:cNvGrpSpPr/>
          <p:nvPr/>
        </p:nvGrpSpPr>
        <p:grpSpPr>
          <a:xfrm>
            <a:off x="489585" y="1600200"/>
            <a:ext cx="11207115" cy="347028"/>
            <a:chOff x="489585" y="1600200"/>
            <a:chExt cx="11207115" cy="347028"/>
          </a:xfrm>
        </p:grpSpPr>
        <p:sp>
          <p:nvSpPr>
            <p:cNvPr id="9" name="Rectangle 9"/>
            <p:cNvSpPr/>
            <p:nvPr/>
          </p:nvSpPr>
          <p:spPr>
            <a:xfrm>
              <a:off x="495300" y="1600200"/>
              <a:ext cx="21145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9585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认得准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762250" y="1600200"/>
              <a:ext cx="21145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56535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找得到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038725" y="1600200"/>
              <a:ext cx="21145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33010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管得住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305675" y="1600200"/>
              <a:ext cx="2114550" cy="285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99960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6ADBB"/>
                  </a:solidFill>
                  <a:latin typeface="+mn-lt"/>
                  <a:ea typeface="+mn-ea"/>
                  <a:cs typeface="+mn-cs"/>
                </a:rPr>
                <a:t>04　送不出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82150" y="1600200"/>
              <a:ext cx="2114550" cy="285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6435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6ADBB"/>
                  </a:solidFill>
                  <a:latin typeface="+mn-lt"/>
                  <a:ea typeface="+mn-ea"/>
                  <a:cs typeface="+mn-cs"/>
                </a:rPr>
                <a:t>05　算得了</a:t>
              </a:r>
            </a:p>
          </p:txBody>
        </p:sp>
      </p:grpSp>
      <p:grpSp>
        <p:nvGrpSpPr>
          <p:cNvPr id="69" name="tech-cards-trust"/>
          <p:cNvGrpSpPr/>
          <p:nvPr/>
        </p:nvGrpSpPr>
        <p:grpSpPr>
          <a:xfrm>
            <a:off x="495300" y="2247900"/>
            <a:ext cx="11201400" cy="3467100"/>
            <a:chOff x="495300" y="2247900"/>
            <a:chExt cx="11201400" cy="3467100"/>
          </a:xfrm>
        </p:grpSpPr>
        <p:grpSp>
          <p:nvGrpSpPr>
            <p:cNvPr id="38" name="tech-card-identity"/>
            <p:cNvGrpSpPr/>
            <p:nvPr/>
          </p:nvGrpSpPr>
          <p:grpSpPr>
            <a:xfrm>
              <a:off x="495300" y="2247900"/>
              <a:ext cx="3552825" cy="3467100"/>
              <a:chOff x="495300" y="2247900"/>
              <a:chExt cx="3552825" cy="34671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95300" y="2247900"/>
                <a:ext cx="3552825" cy="34671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95300" y="2247900"/>
                <a:ext cx="6096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18185" y="2470150"/>
                <a:ext cx="1791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3580463" y="2431482"/>
                <a:ext cx="200962" cy="218850"/>
                <a:chOff x="3580463" y="2431482"/>
                <a:chExt cx="200962" cy="2188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3758803" y="2483644"/>
                  <a:ext cx="2262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22" h="107156">
                      <a:moveTo>
                        <a:pt x="0" y="0"/>
                      </a:moveTo>
                      <a:cubicBezTo>
                        <a:pt x="10769" y="17873"/>
                        <a:pt x="15370" y="38789"/>
                        <a:pt x="13097" y="59531"/>
                      </a:cubicBezTo>
                      <a:lnTo>
                        <a:pt x="13097" y="71438"/>
                      </a:lnTo>
                      <a:cubicBezTo>
                        <a:pt x="13083" y="83973"/>
                        <a:pt x="16368" y="96292"/>
                        <a:pt x="22622" y="107156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629025" y="2483644"/>
                  <a:ext cx="119062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30969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lnTo>
                        <a:pt x="95250" y="59531"/>
                      </a:lnTo>
                      <a:cubicBezTo>
                        <a:pt x="95250" y="85293"/>
                        <a:pt x="103606" y="110359"/>
                        <a:pt x="119062" y="130969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676612" y="2531269"/>
                  <a:ext cx="29804" cy="119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04" h="119063">
                      <a:moveTo>
                        <a:pt x="38" y="0"/>
                      </a:moveTo>
                      <a:lnTo>
                        <a:pt x="38" y="23812"/>
                      </a:lnTo>
                      <a:cubicBezTo>
                        <a:pt x="0" y="57857"/>
                        <a:pt x="10388" y="91097"/>
                        <a:pt x="29804" y="119063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629025" y="2578894"/>
                  <a:ext cx="21431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" h="71438">
                      <a:moveTo>
                        <a:pt x="0" y="0"/>
                      </a:moveTo>
                      <a:cubicBezTo>
                        <a:pt x="2913" y="24882"/>
                        <a:pt x="10167" y="49061"/>
                        <a:pt x="21431" y="71438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580463" y="2431482"/>
                  <a:ext cx="143812" cy="195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12" h="195037">
                      <a:moveTo>
                        <a:pt x="11652" y="195037"/>
                      </a:moveTo>
                      <a:cubicBezTo>
                        <a:pt x="3618" y="168013"/>
                        <a:pt x="0" y="139870"/>
                        <a:pt x="937" y="111693"/>
                      </a:cubicBezTo>
                      <a:lnTo>
                        <a:pt x="937" y="99787"/>
                      </a:lnTo>
                      <a:cubicBezTo>
                        <a:pt x="844" y="65711"/>
                        <a:pt x="18961" y="34181"/>
                        <a:pt x="48449" y="17103"/>
                      </a:cubicBezTo>
                      <a:cubicBezTo>
                        <a:pt x="77936" y="25"/>
                        <a:pt x="114301" y="0"/>
                        <a:pt x="143812" y="17038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13994" y="29019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认得准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16280" y="33083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融合身份认证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18185" y="3689350"/>
                <a:ext cx="15833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CA 证书 + 区块链 DID；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18185" y="3917950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权威签发、链上存证、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18185" y="41465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跨域互认。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723900" y="4514850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8EDF7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19138" y="4648200"/>
                <a:ext cx="1306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18185" y="4851400"/>
                <a:ext cx="15794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 家医院 → 1 套身份；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18185" y="5080000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一次认证，全网互认。</a:t>
                </a:r>
              </a:p>
            </p:txBody>
          </p:sp>
        </p:grpSp>
        <p:grpSp>
          <p:nvGrpSpPr>
            <p:cNvPr id="54" name="tech-card-search"/>
            <p:cNvGrpSpPr/>
            <p:nvPr/>
          </p:nvGrpSpPr>
          <p:grpSpPr>
            <a:xfrm>
              <a:off x="4314825" y="2247900"/>
              <a:ext cx="3552825" cy="3467100"/>
              <a:chOff x="4314825" y="2247900"/>
              <a:chExt cx="3552825" cy="34671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4314825" y="2247900"/>
                <a:ext cx="3552825" cy="34671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14825" y="2247900"/>
                <a:ext cx="6096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537710" y="2470150"/>
                <a:ext cx="1791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7389019" y="2436019"/>
                <a:ext cx="214313" cy="214313"/>
                <a:chOff x="7389019" y="2436019"/>
                <a:chExt cx="214313" cy="214313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89019" y="2436019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0" y="83344"/>
                      </a:moveTo>
                      <a:cubicBezTo>
                        <a:pt x="0" y="129373"/>
                        <a:pt x="37314" y="166688"/>
                        <a:pt x="83344" y="166688"/>
                      </a:cubicBezTo>
                      <a:cubicBezTo>
                        <a:pt x="129373" y="166688"/>
                        <a:pt x="166688" y="129373"/>
                        <a:pt x="166688" y="83344"/>
                      </a:cubicBezTo>
                      <a:cubicBezTo>
                        <a:pt x="166688" y="37314"/>
                        <a:pt x="129373" y="0"/>
                        <a:pt x="83344" y="0"/>
                      </a:cubicBezTo>
                      <a:cubicBezTo>
                        <a:pt x="37314" y="0"/>
                        <a:pt x="0" y="37314"/>
                        <a:pt x="0" y="83344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531894" y="25788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714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533519" y="29019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找得到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35805" y="33083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智能检索推荐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37710" y="3689350"/>
                <a:ext cx="20130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大模型 RAG + 医学知识图谱；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537710" y="3917950"/>
                <a:ext cx="16699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自然语言输入，直接找到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537710" y="4146550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匹配的脱敏病例集。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4543425" y="4514850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8EDF7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4538662" y="4648200"/>
                <a:ext cx="1306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例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537710" y="4851400"/>
                <a:ext cx="21497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“COPD + 肺功能下降 + 近 3 年”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537710" y="5080000"/>
                <a:ext cx="10442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→ 匹配脱敏队列</a:t>
                </a:r>
              </a:p>
            </p:txBody>
          </p:sp>
        </p:grpSp>
        <p:grpSp>
          <p:nvGrpSpPr>
            <p:cNvPr id="68" name="tech-card-contract"/>
            <p:cNvGrpSpPr/>
            <p:nvPr/>
          </p:nvGrpSpPr>
          <p:grpSpPr>
            <a:xfrm>
              <a:off x="8143875" y="2247900"/>
              <a:ext cx="3552825" cy="3467100"/>
              <a:chOff x="8143875" y="2247900"/>
              <a:chExt cx="3552825" cy="34671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8143875" y="2247900"/>
                <a:ext cx="3552825" cy="34671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8143875" y="2247900"/>
                <a:ext cx="6096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366760" y="2470150"/>
                <a:ext cx="1791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11218069" y="2471738"/>
                <a:ext cx="214312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36922">
                    <a:moveTo>
                      <a:pt x="0" y="130969"/>
                    </a:moveTo>
                    <a:cubicBezTo>
                      <a:pt x="39684" y="91285"/>
                      <a:pt x="59531" y="59531"/>
                      <a:pt x="59531" y="35719"/>
                    </a:cubicBezTo>
                    <a:cubicBezTo>
                      <a:pt x="59531" y="0"/>
                      <a:pt x="47625" y="0"/>
                      <a:pt x="35719" y="0"/>
                    </a:cubicBezTo>
                    <a:cubicBezTo>
                      <a:pt x="23812" y="0"/>
                      <a:pt x="11525" y="12918"/>
                      <a:pt x="11906" y="35719"/>
                    </a:cubicBezTo>
                    <a:cubicBezTo>
                      <a:pt x="12311" y="60103"/>
                      <a:pt x="31647" y="93786"/>
                      <a:pt x="41672" y="107156"/>
                    </a:cubicBezTo>
                    <a:cubicBezTo>
                      <a:pt x="59531" y="130969"/>
                      <a:pt x="71438" y="136922"/>
                      <a:pt x="83344" y="119062"/>
                    </a:cubicBezTo>
                    <a:lnTo>
                      <a:pt x="107156" y="83344"/>
                    </a:lnTo>
                    <a:cubicBezTo>
                      <a:pt x="111121" y="115098"/>
                      <a:pt x="123027" y="130969"/>
                      <a:pt x="142875" y="130969"/>
                    </a:cubicBezTo>
                    <a:cubicBezTo>
                      <a:pt x="149185" y="130969"/>
                      <a:pt x="174296" y="107156"/>
                      <a:pt x="178594" y="107156"/>
                    </a:cubicBezTo>
                    <a:cubicBezTo>
                      <a:pt x="184749" y="107156"/>
                      <a:pt x="196656" y="115098"/>
                      <a:pt x="214312" y="130969"/>
                    </a:cubicBezTo>
                  </a:path>
                </a:pathLst>
              </a:custGeom>
              <a:noFill/>
              <a:ln w="17859">
                <a:solidFill>
                  <a:schemeClr val="accent1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362569" y="29019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管得住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364855" y="33083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数字合约与使用控制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366760" y="3689350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规则写入区块链数字合约；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366760" y="3917950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使用控制引擎自动执行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366760" y="4146550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用途、次数与期限。</a:t>
                </a: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8372475" y="4514850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8EDF7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367712" y="4648200"/>
                <a:ext cx="1306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例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366760" y="4851400"/>
                <a:ext cx="20318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仅限研究用途 · 限 100 次调用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366760" y="5080000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到期自动失效。</a:t>
                </a:r>
              </a:p>
            </p:txBody>
          </p:sp>
        </p:grp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558392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五项关键技术（下）：送不出 · 算得了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4108701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数据可用不可见，模型在多方之间共同成长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6</a:t>
            </a:fld>
          </a:p>
        </p:txBody>
      </p:sp>
      <p:grpSp>
        <p:nvGrpSpPr>
          <p:cNvPr id="19" name="tech-keyword-nav-lower"/>
          <p:cNvGrpSpPr/>
          <p:nvPr/>
        </p:nvGrpSpPr>
        <p:grpSpPr>
          <a:xfrm>
            <a:off x="489585" y="1600200"/>
            <a:ext cx="11207115" cy="347028"/>
            <a:chOff x="489585" y="1600200"/>
            <a:chExt cx="11207115" cy="347028"/>
          </a:xfrm>
        </p:grpSpPr>
        <p:sp>
          <p:nvSpPr>
            <p:cNvPr id="9" name="Rectangle 9"/>
            <p:cNvSpPr/>
            <p:nvPr/>
          </p:nvSpPr>
          <p:spPr>
            <a:xfrm>
              <a:off x="495300" y="1600200"/>
              <a:ext cx="2114550" cy="285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9585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6ADBB"/>
                  </a:solidFill>
                  <a:latin typeface="+mn-lt"/>
                  <a:ea typeface="+mn-ea"/>
                  <a:cs typeface="+mn-cs"/>
                </a:rPr>
                <a:t>01　认得准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762250" y="1600200"/>
              <a:ext cx="2114550" cy="285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56535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6ADBB"/>
                  </a:solidFill>
                  <a:latin typeface="+mn-lt"/>
                  <a:ea typeface="+mn-ea"/>
                  <a:cs typeface="+mn-cs"/>
                </a:rPr>
                <a:t>02　找得到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038725" y="1600200"/>
              <a:ext cx="2114550" cy="285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33010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6ADBB"/>
                  </a:solidFill>
                  <a:latin typeface="+mn-lt"/>
                  <a:ea typeface="+mn-ea"/>
                  <a:cs typeface="+mn-cs"/>
                </a:rPr>
                <a:t>03　管得住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305675" y="1600200"/>
              <a:ext cx="21145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99960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　送不出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82150" y="1600200"/>
              <a:ext cx="21145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6435" y="1727200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　算得了</a:t>
              </a:r>
            </a:p>
          </p:txBody>
        </p:sp>
      </p:grpSp>
      <p:grpSp>
        <p:nvGrpSpPr>
          <p:cNvPr id="89" name="compute-tech-cards"/>
          <p:cNvGrpSpPr/>
          <p:nvPr/>
        </p:nvGrpSpPr>
        <p:grpSpPr>
          <a:xfrm>
            <a:off x="495300" y="2247900"/>
            <a:ext cx="11201400" cy="3658870"/>
            <a:chOff x="495300" y="2247900"/>
            <a:chExt cx="11201400" cy="3658870"/>
          </a:xfrm>
        </p:grpSpPr>
        <p:grpSp>
          <p:nvGrpSpPr>
            <p:cNvPr id="49" name="tech-card-delivery"/>
            <p:cNvGrpSpPr/>
            <p:nvPr/>
          </p:nvGrpSpPr>
          <p:grpSpPr>
            <a:xfrm>
              <a:off x="495300" y="2247900"/>
              <a:ext cx="5448300" cy="3658870"/>
              <a:chOff x="495300" y="2247900"/>
              <a:chExt cx="5448300" cy="365887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95300" y="2247900"/>
                <a:ext cx="5448300" cy="36576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95300" y="2247900"/>
                <a:ext cx="6096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18185" y="2470150"/>
                <a:ext cx="1791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5464969" y="2436019"/>
                <a:ext cx="214312" cy="214312"/>
                <a:chOff x="5464969" y="2436019"/>
                <a:chExt cx="214312" cy="214312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5545980" y="2526351"/>
                  <a:ext cx="42981" cy="4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81" h="42975">
                      <a:moveTo>
                        <a:pt x="9298" y="0"/>
                      </a:moveTo>
                      <a:cubicBezTo>
                        <a:pt x="0" y="9301"/>
                        <a:pt x="3" y="24379"/>
                        <a:pt x="9304" y="33677"/>
                      </a:cubicBezTo>
                      <a:cubicBezTo>
                        <a:pt x="18605" y="42975"/>
                        <a:pt x="33683" y="42972"/>
                        <a:pt x="42981" y="33671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464969" y="2471719"/>
                  <a:ext cx="214312" cy="14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3024">
                      <a:moveTo>
                        <a:pt x="162889" y="127094"/>
                      </a:moveTo>
                      <a:cubicBezTo>
                        <a:pt x="146188" y="137544"/>
                        <a:pt x="126857" y="143024"/>
                        <a:pt x="107156" y="142894"/>
                      </a:cubicBezTo>
                      <a:cubicBezTo>
                        <a:pt x="64294" y="142894"/>
                        <a:pt x="28575" y="119081"/>
                        <a:pt x="0" y="71456"/>
                      </a:cubicBezTo>
                      <a:cubicBezTo>
                        <a:pt x="15145" y="46215"/>
                        <a:pt x="32290" y="27665"/>
                        <a:pt x="51435" y="15806"/>
                      </a:cubicBezTo>
                      <a:moveTo>
                        <a:pt x="85487" y="2162"/>
                      </a:moveTo>
                      <a:cubicBezTo>
                        <a:pt x="92619" y="718"/>
                        <a:pt x="99879" y="0"/>
                        <a:pt x="107156" y="19"/>
                      </a:cubicBezTo>
                      <a:cubicBezTo>
                        <a:pt x="150019" y="19"/>
                        <a:pt x="185738" y="23831"/>
                        <a:pt x="214312" y="71456"/>
                      </a:cubicBezTo>
                      <a:cubicBezTo>
                        <a:pt x="206383" y="84672"/>
                        <a:pt x="197894" y="96066"/>
                        <a:pt x="188857" y="105627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464969" y="2436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0"/>
                      </a:moveTo>
                      <a:lnTo>
                        <a:pt x="214312" y="214312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13994" y="29019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送不出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16280" y="33083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安全数据交付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23900" y="3790950"/>
                <a:ext cx="1485900" cy="76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70585" y="3956050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服务端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71538" y="421005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真实数据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2228850" y="4171950"/>
                <a:ext cx="20955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2476500" y="3790950"/>
                <a:ext cx="1485900" cy="76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623185" y="39560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加密像素流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624138" y="421005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只传画面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3981450" y="4171950"/>
                <a:ext cx="209550" cy="1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229100" y="3790950"/>
                <a:ext cx="1485900" cy="76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375785" y="39560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研究员屏幕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76738" y="4210050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终端不落地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23900" y="4762500"/>
                <a:ext cx="1524000" cy="3429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117664" y="486727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禁止复制粘贴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2457450" y="4762500"/>
                <a:ext cx="1524000" cy="3429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57386" y="4867275"/>
                <a:ext cx="72412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U 盘自动禁用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191000" y="4762500"/>
                <a:ext cx="1524000" cy="3429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584764" y="486727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截屏溯源水印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19138" y="5276850"/>
                <a:ext cx="267500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真实数据只在服务端运行，屏幕只接收加密画面。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723900" y="5562600"/>
                <a:ext cx="4991100" cy="342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080265" y="5613400"/>
                <a:ext cx="22783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可用不可见 · 终端不落地</a:t>
                </a:r>
              </a:p>
            </p:txBody>
          </p:sp>
        </p:grpSp>
        <p:grpSp>
          <p:nvGrpSpPr>
            <p:cNvPr id="88" name="tech-card-compute"/>
            <p:cNvGrpSpPr/>
            <p:nvPr/>
          </p:nvGrpSpPr>
          <p:grpSpPr>
            <a:xfrm>
              <a:off x="6248400" y="2247900"/>
              <a:ext cx="5448300" cy="3658870"/>
              <a:chOff x="6248400" y="2247900"/>
              <a:chExt cx="5448300" cy="365887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248400" y="2247900"/>
                <a:ext cx="5448300" cy="36576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248400" y="2247900"/>
                <a:ext cx="6096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471285" y="2470150"/>
                <a:ext cx="1791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11206162" y="2424112"/>
                <a:ext cx="226219" cy="238125"/>
                <a:chOff x="11206162" y="2424112"/>
                <a:chExt cx="226219" cy="238125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11206162" y="26146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1325225" y="24241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1325225" y="26146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11265694" y="251936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1384756" y="251936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1242572" y="2563416"/>
                  <a:ext cx="34290" cy="54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" h="54840">
                      <a:moveTo>
                        <a:pt x="0" y="54840"/>
                      </a:moveTo>
                      <a:lnTo>
                        <a:pt x="34290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1302139" y="2468154"/>
                  <a:ext cx="34254" cy="54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4" h="54816">
                      <a:moveTo>
                        <a:pt x="0" y="54816"/>
                      </a:moveTo>
                      <a:lnTo>
                        <a:pt x="34254" y="0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1302186" y="2563475"/>
                  <a:ext cx="34242" cy="54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2" h="54769">
                      <a:moveTo>
                        <a:pt x="0" y="0"/>
                      </a:moveTo>
                      <a:lnTo>
                        <a:pt x="34242" y="54769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1361694" y="2468166"/>
                  <a:ext cx="34302" cy="54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2" h="54888">
                      <a:moveTo>
                        <a:pt x="0" y="0"/>
                      </a:moveTo>
                      <a:lnTo>
                        <a:pt x="34302" y="54888"/>
                      </a:lnTo>
                    </a:path>
                  </a:pathLst>
                </a:custGeom>
                <a:noFill/>
                <a:ln w="17859">
                  <a:solidFill>
                    <a:schemeClr val="accent1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6467094" y="29019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算得了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469380" y="33083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安全数据计算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7067550" y="3810000"/>
                <a:ext cx="1562100" cy="342900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66" name="Line 66"/>
              <p:cNvSpPr/>
              <p:nvPr/>
            </p:nvSpPr>
            <p:spPr>
              <a:xfrm flipH="1">
                <a:off x="9315450" y="3810000"/>
                <a:ext cx="1562100" cy="342900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67" name="Line 67"/>
              <p:cNvSpPr/>
              <p:nvPr/>
            </p:nvSpPr>
            <p:spPr>
              <a:xfrm flipV="1">
                <a:off x="8972550" y="4533900"/>
                <a:ext cx="1" cy="400050"/>
              </a:xfrm>
              <a:prstGeom prst="line">
                <a:avLst/>
              </a:prstGeom>
              <a:noFill/>
              <a:ln w="14288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648450" y="36004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677673" y="3743325"/>
                <a:ext cx="36065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医院 A</a:t>
                </a:r>
              </a:p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10877550" y="36004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10906773" y="3743325"/>
                <a:ext cx="36065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医院 B</a:t>
                </a:r>
              </a:p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8763000" y="45148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792223" y="4657725"/>
                <a:ext cx="36065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医院 C</a:t>
                </a:r>
              </a:p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8648700" y="3867150"/>
                <a:ext cx="647700" cy="64770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725472" y="403860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加密参数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846630" y="4191000"/>
                <a:ext cx="251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梯度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180260" y="4933950"/>
                <a:ext cx="158457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数据不出院，只交换加密参数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6438900" y="5143500"/>
                <a:ext cx="1162050" cy="266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772846" y="521017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联邦学习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7715250" y="5143500"/>
                <a:ext cx="1162050" cy="266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928038" y="521017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多方安全计算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8991600" y="5143500"/>
                <a:ext cx="1162050" cy="266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9325546" y="521017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差分隐私</a:t>
                </a: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10267950" y="5143500"/>
                <a:ext cx="1162050" cy="266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10601896" y="521017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同态加密</a:t>
                </a: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6477000" y="5562600"/>
                <a:ext cx="49911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258175" y="561340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数据不动模型动</a:t>
                </a:r>
              </a:p>
            </p:txBody>
          </p:sp>
        </p:grp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58399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模型融合训练：数据不出域，效果不打折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5670293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异步本地更新 + 梯度融合，实测达成合并训练的 82%–133%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7</a:t>
            </a:fld>
          </a:p>
        </p:txBody>
      </p:sp>
      <p:grpSp>
        <p:nvGrpSpPr>
          <p:cNvPr id="44" name="fusion-flow"/>
          <p:cNvGrpSpPr/>
          <p:nvPr/>
        </p:nvGrpSpPr>
        <p:grpSpPr>
          <a:xfrm>
            <a:off x="489585" y="1651000"/>
            <a:ext cx="3891915" cy="3001962"/>
            <a:chOff x="489585" y="1651000"/>
            <a:chExt cx="3891915" cy="3001962"/>
          </a:xfrm>
        </p:grpSpPr>
        <p:sp>
          <p:nvSpPr>
            <p:cNvPr id="9" name="TextBox 9"/>
            <p:cNvSpPr txBox="1"/>
            <p:nvPr/>
          </p:nvSpPr>
          <p:spPr>
            <a:xfrm>
              <a:off x="489585" y="1651000"/>
              <a:ext cx="1791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异步本地更新的模型融合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2000250"/>
              <a:ext cx="18859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71512" y="2157412"/>
              <a:ext cx="142875" cy="152400"/>
              <a:chOff x="671512" y="2157412"/>
              <a:chExt cx="142875" cy="152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71512" y="2300287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87387" y="21574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0" y="142875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95250" y="0"/>
                    </a:lnTo>
                    <a:cubicBezTo>
                      <a:pt x="104017" y="0"/>
                      <a:pt x="111125" y="7107"/>
                      <a:pt x="111125" y="15875"/>
                    </a:cubicBezTo>
                    <a:lnTo>
                      <a:pt x="111125" y="142875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19137" y="22526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31750" y="0"/>
                    </a:lnTo>
                    <a:cubicBezTo>
                      <a:pt x="40518" y="0"/>
                      <a:pt x="47625" y="7107"/>
                      <a:pt x="47625" y="1587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7075" y="2205037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42950" y="218916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40080" y="227965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医院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2938" y="2533650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私域数据 · 本地训练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95550" y="2000250"/>
              <a:ext cx="18859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671762" y="2157412"/>
              <a:ext cx="142875" cy="152400"/>
              <a:chOff x="2671762" y="2157412"/>
              <a:chExt cx="142875" cy="152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2671762" y="2300287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687637" y="21574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0" y="142875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95250" y="0"/>
                    </a:lnTo>
                    <a:cubicBezTo>
                      <a:pt x="104017" y="0"/>
                      <a:pt x="111125" y="7107"/>
                      <a:pt x="111125" y="15875"/>
                    </a:cubicBezTo>
                    <a:lnTo>
                      <a:pt x="111125" y="142875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719387" y="22526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31750" y="0"/>
                    </a:lnTo>
                    <a:cubicBezTo>
                      <a:pt x="40518" y="0"/>
                      <a:pt x="47625" y="7107"/>
                      <a:pt x="47625" y="1587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727325" y="2205037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743200" y="218916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1906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640330" y="227965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医院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43188" y="2533650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私域数据 · 本地训练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438275" y="2724150"/>
              <a:ext cx="1" cy="2476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3438525" y="2724150"/>
              <a:ext cx="1" cy="2476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2990850"/>
              <a:ext cx="3886200" cy="552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91356" y="3197225"/>
              <a:ext cx="122238" cy="139700"/>
              <a:chOff x="691356" y="3197225"/>
              <a:chExt cx="122238" cy="1397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91356" y="33020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309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1356" y="31972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309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8669" y="324961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3097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8819" y="3232150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3097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819" y="3232150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cubicBezTo>
                      <a:pt x="0" y="19289"/>
                      <a:pt x="15636" y="34925"/>
                      <a:pt x="34925" y="34925"/>
                    </a:cubicBezTo>
                    <a:lnTo>
                      <a:pt x="69850" y="34925"/>
                    </a:lnTo>
                  </a:path>
                </a:pathLst>
              </a:custGeom>
              <a:noFill/>
              <a:ln w="13097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63930" y="31178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梯度融合器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6788" y="335280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定期同步本地梯度，融合升级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438400" y="3543300"/>
              <a:ext cx="1" cy="2286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3790950"/>
              <a:ext cx="38862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180" y="3917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全局行业模型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1038" y="4152900"/>
              <a:ext cx="1360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数据不出域 · 价值可流转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0538" y="4476750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数据完全不互通，只交换梯度 / 参数。</a:t>
              </a:r>
            </a:p>
          </p:txBody>
        </p:sp>
      </p:grpSp>
      <p:grpSp>
        <p:nvGrpSpPr>
          <p:cNvPr id="76" name="fusion-metrics"/>
          <p:cNvGrpSpPr/>
          <p:nvPr/>
        </p:nvGrpSpPr>
        <p:grpSpPr>
          <a:xfrm>
            <a:off x="5707380" y="1651000"/>
            <a:ext cx="5541645" cy="4141470"/>
            <a:chOff x="5707380" y="1651000"/>
            <a:chExt cx="5541645" cy="4141470"/>
          </a:xfrm>
        </p:grpSpPr>
        <p:sp>
          <p:nvSpPr>
            <p:cNvPr id="45" name="TextBox 45"/>
            <p:cNvSpPr txBox="1"/>
            <p:nvPr/>
          </p:nvSpPr>
          <p:spPr>
            <a:xfrm>
              <a:off x="5709285" y="1651000"/>
              <a:ext cx="2353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实测达成度（方案 B ÷ 方案 A）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0287000" y="1752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rgbClr val="A6ADBB"/>
              </a:solidFill>
              <a:custDash>
                <a:ds d="600000" sp="4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548938" y="167640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100% 基准</a:t>
              </a:r>
            </a:p>
          </p:txBody>
        </p:sp>
        <p:grpSp>
          <p:nvGrpSpPr>
            <p:cNvPr id="73" name="fusion-benchmark-chartArea"/>
            <p:cNvGrpSpPr/>
            <p:nvPr/>
          </p:nvGrpSpPr>
          <p:grpSpPr>
            <a:xfrm>
              <a:off x="5709285" y="2095500"/>
              <a:ext cx="5539740" cy="3109912"/>
              <a:chOff x="5709285" y="2095500"/>
              <a:chExt cx="5539740" cy="3109912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7429500" y="2095500"/>
                <a:ext cx="9525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0">
                    <a:moveTo>
                      <a:pt x="0" y="0"/>
                    </a:moveTo>
                    <a:lnTo>
                      <a:pt x="0" y="2857500"/>
                    </a:lnTo>
                  </a:path>
                </a:pathLst>
              </a:custGeom>
              <a:noFill/>
              <a:ln w="9525">
                <a:solidFill>
                  <a:srgbClr val="A6ADBB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7429500" y="49530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rgbClr val="A6ADBB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8790242" y="2095500"/>
                <a:ext cx="9525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0">
                    <a:moveTo>
                      <a:pt x="0" y="0"/>
                    </a:moveTo>
                    <a:lnTo>
                      <a:pt x="0" y="2857500"/>
                    </a:lnTo>
                  </a:path>
                </a:pathLst>
              </a:custGeom>
              <a:noFill/>
              <a:ln w="9525">
                <a:solidFill>
                  <a:srgbClr val="E8EDF7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10150888" y="2095500"/>
                <a:ext cx="9525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0">
                    <a:moveTo>
                      <a:pt x="0" y="0"/>
                    </a:moveTo>
                    <a:lnTo>
                      <a:pt x="0" y="2857500"/>
                    </a:lnTo>
                  </a:path>
                </a:pathLst>
              </a:custGeom>
              <a:noFill/>
              <a:ln w="9525">
                <a:solidFill>
                  <a:srgbClr val="A6ADBB"/>
                </a:solidFill>
                <a:custDash>
                  <a:ds d="600000" sp="400000"/>
                </a:custDash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11239500" y="2095500"/>
                <a:ext cx="9525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0">
                    <a:moveTo>
                      <a:pt x="0" y="0"/>
                    </a:moveTo>
                    <a:lnTo>
                      <a:pt x="0" y="2857500"/>
                    </a:lnTo>
                  </a:path>
                </a:pathLst>
              </a:custGeom>
              <a:noFill/>
              <a:ln w="9525">
                <a:solidFill>
                  <a:srgbClr val="E8EDF7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709285" y="2527300"/>
                <a:ext cx="8346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medical_zh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710238" y="27241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中文医疗对话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7429500" y="2609850"/>
                <a:ext cx="3810000" cy="304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429500" y="2609850"/>
                <a:ext cx="2526887" cy="30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98564" y="2679700"/>
                <a:ext cx="5655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92.85%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709285" y="3384550"/>
                <a:ext cx="10981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多任务 / 预训练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710238" y="358140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综合语料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429500" y="3467100"/>
                <a:ext cx="3810000" cy="304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7429500" y="3467100"/>
                <a:ext cx="2944558" cy="30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717664" y="3536950"/>
                <a:ext cx="5655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108.2%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709285" y="4241800"/>
                <a:ext cx="10401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14B / 8B / 4B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710238" y="44386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参数规模模型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7429500" y="4324350"/>
                <a:ext cx="3810000" cy="304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7429500" y="4324350"/>
                <a:ext cx="2939129" cy="30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10368629" y="4324350"/>
                <a:ext cx="680371" cy="30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348710" y="4108450"/>
                <a:ext cx="858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108%–133%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424738" y="5029200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673408" y="5029200"/>
                <a:ext cx="23366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000736" y="5029200"/>
                <a:ext cx="30030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943958" y="5029200"/>
                <a:ext cx="30030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140%</a:t>
                </a:r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5710238" y="5276850"/>
              <a:ext cx="2995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方案 A：64 万 + 64 万 = 128 万条合并训练，记为 100%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707380" y="5499100"/>
              <a:ext cx="2106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综合达成度 82%–133%</a:t>
              </a:r>
            </a:p>
          </p:txBody>
        </p:sp>
      </p:grpSp>
      <p:grpSp>
        <p:nvGrpSpPr>
          <p:cNvPr id="78" name="fusion-takeaway"/>
          <p:cNvGrpSpPr/>
          <p:nvPr/>
        </p:nvGrpSpPr>
        <p:grpSpPr>
          <a:xfrm>
            <a:off x="489585" y="5965825"/>
            <a:ext cx="4986985" cy="220028"/>
            <a:chOff x="489585" y="5965825"/>
            <a:chExt cx="4986985" cy="220028"/>
          </a:xfrm>
        </p:grpSpPr>
        <p:sp>
          <p:nvSpPr>
            <p:cNvPr id="77" name="TextBox 77"/>
            <p:cNvSpPr txBox="1"/>
            <p:nvPr/>
          </p:nvSpPr>
          <p:spPr>
            <a:xfrm>
              <a:off x="489585" y="5965825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分开训练再融合，减少单一脏数据过拟合；安全合规与模型效果可以兼得。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519379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实践案例：合规流通的两条真实路径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5515658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统一授权让商保理赔提速，密文计算让心脏病 AI 跨院建模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8</a:t>
            </a:fld>
          </a:p>
        </p:txBody>
      </p:sp>
      <p:grpSp>
        <p:nvGrpSpPr>
          <p:cNvPr id="44" name="case-studies"/>
          <p:cNvGrpSpPr/>
          <p:nvPr/>
        </p:nvGrpSpPr>
        <p:grpSpPr>
          <a:xfrm>
            <a:off x="675894" y="1714500"/>
            <a:ext cx="10830306" cy="2590800"/>
            <a:chOff x="675894" y="1714500"/>
            <a:chExt cx="10830306" cy="2590800"/>
          </a:xfrm>
        </p:grpSpPr>
        <p:sp>
          <p:nvSpPr>
            <p:cNvPr id="9" name="TextBox 9"/>
            <p:cNvSpPr txBox="1"/>
            <p:nvPr/>
          </p:nvSpPr>
          <p:spPr>
            <a:xfrm>
              <a:off x="681038" y="1714500"/>
              <a:ext cx="6214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 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894" y="1911350"/>
              <a:ext cx="24368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统一授权 · 商保直付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2260600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深圳数据交易所可信数据空间 · 统一授权平台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2571750"/>
              <a:ext cx="23622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485" y="2679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采集端授权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289560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挂号时完成个人授权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238500" y="2571750"/>
              <a:ext cx="23622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85185" y="2679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使用端授权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86138" y="289560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线上提交理赔时授权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866900" y="3143250"/>
              <a:ext cx="1" cy="2095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Line 19"/>
            <p:cNvSpPr/>
            <p:nvPr/>
          </p:nvSpPr>
          <p:spPr>
            <a:xfrm>
              <a:off x="4419600" y="3143250"/>
              <a:ext cx="1" cy="2095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3390900"/>
              <a:ext cx="4914900" cy="3429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485" y="3479800"/>
              <a:ext cx="2297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拉通 HIS · 卫健委平台 · 保险公司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43250" y="3733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810000"/>
              <a:ext cx="49149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485" y="3898900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商保直付：少跑腿 · 合规获益 · 降成本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29388" y="1714500"/>
              <a:ext cx="6214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 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24244" y="1911350"/>
              <a:ext cx="22796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心脏病 AI 密文诊断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28435" y="2260600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多院联合建模 · 跨院真实世界研究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572250" y="27051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524625" y="26574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7035" y="2603500"/>
              <a:ext cx="1677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医院 A / B / C 接入平台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7988" y="280035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原始数据留在本院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24625" y="31718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7035" y="31178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院内完成加密处理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7988" y="331470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密文不出院，再进入计算环境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24625" y="3686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57035" y="3632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可信数据空间隐私计算环境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7988" y="3829050"/>
              <a:ext cx="1360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多方安全融合 · 联合建模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24625" y="41243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62750" y="4019550"/>
              <a:ext cx="2286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16356" y="409575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辅助临床风险预测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63050" y="4019550"/>
              <a:ext cx="23431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45230" y="409575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支撑真实世界研究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76950" y="17145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0" name="case-metrics"/>
          <p:cNvGrpSpPr/>
          <p:nvPr/>
        </p:nvGrpSpPr>
        <p:grpSpPr>
          <a:xfrm>
            <a:off x="495300" y="4686300"/>
            <a:ext cx="11201400" cy="990600"/>
            <a:chOff x="495300" y="4686300"/>
            <a:chExt cx="11201400" cy="990600"/>
          </a:xfrm>
        </p:grpSpPr>
        <p:sp>
          <p:nvSpPr>
            <p:cNvPr id="45" name="Line 45"/>
            <p:cNvSpPr/>
            <p:nvPr/>
          </p:nvSpPr>
          <p:spPr>
            <a:xfrm>
              <a:off x="495300" y="46863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9036" y="4851400"/>
              <a:ext cx="103730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300</a:t>
              </a: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0085" y="54229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公立医院覆盖人群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733675" y="48387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E8EDF7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07411" y="4851400"/>
              <a:ext cx="7902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</a:t>
              </a: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18460" y="54229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住院人群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972050" y="48387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E8EDF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145786" y="4851400"/>
              <a:ext cx="99214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28</a:t>
              </a: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分钟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56835" y="5422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门诊平均理赔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210425" y="48387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E8EDF7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4161" y="4851400"/>
              <a:ext cx="74505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小时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95210" y="5422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住院最快理赔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448800" y="48387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E8EDF7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622536" y="4851400"/>
              <a:ext cx="7072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</a:t>
              </a: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33585" y="5422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保险机构降本</a:t>
              </a:r>
            </a:p>
          </p:txBody>
        </p:sp>
      </p:grpSp>
      <p:grpSp>
        <p:nvGrpSpPr>
          <p:cNvPr id="62" name="case-source"/>
          <p:cNvGrpSpPr/>
          <p:nvPr/>
        </p:nvGrpSpPr>
        <p:grpSpPr>
          <a:xfrm>
            <a:off x="490538" y="5962650"/>
            <a:ext cx="4019855" cy="176212"/>
            <a:chOff x="490538" y="5962650"/>
            <a:chExt cx="4019855" cy="176212"/>
          </a:xfrm>
        </p:grpSpPr>
        <p:sp>
          <p:nvSpPr>
            <p:cNvPr id="61" name="TextBox 61"/>
            <p:cNvSpPr txBox="1"/>
            <p:nvPr/>
          </p:nvSpPr>
          <p:spPr>
            <a:xfrm>
              <a:off x="490538" y="5962650"/>
              <a:ext cx="40198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来源：公开报道，深圳南山区“商保直付”案例；指标口径以公开报道为准。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title-slot Placeholder Carrier"/>
          <p:cNvSpPr txBox="1"/>
          <p:nvPr>
            <p:ph type="title"/>
          </p:nvPr>
        </p:nvSpPr>
        <p:spPr>
          <a:xfrm>
            <a:off x="479012" y="327025"/>
            <a:ext cx="551688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国际化协作：跨境医工科研的可信通路</a:t>
            </a:r>
          </a:p>
        </p:txBody>
      </p:sp>
      <p:sp>
        <p:nvSpPr>
          <p:cNvPr id="7" name="content-subtitle-slot Placeholder Carrier"/>
          <p:cNvSpPr txBox="1"/>
          <p:nvPr>
            <p:ph type="body" idx="1"/>
          </p:nvPr>
        </p:nvSpPr>
        <p:spPr>
          <a:xfrm>
            <a:off x="483078" y="771525"/>
            <a:ext cx="6693405" cy="312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原始数据各自留在本地，只做身份、规则、任务与合规结果的跨境协同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850234" y="6518275"/>
            <a:ext cx="175905" cy="215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E292E5D5-344B-4AF8-9F69-8EBFDF88FB92}" type="slidenum">
              <a:rPr lang="zh-CN" sz="1100" dirty="0">
                <a:solidFill>
                  <a:srgbClr val="C2C2C2"/>
                </a:solidFill>
                <a:latin typeface="+mn-lt"/>
                <a:ea typeface="+mn-ea"/>
                <a:cs typeface="+mn-cs"/>
              </a:rPr>
              <a:t>9</a:t>
            </a:fld>
          </a:p>
        </p:txBody>
      </p:sp>
      <p:grpSp>
        <p:nvGrpSpPr>
          <p:cNvPr id="46" name="cross-border-locations"/>
          <p:cNvGrpSpPr/>
          <p:nvPr/>
        </p:nvGrpSpPr>
        <p:grpSpPr>
          <a:xfrm>
            <a:off x="489585" y="1651000"/>
            <a:ext cx="11207115" cy="1778000"/>
            <a:chOff x="489585" y="1651000"/>
            <a:chExt cx="11207115" cy="1778000"/>
          </a:xfrm>
        </p:grpSpPr>
        <p:sp>
          <p:nvSpPr>
            <p:cNvPr id="9" name="TextBox 9"/>
            <p:cNvSpPr txBox="1"/>
            <p:nvPr/>
          </p:nvSpPr>
          <p:spPr>
            <a:xfrm>
              <a:off x="489585" y="1651000"/>
              <a:ext cx="1628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原始数据各自留在本地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2000250"/>
              <a:ext cx="33528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16756" y="2202656"/>
              <a:ext cx="185737" cy="195262"/>
              <a:chOff x="716756" y="2202656"/>
              <a:chExt cx="185737" cy="1952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16756" y="2388393"/>
                <a:ext cx="1857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525">
                    <a:moveTo>
                      <a:pt x="0" y="0"/>
                    </a:moveTo>
                    <a:lnTo>
                      <a:pt x="185737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16756" y="2274887"/>
                <a:ext cx="1857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525">
                    <a:moveTo>
                      <a:pt x="0" y="0"/>
                    </a:moveTo>
                    <a:lnTo>
                      <a:pt x="185737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37394" y="2202656"/>
                <a:ext cx="14446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30956">
                    <a:moveTo>
                      <a:pt x="0" y="30956"/>
                    </a:moveTo>
                    <a:lnTo>
                      <a:pt x="72231" y="0"/>
                    </a:lnTo>
                    <a:lnTo>
                      <a:pt x="144462" y="3095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7075" y="2274887"/>
                <a:ext cx="9525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3506">
                    <a:moveTo>
                      <a:pt x="0" y="0"/>
                    </a:moveTo>
                    <a:lnTo>
                      <a:pt x="0" y="11350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2174" y="2274887"/>
                <a:ext cx="9525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3506">
                    <a:moveTo>
                      <a:pt x="0" y="0"/>
                    </a:moveTo>
                    <a:lnTo>
                      <a:pt x="0" y="11350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68350" y="2316162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9625" y="2316162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50899" y="2316162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675894" y="24828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3035" y="25844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内地机房留存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1038" y="281940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原始数据不出境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191000" y="2000250"/>
              <a:ext cx="33528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412456" y="2202656"/>
              <a:ext cx="185737" cy="185737"/>
              <a:chOff x="4412456" y="2202656"/>
              <a:chExt cx="185737" cy="18573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412456" y="22026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418647" y="2264568"/>
                <a:ext cx="173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9525">
                    <a:moveTo>
                      <a:pt x="0" y="0"/>
                    </a:moveTo>
                    <a:lnTo>
                      <a:pt x="173354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418647" y="2326481"/>
                <a:ext cx="173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9525">
                    <a:moveTo>
                      <a:pt x="0" y="0"/>
                    </a:moveTo>
                    <a:lnTo>
                      <a:pt x="173354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64699" y="2202656"/>
                <a:ext cx="3546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5466" h="185737">
                    <a:moveTo>
                      <a:pt x="35466" y="0"/>
                    </a:moveTo>
                    <a:cubicBezTo>
                      <a:pt x="0" y="56833"/>
                      <a:pt x="0" y="128904"/>
                      <a:pt x="35466" y="185737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510484" y="2202656"/>
                <a:ext cx="3546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5466" h="185737">
                    <a:moveTo>
                      <a:pt x="0" y="0"/>
                    </a:moveTo>
                    <a:cubicBezTo>
                      <a:pt x="35466" y="56833"/>
                      <a:pt x="35466" y="128904"/>
                      <a:pt x="0" y="185737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4371594" y="24828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港澳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18735" y="25844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本地数据留存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76738" y="281940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原始数据不出境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2000250"/>
              <a:ext cx="38100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108156" y="2202656"/>
              <a:ext cx="185737" cy="185737"/>
              <a:chOff x="8108156" y="2202656"/>
              <a:chExt cx="185737" cy="18573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108156" y="22026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14347" y="2264568"/>
                <a:ext cx="173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9525">
                    <a:moveTo>
                      <a:pt x="0" y="0"/>
                    </a:moveTo>
                    <a:lnTo>
                      <a:pt x="173354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14347" y="2326481"/>
                <a:ext cx="173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9525">
                    <a:moveTo>
                      <a:pt x="0" y="0"/>
                    </a:moveTo>
                    <a:lnTo>
                      <a:pt x="173354" y="0"/>
                    </a:ln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60399" y="2202656"/>
                <a:ext cx="3546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5466" h="185737">
                    <a:moveTo>
                      <a:pt x="35466" y="0"/>
                    </a:moveTo>
                    <a:cubicBezTo>
                      <a:pt x="0" y="56833"/>
                      <a:pt x="0" y="128904"/>
                      <a:pt x="35466" y="185737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06184" y="2202656"/>
                <a:ext cx="3546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5466" h="185737">
                    <a:moveTo>
                      <a:pt x="0" y="0"/>
                    </a:moveTo>
                    <a:cubicBezTo>
                      <a:pt x="35466" y="56833"/>
                      <a:pt x="35466" y="128904"/>
                      <a:pt x="0" y="185737"/>
                    </a:cubicBezTo>
                  </a:path>
                </a:pathLst>
              </a:custGeom>
              <a:noFill/>
              <a:ln w="15478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067294" y="24828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14435" y="25844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当地数据留存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72438" y="281940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原始数据不出境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2171700" y="3048000"/>
              <a:ext cx="1" cy="3810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>
              <a:off x="5867400" y="3048000"/>
              <a:ext cx="1" cy="3810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5" name="Line 45"/>
            <p:cNvSpPr/>
            <p:nvPr/>
          </p:nvSpPr>
          <p:spPr>
            <a:xfrm>
              <a:off x="9791700" y="3048000"/>
              <a:ext cx="1" cy="3810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1" name="cross-border-hub"/>
          <p:cNvGrpSpPr/>
          <p:nvPr/>
        </p:nvGrpSpPr>
        <p:grpSpPr>
          <a:xfrm>
            <a:off x="495300" y="3486150"/>
            <a:ext cx="11201400" cy="857250"/>
            <a:chOff x="495300" y="3486150"/>
            <a:chExt cx="11201400" cy="857250"/>
          </a:xfrm>
        </p:grpSpPr>
        <p:sp>
          <p:nvSpPr>
            <p:cNvPr id="47" name="Rectangle 47"/>
            <p:cNvSpPr/>
            <p:nvPr/>
          </p:nvSpPr>
          <p:spPr>
            <a:xfrm>
              <a:off x="495300" y="3486150"/>
              <a:ext cx="112014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21442" y="3625850"/>
              <a:ext cx="29491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TREMAC × 可信数据空间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76775" y="3994150"/>
              <a:ext cx="2838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身份 · 规则 · 任务 · 结果 的跨境协同枢纽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53332" y="36004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不搬运原始数据</a:t>
              </a:r>
            </a:p>
          </p:txBody>
        </p:sp>
      </p:grpSp>
      <p:grpSp>
        <p:nvGrpSpPr>
          <p:cNvPr id="86" name="cross-border-capabilities"/>
          <p:cNvGrpSpPr/>
          <p:nvPr/>
        </p:nvGrpSpPr>
        <p:grpSpPr>
          <a:xfrm>
            <a:off x="489585" y="4508500"/>
            <a:ext cx="11207115" cy="1168400"/>
            <a:chOff x="489585" y="4508500"/>
            <a:chExt cx="11207115" cy="1168400"/>
          </a:xfrm>
        </p:grpSpPr>
        <p:sp>
          <p:nvSpPr>
            <p:cNvPr id="52" name="TextBox 52"/>
            <p:cNvSpPr txBox="1"/>
            <p:nvPr/>
          </p:nvSpPr>
          <p:spPr>
            <a:xfrm>
              <a:off x="489585" y="4508500"/>
              <a:ext cx="976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四项跨境能力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95300" y="4762500"/>
              <a:ext cx="2657475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3151" y="4958896"/>
              <a:ext cx="160769" cy="175079"/>
              <a:chOff x="723151" y="4958896"/>
              <a:chExt cx="160769" cy="17507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65822" y="5000625"/>
                <a:ext cx="18098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8098" h="85725">
                    <a:moveTo>
                      <a:pt x="0" y="0"/>
                    </a:moveTo>
                    <a:cubicBezTo>
                      <a:pt x="8615" y="14299"/>
                      <a:pt x="12296" y="31031"/>
                      <a:pt x="10477" y="47625"/>
                    </a:cubicBezTo>
                    <a:lnTo>
                      <a:pt x="10477" y="57150"/>
                    </a:lnTo>
                    <a:cubicBezTo>
                      <a:pt x="10466" y="67179"/>
                      <a:pt x="13094" y="77034"/>
                      <a:pt x="18098" y="85725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62000" y="500062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47625"/>
                    </a:lnTo>
                    <a:cubicBezTo>
                      <a:pt x="76200" y="68234"/>
                      <a:pt x="82884" y="88288"/>
                      <a:pt x="95250" y="104775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00070" y="5038725"/>
                <a:ext cx="23843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3843" h="95250">
                    <a:moveTo>
                      <a:pt x="30" y="0"/>
                    </a:moveTo>
                    <a:lnTo>
                      <a:pt x="30" y="19050"/>
                    </a:lnTo>
                    <a:cubicBezTo>
                      <a:pt x="0" y="46286"/>
                      <a:pt x="8310" y="72878"/>
                      <a:pt x="23843" y="9525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2000" y="5076825"/>
                <a:ext cx="1714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" h="57150">
                    <a:moveTo>
                      <a:pt x="0" y="0"/>
                    </a:moveTo>
                    <a:cubicBezTo>
                      <a:pt x="2331" y="19906"/>
                      <a:pt x="8134" y="39249"/>
                      <a:pt x="17145" y="5715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3151" y="4958896"/>
                <a:ext cx="115049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115049" h="156029">
                    <a:moveTo>
                      <a:pt x="9322" y="156029"/>
                    </a:moveTo>
                    <a:cubicBezTo>
                      <a:pt x="2895" y="134410"/>
                      <a:pt x="0" y="111896"/>
                      <a:pt x="749" y="89354"/>
                    </a:cubicBezTo>
                    <a:lnTo>
                      <a:pt x="749" y="79829"/>
                    </a:lnTo>
                    <a:cubicBezTo>
                      <a:pt x="675" y="52569"/>
                      <a:pt x="15169" y="27345"/>
                      <a:pt x="38759" y="13682"/>
                    </a:cubicBezTo>
                    <a:cubicBezTo>
                      <a:pt x="62349" y="20"/>
                      <a:pt x="91441" y="0"/>
                      <a:pt x="115049" y="13631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8180" y="5175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身份互认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1038" y="544830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跨境主体可信识别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343275" y="4762500"/>
              <a:ext cx="2657475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3562350" y="4991100"/>
              <a:ext cx="171450" cy="109538"/>
            </a:xfrm>
            <a:custGeom>
              <a:avLst/>
              <a:gdLst/>
              <a:ahLst/>
              <a:cxnLst/>
              <a:rect l="l" t="t" r="r" b="b"/>
              <a:pathLst>
                <a:path w="171450" h="109538">
                  <a:moveTo>
                    <a:pt x="0" y="104775"/>
                  </a:moveTo>
                  <a:cubicBezTo>
                    <a:pt x="31747" y="73028"/>
                    <a:pt x="47625" y="47625"/>
                    <a:pt x="47625" y="28575"/>
                  </a:cubicBezTo>
                  <a:cubicBezTo>
                    <a:pt x="47625" y="0"/>
                    <a:pt x="38100" y="0"/>
                    <a:pt x="28575" y="0"/>
                  </a:cubicBezTo>
                  <a:cubicBezTo>
                    <a:pt x="19050" y="0"/>
                    <a:pt x="9220" y="10335"/>
                    <a:pt x="9525" y="28575"/>
                  </a:cubicBezTo>
                  <a:cubicBezTo>
                    <a:pt x="9849" y="48082"/>
                    <a:pt x="25317" y="75028"/>
                    <a:pt x="33338" y="85725"/>
                  </a:cubicBezTo>
                  <a:cubicBezTo>
                    <a:pt x="47625" y="104775"/>
                    <a:pt x="57150" y="109538"/>
                    <a:pt x="66675" y="95250"/>
                  </a:cubicBezTo>
                  <a:lnTo>
                    <a:pt x="85725" y="66675"/>
                  </a:lnTo>
                  <a:cubicBezTo>
                    <a:pt x="88897" y="92078"/>
                    <a:pt x="98422" y="104775"/>
                    <a:pt x="114300" y="104775"/>
                  </a:cubicBezTo>
                  <a:cubicBezTo>
                    <a:pt x="119348" y="104775"/>
                    <a:pt x="139436" y="85725"/>
                    <a:pt x="142875" y="85725"/>
                  </a:cubicBezTo>
                  <a:cubicBezTo>
                    <a:pt x="147799" y="85725"/>
                    <a:pt x="157324" y="92078"/>
                    <a:pt x="171450" y="104775"/>
                  </a:cubicBez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526155" y="5175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规则互认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529012" y="544830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统一合约与合规规则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191250" y="4762500"/>
              <a:ext cx="2657475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10325" y="4962525"/>
              <a:ext cx="171450" cy="180975"/>
              <a:chOff x="6410325" y="4962525"/>
              <a:chExt cx="171450" cy="1809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38900" y="496252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96050" y="4962525"/>
                <a:ext cx="190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14300">
                    <a:moveTo>
                      <a:pt x="0" y="0"/>
                    </a:moveTo>
                    <a:cubicBezTo>
                      <a:pt x="12697" y="3172"/>
                      <a:pt x="19050" y="22222"/>
                      <a:pt x="19050" y="57150"/>
                    </a:cubicBezTo>
                    <a:cubicBezTo>
                      <a:pt x="19050" y="92078"/>
                      <a:pt x="12697" y="111128"/>
                      <a:pt x="0" y="11430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77000" y="4962525"/>
                <a:ext cx="190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14300">
                    <a:moveTo>
                      <a:pt x="19050" y="0"/>
                    </a:moveTo>
                    <a:cubicBezTo>
                      <a:pt x="6353" y="3172"/>
                      <a:pt x="0" y="22222"/>
                      <a:pt x="0" y="57150"/>
                    </a:cubicBezTo>
                    <a:cubicBezTo>
                      <a:pt x="0" y="92078"/>
                      <a:pt x="6353" y="111128"/>
                      <a:pt x="19050" y="11430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38900" y="501967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10325" y="5124450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15100" y="5124450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477000" y="51054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96050" y="50768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374130" y="51752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任务跨境分发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376988" y="544830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授权任务跨域执行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039225" y="4762500"/>
              <a:ext cx="2657475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9258300" y="4962525"/>
              <a:ext cx="152400" cy="180975"/>
              <a:chOff x="9258300" y="4962525"/>
              <a:chExt cx="152400" cy="18097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9363075" y="4962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277350" y="49625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0" y="47625"/>
                    </a:move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  <a:lnTo>
                      <a:pt x="66675" y="17145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258300" y="5038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9258300" y="5095875"/>
                <a:ext cx="571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7625">
                    <a:moveTo>
                      <a:pt x="14288" y="0"/>
                    </a:moveTo>
                    <a:lnTo>
                      <a:pt x="0" y="47625"/>
                    </a:lnTo>
                    <a:lnTo>
                      <a:pt x="28575" y="33338"/>
                    </a:lnTo>
                    <a:lnTo>
                      <a:pt x="57150" y="47625"/>
                    </a:lnTo>
                    <a:lnTo>
                      <a:pt x="42862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9222105" y="51752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结果合规共享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224962" y="544830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审查后结果跨境</a:t>
              </a:r>
            </a:p>
          </p:txBody>
        </p:sp>
      </p:grpSp>
      <p:grpSp>
        <p:nvGrpSpPr>
          <p:cNvPr id="88" name="cross-border-note"/>
          <p:cNvGrpSpPr/>
          <p:nvPr/>
        </p:nvGrpSpPr>
        <p:grpSpPr>
          <a:xfrm>
            <a:off x="489585" y="6032500"/>
            <a:ext cx="2574595" cy="220028"/>
            <a:chOff x="489585" y="6032500"/>
            <a:chExt cx="2574595" cy="220028"/>
          </a:xfrm>
        </p:grpSpPr>
        <p:sp>
          <p:nvSpPr>
            <p:cNvPr id="87" name="TextBox 87"/>
            <p:cNvSpPr txBox="1"/>
            <p:nvPr/>
          </p:nvSpPr>
          <p:spPr>
            <a:xfrm>
              <a:off x="489585" y="60325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前提：符合国家数据出境安全监管要求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ding-title-slot Placeholder Carrier"/>
          <p:cNvSpPr txBox="1"/>
          <p:nvPr>
            <p:ph type="title"/>
          </p:nvPr>
        </p:nvSpPr>
        <p:spPr>
          <a:xfrm>
            <a:off x="4562475" y="2768600"/>
            <a:ext cx="306705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spc="3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谢谢大家</a:t>
            </a:r>
          </a:p>
        </p:txBody>
      </p:sp>
      <p:sp>
        <p:nvSpPr>
          <p:cNvPr id="5" name="ending-contact-slot Placeholder Carrier"/>
          <p:cNvSpPr txBox="1"/>
          <p:nvPr>
            <p:ph type="body" idx="1"/>
          </p:nvPr>
        </p:nvSpPr>
        <p:spPr>
          <a:xfrm>
            <a:off x="4513697" y="5956300"/>
            <a:ext cx="31646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120" dirty="0">
                <a:solidFill>
                  <a:srgbClr val="FFFFFF">
                    <a:alphaMod val="70000"/>
                  </a:srgbClr>
                </a:solidFill>
                <a:latin typeface="+mn-lt"/>
                <a:ea typeface="+mn-ea"/>
                <a:cs typeface="+mn-cs"/>
              </a:rPr>
              <a:t>中国电子云　李化名｜TREMAC × 可信数据空间</a:t>
            </a:r>
          </a:p>
        </p:txBody>
      </p:sp>
      <p:grpSp>
        <p:nvGrpSpPr>
          <p:cNvPr id="7" name="closing-kicker"/>
          <p:cNvGrpSpPr/>
          <p:nvPr/>
        </p:nvGrpSpPr>
        <p:grpSpPr>
          <a:xfrm>
            <a:off x="4775873" y="1104900"/>
            <a:ext cx="2640254" cy="176212"/>
            <a:chOff x="4775873" y="1104900"/>
            <a:chExt cx="2640254" cy="176212"/>
          </a:xfrm>
        </p:grpSpPr>
        <p:sp>
          <p:nvSpPr>
            <p:cNvPr id="6" name="TextBox 6"/>
            <p:cNvSpPr txBox="1"/>
            <p:nvPr/>
          </p:nvSpPr>
          <p:spPr>
            <a:xfrm>
              <a:off x="4775873" y="1104900"/>
              <a:ext cx="26402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spc="225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TREMAC × TRUSTED DATA SPACE</a:t>
              </a:r>
            </a:p>
          </p:txBody>
        </p:sp>
      </p:grpSp>
      <p:grpSp>
        <p:nvGrpSpPr>
          <p:cNvPr id="20" name="closing-anchors"/>
          <p:cNvGrpSpPr/>
          <p:nvPr/>
        </p:nvGrpSpPr>
        <p:grpSpPr>
          <a:xfrm>
            <a:off x="1363980" y="1428750"/>
            <a:ext cx="9456420" cy="591820"/>
            <a:chOff x="1363980" y="1428750"/>
            <a:chExt cx="9456420" cy="591820"/>
          </a:xfrm>
        </p:grpSpPr>
        <p:sp>
          <p:nvSpPr>
            <p:cNvPr id="8" name="Line 8"/>
            <p:cNvSpPr/>
            <p:nvPr/>
          </p:nvSpPr>
          <p:spPr>
            <a:xfrm>
              <a:off x="1371600" y="14287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6838" y="1543050"/>
              <a:ext cx="144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3980" y="1727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数据在本地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14287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86188" y="1543050"/>
              <a:ext cx="144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83330" y="172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隐私保护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210300" y="14287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05538" y="1543050"/>
              <a:ext cx="144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02680" y="17272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可管控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629650" y="14287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24888" y="1543050"/>
              <a:ext cx="144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2030" y="1727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能做大科研</a:t>
              </a:r>
            </a:p>
          </p:txBody>
        </p:sp>
      </p:grpSp>
      <p:grpSp>
        <p:nvGrpSpPr>
          <p:cNvPr id="22" name="closing-line"/>
          <p:cNvGrpSpPr/>
          <p:nvPr/>
        </p:nvGrpSpPr>
        <p:grpSpPr>
          <a:xfrm>
            <a:off x="3854768" y="2216150"/>
            <a:ext cx="4482465" cy="381381"/>
            <a:chOff x="3854768" y="2216150"/>
            <a:chExt cx="4482465" cy="381381"/>
          </a:xfrm>
        </p:grpSpPr>
        <p:sp>
          <p:nvSpPr>
            <p:cNvPr id="21" name="TextBox 21"/>
            <p:cNvSpPr txBox="1"/>
            <p:nvPr/>
          </p:nvSpPr>
          <p:spPr>
            <a:xfrm>
              <a:off x="3854768" y="2216150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>
                      <a:alphaMod val="92000"/>
                    </a:srgbClr>
                  </a:solidFill>
                  <a:latin typeface="+mn-lt"/>
                  <a:ea typeface="+mn-ea"/>
                  <a:cs typeface="+mn-cs"/>
                </a:rPr>
                <a:t>从可信研究环境，到可信科研协同网络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090909"/>
      </a:dk1>
      <a:lt1>
        <a:srgbClr val="FFFFFF"/>
      </a:lt1>
      <a:dk2>
        <a:srgbClr val="1F497D"/>
      </a:dk2>
      <a:lt2>
        <a:srgbClr val="F4F7FF"/>
      </a:lt2>
      <a:accent1>
        <a:srgbClr val="0058FF"/>
      </a:accent1>
      <a:accent2>
        <a:srgbClr val="66A3FF"/>
      </a:accent2>
      <a:accent3>
        <a:srgbClr val="0B2A6B"/>
      </a:accent3>
      <a:accent4>
        <a:srgbClr val="0058FF"/>
      </a:accent4>
      <a:accent5>
        <a:srgbClr val="5A6070"/>
      </a:accent5>
      <a:accent6>
        <a:srgbClr val="DCE3F2"/>
      </a:accent6>
      <a:hlink>
        <a:srgbClr val="66A3FF"/>
      </a:hlink>
      <a:folHlink>
        <a:srgbClr val="0B2A6B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090909"/>
      </a:dk1>
      <a:lt1>
        <a:srgbClr val="FFFFFF"/>
      </a:lt1>
      <a:dk2>
        <a:srgbClr val="1F497D"/>
      </a:dk2>
      <a:lt2>
        <a:srgbClr val="F4F7FF"/>
      </a:lt2>
      <a:accent1>
        <a:srgbClr val="0058FF"/>
      </a:accent1>
      <a:accent2>
        <a:srgbClr val="66A3FF"/>
      </a:accent2>
      <a:accent3>
        <a:srgbClr val="0B2A6B"/>
      </a:accent3>
      <a:accent4>
        <a:srgbClr val="0058FF"/>
      </a:accent4>
      <a:accent5>
        <a:srgbClr val="5A6070"/>
      </a:accent5>
      <a:accent6>
        <a:srgbClr val="DCE3F2"/>
      </a:accent6>
      <a:hlink>
        <a:srgbClr val="66A3FF"/>
      </a:hlink>
      <a:folHlink>
        <a:srgbClr val="0B2A6B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中国电子云内容 Theme">
  <a:themeElements>
    <a:clrScheme name="PPT Master">
      <a:dk1>
        <a:srgbClr val="090909"/>
      </a:dk1>
      <a:lt1>
        <a:srgbClr val="FFFFFF"/>
      </a:lt1>
      <a:dk2>
        <a:srgbClr val="1F497D"/>
      </a:dk2>
      <a:lt2>
        <a:srgbClr val="F4F7FF"/>
      </a:lt2>
      <a:accent1>
        <a:srgbClr val="0058FF"/>
      </a:accent1>
      <a:accent2>
        <a:srgbClr val="66A3FF"/>
      </a:accent2>
      <a:accent3>
        <a:srgbClr val="0B2A6B"/>
      </a:accent3>
      <a:accent4>
        <a:srgbClr val="0058FF"/>
      </a:accent4>
      <a:accent5>
        <a:srgbClr val="5A6070"/>
      </a:accent5>
      <a:accent6>
        <a:srgbClr val="DCE3F2"/>
      </a:accent6>
      <a:hlink>
        <a:srgbClr val="66A3FF"/>
      </a:hlink>
      <a:folHlink>
        <a:srgbClr val="0B2A6B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2026-10-21T11:16:51Z</dcterms:created>
  <dcterms:modified xsi:type="dcterms:W3CDTF">2026-10-21T11:16:51Z</dcterms:modified>
  <cp:category/>
  <cp:contentStatus/>
</cp:coreProperties>
</file>
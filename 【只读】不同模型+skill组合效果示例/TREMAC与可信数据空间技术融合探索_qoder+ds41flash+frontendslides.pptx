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页｜封面 · 开场痛点与四大目标</a:t>
            </a:r>
          </a:p>
          <a:p>
            <a:r>
              <a:t>建议用时：1 分 9 秒（累计 1 分 9 秒）</a:t>
            </a:r>
          </a:p>
          <a:p/>
          <a:p>
            <a:r>
              <a:t>各位领导、各位专家，大家下午好！我是中国电子云的李化名，非常荣幸向各位做一次汇报与分享。</a:t>
            </a:r>
          </a:p>
          <a:p/>
          <a:p>
            <a:r>
              <a:t>前面有专家介绍了 TRE 在国外的应用；国内面向数据流通利用，也有自己的技术路线——可信数据空间。</a:t>
            </a:r>
          </a:p>
          <a:p/>
          <a:p>
            <a:r>
              <a:t>今天在座很多是医院代表。大家搞科研最头疼的是什么？想做顶尖的大科研，单靠一家医院的样本往往不够，必须多家联合；可一提到把数据拿出来共享，院长和信息科主任就犯难了：病人隐私泄露了谁负责？积累十几年的数据资产被人拷走了，主权怎么保障？</a:t>
            </a:r>
          </a:p>
          <a:p/>
          <a:p>
            <a:r>
              <a:t>所以今天我想用 15 分钟讲清楚一件事：如何用最新的技术底座，帮大家稳稳实现四个目标——原始数据留在本地；患者隐私全程受保护；数据给谁用、怎么用全程可管控；并在这三个前提下，足不出户联合做国家级乃至国际级的大科研。这就是从单点的"可信研究环境"，走向跨机构的"可信科研协同网络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页｜国家高度重视数据要素，可信数据空间是核心技术路线</a:t>
            </a:r>
          </a:p>
          <a:p>
            <a:r>
              <a:t>建议用时：1 分 15 秒（累计 2 分 24 秒）</a:t>
            </a:r>
          </a:p>
          <a:p/>
          <a:p>
            <a:r>
              <a:t>先看一眼国家大势。很多专家会问：医疗数据安全管得这么严，我们搞跨院协同合规吗？</a:t>
            </a:r>
          </a:p>
          <a:p/>
          <a:p>
            <a:r>
              <a:t>请看这张政策脉络图。从顶层的"数据 20 条"——数据领域的宪法，到国家数据局的《国家数据基础设施建设指引》和《可信数据空间发展行动计划》，国家已明确把"可信数据空间"定为核心技术路线。信号很清楚：不是让大家冒着违规风险"私下拷硬盘"，而是用国家标准的可信数据基础设施，既守住安全红线，又名正言顺地支撑科研与临床创新。</a:t>
            </a:r>
          </a:p>
          <a:p/>
          <a:p>
            <a:r>
              <a:t>那什么是可信数据空间？打个比方，就是一张"有严格门禁、有统一规则、还能自动记账的数据流通高速路网"，有三个核心能力：</a:t>
            </a:r>
          </a:p>
          <a:p/>
          <a:p>
            <a:r>
              <a:t>- 一是可信管控：靠共识规则、数字合约和使用控制，让医院对自己的数据有绝对控制权；</a:t>
            </a:r>
          </a:p>
          <a:p>
            <a:r>
              <a:t>- 二是资源交互：用标准连接器把数据孤岛连成网——但连网绝不等于搬空医院的库房；</a:t>
            </a:r>
          </a:p>
          <a:p>
            <a:r>
              <a:t>- 三是价值共创：医院、高校、实验室、药企和算法团队协同做科研，成果按贡献清清楚楚分配权益。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页｜TRE 与 TDS：两条路径正在交汇，能力层级互补</a:t>
            </a:r>
          </a:p>
          <a:p>
            <a:r>
              <a:t>建议用时：1 分 48 秒（累计 4 分 12 秒）</a:t>
            </a:r>
          </a:p>
          <a:p/>
          <a:p>
            <a:r>
              <a:t>再看今天的两位主角：TRE，可信研究环境；TDS，可信数据空间。它们以前沿两条线各自演进。</a:t>
            </a:r>
          </a:p>
          <a:p/>
          <a:p>
            <a:r>
              <a:t>左边 TRE，各位在国际顶刊里经常看到：最早像医院自建的"全封闭安全实验室"，做隔离计算和成果审核；后来走向云化 AI 训练；今天单靠一家样本不够用了，正在走向"联邦化"，多个节点互联做跨机构联合分析。右边 TDS，从早期的数据目录共享，到 2024 年的可信数据空间，再到 2025 年跨空间的"身份互认、规则互认、跨域协作"。</a:t>
            </a:r>
          </a:p>
          <a:p/>
          <a:p>
            <a:r>
              <a:t>大家看中间的交汇点：TRE 走向联邦协作，可信数据空间走向空间互联，两条路径在医疗科研场景交汇，成果就是一个既保证数据不出域、又能跨机构联合研究的可信科研协作网络。</a:t>
            </a:r>
          </a:p>
          <a:p/>
          <a:p>
            <a:r>
              <a:t>那已经有 TRE，为什么还要融合可信数据空间？两者都有可信身份、细粒度授权和隐私保护的基础，但能力层级不同：</a:t>
            </a:r>
          </a:p>
          <a:p/>
          <a:p>
            <a:r>
              <a:t>- TRE 管环境、研究、计算、输出，解决"敏感数据怎么算"——遵循国际五安全原则，原始病历死死留在环境内，研究员在虚拟桌面里算完，只能导出经审查的统计表、图表或模型参数，连一个病人的明细都带不走；</a:t>
            </a:r>
          </a:p>
          <a:p>
            <a:r>
              <a:t>- 可信数据空间管连接、规则、流通、价值，解决"数据怎么流通"——十几家医院各有一间保密实验室，怎么连起来？怎么签联合研究合约？怎么监管履约、分配收益？</a:t>
            </a:r>
          </a:p>
          <a:p/>
          <a:p>
            <a:r>
              <a:t>两者一组合，就从"单点的安全研究环境"升级成"跨机构的科研协作网络"。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页｜融合之后怎么跑：科研协作五步闭环与全景架构</a:t>
            </a:r>
          </a:p>
          <a:p>
            <a:r>
              <a:t>建议用时：1 分 48 秒（累计 6 分钟）</a:t>
            </a:r>
          </a:p>
          <a:p/>
          <a:p>
            <a:r>
              <a:t>融合之后，发起一项多中心科研分几步？我们总结了"五步闭环"：</a:t>
            </a:r>
          </a:p>
          <a:p/>
          <a:p>
            <a:r>
              <a:t>- 第一步，主体接入与资源发布：医院通过连接器接入，不上传任何病人原始数据，只发布一条目录——"我院有 5000 例某呼吸疾病脱敏队列数据，可用于科研"；</a:t>
            </a:r>
          </a:p>
          <a:p>
            <a:r>
              <a:t>- 第二步，项目申请与供需匹配：课题牵头方提出需求，在目录里匹配到合适的几家医院；</a:t>
            </a:r>
          </a:p>
          <a:p>
            <a:r>
              <a:t>- 第三步，规则约定与授权：签署"数字合约"，允许哪几个人、什么期限、用什么工具、输出什么要求、责任边界，全部写成系统强制执行的规则；</a:t>
            </a:r>
          </a:p>
          <a:p>
            <a:r>
              <a:t>- 第四步，进入 TRE 开展计算：数据不脱离医院控制，研究人员在受控环境做分析、训练与验证；</a:t>
            </a:r>
          </a:p>
          <a:p>
            <a:r>
              <a:t>- 第五步，输出审查与成果交付：结果经风险披露审查才能导出；全程履约存证、计量、评价，作为收益与成果分配的依据。</a:t>
            </a:r>
          </a:p>
          <a:p/>
          <a:p>
            <a:r>
              <a:t>落到系统上，就是下面这张全景架构图。最底层：A 医院有临床诊疗数据，B 医院有医学影像数据，C 机构有科研队列数据，原始数据 100% 留在各家本地；各家在自家 TRE 的受控工作区做本地计算，经输出审查后，只有合规的汇总结果往上走。中间层是可信数据空间协同服务平台，用"机构接入连接器 + 中心服务平台"把身份、目录、项目、授权、任务、审计全部管起来。</a:t>
            </a:r>
          </a:p>
          <a:p/>
          <a:p>
            <a:r>
              <a:t>四句话概括：资源跨机构发现、授权按项目协同、计算在可信环境执行、结果经审查共享——原始数据一步没出自家大门，跨机构科研却高效跑起来了！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页｜五项关键技术（上）：认得准 · 找得到 · 管得住</a:t>
            </a:r>
          </a:p>
          <a:p>
            <a:r>
              <a:t>建议用时：1 分 33 秒（累计 7 分 33 秒）</a:t>
            </a:r>
          </a:p>
          <a:p/>
          <a:p>
            <a:r>
              <a:t>要支撑这套闭环，需要五项关键技术，我用五个关键词概括：认得准、找得到、管得住、送不出、算得了。这一页先讲前三项。</a:t>
            </a:r>
          </a:p>
          <a:p/>
          <a:p>
            <a:r>
              <a:t>- ① 融合身份认证——认得准：把权威 CA 数字证书和区块链分布式身份（DID）结合，做到"权威签发、链上存证、跨域互认"。过去 10 家医院协同就有 10 套账号体系，重复登录、重复认证；现在患者、医生和机构统一身份认证一次、所有机构互认，既免去重复建号，又严防冒名调阅，打通"数据敢于供得出"的第一道信任门槛。</a:t>
            </a:r>
          </a:p>
          <a:p>
            <a:r>
              <a:t>- ② 智能检索推荐——找得到：A 医院写"慢阻肺"、B 医院写"COPD"，关键词搜半天也匹配不上。我们把大模型 RAG 检索增强生成和医学知识图谱结合，医生用自然语言输入"COPD + 肺功能下降 + 近 3 年"，系统直接推荐匹配的脱敏病例集。</a:t>
            </a:r>
          </a:p>
          <a:p>
            <a:r>
              <a:t>- ③ 数字合约与使用控制——管得住：这是可信数据空间的核心。过去签完纸质协议，对方用了几次、有没有超期乱用，医院很难实时掌握。现在把规则写进区块链数字合约，配合使用控制引擎：药企申请某批脱敏数据，系统严格按"仅限研究用途、限 100 次调用"自动控量，"付没付钱、能不能用、用多少次"全部变成机器执行的铁律。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页｜五项关键技术（下）：送不出 · 算得了</a:t>
            </a:r>
          </a:p>
          <a:p>
            <a:r>
              <a:t>建议用时：1 分 18 秒（累计 8 分 51 秒）</a:t>
            </a:r>
          </a:p>
          <a:p/>
          <a:p>
            <a:r>
              <a:t>后两项技术，解决"数据进来以后"的安全问题。</a:t>
            </a:r>
          </a:p>
          <a:p/>
          <a:p>
            <a:r>
              <a:t>- ④ 安全数据交付——送不出：权限批了，研究人员进来分析住院病历，怎么防止复制走、U 盘拷走、截屏流出去？我们用"云桌面 + 数据沙箱"双重隔离：沙箱在底层用容器、虚拟化和硬件隔离（如 Intel SGX）保护数据处理，云桌面在前端控制访问会话。真实数据只在服务端运行，传到研究员屏幕上的只是一串加密的"画面像素流"——禁止复制粘贴、U 盘自动禁用、截屏自带溯源水印，做到"可用不可见、终端不落地"，一条原始数据都带不出医院。</a:t>
            </a:r>
          </a:p>
          <a:p>
            <a:r>
              <a:t>- ⑤ 安全数据计算——算得了：如果多家医院的数据连进同一个沙箱都不允许，怎么一起算？这就用隐私保护计算：联邦学习、多方安全计算、差分隐私和同态加密。比如联合训练"肺癌早期筛查 AI 模型"：一家样本太少，模型泛化差、容易看走眼；集中训练又有极大隐私风险。现在各家 CT 影像和病历不出本院，只交换加密后的模型参数，实现"数据不动模型动"。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页｜模型融合训练技术方案与客观技术指标</a:t>
            </a:r>
          </a:p>
          <a:p>
            <a:r>
              <a:t>建议用时：1 分 28 秒（累计 10 分 19 秒）</a:t>
            </a:r>
          </a:p>
          <a:p/>
          <a:p>
            <a:r>
              <a:t>讲到这儿，搞医疗 AI 的专家一定会问最灵魂的问题：数据留在本地、只传参数合练，模型会变笨吗？比得上把所有数据堆在一起练吗？</a:t>
            </a:r>
          </a:p>
          <a:p/>
          <a:p>
            <a:r>
              <a:t>为此我们研发了"异步本地更新的模型融合技术"：A、B 两家医院各自用私域临床数据在本地训练模型副本，数据完全不互通；再通过"梯度融合器"定期把两边学到的本地梯度同步融合，升级成全局行业模型——数据不出域，价值可流转，模型共同成长。</a:t>
            </a:r>
          </a:p>
          <a:p/>
          <a:p>
            <a:r>
              <a:t>效果看右边的实测成绩单。我们在不同数据集、不同任务、五种参数尺寸的大模型上做了对比：方案 A 是两家各 64 万条样本合并成 128 万条一起训练，定为 100% 基准；方案 B 是数据不合并、各自本地训练再做梯度融合。</a:t>
            </a:r>
          </a:p>
          <a:p/>
          <a:p>
            <a:r>
              <a:t>中文医疗对话 medical_zh 任务上，不合并也达到合并效果的 92.85%；多任务和预训练语料上达到 108.2%；14B、8B、4B 模型上更是达到 108% 到 133%，实现反超——因为分开训练再融合，反而减少了单一脏数据的过拟合干扰。</a:t>
            </a:r>
          </a:p>
          <a:p/>
          <a:p>
            <a:r>
              <a:t>综合来看，效果达成度在 82% 到 133% 之间。数据留在本地，不仅安全合规，效果也完全能支撑顶尖的大科研！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页｜实践案例：统一授权商保理赔 与 心脏病 AI 密文诊断</a:t>
            </a:r>
          </a:p>
          <a:p>
            <a:r>
              <a:t>建议用时：1 分 42 秒（累计 12 分 1 秒）</a:t>
            </a:r>
          </a:p>
          <a:p/>
          <a:p>
            <a:r>
              <a:t>接下来汇报两个已经跑通的标杆案例，都建在深圳数据基础设施与可信数据空间之上。</a:t>
            </a:r>
          </a:p>
          <a:p/>
          <a:p>
            <a:r>
              <a:t>第一个，统一授权推动个人医疗数据合规流通——"商保理赔"。 过去理赔难、理赔慢：数据分散在各医院，受隐私合规限制，保司与医院无法拉通，医院配合也缺激励。深圳依托深圳数据交易所的可信数据空间与统一授权平台，在采集端（挂号时）和使用端（线上提交理赔时）建立双重个人统一授权，拉通医院 HIS、卫健委人口健康平台与保险公司，并按"准许成本 + 合理收益"为医院构建定价与收益分配机制。</a:t>
            </a:r>
          </a:p>
          <a:p/>
          <a:p>
            <a:r>
              <a:t>据公开报道，南山区通过公共数据授权运营，联合微信、微保落成深圳首个"商保直付"通道：覆盖公立医院就诊人群 300 万、住院人群 14 万，门诊平均理赔 28 分钟，住院最快 2 小时，保险机构降本 50%——老百姓少跑腿、医院合规获益、保司成本下降，一举三得。</a:t>
            </a:r>
          </a:p>
          <a:p/>
          <a:p>
            <a:r>
              <a:t>第二个，"心脏病 AI 密文风险诊断模型"。 针对多院数据难共享、安全风险高、基层诊断能力不均、真实世界研究难开展四大痛点：医院 A、B、C 接入平台，原始数据留在本院，在院内完成加密处理；再把密文数据送入可信数据空间的隐私计算环境，多方安全融合、联合建模。现在这个模型既辅助临床医生做心脏病风险预测、赋能基层诊疗，也合规支撑了跨院真实世界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页｜国际化协作展望：破解跨境医工科研难题</a:t>
            </a:r>
          </a:p>
          <a:p>
            <a:r>
              <a:t>建议用时：48 秒（累计 12 分 49 秒）</a:t>
            </a:r>
          </a:p>
          <a:p/>
          <a:p>
            <a:r>
              <a:t>再往前看一步：我们不仅要在国内医院之间协同，更要跟港澳、跟国际顶尖科研机构做跨境联合研究，而数据出境管得更严，怎么办？</a:t>
            </a:r>
          </a:p>
          <a:p/>
          <a:p>
            <a:r>
              <a:t>"TREMAC + 可信数据空间"天生就是破解跨境医工科研难题的金钥匙。国际上广泛使用 TRE 标准，国内正在推广可信数据空间标准。用这套融合架构，内地数据留在内地机房，港澳和海外数据留在当地，不做敏感的原始数据跨境搬运，只做"跨境身份互认、规则互认、任务跨境分发、合规结果跨境共享"，就能在符合国家数据出境安全监管的前提下，把大湾区乃至全球的医疗科研网络连成一体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页｜总结升华 · 致谢</a:t>
            </a:r>
          </a:p>
          <a:p>
            <a:r>
              <a:t>建议用时：38 秒（累计 13 分 27 秒）</a:t>
            </a:r>
          </a:p>
          <a:p/>
          <a:p>
            <a:r>
              <a:t>各位领导、各位专家：TREMAC 与可信数据空间的融合，归根结底是给实验室和医院打造一套"既能干得成大事，又能睡得着觉"的科研基座——</a:t>
            </a:r>
          </a:p>
          <a:p/>
          <a:p>
            <a:r>
              <a:t>- 第一，数据稳稳留在本地，守住各家的核心资产；</a:t>
            </a:r>
          </a:p>
          <a:p>
            <a:r>
              <a:t>- 第二，患者隐私全栈保护，不触碰法律与伦理红线；</a:t>
            </a:r>
          </a:p>
          <a:p>
            <a:r>
              <a:t>- 第三，每一次数据使用清晰可控，数据持有方握着总开关；</a:t>
            </a:r>
          </a:p>
          <a:p>
            <a:r>
              <a:t>- 最终，把各家医院和科研机构连接成网，一起做出具有国际影响力的大科研、大成果！</a:t>
            </a:r>
          </a:p>
          <a:p/>
          <a:p>
            <a:r>
              <a:t>我的汇报就到这里，谢谢大家！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TREMAC</a:t>
            </a:r>
            <a:r>
              <a:rPr sz="8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×  可信数据空间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02336"/>
            <a:ext cx="103327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中国电子云</a:t>
            </a:r>
          </a:p>
        </p:txBody>
      </p:sp>
      <p:sp>
        <p:nvSpPr>
          <p:cNvPr id="4" name="Oval 3"/>
          <p:cNvSpPr/>
          <p:nvPr/>
        </p:nvSpPr>
        <p:spPr>
          <a:xfrm>
            <a:off x="7443215" y="932688"/>
            <a:ext cx="4535424" cy="4535424"/>
          </a:xfrm>
          <a:prstGeom prst="ellipse">
            <a:avLst/>
          </a:prstGeom>
          <a:noFill/>
          <a:ln w="9525">
            <a:solidFill>
              <a:srgbClr val="E1EAF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79" y="1444752"/>
            <a:ext cx="3511296" cy="3511296"/>
          </a:xfrm>
          <a:prstGeom prst="ellipse">
            <a:avLst/>
          </a:prstGeom>
          <a:noFill/>
          <a:ln w="11430">
            <a:solidFill>
              <a:srgbClr val="D6E2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85632" y="1975104"/>
            <a:ext cx="2450592" cy="2450592"/>
          </a:xfrm>
          <a:prstGeom prst="ellipse">
            <a:avLst/>
          </a:prstGeom>
          <a:noFill/>
          <a:ln w="9525">
            <a:solidFill>
              <a:srgbClr val="E6EDF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97696" y="2487168"/>
            <a:ext cx="1426464" cy="1426464"/>
          </a:xfrm>
          <a:prstGeom prst="ellipse">
            <a:avLst/>
          </a:prstGeom>
          <a:noFill/>
          <a:ln w="6350">
            <a:solidFill>
              <a:srgbClr val="EDF2FB"/>
            </a:solidFill>
            <a:prstDash val="sysDot"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710928" y="3200400"/>
            <a:ext cx="1755648" cy="0"/>
          </a:xfrm>
          <a:prstGeom prst="line">
            <a:avLst/>
          </a:prstGeom>
          <a:ln w="9525">
            <a:solidFill>
              <a:srgbClr val="D5E2F6"/>
            </a:solidFill>
          </a:ln>
        </p:spPr>
      </p:cxnSp>
      <p:sp>
        <p:nvSpPr>
          <p:cNvPr id="9" name="Oval 8"/>
          <p:cNvSpPr/>
          <p:nvPr/>
        </p:nvSpPr>
        <p:spPr>
          <a:xfrm>
            <a:off x="11425428" y="3159252"/>
            <a:ext cx="82296" cy="82296"/>
          </a:xfrm>
          <a:prstGeom prst="ellipse">
            <a:avLst/>
          </a:prstGeom>
          <a:solidFill>
            <a:srgbClr val="B9CC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9710928" y="1444752"/>
            <a:ext cx="0" cy="1755648"/>
          </a:xfrm>
          <a:prstGeom prst="line">
            <a:avLst/>
          </a:prstGeom>
          <a:ln w="9525">
            <a:solidFill>
              <a:srgbClr val="D5E2F6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9669780" y="1403604"/>
            <a:ext cx="82296" cy="82296"/>
          </a:xfrm>
          <a:prstGeom prst="ellipse">
            <a:avLst/>
          </a:prstGeom>
          <a:solidFill>
            <a:srgbClr val="B9CC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7955279" y="3200399"/>
            <a:ext cx="1755649" cy="1"/>
          </a:xfrm>
          <a:prstGeom prst="line">
            <a:avLst/>
          </a:prstGeom>
          <a:ln w="9525">
            <a:solidFill>
              <a:srgbClr val="D5E2F6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7914131" y="3159251"/>
            <a:ext cx="82296" cy="82296"/>
          </a:xfrm>
          <a:prstGeom prst="ellipse">
            <a:avLst/>
          </a:prstGeom>
          <a:solidFill>
            <a:srgbClr val="B9CC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710928" y="3200400"/>
            <a:ext cx="0" cy="1755648"/>
          </a:xfrm>
          <a:prstGeom prst="line">
            <a:avLst/>
          </a:prstGeom>
          <a:ln w="9525">
            <a:solidFill>
              <a:srgbClr val="D5E2F6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9669780" y="4914900"/>
            <a:ext cx="82296" cy="82296"/>
          </a:xfrm>
          <a:prstGeom prst="ellipse">
            <a:avLst/>
          </a:prstGeom>
          <a:solidFill>
            <a:srgbClr val="B9CC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87910" y="2325296"/>
            <a:ext cx="51206" cy="51206"/>
          </a:xfrm>
          <a:prstGeom prst="ellipse">
            <a:avLst/>
          </a:prstGeom>
          <a:solidFill>
            <a:srgbClr val="C9D8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34824" y="1072210"/>
            <a:ext cx="51206" cy="51206"/>
          </a:xfrm>
          <a:prstGeom prst="ellipse">
            <a:avLst/>
          </a:prstGeom>
          <a:solidFill>
            <a:srgbClr val="C9D8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35824" y="1072210"/>
            <a:ext cx="51206" cy="51206"/>
          </a:xfrm>
          <a:prstGeom prst="ellipse">
            <a:avLst/>
          </a:prstGeom>
          <a:solidFill>
            <a:srgbClr val="C9D8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82738" y="2325296"/>
            <a:ext cx="51206" cy="51206"/>
          </a:xfrm>
          <a:prstGeom prst="ellipse">
            <a:avLst/>
          </a:prstGeom>
          <a:solidFill>
            <a:srgbClr val="C9D8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2738" y="4024296"/>
            <a:ext cx="51206" cy="51206"/>
          </a:xfrm>
          <a:prstGeom prst="ellipse">
            <a:avLst/>
          </a:prstGeom>
          <a:solidFill>
            <a:srgbClr val="C9D8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35824" y="5277382"/>
            <a:ext cx="51206" cy="51206"/>
          </a:xfrm>
          <a:prstGeom prst="ellipse">
            <a:avLst/>
          </a:prstGeom>
          <a:solidFill>
            <a:srgbClr val="C9D8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34824" y="5277382"/>
            <a:ext cx="51206" cy="51206"/>
          </a:xfrm>
          <a:prstGeom prst="ellipse">
            <a:avLst/>
          </a:prstGeom>
          <a:solidFill>
            <a:srgbClr val="C9D8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787910" y="4024296"/>
            <a:ext cx="51206" cy="51206"/>
          </a:xfrm>
          <a:prstGeom prst="ellipse">
            <a:avLst/>
          </a:prstGeom>
          <a:solidFill>
            <a:srgbClr val="C9D8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8467344" y="1956815"/>
            <a:ext cx="1243584" cy="1243585"/>
          </a:xfrm>
          <a:prstGeom prst="line">
            <a:avLst/>
          </a:prstGeom>
          <a:ln w="11430">
            <a:solidFill>
              <a:srgbClr val="B9CEF4">
                <a:alpha val="7500000"/>
              </a:srgbClr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9710928" y="1956815"/>
            <a:ext cx="1243583" cy="1243585"/>
          </a:xfrm>
          <a:prstGeom prst="line">
            <a:avLst/>
          </a:prstGeom>
          <a:ln w="11430">
            <a:solidFill>
              <a:srgbClr val="B9CEF4">
                <a:alpha val="7500000"/>
              </a:srgbClr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9710928" y="3200400"/>
            <a:ext cx="1243583" cy="1243584"/>
          </a:xfrm>
          <a:prstGeom prst="line">
            <a:avLst/>
          </a:prstGeom>
          <a:ln w="11430">
            <a:solidFill>
              <a:srgbClr val="B9CEF4">
                <a:alpha val="7500000"/>
              </a:srgbClr>
            </a:solidFill>
          </a:ln>
        </p:spPr>
      </p:cxnSp>
      <p:cxnSp>
        <p:nvCxnSpPr>
          <p:cNvPr id="27" name="Connector 26"/>
          <p:cNvCxnSpPr/>
          <p:nvPr/>
        </p:nvCxnSpPr>
        <p:spPr>
          <a:xfrm flipH="1">
            <a:off x="8467344" y="3200400"/>
            <a:ext cx="1243584" cy="1243584"/>
          </a:xfrm>
          <a:prstGeom prst="line">
            <a:avLst/>
          </a:prstGeom>
          <a:ln w="11430">
            <a:solidFill>
              <a:srgbClr val="B9CEF4">
                <a:alpha val="7500000"/>
              </a:srgbClr>
            </a:solidFill>
          </a:ln>
        </p:spPr>
      </p:cxnSp>
      <p:sp>
        <p:nvSpPr>
          <p:cNvPr id="28" name="Oval 27"/>
          <p:cNvSpPr/>
          <p:nvPr/>
        </p:nvSpPr>
        <p:spPr>
          <a:xfrm>
            <a:off x="8366760" y="1856231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8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38083" y="1927555"/>
            <a:ext cx="58521" cy="58521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463040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01</a:t>
            </a:r>
            <a:r>
              <a:rPr sz="9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数据在本地</a:t>
            </a:r>
          </a:p>
        </p:txBody>
      </p:sp>
      <p:sp>
        <p:nvSpPr>
          <p:cNvPr id="31" name="Oval 30"/>
          <p:cNvSpPr/>
          <p:nvPr/>
        </p:nvSpPr>
        <p:spPr>
          <a:xfrm>
            <a:off x="10853928" y="1856231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8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25251" y="1927555"/>
            <a:ext cx="58521" cy="58521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87584" y="1463040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02</a:t>
            </a:r>
            <a:r>
              <a:rPr sz="9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隐私保护</a:t>
            </a:r>
          </a:p>
        </p:txBody>
      </p:sp>
      <p:sp>
        <p:nvSpPr>
          <p:cNvPr id="34" name="Oval 33"/>
          <p:cNvSpPr/>
          <p:nvPr/>
        </p:nvSpPr>
        <p:spPr>
          <a:xfrm>
            <a:off x="10853928" y="43434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8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25251" y="4414723"/>
            <a:ext cx="58521" cy="58521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87584" y="4608576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03</a:t>
            </a:r>
            <a:r>
              <a:rPr sz="9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可管控</a:t>
            </a:r>
          </a:p>
        </p:txBody>
      </p:sp>
      <p:sp>
        <p:nvSpPr>
          <p:cNvPr id="37" name="Oval 36"/>
          <p:cNvSpPr/>
          <p:nvPr/>
        </p:nvSpPr>
        <p:spPr>
          <a:xfrm>
            <a:off x="8366760" y="43434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8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38083" y="4414723"/>
            <a:ext cx="58521" cy="58521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0" y="4608576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04</a:t>
            </a:r>
            <a:r>
              <a:rPr sz="9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能做大科研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73152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A9B8CF"/>
                </a:solidFill>
                <a:latin typeface="Bahnschrift"/>
                <a:ea typeface="Bahnschrift"/>
                <a:cs typeface="Bahnschrift"/>
              </a:rPr>
              <a:t>T R U S T   B O U N D A R Y</a:t>
            </a:r>
          </a:p>
        </p:txBody>
      </p:sp>
      <p:sp>
        <p:nvSpPr>
          <p:cNvPr id="41" name="Oval 40"/>
          <p:cNvSpPr/>
          <p:nvPr/>
        </p:nvSpPr>
        <p:spPr>
          <a:xfrm>
            <a:off x="9345167" y="2834640"/>
            <a:ext cx="731520" cy="731520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45167" y="3026664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5167" y="322783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 spc="120">
                <a:solidFill>
                  <a:srgbClr val="C9DAFF"/>
                </a:solidFill>
                <a:latin typeface="Bahnschrift"/>
                <a:ea typeface="Bahnschrift"/>
                <a:cs typeface="Bahnschrift"/>
              </a:rPr>
              <a:t>HUB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1243584"/>
            <a:ext cx="41148" cy="45720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" y="1225296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TREMAC  ×  TRUSTED DATA SPACE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1591056"/>
            <a:ext cx="6035040" cy="12070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TREMAC</a:t>
            </a:r>
            <a:r>
              <a:rPr sz="37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与可信数据空间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37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技术融合探索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318211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spc="60">
                <a:solidFill>
                  <a:srgbClr val="43526B"/>
                </a:solidFill>
                <a:latin typeface="Microsoft YaHei Light"/>
                <a:ea typeface="Microsoft YaHei Light"/>
                <a:cs typeface="Microsoft YaHei Light"/>
              </a:rPr>
              <a:t>从可信研究环境，到可信科研协同网络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363931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面向医疗科研的可信协同基座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22960" y="4754880"/>
            <a:ext cx="5166360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822960" y="495604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60">
                <a:solidFill>
                  <a:srgbClr val="9AA8BC"/>
                </a:solidFill>
                <a:latin typeface="Microsoft YaHei"/>
                <a:ea typeface="Microsoft YaHei"/>
                <a:cs typeface="Microsoft YaHei"/>
              </a:rPr>
              <a:t>演 讲 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91640" y="49194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李化名</a:t>
            </a:r>
            <a:r>
              <a:rPr sz="100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  ·  中国电子云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3218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60">
                <a:solidFill>
                  <a:srgbClr val="9AA8BC"/>
                </a:solidFill>
                <a:latin typeface="Microsoft YaHei"/>
                <a:ea typeface="Microsoft YaHei"/>
                <a:cs typeface="Microsoft YaHei"/>
              </a:rPr>
              <a:t>主 办 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91640" y="53035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广州实验室  ×  澳门科技大学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TREMAC</a:t>
            </a:r>
            <a:r>
              <a:rPr sz="8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×  可信数据空间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0152" y="3474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02 / 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640080"/>
            <a:ext cx="10543032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822960" y="85953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02</a:t>
            </a:r>
            <a:r>
              <a:rPr sz="900" b="0" i="0" spc="140">
                <a:solidFill>
                  <a:srgbClr val="9AA8BC"/>
                </a:solidFill>
                <a:latin typeface="Bahnschrift"/>
                <a:ea typeface="Bahnschrift"/>
                <a:cs typeface="Bahnschrift"/>
              </a:rPr>
              <a:t>   /   </a:t>
            </a:r>
            <a:r>
              <a:rPr sz="850" b="0" i="0" spc="18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国家大势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60704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可信数据空间，是国家选定的技术路线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9692640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从顶层制度到基础设施，合规开展跨院协同的路径已经铺好。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212848"/>
            <a:ext cx="10543032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822960" y="237744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4086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数据二十条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88336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数据领域的顶层制度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37744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4086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国家数据基础设施建设指引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688336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把可信流通写进基础设施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6" y="237744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34086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可信数据空间发展行动计划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688336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从方向到落地的时间表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163824"/>
            <a:ext cx="10543032" cy="786384"/>
          </a:xfrm>
          <a:prstGeom prst="rect">
            <a:avLst/>
          </a:prstGeom>
          <a:solidFill>
            <a:srgbClr val="F3F7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163824"/>
            <a:ext cx="45720" cy="78638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291840"/>
            <a:ext cx="1005840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不是</a:t>
            </a:r>
            <a:r>
              <a:rPr sz="135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私下拷硬盘</a:t>
            </a:r>
            <a:r>
              <a:rPr sz="13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，而是用国家标准的可信数据基础设施：守住安全红线，名正言顺支撑科研与临床创新。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1596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35424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可信管控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92624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医院对数据拥有绝对控制权，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规则可执行、可审计。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5955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共识规则 · 数字合约 · 使用控制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78224" y="4315968"/>
            <a:ext cx="0" cy="1591056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4407408" y="431596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4535424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资源交互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4992624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标准连接器把数据孤岛连成网，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连接不等于搬空库房。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555955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目录互联 · 连接器 · 按需使用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62672" y="4315968"/>
            <a:ext cx="0" cy="1591056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991856" y="431596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91856" y="4535424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价值共创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1856" y="4992624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医院、高校、实验室、药企与算法团队协同，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按贡献分配权益。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1856" y="555955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联合研究 · 履约计量 · 收益分配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TREMAC</a:t>
            </a:r>
            <a:r>
              <a:rPr sz="8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×  可信数据空间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0152" y="3474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03 / 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640080"/>
            <a:ext cx="10543032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822960" y="85953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03</a:t>
            </a:r>
            <a:r>
              <a:rPr sz="900" b="0" i="0" spc="140">
                <a:solidFill>
                  <a:srgbClr val="9AA8BC"/>
                </a:solidFill>
                <a:latin typeface="Bahnschrift"/>
                <a:ea typeface="Bahnschrift"/>
                <a:cs typeface="Bahnschrift"/>
              </a:rPr>
              <a:t>   /   </a:t>
            </a:r>
            <a:r>
              <a:rPr sz="850" b="0" i="0" spc="18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路径融合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60704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TRE</a:t>
            </a:r>
            <a:r>
              <a:rPr sz="29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270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TDS</a:t>
            </a:r>
            <a:r>
              <a:rPr sz="29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：两条演进线，正在汇合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9692640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一个解决“敏感数据怎么算”，一个解决“数据怎么流通”；能力层级互补，而非替代。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7315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12140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可信研究环境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35000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spc="110">
                <a:solidFill>
                  <a:srgbClr val="9AA8BC"/>
                </a:solidFill>
                <a:latin typeface="Bahnschrift"/>
                <a:ea typeface="Bahnschrift"/>
                <a:cs typeface="Bahnschrift"/>
              </a:rPr>
              <a:t>T R U S T E D   R E S E A R C H   E N V.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" y="2670048"/>
            <a:ext cx="0" cy="1316736"/>
          </a:xfrm>
          <a:prstGeom prst="line">
            <a:avLst/>
          </a:prstGeom>
          <a:ln w="11430">
            <a:solidFill>
              <a:srgbClr val="D7E2F4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891540" y="261975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8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56032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全封闭安全实验室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2798063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隔离计算 · 成果审核</a:t>
            </a:r>
          </a:p>
        </p:txBody>
      </p:sp>
      <p:sp>
        <p:nvSpPr>
          <p:cNvPr id="15" name="Oval 14"/>
          <p:cNvSpPr/>
          <p:nvPr/>
        </p:nvSpPr>
        <p:spPr>
          <a:xfrm>
            <a:off x="891540" y="3150108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8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3090672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云化 AI 训练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3328415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算力弹性 · 环境受控</a:t>
            </a:r>
          </a:p>
        </p:txBody>
      </p:sp>
      <p:sp>
        <p:nvSpPr>
          <p:cNvPr id="18" name="Oval 17"/>
          <p:cNvSpPr/>
          <p:nvPr/>
        </p:nvSpPr>
        <p:spPr>
          <a:xfrm>
            <a:off x="891540" y="368046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8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3621024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走向联邦化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3858768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多节点跨机构联合分析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2057400"/>
            <a:ext cx="7315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TDS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212140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可信数据空间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4" y="235000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spc="110">
                <a:solidFill>
                  <a:srgbClr val="9AA8BC"/>
                </a:solidFill>
                <a:latin typeface="Bahnschrift"/>
                <a:ea typeface="Bahnschrift"/>
                <a:cs typeface="Bahnschrift"/>
              </a:rPr>
              <a:t>T R U S T E D   D A T A   S P A C 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75704" y="2670048"/>
            <a:ext cx="0" cy="1316736"/>
          </a:xfrm>
          <a:prstGeom prst="line">
            <a:avLst/>
          </a:prstGeom>
          <a:ln w="11430">
            <a:solidFill>
              <a:srgbClr val="D7E2F4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6725412" y="261975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8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256032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数据目录共享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798063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从“能看”到“能用”</a:t>
            </a:r>
          </a:p>
        </p:txBody>
      </p:sp>
      <p:sp>
        <p:nvSpPr>
          <p:cNvPr id="28" name="Oval 27"/>
          <p:cNvSpPr/>
          <p:nvPr/>
        </p:nvSpPr>
        <p:spPr>
          <a:xfrm>
            <a:off x="6725412" y="3150108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8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7728" y="3090672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可信数据空间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3328415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共识规则与数字合约内生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2" y="310896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2024</a:t>
            </a:r>
          </a:p>
        </p:txBody>
      </p:sp>
      <p:sp>
        <p:nvSpPr>
          <p:cNvPr id="32" name="Oval 31"/>
          <p:cNvSpPr/>
          <p:nvPr/>
        </p:nvSpPr>
        <p:spPr>
          <a:xfrm>
            <a:off x="6725412" y="368046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8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621024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跨空间互认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3858768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身份互认 · 规则互认 · 跨域协作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2" y="363931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96128" y="269748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TRE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96128" y="2926080"/>
            <a:ext cx="8778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6128" y="3410712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TDS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65760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医疗科研场景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2960" y="4242816"/>
            <a:ext cx="10543032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6108192" y="4407408"/>
            <a:ext cx="0" cy="146304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822960" y="4389120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8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TRE  ｜  管环境 · 研究 · 计算 · 输出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4645152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怎么算？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102352"/>
            <a:ext cx="48920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原始病历死死留在环境内，研究员在虚拟桌面里完成计算；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只能导出经审查的统计表、图表或模型参数。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8" y="4389120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8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TDS  ｜  管连接 · 规则 · 流通 · 价值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4645152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怎么流通？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5102352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十几家医院各有保密实验室，怎么连起来、怎么签联合研究合约；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怎么监管履约、分配收益？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6035040"/>
            <a:ext cx="27432" cy="23774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60167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一横一纵：</a:t>
            </a:r>
            <a:r>
              <a:rPr sz="11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TRE 是“安全计算舱”，TDS 是“协作规则网”</a:t>
            </a:r>
            <a:r>
              <a:rPr sz="11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；两者组合，才从单点环境走向跨机构网络。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TREMAC</a:t>
            </a:r>
            <a:r>
              <a:rPr sz="8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×  可信数据空间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0152" y="3474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04 / 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640080"/>
            <a:ext cx="10543032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822960" y="85953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04</a:t>
            </a:r>
            <a:r>
              <a:rPr sz="900" b="0" i="0" spc="140">
                <a:solidFill>
                  <a:srgbClr val="9AA8BC"/>
                </a:solidFill>
                <a:latin typeface="Bahnschrift"/>
                <a:ea typeface="Bahnschrift"/>
                <a:cs typeface="Bahnschrift"/>
              </a:rPr>
              <a:t>   /   </a:t>
            </a:r>
            <a:r>
              <a:rPr sz="850" b="0" i="0" spc="18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运行机制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60704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五步闭环，让跨院科研真正跑起来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9692640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从一份目录到一次联合研究，每一个动作都由规则与系统自动执行。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340864"/>
            <a:ext cx="9802368" cy="0"/>
          </a:xfrm>
          <a:prstGeom prst="line">
            <a:avLst/>
          </a:prstGeom>
          <a:ln w="13970">
            <a:solidFill>
              <a:srgbClr val="D9E4F6"/>
            </a:solidFill>
            <a:tailEnd type="triangle" w="sm" len="sm"/>
          </a:ln>
        </p:spPr>
      </p:cxnSp>
      <p:sp>
        <p:nvSpPr>
          <p:cNvPr id="9" name="Oval 8"/>
          <p:cNvSpPr/>
          <p:nvPr/>
        </p:nvSpPr>
        <p:spPr>
          <a:xfrm>
            <a:off x="827531" y="2290572"/>
            <a:ext cx="100584" cy="100584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66543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87168"/>
            <a:ext cx="1874519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主体接入与资源发布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443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连接器接入，只发布目录</a:t>
            </a:r>
          </a:p>
        </p:txBody>
      </p:sp>
      <p:sp>
        <p:nvSpPr>
          <p:cNvPr id="13" name="Oval 12"/>
          <p:cNvSpPr/>
          <p:nvPr/>
        </p:nvSpPr>
        <p:spPr>
          <a:xfrm>
            <a:off x="2967228" y="2290572"/>
            <a:ext cx="100584" cy="100584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2656" y="2066543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2487168"/>
            <a:ext cx="1874519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项目申请与供需匹配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29443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需求发布，匹配合适机构</a:t>
            </a:r>
          </a:p>
        </p:txBody>
      </p:sp>
      <p:sp>
        <p:nvSpPr>
          <p:cNvPr id="17" name="Oval 16"/>
          <p:cNvSpPr/>
          <p:nvPr/>
        </p:nvSpPr>
        <p:spPr>
          <a:xfrm>
            <a:off x="5106924" y="2290572"/>
            <a:ext cx="100584" cy="100584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2066543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2487168"/>
            <a:ext cx="1874519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规则约定与授权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29443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合约约定用途、期限、工具</a:t>
            </a:r>
          </a:p>
        </p:txBody>
      </p:sp>
      <p:sp>
        <p:nvSpPr>
          <p:cNvPr id="21" name="Oval 20"/>
          <p:cNvSpPr/>
          <p:nvPr/>
        </p:nvSpPr>
        <p:spPr>
          <a:xfrm>
            <a:off x="7246620" y="2290572"/>
            <a:ext cx="100584" cy="100584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42048" y="2066543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2487168"/>
            <a:ext cx="1874519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进入 TRE 开展计算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29443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原始数据不出院，受控分析</a:t>
            </a:r>
          </a:p>
        </p:txBody>
      </p:sp>
      <p:sp>
        <p:nvSpPr>
          <p:cNvPr id="25" name="Oval 24"/>
          <p:cNvSpPr/>
          <p:nvPr/>
        </p:nvSpPr>
        <p:spPr>
          <a:xfrm>
            <a:off x="9386316" y="2290572"/>
            <a:ext cx="100584" cy="100584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81744" y="2066543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1744" y="2487168"/>
            <a:ext cx="1874519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输出审查与成果交付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29443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合规结果导出，履约存证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74903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研究层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7548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协同层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778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3566160"/>
            <a:ext cx="603504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A7C2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3694176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跨机构联合研究</a:t>
            </a:r>
            <a:r>
              <a:rPr sz="8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    多中心课题 · 联合建模 · 成果共享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035040" y="4096512"/>
            <a:ext cx="0" cy="256032"/>
          </a:xfrm>
          <a:prstGeom prst="line">
            <a:avLst/>
          </a:prstGeom>
          <a:ln w="15240">
            <a:solidFill>
              <a:srgbClr val="4C86FF"/>
            </a:solidFill>
            <a:tailEnd type="triangle" w="sm" len="sm"/>
          </a:ln>
        </p:spPr>
      </p:cxnSp>
      <p:sp>
        <p:nvSpPr>
          <p:cNvPr id="35" name="TextBox 34"/>
          <p:cNvSpPr txBox="1"/>
          <p:nvPr/>
        </p:nvSpPr>
        <p:spPr>
          <a:xfrm>
            <a:off x="6163056" y="4114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仅合规汇总结果上浮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4370832"/>
            <a:ext cx="9509760" cy="786384"/>
          </a:xfrm>
          <a:prstGeom prst="rect">
            <a:avLst/>
          </a:prstGeom>
          <a:solidFill>
            <a:srgbClr val="F3F7FF"/>
          </a:solidFill>
          <a:ln w="9525">
            <a:solidFill>
              <a:srgbClr val="DCE7F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36192" y="448056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可信数据空间协同服务平台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4681728"/>
            <a:ext cx="530352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890">
            <a:solidFill>
              <a:srgbClr val="D6E2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60520" y="472744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身份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0" y="4681728"/>
            <a:ext cx="530352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890">
            <a:solidFill>
              <a:srgbClr val="D6E2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472744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49240" y="4681728"/>
            <a:ext cx="530352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890">
            <a:solidFill>
              <a:srgbClr val="D6E2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49240" y="472744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4681728"/>
            <a:ext cx="530352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890">
            <a:solidFill>
              <a:srgbClr val="D6E2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472744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授权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7960" y="4681728"/>
            <a:ext cx="530352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890">
            <a:solidFill>
              <a:srgbClr val="D6E2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472744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4681728"/>
            <a:ext cx="530352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890">
            <a:solidFill>
              <a:srgbClr val="D6E2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0" y="472744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26679" y="4681728"/>
            <a:ext cx="530352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890">
            <a:solidFill>
              <a:srgbClr val="D6E2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26679" y="472744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存证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455371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机构接入连接器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834640" y="5157216"/>
            <a:ext cx="0" cy="347472"/>
          </a:xfrm>
          <a:prstGeom prst="line">
            <a:avLst/>
          </a:prstGeom>
          <a:ln w="11430">
            <a:solidFill>
              <a:srgbClr val="C9D8F2"/>
            </a:solidFill>
          </a:ln>
        </p:spPr>
      </p:cxnSp>
      <p:sp>
        <p:nvSpPr>
          <p:cNvPr id="54" name="Rectangle 53"/>
          <p:cNvSpPr/>
          <p:nvPr/>
        </p:nvSpPr>
        <p:spPr>
          <a:xfrm>
            <a:off x="1371600" y="5504688"/>
            <a:ext cx="45720" cy="23774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17904" y="546811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医院 A</a:t>
            </a:r>
            <a:r>
              <a:rPr sz="8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  临床诊疗数据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17904" y="5724144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本地 TRE 计算 · 原始数据 100% 留存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897879" y="5157216"/>
            <a:ext cx="0" cy="347472"/>
          </a:xfrm>
          <a:prstGeom prst="line">
            <a:avLst/>
          </a:prstGeom>
          <a:ln w="11430">
            <a:solidFill>
              <a:srgbClr val="C9D8F2"/>
            </a:solidFill>
          </a:ln>
        </p:spPr>
      </p:cxnSp>
      <p:sp>
        <p:nvSpPr>
          <p:cNvPr id="58" name="Rectangle 57"/>
          <p:cNvSpPr/>
          <p:nvPr/>
        </p:nvSpPr>
        <p:spPr>
          <a:xfrm>
            <a:off x="4434840" y="5504688"/>
            <a:ext cx="45720" cy="23774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81144" y="546811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医院 B</a:t>
            </a:r>
            <a:r>
              <a:rPr sz="8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  医学影像数据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81144" y="5724144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本地 TRE 计算 · 原始数据 100% 留存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961119" y="5157216"/>
            <a:ext cx="0" cy="347472"/>
          </a:xfrm>
          <a:prstGeom prst="line">
            <a:avLst/>
          </a:prstGeom>
          <a:ln w="11430">
            <a:solidFill>
              <a:srgbClr val="C9D8F2"/>
            </a:solidFill>
          </a:ln>
        </p:spPr>
      </p:cxnSp>
      <p:sp>
        <p:nvSpPr>
          <p:cNvPr id="62" name="Rectangle 61"/>
          <p:cNvSpPr/>
          <p:nvPr/>
        </p:nvSpPr>
        <p:spPr>
          <a:xfrm>
            <a:off x="7498079" y="5504688"/>
            <a:ext cx="45720" cy="23774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44383" y="546811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机构 C</a:t>
            </a:r>
            <a:r>
              <a:rPr sz="8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  科研队列数据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44383" y="5724144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本地 TRE 计算 · 原始数据 100% 留存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" y="6199632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资源跨机构发现</a:t>
            </a:r>
            <a:r>
              <a:rPr sz="9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    ·    授权按项目协同    ·    计算在可信环境执行    ·    结果经审查共享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TREMAC</a:t>
            </a:r>
            <a:r>
              <a:rPr sz="8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×  可信数据空间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0152" y="3474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05 / 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640080"/>
            <a:ext cx="10543032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822960" y="85953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05</a:t>
            </a:r>
            <a:r>
              <a:rPr sz="900" b="0" i="0" spc="140">
                <a:solidFill>
                  <a:srgbClr val="9AA8BC"/>
                </a:solidFill>
                <a:latin typeface="Bahnschrift"/>
                <a:ea typeface="Bahnschrift"/>
                <a:cs typeface="Bahnschrift"/>
              </a:rPr>
              <a:t>   /   </a:t>
            </a:r>
            <a:r>
              <a:rPr sz="850" b="0" i="0" spc="18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关键技术 · 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60704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前三个关键词：</a:t>
            </a:r>
            <a:r>
              <a:rPr sz="2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认得准、找得到、管得住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6537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01</a:t>
            </a:r>
            <a:r>
              <a:rPr sz="12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 认得准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194560"/>
            <a:ext cx="969264" cy="0"/>
          </a:xfrm>
          <a:prstGeom prst="line">
            <a:avLst/>
          </a:prstGeom>
          <a:ln w="22860">
            <a:solidFill>
              <a:srgbClr val="0058F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2907792" y="186537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02</a:t>
            </a:r>
            <a:r>
              <a:rPr sz="12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 找得到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07792" y="2194560"/>
            <a:ext cx="969264" cy="0"/>
          </a:xfrm>
          <a:prstGeom prst="line">
            <a:avLst/>
          </a:prstGeom>
          <a:ln w="22860">
            <a:solidFill>
              <a:srgbClr val="0058F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4992624" y="186537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03</a:t>
            </a:r>
            <a:r>
              <a:rPr sz="12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 管得住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92624" y="2194560"/>
            <a:ext cx="969264" cy="0"/>
          </a:xfrm>
          <a:prstGeom prst="line">
            <a:avLst/>
          </a:prstGeom>
          <a:ln w="22860">
            <a:solidFill>
              <a:srgbClr val="0058FF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077456" y="186537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9AA8BC"/>
                </a:solidFill>
                <a:latin typeface="Bahnschrift"/>
                <a:ea typeface="Bahnschrift"/>
                <a:cs typeface="Bahnschrift"/>
              </a:rPr>
              <a:t>04</a:t>
            </a:r>
            <a:r>
              <a:rPr sz="1250" b="0" i="0">
                <a:solidFill>
                  <a:srgbClr val="9AA8BC"/>
                </a:solidFill>
                <a:latin typeface="Microsoft YaHei"/>
                <a:ea typeface="Microsoft YaHei"/>
                <a:cs typeface="Microsoft YaHei"/>
              </a:rPr>
              <a:t>   送不出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2288" y="186537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9AA8BC"/>
                </a:solidFill>
                <a:latin typeface="Bahnschrift"/>
                <a:ea typeface="Bahnschrift"/>
                <a:cs typeface="Bahnschrift"/>
              </a:rPr>
              <a:t>05</a:t>
            </a:r>
            <a:r>
              <a:rPr sz="1250" b="0" i="0">
                <a:solidFill>
                  <a:srgbClr val="9AA8BC"/>
                </a:solidFill>
                <a:latin typeface="Microsoft YaHei"/>
                <a:ea typeface="Microsoft YaHei"/>
                <a:cs typeface="Microsoft YaHei"/>
              </a:rPr>
              <a:t>   算得了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2203704"/>
            <a:ext cx="10543032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22960" y="2505456"/>
            <a:ext cx="566928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C4D5F2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2468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认得准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2852928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融合身份认证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3145536"/>
            <a:ext cx="612648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权威 CA 签发 + 区块链 DID 存证，患者、医生与机构一次认证、跨域互认；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严防冒名调阅，打通“数据敢供”的第一道门槛。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3566160"/>
            <a:ext cx="10543032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822960" y="3730751"/>
            <a:ext cx="566928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C4D5F2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369417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找得到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" y="4078224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智能检索推荐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4370831"/>
            <a:ext cx="612648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大模型 RAG + 医学知识图谱，把“慢阻肺 / COPD”等同义表达归一；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自然语言输入，直接推荐匹配的脱敏病例集。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4791455"/>
            <a:ext cx="10543032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822960" y="4956048"/>
            <a:ext cx="566928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C4D5F2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6" y="4919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管得住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530352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数字合约与使用控制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5596128"/>
            <a:ext cx="612648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规则写入区块链数字合约，使用控制引擎按用途、次数、期限自动执行；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仅限研究、限 100 次调用，全程可审计。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2960" y="6016752"/>
            <a:ext cx="10543032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973568" y="2551176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 spc="4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权威签发  /  链上存证  /  跨域互认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8" y="2779776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1430">
            <a:solidFill>
              <a:srgbClr val="D6E2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282549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0B1B33"/>
                </a:solidFill>
                <a:latin typeface="Bahnschrift"/>
                <a:ea typeface="Bahnschrift"/>
                <a:cs typeface="Bahnschrift"/>
              </a:rPr>
              <a:t>CA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05088" y="2779776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1430">
            <a:solidFill>
              <a:srgbClr val="D6E2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05088" y="282549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0B1B33"/>
                </a:solidFill>
                <a:latin typeface="Bahnschrift"/>
                <a:ea typeface="Bahnschrift"/>
                <a:cs typeface="Bahnschrift"/>
              </a:rPr>
              <a:t>DID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58784" y="2926080"/>
            <a:ext cx="109728" cy="0"/>
          </a:xfrm>
          <a:prstGeom prst="line">
            <a:avLst/>
          </a:prstGeom>
          <a:ln w="12700">
            <a:solidFill>
              <a:srgbClr val="9DBBF0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9390888" y="2926080"/>
            <a:ext cx="109728" cy="0"/>
          </a:xfrm>
          <a:prstGeom prst="line">
            <a:avLst/>
          </a:prstGeom>
          <a:ln w="12700">
            <a:solidFill>
              <a:srgbClr val="8FB2FF"/>
            </a:solidFill>
            <a:tailEnd type="triangle" w="sm" len="sm"/>
          </a:ln>
        </p:spPr>
      </p:cxnSp>
      <p:sp>
        <p:nvSpPr>
          <p:cNvPr id="38" name="Rounded Rectangle 37"/>
          <p:cNvSpPr/>
          <p:nvPr/>
        </p:nvSpPr>
        <p:spPr>
          <a:xfrm>
            <a:off x="9528048" y="2779776"/>
            <a:ext cx="1399032" cy="292608"/>
          </a:xfrm>
          <a:prstGeom prst="roundRect">
            <a:avLst>
              <a:gd name="adj" fmla="val 15625"/>
            </a:avLst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28048" y="2825496"/>
            <a:ext cx="13990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跨域互认</a:t>
            </a:r>
          </a:p>
        </p:txBody>
      </p:sp>
      <p:sp>
        <p:nvSpPr>
          <p:cNvPr id="40" name="Oval 39"/>
          <p:cNvSpPr/>
          <p:nvPr/>
        </p:nvSpPr>
        <p:spPr>
          <a:xfrm>
            <a:off x="7990027" y="3271723"/>
            <a:ext cx="40233" cy="40233"/>
          </a:xfrm>
          <a:prstGeom prst="ellipse">
            <a:avLst/>
          </a:prstGeom>
          <a:solidFill>
            <a:srgbClr val="B7CB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04327" y="3271723"/>
            <a:ext cx="40233" cy="40233"/>
          </a:xfrm>
          <a:prstGeom prst="ellipse">
            <a:avLst/>
          </a:prstGeom>
          <a:solidFill>
            <a:srgbClr val="B7CB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18627" y="3271723"/>
            <a:ext cx="40233" cy="40233"/>
          </a:xfrm>
          <a:prstGeom prst="ellipse">
            <a:avLst/>
          </a:prstGeom>
          <a:solidFill>
            <a:srgbClr val="B7CB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32927" y="3271723"/>
            <a:ext cx="40233" cy="40233"/>
          </a:xfrm>
          <a:prstGeom prst="ellipse">
            <a:avLst/>
          </a:prstGeom>
          <a:solidFill>
            <a:srgbClr val="B7CB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47227" y="3271723"/>
            <a:ext cx="40233" cy="40233"/>
          </a:xfrm>
          <a:prstGeom prst="ellipse">
            <a:avLst/>
          </a:prstGeom>
          <a:solidFill>
            <a:srgbClr val="B7CB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61527" y="3271723"/>
            <a:ext cx="40233" cy="40233"/>
          </a:xfrm>
          <a:prstGeom prst="ellipse">
            <a:avLst/>
          </a:prstGeom>
          <a:solidFill>
            <a:srgbClr val="B7CB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75827" y="3271723"/>
            <a:ext cx="40233" cy="40233"/>
          </a:xfrm>
          <a:prstGeom prst="ellipse">
            <a:avLst/>
          </a:prstGeom>
          <a:solidFill>
            <a:srgbClr val="B7CB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790127" y="3271723"/>
            <a:ext cx="40233" cy="40233"/>
          </a:xfrm>
          <a:prstGeom prst="ellipse">
            <a:avLst/>
          </a:prstGeom>
          <a:solidFill>
            <a:srgbClr val="B7CB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04427" y="3271723"/>
            <a:ext cx="40233" cy="40233"/>
          </a:xfrm>
          <a:prstGeom prst="ellipse">
            <a:avLst/>
          </a:prstGeom>
          <a:solidFill>
            <a:srgbClr val="B7CB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018727" y="3271723"/>
            <a:ext cx="40233" cy="40233"/>
          </a:xfrm>
          <a:prstGeom prst="ellipse">
            <a:avLst/>
          </a:prstGeom>
          <a:solidFill>
            <a:srgbClr val="B7CB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5440" y="3218688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一次认证 · 10 院互认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73568" y="3858767"/>
            <a:ext cx="3200400" cy="310896"/>
          </a:xfrm>
          <a:prstGeom prst="roundRect">
            <a:avLst>
              <a:gd name="adj" fmla="val 14705"/>
            </a:avLst>
          </a:prstGeom>
          <a:solidFill>
            <a:srgbClr val="F3F7FF"/>
          </a:solidFill>
          <a:ln w="9525">
            <a:solidFill>
              <a:srgbClr val="DCE7F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92440" y="3922775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COPD  +  肺功能下降  +  近 3 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73568" y="4279392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脱敏队列  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98864" y="4306824"/>
            <a:ext cx="1552194" cy="91440"/>
          </a:xfrm>
          <a:prstGeom prst="roundRect">
            <a:avLst>
              <a:gd name="adj" fmla="val 20000"/>
            </a:avLst>
          </a:prstGeom>
          <a:solidFill>
            <a:srgbClr val="C9D9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81360" y="426110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97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73568" y="4462272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脱敏队列  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98864" y="4489704"/>
            <a:ext cx="1440180" cy="91440"/>
          </a:xfrm>
          <a:prstGeom prst="roundRect">
            <a:avLst>
              <a:gd name="adj" fmla="val 20000"/>
            </a:avLst>
          </a:prstGeom>
          <a:solidFill>
            <a:srgbClr val="C9D9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81360" y="444398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94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73568" y="4645152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脱敏队列  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98864" y="4672584"/>
            <a:ext cx="1344168" cy="91440"/>
          </a:xfrm>
          <a:prstGeom prst="roundRect">
            <a:avLst>
              <a:gd name="adj" fmla="val 20000"/>
            </a:avLst>
          </a:prstGeom>
          <a:solidFill>
            <a:srgbClr val="C9D9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81360" y="462686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91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973568" y="4992624"/>
            <a:ext cx="1847088" cy="896112"/>
          </a:xfrm>
          <a:prstGeom prst="roundRect">
            <a:avLst>
              <a:gd name="adj" fmla="val 4081"/>
            </a:avLst>
          </a:prstGeom>
          <a:solidFill>
            <a:srgbClr val="FAFCFF"/>
          </a:solidFill>
          <a:ln w="10160">
            <a:solidFill>
              <a:srgbClr val="E1E9F6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01583" y="5084064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仅限研究用途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01583" y="5321807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限 100 次调用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01583" y="5559552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期限按合约约定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76688" y="5038344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100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44784" y="526694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次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12680" y="565099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上限 · 自动阻断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TREMAC</a:t>
            </a:r>
            <a:r>
              <a:rPr sz="8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×  可信数据空间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0152" y="3474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06 / 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640080"/>
            <a:ext cx="10543032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822960" y="85953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06</a:t>
            </a:r>
            <a:r>
              <a:rPr sz="900" b="0" i="0" spc="140">
                <a:solidFill>
                  <a:srgbClr val="9AA8BC"/>
                </a:solidFill>
                <a:latin typeface="Bahnschrift"/>
                <a:ea typeface="Bahnschrift"/>
                <a:cs typeface="Bahnschrift"/>
              </a:rPr>
              <a:t>   /   </a:t>
            </a:r>
            <a:r>
              <a:rPr sz="850" b="0" i="0" spc="18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关键技术 · 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60704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后两个关键词：</a:t>
            </a:r>
            <a:r>
              <a:rPr sz="2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送不出、算得了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9692640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权限批了、数据进来了，怎么保证带不走，还能一起算？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9AA8BC"/>
                </a:solidFill>
                <a:latin typeface="Bahnschrift"/>
                <a:ea typeface="Bahnschrift"/>
                <a:cs typeface="Bahnschrift"/>
              </a:rPr>
              <a:t>01</a:t>
            </a:r>
            <a:r>
              <a:rPr sz="1250" b="0" i="0">
                <a:solidFill>
                  <a:srgbClr val="9AA8BC"/>
                </a:solidFill>
                <a:latin typeface="Microsoft YaHei"/>
                <a:ea typeface="Microsoft YaHei"/>
                <a:cs typeface="Microsoft YaHei"/>
              </a:rPr>
              <a:t>   认得准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7792" y="21031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9AA8BC"/>
                </a:solidFill>
                <a:latin typeface="Bahnschrift"/>
                <a:ea typeface="Bahnschrift"/>
                <a:cs typeface="Bahnschrift"/>
              </a:rPr>
              <a:t>02</a:t>
            </a:r>
            <a:r>
              <a:rPr sz="1250" b="0" i="0">
                <a:solidFill>
                  <a:srgbClr val="9AA8BC"/>
                </a:solidFill>
                <a:latin typeface="Microsoft YaHei"/>
                <a:ea typeface="Microsoft YaHei"/>
                <a:cs typeface="Microsoft YaHei"/>
              </a:rPr>
              <a:t>   找得到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21031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9AA8BC"/>
                </a:solidFill>
                <a:latin typeface="Bahnschrift"/>
                <a:ea typeface="Bahnschrift"/>
                <a:cs typeface="Bahnschrift"/>
              </a:rPr>
              <a:t>03</a:t>
            </a:r>
            <a:r>
              <a:rPr sz="1250" b="0" i="0">
                <a:solidFill>
                  <a:srgbClr val="9AA8BC"/>
                </a:solidFill>
                <a:latin typeface="Microsoft YaHei"/>
                <a:ea typeface="Microsoft YaHei"/>
                <a:cs typeface="Microsoft YaHei"/>
              </a:rPr>
              <a:t>   管得住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7456" y="21031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04</a:t>
            </a:r>
            <a:r>
              <a:rPr sz="12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 送不出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77456" y="2432304"/>
            <a:ext cx="969264" cy="0"/>
          </a:xfrm>
          <a:prstGeom prst="line">
            <a:avLst/>
          </a:prstGeom>
          <a:ln w="22860">
            <a:solidFill>
              <a:srgbClr val="0058FF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9162288" y="21031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05</a:t>
            </a:r>
            <a:r>
              <a:rPr sz="12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 算得了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62288" y="2432304"/>
            <a:ext cx="969264" cy="0"/>
          </a:xfrm>
          <a:prstGeom prst="line">
            <a:avLst/>
          </a:prstGeom>
          <a:ln w="22860">
            <a:solidFill>
              <a:srgbClr val="0058FF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822960" y="2441448"/>
            <a:ext cx="10543032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6053328" y="2670048"/>
            <a:ext cx="0" cy="3273552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17" name="Rounded Rectangle 16"/>
          <p:cNvSpPr/>
          <p:nvPr/>
        </p:nvSpPr>
        <p:spPr>
          <a:xfrm>
            <a:off x="822960" y="2715768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E4EE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743200"/>
            <a:ext cx="23774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615184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送不出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035808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安全数据交付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91840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真实数据只在服务端运行，终端只接收加密画面流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675887"/>
            <a:ext cx="1371600" cy="676656"/>
          </a:xfrm>
          <a:prstGeom prst="roundRect">
            <a:avLst>
              <a:gd name="adj" fmla="val 6756"/>
            </a:avLst>
          </a:prstGeom>
          <a:solidFill>
            <a:srgbClr val="F3F7FF"/>
          </a:solidFill>
          <a:ln w="10160">
            <a:solidFill>
              <a:srgbClr val="DCE7F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758184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服务端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968496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真实数据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0128" y="3675887"/>
            <a:ext cx="1481328" cy="676656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11430">
            <a:solidFill>
              <a:srgbClr val="C9D8F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9856" y="3758184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研究员屏幕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9856" y="3968496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仅画面像素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249424" y="4014215"/>
            <a:ext cx="1005840" cy="0"/>
          </a:xfrm>
          <a:prstGeom prst="line">
            <a:avLst/>
          </a:prstGeom>
          <a:ln w="13970">
            <a:solidFill>
              <a:srgbClr val="4C86FF"/>
            </a:solidFill>
            <a:prstDash val="dash"/>
            <a:tailEnd type="triangle" w="sm" len="sm"/>
          </a:ln>
        </p:spPr>
      </p:cxnSp>
      <p:sp>
        <p:nvSpPr>
          <p:cNvPr id="29" name="TextBox 28"/>
          <p:cNvSpPr txBox="1"/>
          <p:nvPr/>
        </p:nvSpPr>
        <p:spPr>
          <a:xfrm>
            <a:off x="2340864" y="376732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加密像素流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48056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云桌面 + 数据沙箱 ｜ 容器 · 虚拟化 · 硬件隔离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4632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DDE5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0118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×  </a:t>
            </a:r>
            <a:r>
              <a:rPr sz="78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禁止复制粘贴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12848" y="484632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DDE5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04288" y="490118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×  </a:t>
            </a:r>
            <a:r>
              <a:rPr sz="78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U 盘自动禁用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02736" y="484632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DDE5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94176" y="490118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×  </a:t>
            </a:r>
            <a:r>
              <a:rPr sz="78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截屏溯源水印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212080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复制 · 外带 · 截屏，三条外泄路径全部封死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705856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可用不可见 · 终端不落地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03504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一条原始数据都带不出医院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2715768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E4EE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743200"/>
            <a:ext cx="23774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2615184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算得了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3408" y="3035808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安全数据计算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329184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多家数据不能进同一个沙箱，怎么一起算？</a:t>
            </a:r>
          </a:p>
        </p:txBody>
      </p:sp>
      <p:cxnSp>
        <p:nvCxnSpPr>
          <p:cNvPr id="45" name="Connector 44"/>
          <p:cNvCxnSpPr/>
          <p:nvPr/>
        </p:nvCxnSpPr>
        <p:spPr>
          <a:xfrm flipH="1" flipV="1">
            <a:off x="7699248" y="3602736"/>
            <a:ext cx="1097280" cy="603504"/>
          </a:xfrm>
          <a:prstGeom prst="line">
            <a:avLst/>
          </a:prstGeom>
          <a:ln w="11430">
            <a:solidFill>
              <a:srgbClr val="BDD2F2"/>
            </a:solidFill>
            <a:prstDash val="dash"/>
          </a:ln>
        </p:spPr>
      </p:cxnSp>
      <p:sp>
        <p:nvSpPr>
          <p:cNvPr id="46" name="Rounded Rectangle 45"/>
          <p:cNvSpPr/>
          <p:nvPr/>
        </p:nvSpPr>
        <p:spPr>
          <a:xfrm>
            <a:off x="7315200" y="3456432"/>
            <a:ext cx="76809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0160">
            <a:solidFill>
              <a:srgbClr val="D6E2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0" y="3511296"/>
            <a:ext cx="7680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医院 A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8796528" y="3602736"/>
            <a:ext cx="1627632" cy="603504"/>
          </a:xfrm>
          <a:prstGeom prst="line">
            <a:avLst/>
          </a:prstGeom>
          <a:ln w="11430">
            <a:solidFill>
              <a:srgbClr val="BDD2F2"/>
            </a:solidFill>
            <a:prstDash val="dash"/>
          </a:ln>
        </p:spPr>
      </p:cxnSp>
      <p:sp>
        <p:nvSpPr>
          <p:cNvPr id="49" name="Rounded Rectangle 48"/>
          <p:cNvSpPr/>
          <p:nvPr/>
        </p:nvSpPr>
        <p:spPr>
          <a:xfrm>
            <a:off x="10040112" y="3456432"/>
            <a:ext cx="76809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0160">
            <a:solidFill>
              <a:srgbClr val="D6E2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40112" y="3511296"/>
            <a:ext cx="7680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医院 B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7699248" y="4206240"/>
            <a:ext cx="1097280" cy="896112"/>
          </a:xfrm>
          <a:prstGeom prst="line">
            <a:avLst/>
          </a:prstGeom>
          <a:ln w="11430">
            <a:solidFill>
              <a:srgbClr val="BDD2F2"/>
            </a:solidFill>
            <a:prstDash val="dash"/>
          </a:ln>
        </p:spPr>
      </p:cxnSp>
      <p:sp>
        <p:nvSpPr>
          <p:cNvPr id="52" name="Rounded Rectangle 51"/>
          <p:cNvSpPr/>
          <p:nvPr/>
        </p:nvSpPr>
        <p:spPr>
          <a:xfrm>
            <a:off x="7315200" y="4956048"/>
            <a:ext cx="76809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0160">
            <a:solidFill>
              <a:srgbClr val="D6E2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5010912"/>
            <a:ext cx="7680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医院 C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796528" y="4206240"/>
            <a:ext cx="1627632" cy="896112"/>
          </a:xfrm>
          <a:prstGeom prst="line">
            <a:avLst/>
          </a:prstGeom>
          <a:ln w="11430">
            <a:solidFill>
              <a:srgbClr val="BDD2F2"/>
            </a:solidFill>
            <a:prstDash val="dash"/>
          </a:ln>
        </p:spPr>
      </p:cxnSp>
      <p:sp>
        <p:nvSpPr>
          <p:cNvPr id="55" name="Rounded Rectangle 54"/>
          <p:cNvSpPr/>
          <p:nvPr/>
        </p:nvSpPr>
        <p:spPr>
          <a:xfrm>
            <a:off x="10040112" y="4956048"/>
            <a:ext cx="76809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0160">
            <a:solidFill>
              <a:srgbClr val="D6E2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40112" y="5010912"/>
            <a:ext cx="7680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医院 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0" y="3931920"/>
            <a:ext cx="1133856" cy="548640"/>
          </a:xfrm>
          <a:prstGeom prst="roundRect">
            <a:avLst>
              <a:gd name="adj" fmla="val 10000"/>
            </a:avLst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47888" y="4023359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参数聚合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47888" y="4224527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C9DAFF"/>
                </a:solidFill>
                <a:latin typeface="Microsoft YaHei"/>
                <a:ea typeface="Microsoft YaHei"/>
                <a:cs typeface="Microsoft YaHei"/>
              </a:rPr>
              <a:t>只交换加密参数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19088" y="5340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原始数据不出院  ·  只交换加密后的模型参数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19088" y="5541264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联邦学习 · 多方安全计算 · 差分隐私 · 同态加密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19088" y="5705856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数据不动模型动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19088" y="60350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模型共同成长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TREMAC</a:t>
            </a:r>
            <a:r>
              <a:rPr sz="8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×  可信数据空间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0152" y="3474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07 / 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640080"/>
            <a:ext cx="10543032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822960" y="85953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07</a:t>
            </a:r>
            <a:r>
              <a:rPr sz="900" b="0" i="0" spc="140">
                <a:solidFill>
                  <a:srgbClr val="9AA8BC"/>
                </a:solidFill>
                <a:latin typeface="Bahnschrift"/>
                <a:ea typeface="Bahnschrift"/>
                <a:cs typeface="Bahnschrift"/>
              </a:rPr>
              <a:t>   /   </a:t>
            </a:r>
            <a:r>
              <a:rPr sz="850" b="0" i="0" spc="18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核心验证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60704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数据不合并，</a:t>
            </a:r>
            <a:r>
              <a:rPr sz="2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模型会变笨吗？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9692640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异步本地更新的模型融合：数据不出域，价值可流转，模型共同成长。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技 术 路 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F3F7FF"/>
          </a:solidFill>
          <a:ln w="10160">
            <a:solidFill>
              <a:srgbClr val="DCE7F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3288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医院 A · 本地训练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6148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私域临床数据不出院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912" y="246888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F3F7FF"/>
          </a:solidFill>
          <a:ln w="10160">
            <a:solidFill>
              <a:srgbClr val="DCE7F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253288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医院 B · 本地训练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276148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私域临床数据不出院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09928" y="3054096"/>
            <a:ext cx="502920" cy="292608"/>
          </a:xfrm>
          <a:prstGeom prst="line">
            <a:avLst/>
          </a:prstGeom>
          <a:ln w="11430">
            <a:solidFill>
              <a:srgbClr val="AFC5ED"/>
            </a:solidFill>
            <a:tailEnd type="triangle" w="sm" len="sm"/>
          </a:ln>
        </p:spPr>
      </p:cxnSp>
      <p:cxnSp>
        <p:nvCxnSpPr>
          <p:cNvPr id="16" name="Connector 15"/>
          <p:cNvCxnSpPr/>
          <p:nvPr/>
        </p:nvCxnSpPr>
        <p:spPr>
          <a:xfrm flipH="1">
            <a:off x="3182112" y="3054096"/>
            <a:ext cx="429768" cy="292608"/>
          </a:xfrm>
          <a:prstGeom prst="line">
            <a:avLst/>
          </a:prstGeom>
          <a:ln w="11430">
            <a:solidFill>
              <a:srgbClr val="AFC5ED"/>
            </a:solidFill>
            <a:tailEnd type="triangle" w="sm" len="sm"/>
          </a:ln>
        </p:spPr>
      </p:cxnSp>
      <p:sp>
        <p:nvSpPr>
          <p:cNvPr id="17" name="Rounded Rectangle 16"/>
          <p:cNvSpPr/>
          <p:nvPr/>
        </p:nvSpPr>
        <p:spPr>
          <a:xfrm>
            <a:off x="1207008" y="3364992"/>
            <a:ext cx="3429000" cy="658368"/>
          </a:xfrm>
          <a:prstGeom prst="roundRect">
            <a:avLst>
              <a:gd name="adj" fmla="val 8333"/>
            </a:avLst>
          </a:prstGeom>
          <a:solidFill>
            <a:srgbClr val="EFF5FF"/>
          </a:solidFill>
          <a:ln w="12700">
            <a:solidFill>
              <a:srgbClr val="B9CE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345643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梯度融合器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712463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定期同步 · 加密梯度 · 异步更新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26080" y="4023360"/>
            <a:ext cx="0" cy="256032"/>
          </a:xfrm>
          <a:prstGeom prst="line">
            <a:avLst/>
          </a:prstGeom>
          <a:ln w="15240">
            <a:solidFill>
              <a:srgbClr val="4C86FF"/>
            </a:solidFill>
            <a:tailEnd type="triangle" w="sm" len="sm"/>
          </a:ln>
        </p:spPr>
      </p:cxnSp>
      <p:sp>
        <p:nvSpPr>
          <p:cNvPr id="21" name="Rounded Rectangle 20"/>
          <p:cNvSpPr/>
          <p:nvPr/>
        </p:nvSpPr>
        <p:spPr>
          <a:xfrm>
            <a:off x="1207008" y="4315968"/>
            <a:ext cx="3429000" cy="585216"/>
          </a:xfrm>
          <a:prstGeom prst="roundRect">
            <a:avLst>
              <a:gd name="adj" fmla="val 9375"/>
            </a:avLst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53312" y="438912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全局行业模型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64515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CADBFF"/>
                </a:solidFill>
                <a:latin typeface="Microsoft YaHei"/>
                <a:ea typeface="Microsoft YaHei"/>
                <a:cs typeface="Microsoft YaHei"/>
              </a:rPr>
              <a:t>越用越准 · 持续进化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3892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方案 B = 数据不合并 + 梯度融合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31536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各方原始数据零互通，只同步模型梯度；
融合后的全局模型再下发，继续本地训练。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7044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数据不出域，模型不掉队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228600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效果达成度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496312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方案 A 全量合并 = 100% 基准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44967" y="2697480"/>
            <a:ext cx="0" cy="2377440"/>
          </a:xfrm>
          <a:prstGeom prst="line">
            <a:avLst/>
          </a:prstGeom>
          <a:ln w="7620">
            <a:solidFill>
              <a:srgbClr val="EDF1F7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878824" y="2697480"/>
            <a:ext cx="0" cy="2377440"/>
          </a:xfrm>
          <a:prstGeom prst="line">
            <a:avLst/>
          </a:prstGeom>
          <a:ln w="7620">
            <a:solidFill>
              <a:srgbClr val="EDF1F7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45752" y="2697480"/>
            <a:ext cx="0" cy="2377440"/>
          </a:xfrm>
          <a:prstGeom prst="line">
            <a:avLst/>
          </a:prstGeom>
          <a:ln w="7620">
            <a:solidFill>
              <a:srgbClr val="EDF1F7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10012680" y="2697480"/>
            <a:ext cx="0" cy="2377440"/>
          </a:xfrm>
          <a:prstGeom prst="line">
            <a:avLst/>
          </a:prstGeom>
          <a:ln w="7620">
            <a:solidFill>
              <a:srgbClr val="EDF1F7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8311896" y="2697480"/>
            <a:ext cx="0" cy="2377440"/>
          </a:xfrm>
          <a:prstGeom prst="line">
            <a:avLst/>
          </a:prstGeom>
          <a:ln w="11430">
            <a:solidFill>
              <a:srgbClr val="4C86FF"/>
            </a:solidFill>
            <a:prstDash val="dash"/>
          </a:ln>
        </p:spPr>
      </p:cxnSp>
      <p:sp>
        <p:nvSpPr>
          <p:cNvPr id="34" name="TextBox 33"/>
          <p:cNvSpPr txBox="1"/>
          <p:nvPr/>
        </p:nvSpPr>
        <p:spPr>
          <a:xfrm>
            <a:off x="8366760" y="26517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100%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78040" y="5074920"/>
            <a:ext cx="3401568" cy="0"/>
          </a:xfrm>
          <a:prstGeom prst="line">
            <a:avLst/>
          </a:prstGeom>
          <a:ln w="11430">
            <a:solidFill>
              <a:srgbClr val="C9D5E8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7178040" y="5074920"/>
            <a:ext cx="0" cy="54864"/>
          </a:xfrm>
          <a:prstGeom prst="line">
            <a:avLst/>
          </a:prstGeom>
          <a:ln w="8890">
            <a:solidFill>
              <a:srgbClr val="C9D5E8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6995159" y="51480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80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44967" y="5074920"/>
            <a:ext cx="0" cy="54864"/>
          </a:xfrm>
          <a:prstGeom prst="line">
            <a:avLst/>
          </a:prstGeom>
          <a:ln w="8890">
            <a:solidFill>
              <a:srgbClr val="C9D5E8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7562088" y="51480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90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311896" y="5074920"/>
            <a:ext cx="0" cy="54864"/>
          </a:xfrm>
          <a:prstGeom prst="line">
            <a:avLst/>
          </a:prstGeom>
          <a:ln w="8890">
            <a:solidFill>
              <a:srgbClr val="C9D5E8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8129016" y="51480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100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878824" y="5074920"/>
            <a:ext cx="0" cy="54864"/>
          </a:xfrm>
          <a:prstGeom prst="line">
            <a:avLst/>
          </a:prstGeom>
          <a:ln w="8890">
            <a:solidFill>
              <a:srgbClr val="C9D5E8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8695944" y="51480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110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445752" y="5074920"/>
            <a:ext cx="0" cy="54864"/>
          </a:xfrm>
          <a:prstGeom prst="line">
            <a:avLst/>
          </a:prstGeom>
          <a:ln w="8890">
            <a:solidFill>
              <a:srgbClr val="C9D5E8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9262872" y="51480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120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012680" y="5074920"/>
            <a:ext cx="0" cy="54864"/>
          </a:xfrm>
          <a:prstGeom prst="line">
            <a:avLst/>
          </a:prstGeom>
          <a:ln w="8890">
            <a:solidFill>
              <a:srgbClr val="C9D5E8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9829800" y="51480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130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579608" y="5074920"/>
            <a:ext cx="0" cy="54864"/>
          </a:xfrm>
          <a:prstGeom prst="line">
            <a:avLst/>
          </a:prstGeom>
          <a:ln w="8890">
            <a:solidFill>
              <a:srgbClr val="C9D5E8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10396728" y="51480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140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2944368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B1B33"/>
                </a:solidFill>
                <a:latin typeface="Bahnschrift"/>
                <a:ea typeface="Bahnschrift"/>
                <a:cs typeface="Bahnschrift"/>
              </a:rPr>
              <a:t>medical_zh</a:t>
            </a:r>
            <a:r>
              <a:rPr sz="8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  医疗对话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78040" y="2926080"/>
            <a:ext cx="728502" cy="219456"/>
          </a:xfrm>
          <a:prstGeom prst="roundRect">
            <a:avLst>
              <a:gd name="adj" fmla="val 8333"/>
            </a:avLst>
          </a:prstGeom>
          <a:solidFill>
            <a:srgbClr val="7FA3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25328" y="2907792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92.85%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20" y="351129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多任务 / 预训练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78040" y="3493008"/>
            <a:ext cx="1598736" cy="219456"/>
          </a:xfrm>
          <a:prstGeom prst="roundRect">
            <a:avLst>
              <a:gd name="adj" fmla="val 8333"/>
            </a:avLst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25328" y="34747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108.2%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74920" y="4078224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14B / 8B / 4B</a:t>
            </a:r>
            <a:r>
              <a:rPr sz="8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  模型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74920" y="4645151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综合达成度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561320" y="2788920"/>
            <a:ext cx="0" cy="2075688"/>
          </a:xfrm>
          <a:prstGeom prst="line">
            <a:avLst/>
          </a:prstGeom>
          <a:ln w="11430">
            <a:solidFill>
              <a:srgbClr val="EEF2F8"/>
            </a:solidFill>
          </a:ln>
        </p:spPr>
      </p:cxnSp>
      <p:sp>
        <p:nvSpPr>
          <p:cNvPr id="59" name="Rounded Rectangle 58"/>
          <p:cNvSpPr/>
          <p:nvPr/>
        </p:nvSpPr>
        <p:spPr>
          <a:xfrm>
            <a:off x="7178040" y="4059936"/>
            <a:ext cx="1587398" cy="219456"/>
          </a:xfrm>
          <a:prstGeom prst="roundRect">
            <a:avLst>
              <a:gd name="adj" fmla="val 8333"/>
            </a:avLst>
          </a:prstGeom>
          <a:solidFill>
            <a:srgbClr val="9FBC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765438" y="4059936"/>
            <a:ext cx="1417320" cy="219456"/>
          </a:xfrm>
          <a:prstGeom prst="roundRect">
            <a:avLst>
              <a:gd name="adj" fmla="val 8333"/>
            </a:avLst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182758" y="4023360"/>
            <a:ext cx="0" cy="310896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10625328" y="4041648"/>
            <a:ext cx="6949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108–133%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291425" y="4736592"/>
            <a:ext cx="2891333" cy="0"/>
          </a:xfrm>
          <a:prstGeom prst="line">
            <a:avLst/>
          </a:prstGeom>
          <a:ln w="20320">
            <a:solidFill>
              <a:srgbClr val="7C93B5"/>
            </a:solidFill>
          </a:ln>
        </p:spPr>
      </p:cxnSp>
      <p:cxnSp>
        <p:nvCxnSpPr>
          <p:cNvPr id="64" name="Connector 63"/>
          <p:cNvCxnSpPr/>
          <p:nvPr/>
        </p:nvCxnSpPr>
        <p:spPr>
          <a:xfrm>
            <a:off x="7291425" y="4681728"/>
            <a:ext cx="0" cy="109728"/>
          </a:xfrm>
          <a:prstGeom prst="line">
            <a:avLst/>
          </a:prstGeom>
          <a:ln w="13970">
            <a:solidFill>
              <a:srgbClr val="7C93B5"/>
            </a:solidFill>
          </a:ln>
        </p:spPr>
      </p:cxnSp>
      <p:cxnSp>
        <p:nvCxnSpPr>
          <p:cNvPr id="65" name="Connector 64"/>
          <p:cNvCxnSpPr/>
          <p:nvPr/>
        </p:nvCxnSpPr>
        <p:spPr>
          <a:xfrm>
            <a:off x="10182758" y="4681728"/>
            <a:ext cx="0" cy="109728"/>
          </a:xfrm>
          <a:prstGeom prst="line">
            <a:avLst/>
          </a:prstGeom>
          <a:ln w="13970">
            <a:solidFill>
              <a:srgbClr val="7C93B5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10625328" y="4608576"/>
            <a:ext cx="6949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43526B"/>
                </a:solidFill>
                <a:latin typeface="Bahnschrift"/>
                <a:ea typeface="Bahnschrift"/>
                <a:cs typeface="Bahnschrift"/>
              </a:rPr>
              <a:t>82–133%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74920" y="5376672"/>
            <a:ext cx="6263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9AA8BC"/>
                </a:solidFill>
                <a:latin typeface="Microsoft YaHei"/>
                <a:ea typeface="Microsoft YaHei"/>
                <a:cs typeface="Microsoft YaHei"/>
              </a:rPr>
              <a:t>横轴 80–140%；项目实测，覆盖不同数据集、不同任务、五种参数尺寸。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5687568"/>
            <a:ext cx="6291072" cy="512064"/>
          </a:xfrm>
          <a:prstGeom prst="rect">
            <a:avLst/>
          </a:prstGeom>
          <a:solidFill>
            <a:srgbClr val="F3F7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074920" y="5687568"/>
            <a:ext cx="36576" cy="51206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30368" y="5769864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14B / 8B / 4B 上实现反超：分开训练再融合，反而减少单一脏数据的过拟合。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TREMAC</a:t>
            </a:r>
            <a:r>
              <a:rPr sz="8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×  可信数据空间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0152" y="3474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08 / 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640080"/>
            <a:ext cx="10543032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822960" y="85953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08</a:t>
            </a:r>
            <a:r>
              <a:rPr sz="900" b="0" i="0" spc="140">
                <a:solidFill>
                  <a:srgbClr val="9AA8BC"/>
                </a:solidFill>
                <a:latin typeface="Bahnschrift"/>
                <a:ea typeface="Bahnschrift"/>
                <a:cs typeface="Bahnschrift"/>
              </a:rPr>
              <a:t>   /   </a:t>
            </a:r>
            <a:r>
              <a:rPr sz="850" b="0" i="0" spc="18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实践案例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60704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两个已经跑通的标杆实践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9692640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都建在深圳数据基础设施与可信数据空间之上。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53328" y="2148840"/>
            <a:ext cx="0" cy="3209544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822960" y="2103120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3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CASE 01  /  深圳 · 商保直付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6771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个人统一授权，让医疗数据合规流通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8833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理赔难、理赔慢：数据分散，受隐私限制，医院与保司无法拉通。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0040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3F7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55264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采集端授权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47288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挂号时完成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320040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3F7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3255264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使用端授权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3447288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线上理赔时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291840"/>
            <a:ext cx="182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03904"/>
            <a:ext cx="47548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DCE6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5876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拉通医院 HIS · 卫健委人口健康平台 · 保险公司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61104"/>
            <a:ext cx="4754880" cy="347472"/>
          </a:xfrm>
          <a:prstGeom prst="roundRect">
            <a:avLst>
              <a:gd name="adj" fmla="val 10526"/>
            </a:avLst>
          </a:prstGeom>
          <a:solidFill>
            <a:srgbClr val="F3F7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31596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按「准许成本 + 合理收益」定价，医院合规获益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南山区落地深圳首个「商保直付」通道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患者少跑腿  ·  医院合规获益  ·  保司降本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103120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3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CASE 02  /  多院联合 · 心脏病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26771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密文诊断模型，跨院联合建模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68833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多院数据难共享 · 安全风险高 · 基层能力不均 · 真实世界研究难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2784" y="320040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DCE6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3255264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医院 A / B / C 接入平台 · 原始数据留在本院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2784" y="3657600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DCE6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3712463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院内完成加密处理 · 形成密文数据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2784" y="4114800"/>
            <a:ext cx="4937760" cy="384048"/>
          </a:xfrm>
          <a:prstGeom prst="roundRect">
            <a:avLst>
              <a:gd name="adj" fmla="val 9523"/>
            </a:avLst>
          </a:prstGeom>
          <a:solidFill>
            <a:srgbClr val="F3F7FF"/>
          </a:solidFill>
          <a:ln w="10160">
            <a:solidFill>
              <a:srgbClr val="C9DA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4178808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隐私计算环境 · 多方安全融合 / 联合建模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72784" y="4626864"/>
            <a:ext cx="4937760" cy="347472"/>
          </a:xfrm>
          <a:prstGeom prst="roundRect">
            <a:avLst>
              <a:gd name="adj" fmla="val 10526"/>
            </a:avLst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468172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心脏病 AI 密文风险诊断模型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4" y="5084064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临床风险预测 · 赋能基层诊疗 · 支撑真实世界研究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43153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9AA8BC"/>
                </a:solidFill>
                <a:latin typeface="Microsoft YaHei"/>
                <a:ea typeface="Microsoft YaHei"/>
                <a:cs typeface="Microsoft YaHei"/>
              </a:rPr>
              <a:t>深圳南山 · 商保直付实践成效（据公开报道）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5614416"/>
            <a:ext cx="10543032" cy="694944"/>
          </a:xfrm>
          <a:prstGeom prst="rect">
            <a:avLst/>
          </a:prstGeom>
          <a:solidFill>
            <a:srgbClr val="F3F7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416" y="5696712"/>
            <a:ext cx="183428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300</a:t>
            </a: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" y="6016752"/>
            <a:ext cx="183428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覆盖公立医院就诊人群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931566" y="5705856"/>
            <a:ext cx="0" cy="512064"/>
          </a:xfrm>
          <a:prstGeom prst="line">
            <a:avLst/>
          </a:prstGeom>
          <a:ln w="9525">
            <a:solidFill>
              <a:srgbClr val="DDE7F7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3151022" y="5696712"/>
            <a:ext cx="183428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14</a:t>
            </a: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1022" y="6016752"/>
            <a:ext cx="183428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覆盖住院人群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40172" y="5705856"/>
            <a:ext cx="0" cy="512064"/>
          </a:xfrm>
          <a:prstGeom prst="line">
            <a:avLst/>
          </a:prstGeom>
          <a:ln w="9525">
            <a:solidFill>
              <a:srgbClr val="DDE7F7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5259628" y="5696712"/>
            <a:ext cx="183428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28</a:t>
            </a: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分钟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9628" y="6016752"/>
            <a:ext cx="183428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门诊平均理赔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148779" y="5705856"/>
            <a:ext cx="0" cy="512064"/>
          </a:xfrm>
          <a:prstGeom prst="line">
            <a:avLst/>
          </a:prstGeom>
          <a:ln w="9525">
            <a:solidFill>
              <a:srgbClr val="DDE7F7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7368235" y="5696712"/>
            <a:ext cx="183428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2</a:t>
            </a: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小时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8235" y="6016752"/>
            <a:ext cx="183428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住院最快理赔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257385" y="5705856"/>
            <a:ext cx="0" cy="512064"/>
          </a:xfrm>
          <a:prstGeom prst="line">
            <a:avLst/>
          </a:prstGeom>
          <a:ln w="9525">
            <a:solidFill>
              <a:srgbClr val="DDE7F7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9476841" y="5696712"/>
            <a:ext cx="183428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50</a:t>
            </a: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76841" y="6016752"/>
            <a:ext cx="183428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保险机构降本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TREMAC</a:t>
            </a:r>
            <a:r>
              <a:rPr sz="8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×  可信数据空间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0152" y="3474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09 / 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640080"/>
            <a:ext cx="10543032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822960" y="85953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09</a:t>
            </a:r>
            <a:r>
              <a:rPr sz="900" b="0" i="0" spc="140">
                <a:solidFill>
                  <a:srgbClr val="9AA8BC"/>
                </a:solidFill>
                <a:latin typeface="Bahnschrift"/>
                <a:ea typeface="Bahnschrift"/>
                <a:cs typeface="Bahnschrift"/>
              </a:rPr>
              <a:t>   /   </a:t>
            </a:r>
            <a:r>
              <a:rPr sz="850" b="0" i="0" spc="18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国际协作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60704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跨境医工科研：</a:t>
            </a:r>
            <a:r>
              <a:rPr sz="2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数据留在原地</a:t>
            </a:r>
            <a:r>
              <a:rPr sz="29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，网络连成一体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9692640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TRE 国际标准 + TDS 中国方案，跨境只交换身份、规则与合规结果。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9424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原始数据不跨境，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合规结果可共享。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480060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内地数据留在内地机房，港澳与海外数据留在当地；
不做敏感的原始数据搬运。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3950208"/>
            <a:ext cx="4617720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822960" y="4828032"/>
            <a:ext cx="4617720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3154680" y="4114800"/>
            <a:ext cx="0" cy="1389888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822960" y="4169663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0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4142231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身份互认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39826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跨境主体可信身份一次核验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169663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0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3" y="4142231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规则互认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3" y="439826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数字合约与使用规则对齐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0235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0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507492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任务跨境分发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533095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计算任务跨域调度与执行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510235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0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3" y="507492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合规结果共享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3" y="533095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仅结果按约回流，全程存证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89320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符合国家数据出境安全监管  ·  连接大湾区与全球医疗科研网络</a:t>
            </a:r>
          </a:p>
        </p:txBody>
      </p:sp>
      <p:sp>
        <p:nvSpPr>
          <p:cNvPr id="26" name="Oval 25"/>
          <p:cNvSpPr/>
          <p:nvPr/>
        </p:nvSpPr>
        <p:spPr>
          <a:xfrm>
            <a:off x="7086600" y="2011680"/>
            <a:ext cx="4114800" cy="4114800"/>
          </a:xfrm>
          <a:prstGeom prst="ellipse">
            <a:avLst/>
          </a:prstGeom>
          <a:noFill/>
          <a:ln w="10160">
            <a:solidFill>
              <a:srgbClr val="E6EDF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26679" y="2651760"/>
            <a:ext cx="2834640" cy="2834640"/>
          </a:xfrm>
          <a:prstGeom prst="ellipse">
            <a:avLst/>
          </a:prstGeom>
          <a:noFill/>
          <a:ln w="9525">
            <a:solidFill>
              <a:srgbClr val="DDE7F6"/>
            </a:solidFill>
            <a:prstDash val="sysDot"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086600" y="3557015"/>
            <a:ext cx="2057400" cy="512065"/>
          </a:xfrm>
          <a:prstGeom prst="line">
            <a:avLst/>
          </a:prstGeom>
          <a:ln w="11430">
            <a:solidFill>
              <a:srgbClr val="AFC5E9"/>
            </a:solidFill>
            <a:prstDash val="dash"/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144000" y="2779776"/>
            <a:ext cx="1453896" cy="1289304"/>
          </a:xfrm>
          <a:prstGeom prst="line">
            <a:avLst/>
          </a:prstGeom>
          <a:ln w="11430">
            <a:solidFill>
              <a:srgbClr val="AFC5E9"/>
            </a:solidFill>
            <a:prstDash val="dash"/>
          </a:ln>
        </p:spPr>
      </p:cxnSp>
      <p:cxnSp>
        <p:nvCxnSpPr>
          <p:cNvPr id="30" name="Connector 29"/>
          <p:cNvCxnSpPr/>
          <p:nvPr/>
        </p:nvCxnSpPr>
        <p:spPr>
          <a:xfrm>
            <a:off x="9144000" y="4069080"/>
            <a:ext cx="914400" cy="1472184"/>
          </a:xfrm>
          <a:prstGeom prst="line">
            <a:avLst/>
          </a:prstGeom>
          <a:ln w="11430">
            <a:solidFill>
              <a:srgbClr val="AFC5E9"/>
            </a:solidFill>
            <a:prstDash val="dash"/>
          </a:ln>
        </p:spPr>
      </p:cxnSp>
      <p:sp>
        <p:nvSpPr>
          <p:cNvPr id="31" name="Rounded Rectangle 30"/>
          <p:cNvSpPr/>
          <p:nvPr/>
        </p:nvSpPr>
        <p:spPr>
          <a:xfrm>
            <a:off x="6172200" y="3246120"/>
            <a:ext cx="1828800" cy="621792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 w="10160">
            <a:solidFill>
              <a:srgbClr val="DCE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81928" y="3374136"/>
            <a:ext cx="54864" cy="36576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3346703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内地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3593591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原始数据留存本地机房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57232" y="2468880"/>
            <a:ext cx="1481328" cy="621792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 w="10160">
            <a:solidFill>
              <a:srgbClr val="DCE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6959" y="2596896"/>
            <a:ext cx="54864" cy="36576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3263" y="2569464"/>
            <a:ext cx="116128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港澳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3263" y="2816352"/>
            <a:ext cx="116128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原始数据留存本地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89720" y="5230368"/>
            <a:ext cx="1737360" cy="621792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 w="10160">
            <a:solidFill>
              <a:srgbClr val="DCE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99448" y="5358383"/>
            <a:ext cx="54864" cy="36576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45752" y="5330952"/>
            <a:ext cx="141731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海外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5752" y="5577840"/>
            <a:ext cx="14173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原始数据留存当地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30768" y="3776472"/>
            <a:ext cx="1426464" cy="585216"/>
          </a:xfrm>
          <a:prstGeom prst="roundRect">
            <a:avLst>
              <a:gd name="adj" fmla="val 9375"/>
            </a:avLst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0768" y="3867911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可信数据空间枢纽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0768" y="4105656"/>
            <a:ext cx="142646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C9DAFF"/>
                </a:solidFill>
                <a:latin typeface="Microsoft YaHei"/>
                <a:ea typeface="Microsoft YaHei"/>
                <a:cs typeface="Microsoft YaHei"/>
              </a:rPr>
              <a:t>身份 · 规则 · 任务 · 结果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989320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A9B8CF"/>
                </a:solidFill>
                <a:latin typeface="Bahnschrift"/>
                <a:ea typeface="Bahnschrift"/>
                <a:cs typeface="Bahnschrift"/>
              </a:rPr>
              <a:t>C R O S S - B O R D E R   T R U S T E D   N E T W O R 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TREMAC</a:t>
            </a:r>
            <a:r>
              <a:rPr sz="8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  ×  可信数据空间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02336"/>
            <a:ext cx="103327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070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10   /   结 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66928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既能干成大事，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又能睡得着觉。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9923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这是 TREMAC 与可信数据空间，为医院与实验室打造的科研基座。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64992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从可信研究环境  →  可信科研协同网络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3913632"/>
            <a:ext cx="5166360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822960" y="409651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8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069080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数据在本地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409651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8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7" y="4069080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隐私保护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9028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8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562855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可管控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59028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80">
                <a:solidFill>
                  <a:srgbClr val="0058FF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7" y="4562855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能做大科研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5138928"/>
            <a:ext cx="5166360" cy="0"/>
          </a:xfrm>
          <a:prstGeom prst="line">
            <a:avLst/>
          </a:prstGeom>
          <a:ln w="9525">
            <a:solidFill>
              <a:srgbClr val="E7ECF4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22960" y="5303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谢谢大家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432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3526B"/>
                </a:solidFill>
                <a:latin typeface="Microsoft YaHei"/>
                <a:ea typeface="Microsoft YaHei"/>
                <a:cs typeface="Microsoft YaHei"/>
              </a:rPr>
              <a:t>中国电子云  ·  李化名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0167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广州实验室  ×  澳门科技大学</a:t>
            </a:r>
          </a:p>
        </p:txBody>
      </p:sp>
      <p:sp>
        <p:nvSpPr>
          <p:cNvPr id="21" name="Oval 20"/>
          <p:cNvSpPr/>
          <p:nvPr/>
        </p:nvSpPr>
        <p:spPr>
          <a:xfrm>
            <a:off x="7845552" y="2404872"/>
            <a:ext cx="2596896" cy="2596896"/>
          </a:xfrm>
          <a:prstGeom prst="ellipse">
            <a:avLst/>
          </a:prstGeom>
          <a:noFill/>
          <a:ln w="13970">
            <a:solidFill>
              <a:srgbClr val="D3E0F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65008" y="2624328"/>
            <a:ext cx="2157984" cy="2157984"/>
          </a:xfrm>
          <a:prstGeom prst="ellipse">
            <a:avLst/>
          </a:prstGeom>
          <a:noFill/>
          <a:ln w="7620">
            <a:solidFill>
              <a:srgbClr val="EDF2F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75420" y="2336291"/>
            <a:ext cx="137160" cy="13716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58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20225" y="2381097"/>
            <a:ext cx="47548" cy="47548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73868" y="3634739"/>
            <a:ext cx="137160" cy="13716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58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18673" y="3679545"/>
            <a:ext cx="47548" cy="47548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75420" y="4933188"/>
            <a:ext cx="137160" cy="13716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58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20225" y="4977993"/>
            <a:ext cx="47548" cy="47548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6972" y="3634739"/>
            <a:ext cx="137160" cy="13716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58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21777" y="3679545"/>
            <a:ext cx="47548" cy="47548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42900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可信科研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协同网络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95935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71809A"/>
                </a:solidFill>
                <a:latin typeface="Bahnschrift"/>
                <a:ea typeface="Bahnschrift"/>
                <a:cs typeface="Bahnschrift"/>
              </a:rPr>
              <a:t>T R U S T E D   N E T W O R 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01168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01  数据在本地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3602736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02  隐私保护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35838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03  可管控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2" y="360273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B33"/>
                </a:solidFill>
                <a:latin typeface="Microsoft YaHei"/>
                <a:ea typeface="Microsoft YaHei"/>
                <a:cs typeface="Microsoft YaHei"/>
              </a:rPr>
              <a:t>04  能做大科研</a:t>
            </a:r>
          </a:p>
        </p:txBody>
      </p:sp>
      <p:sp>
        <p:nvSpPr>
          <p:cNvPr id="37" name="Oval 36"/>
          <p:cNvSpPr/>
          <p:nvPr/>
        </p:nvSpPr>
        <p:spPr>
          <a:xfrm>
            <a:off x="10045682" y="2768719"/>
            <a:ext cx="32918" cy="32918"/>
          </a:xfrm>
          <a:prstGeom prst="ellipse">
            <a:avLst/>
          </a:prstGeom>
          <a:solidFill>
            <a:srgbClr val="C4D5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09399" y="2768719"/>
            <a:ext cx="32918" cy="32918"/>
          </a:xfrm>
          <a:prstGeom prst="ellipse">
            <a:avLst/>
          </a:prstGeom>
          <a:solidFill>
            <a:srgbClr val="C4D5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09399" y="4605002"/>
            <a:ext cx="32918" cy="32918"/>
          </a:xfrm>
          <a:prstGeom prst="ellipse">
            <a:avLst/>
          </a:prstGeom>
          <a:solidFill>
            <a:srgbClr val="C4D5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45682" y="4605002"/>
            <a:ext cx="32918" cy="32918"/>
          </a:xfrm>
          <a:prstGeom prst="ellipse">
            <a:avLst/>
          </a:prstGeom>
          <a:solidFill>
            <a:srgbClr val="C4D5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TREMAC 与可信数据空间技术融合探索</dc:title>
  <dc:subject>从可信研究环境到可信科研协同网络</dc:subject>
  <dc:creator>中国电子云 李化名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
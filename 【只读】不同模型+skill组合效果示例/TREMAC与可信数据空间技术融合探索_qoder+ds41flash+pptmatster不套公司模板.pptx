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  <Relationship Id="rId17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各位领导、各位专家，大家下午好！我是中国电子云的李化名，非常荣幸向各位做一次汇报与分享。</a:t>
            </a:r>
          </a:p>
          <a:p>
            <a:pPr/>
            <a:endParaRPr lang="zh-CN" dirty="0"/>
          </a:p>
          <a:p>
            <a:pPr/>
            <a:r>
              <a:rPr lang="zh-CN" dirty="0"/>
              <a:t>前面有专家介绍了 TRE 在国外的应用；国内面向数据流通利用，也有自己的技术路线——可信数据空间。</a:t>
            </a:r>
          </a:p>
          <a:p>
            <a:pPr/>
            <a:endParaRPr lang="zh-CN" dirty="0"/>
          </a:p>
          <a:p>
            <a:pPr/>
            <a:r>
              <a:rPr lang="zh-CN" dirty="0"/>
              <a:t>今天在座很多是医院代表。大家搞科研最头疼的是什么？想做顶尖的大科研，单靠一家医院的样本往往不够，必须多家联合；可一提到把数据拿出来共享，院长和信息科主任就犯难了：病人隐私泄露了谁负责？积累十几年的数据资产被人拷走了，主权怎么保障？</a:t>
            </a:r>
          </a:p>
          <a:p>
            <a:pPr/>
            <a:endParaRPr lang="zh-CN" dirty="0"/>
          </a:p>
          <a:p>
            <a:pPr/>
            <a:r>
              <a:rPr lang="zh-CN" dirty="0"/>
              <a:t>所以今天我想用 15 分钟讲清楚一件事：如何用最新的技术底座，帮大家稳稳实现四个目标——原始数据留在本地；患者隐私全程受保护；数据给谁用、怎么用全程可管控；并在这三个前提下，足不出户联合做国家级乃至国际级的大科研。这就是从单点的“可信研究环境”，走向跨机构的“可信科研协同网络”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先看一眼国家大势。很多专家会问：医疗数据安全管得这么严，我们搞跨院协同合规吗？</a:t>
            </a:r>
          </a:p>
          <a:p>
            <a:pPr/>
            <a:endParaRPr lang="zh-CN" dirty="0"/>
          </a:p>
          <a:p>
            <a:pPr/>
            <a:r>
              <a:rPr lang="zh-CN" dirty="0"/>
              <a:t>请看这张政策脉络图。从顶层的“数据 20 条”——数据领域的宪法，到国家数据局的《国家数据基础设施建设指引》和《可信数据空间发展行动计划》，国家已明确把“可信数据空间”定为核心技术路线。信号很清楚：不是让大家冒着违规风险“私下拷硬盘”，而是用国家标准的可信数据基础设施，既守住安全红线，又名正言顺地支撑科研与临床创新。</a:t>
            </a:r>
          </a:p>
          <a:p>
            <a:pPr/>
            <a:endParaRPr lang="zh-CN" dirty="0"/>
          </a:p>
          <a:p>
            <a:pPr/>
            <a:r>
              <a:rPr lang="zh-CN" dirty="0"/>
              <a:t>那什么是可信数据空间？打个比方，就是一张“有严格门禁、有统一规则、还能自动记账的数据流通高速路网”，有三个核心能力。</a:t>
            </a:r>
          </a:p>
          <a:p>
            <a:pPr/>
            <a:endParaRPr lang="zh-CN" dirty="0"/>
          </a:p>
          <a:p>
            <a:pPr/>
            <a:r>
              <a:rPr lang="zh-CN" dirty="0"/>
              <a:t>一是可信管控：靠共识规则、数字合约和使用控制，让医院对自己的数据有绝对控制权。</a:t>
            </a:r>
          </a:p>
          <a:p>
            <a:pPr/>
            <a:endParaRPr lang="zh-CN" dirty="0"/>
          </a:p>
          <a:p>
            <a:pPr/>
            <a:r>
              <a:rPr lang="zh-CN" dirty="0"/>
              <a:t>二是资源交互：用标准连接器把数据孤岛连成网——但连网绝不等于搬空医院的库房。</a:t>
            </a:r>
          </a:p>
          <a:p>
            <a:pPr/>
            <a:endParaRPr lang="zh-CN" dirty="0"/>
          </a:p>
          <a:p>
            <a:pPr/>
            <a:r>
              <a:rPr lang="zh-CN" dirty="0"/>
              <a:t>三是价值共创：医院、高校、实验室、药企和算法团队协同做科研，成果按贡献清清楚楚分配权益。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再看今天的两位主角：TRE，可信研究环境；TDS，可信数据空间。它们以前沿两条线各自演进。</a:t>
            </a:r>
          </a:p>
          <a:p>
            <a:pPr/>
            <a:endParaRPr lang="zh-CN" dirty="0"/>
          </a:p>
          <a:p>
            <a:pPr/>
            <a:r>
              <a:rPr lang="zh-CN" dirty="0"/>
              <a:t>左边 TRE，各位在国际顶刊里经常看到：最早像医院自建的“全封闭安全实验室”，做隔离计算和成果审核；后来走向云化 AI 训练；今天单靠一家样本不够用了，正在走向“联邦化”，多个节点互联做跨机构联合分析。右边 TDS，从早期的数据目录共享，到 2024 年的可信数据空间，再到 2025 年跨空间的“身份互认、规则互认、跨域协作”。</a:t>
            </a:r>
          </a:p>
          <a:p>
            <a:pPr/>
            <a:endParaRPr lang="zh-CN" dirty="0"/>
          </a:p>
          <a:p>
            <a:pPr/>
            <a:r>
              <a:rPr lang="zh-CN" dirty="0"/>
              <a:t>大家看中间的交汇点：TRE 走向联邦协作，可信数据空间走向空间互联，两条路径在医疗科研场景交汇，成果就是一个既保证数据不出域、又能跨机构联合研究的可信科研协作网络。</a:t>
            </a:r>
          </a:p>
          <a:p>
            <a:pPr/>
            <a:endParaRPr lang="zh-CN" dirty="0"/>
          </a:p>
          <a:p>
            <a:pPr/>
            <a:r>
              <a:rPr lang="zh-CN" dirty="0"/>
              <a:t>那已经有 TRE，为什么还要融合可信数据空间？两者都有可信身份、细粒度授权和隐私保护的基础，但能力层级不同。</a:t>
            </a:r>
          </a:p>
          <a:p>
            <a:pPr/>
            <a:endParaRPr lang="zh-CN" dirty="0"/>
          </a:p>
          <a:p>
            <a:pPr/>
            <a:r>
              <a:rPr lang="zh-CN" dirty="0"/>
              <a:t>TRE 管环境、研究、计算、输出，解决“敏感数据怎么算”——遵循国际五安全原则，原始病历死死留在环境内，研究员在虚拟桌面里算完，只能导出经审查的统计表、图表或模型参数，连一个病人的明细都带不走。</a:t>
            </a:r>
          </a:p>
          <a:p>
            <a:pPr/>
            <a:endParaRPr lang="zh-CN" dirty="0"/>
          </a:p>
          <a:p>
            <a:pPr/>
            <a:r>
              <a:rPr lang="zh-CN" dirty="0"/>
              <a:t>可信数据空间管连接、规则、流通、价值，解决“数据怎么流通”——十几家医院各有一间保密实验室，怎么连起来？怎么签联合研究合约？怎么监管履约、分配收益？</a:t>
            </a:r>
          </a:p>
          <a:p>
            <a:pPr/>
            <a:endParaRPr lang="zh-CN" dirty="0"/>
          </a:p>
          <a:p>
            <a:pPr/>
            <a:r>
              <a:rPr lang="zh-CN" dirty="0"/>
              <a:t>两者一组合，就从“单点的安全研究环境”升级成“跨机构的科研协作网络”。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融合之后，发起一项多中心科研分几步？我们总结了“五步闭环”。</a:t>
            </a:r>
          </a:p>
          <a:p>
            <a:pPr/>
            <a:endParaRPr lang="zh-CN" dirty="0"/>
          </a:p>
          <a:p>
            <a:pPr/>
            <a:r>
              <a:rPr lang="zh-CN" dirty="0"/>
              <a:t>第一步，主体接入与资源发布：医院通过连接器接入，不上传任何病人原始数据，只发布一条目录——“我院有 5000 例某呼吸疾病脱敏队列数据，可用于科研”。</a:t>
            </a:r>
          </a:p>
          <a:p>
            <a:pPr/>
            <a:endParaRPr lang="zh-CN" dirty="0"/>
          </a:p>
          <a:p>
            <a:pPr/>
            <a:r>
              <a:rPr lang="zh-CN" dirty="0"/>
              <a:t>第二步，项目申请与供需匹配：课题牵头方提出需求，在目录里匹配到合适的几家医院。</a:t>
            </a:r>
          </a:p>
          <a:p>
            <a:pPr/>
            <a:endParaRPr lang="zh-CN" dirty="0"/>
          </a:p>
          <a:p>
            <a:pPr/>
            <a:r>
              <a:rPr lang="zh-CN" dirty="0"/>
              <a:t>第三步，规则约定与授权：签署“数字合约”，允许哪几个人、什么期限、用什么工具、输出什么要求、责任边界，全部写成系统强制执行的规则。</a:t>
            </a:r>
          </a:p>
          <a:p>
            <a:pPr/>
            <a:endParaRPr lang="zh-CN" dirty="0"/>
          </a:p>
          <a:p>
            <a:pPr/>
            <a:r>
              <a:rPr lang="zh-CN" dirty="0"/>
              <a:t>第四步，进入 TRE 开展计算：数据不脱离医院控制，研究人员在受控环境做分析、训练与验证。</a:t>
            </a:r>
          </a:p>
          <a:p>
            <a:pPr/>
            <a:endParaRPr lang="zh-CN" dirty="0"/>
          </a:p>
          <a:p>
            <a:pPr/>
            <a:r>
              <a:rPr lang="zh-CN" dirty="0"/>
              <a:t>第五步，输出审查与成果交付：结果经风险披露审查才能导出；全程履约存证、计量、评价，作为收益与成果分配的依据。</a:t>
            </a:r>
          </a:p>
          <a:p>
            <a:pPr/>
            <a:endParaRPr lang="zh-CN" dirty="0"/>
          </a:p>
          <a:p>
            <a:pPr/>
            <a:r>
              <a:rPr lang="zh-CN" dirty="0"/>
              <a:t>落到系统上，就是下面这张全景架构图。最底层：A 医院有临床诊疗数据，B 医院有医学影像数据，C 机构有科研队列数据，原始数据 100% 留在各家本地；各家在自家 TRE 的受控工作区做本地计算，经输出审查后，只有合规的汇总结果往上走。中间层是可信数据空间协同服务平台，用“机构接入连接器 + 中心服务平台”把身份、目录、项目、授权、任务、审计全部管起来。</a:t>
            </a:r>
          </a:p>
          <a:p>
            <a:pPr/>
            <a:endParaRPr lang="zh-CN" dirty="0"/>
          </a:p>
          <a:p>
            <a:pPr/>
            <a:r>
              <a:rPr lang="zh-CN" dirty="0"/>
              <a:t>四句话概括：资源跨机构发现、授权按项目协同、计算在可信环境执行、结果经审查共享——原始数据一步没出自家大门，跨机构科研却高效跑起来了！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要支撑这套闭环，需要五项关键技术，我用五个关键词概括：认得准、找得到、管得住、送不出、算得了。这一页先讲前三项。</a:t>
            </a:r>
          </a:p>
          <a:p>
            <a:pPr/>
            <a:endParaRPr lang="zh-CN" dirty="0"/>
          </a:p>
          <a:p>
            <a:pPr/>
            <a:r>
              <a:rPr lang="zh-CN" dirty="0"/>
              <a:t>第一项，融合身份认证，认得准。把权威 CA 数字证书和区块链分布式身份（DID）结合，做到“权威签发、链上存证、跨域互认”。过去 10 家医院协同就有 10 套账号体系，重复登录、重复认证；现在患者、医生和机构统一身份认证一次、所有机构互认，既免去重复建号，又严防冒名调阅，打通“数据敢于供得出”的第一道信任门槛。</a:t>
            </a:r>
          </a:p>
          <a:p>
            <a:pPr/>
            <a:endParaRPr lang="zh-CN" dirty="0"/>
          </a:p>
          <a:p>
            <a:pPr/>
            <a:r>
              <a:rPr lang="zh-CN" dirty="0"/>
              <a:t>第二项，智能检索推荐，找得到。A 医院写“慢阻肺”、B 医院写“COPD”，关键词搜半天也匹配不上。我们把大模型 RAG 检索增强生成和医学知识图谱结合，医生用自然语言输入“COPD + 肺功能下降 + 近 3 年”，系统直接推荐匹配的脱敏病例集。</a:t>
            </a:r>
          </a:p>
          <a:p>
            <a:pPr/>
            <a:endParaRPr lang="zh-CN" dirty="0"/>
          </a:p>
          <a:p>
            <a:pPr/>
            <a:r>
              <a:rPr lang="zh-CN" dirty="0"/>
              <a:t>第三项，数字合约与使用控制，管得住。这是可信数据空间的核心。过去签完纸质协议，对方用了几次、有没有超期乱用，医院很难实时掌握。现在把规则写进区块链数字合约，配合使用控制引擎：药企申请某批脱敏数据，系统严格按“仅限研究用途、限 100 次调用”自动控量，“付没付钱、能不能用、用多少次”全部变成机器执行的铁律。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后两项技术，解决“数据进来以后”的安全问题。</a:t>
            </a:r>
          </a:p>
          <a:p>
            <a:pPr/>
            <a:endParaRPr lang="zh-CN" dirty="0"/>
          </a:p>
          <a:p>
            <a:pPr/>
            <a:r>
              <a:rPr lang="zh-CN" dirty="0"/>
              <a:t>第四项，安全数据交付，送不出。权限批了，研究人员进来分析住院病历，怎么防止复制走、U 盘拷走、截屏流出去？我们用“云桌面 + 数据沙箱”双重隔离：沙箱在底层用容器、虚拟化和硬件隔离（如 Intel SGX）保护数据处理，云桌面在前端控制访问会话。真实数据只在服务端运行，传到研究员屏幕上的只是一串加密的“画面像素流”——禁止复制粘贴、U 盘自动禁用、截屏自带溯源水印，做到“可用不可见、终端不落地”，一条原始数据都带不出医院。</a:t>
            </a:r>
          </a:p>
          <a:p>
            <a:pPr/>
            <a:endParaRPr lang="zh-CN" dirty="0"/>
          </a:p>
          <a:p>
            <a:pPr/>
            <a:r>
              <a:rPr lang="zh-CN" dirty="0"/>
              <a:t>第五项，安全数据计算，算得了。如果多家医院的数据连进同一个沙箱都不允许，怎么一起算？这就用隐私保护计算：联邦学习、多方安全计算、差分隐私和同态加密。比如联合训练“肺癌早期筛查 AI 模型”：一家样本太少，模型泛化差、容易看走眼；集中训练又有极大隐私风险。现在各家 CT 影像和病历不出本院，只交换加密后的模型参数，实现“数据不动模型动”。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讲到这儿，搞医疗 AI 的专家一定会问最灵魂的问题：数据留在本地、只传参数合练，模型会变笨吗？比得上把所有数据堆在一起练吗？</a:t>
            </a:r>
          </a:p>
          <a:p>
            <a:pPr/>
            <a:endParaRPr lang="zh-CN" dirty="0"/>
          </a:p>
          <a:p>
            <a:pPr/>
            <a:r>
              <a:rPr lang="zh-CN" dirty="0"/>
              <a:t>为此我们研发了“异步本地更新的模型融合技术”：A、B 两家医院各自用私域临床数据在本地训练模型副本，数据完全不互通；再通过“梯度融合器”定期把两边学到的本地梯度同步融合，升级成全局行业模型——数据不出域，价值可流转，模型共同成长。</a:t>
            </a:r>
          </a:p>
          <a:p>
            <a:pPr/>
            <a:endParaRPr lang="zh-CN" dirty="0"/>
          </a:p>
          <a:p>
            <a:pPr/>
            <a:r>
              <a:rPr lang="zh-CN" dirty="0"/>
              <a:t>效果看右边的实测成绩单。我们在不同数据集、不同任务、五种参数尺寸的大模型上做了对比：方案 A 是两家各 64 万条样本合并成 128 万条一起训练，定为 100% 基准；方案 B 是数据不合并、各自本地训练再做梯度融合。</a:t>
            </a:r>
          </a:p>
          <a:p>
            <a:pPr/>
            <a:endParaRPr lang="zh-CN" dirty="0"/>
          </a:p>
          <a:p>
            <a:pPr/>
            <a:r>
              <a:rPr lang="zh-CN" dirty="0"/>
              <a:t>中文医疗对话 medical_zh 任务上，不合并也达到合并效果的 92.85%；多任务和预训练语料上达到 108.2%；14B、8B、4B 模型上更是达到 108% 到 133%，实现反超——因为分开训练再融合，反而减少了单一脏数据的过拟合干扰。</a:t>
            </a:r>
          </a:p>
          <a:p>
            <a:pPr/>
            <a:endParaRPr lang="zh-CN" dirty="0"/>
          </a:p>
          <a:p>
            <a:pPr/>
            <a:r>
              <a:rPr lang="zh-CN" dirty="0"/>
              <a:t>综合来看，效果达成度在 82% 到 133% 之间。数据留在本地，不仅安全合规，效果也完全能支撑顶尖的大科研！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接下来汇报两个已经跑通的标杆案例，都建在深圳数据基础设施与可信数据空间之上。</a:t>
            </a:r>
          </a:p>
          <a:p>
            <a:pPr/>
            <a:endParaRPr lang="zh-CN" dirty="0"/>
          </a:p>
          <a:p>
            <a:pPr/>
            <a:r>
              <a:rPr lang="zh-CN" dirty="0"/>
              <a:t>第一个，统一授权推动个人医疗数据合规流通——“商保理赔”。过去理赔难、理赔慢：数据分散在各医院，受隐私合规限制，保司与医院无法拉通，医院配合也缺激励。深圳依托深圳数据交易所的可信数据空间与统一授权平台，在采集端（挂号时）和使用端（线上提交理赔时）建立双重个人统一授权，拉通医院 HIS、卫健委人口健康平台与保险公司，并按“准许成本 + 合理收益”为医院构建定价与收益分配机制。</a:t>
            </a:r>
          </a:p>
          <a:p>
            <a:pPr/>
            <a:endParaRPr lang="zh-CN" dirty="0"/>
          </a:p>
          <a:p>
            <a:pPr/>
            <a:r>
              <a:rPr lang="zh-CN" dirty="0"/>
              <a:t>据公开报道，南山区通过公共数据授权运营，联合微信、微保落成深圳首个“商保直付”通道：覆盖公立医院就诊人群 300 万、住院人群 14 万，门诊平均理赔 28 分钟，住院最快 2 小时，保险机构降本 50%——老百姓少跑腿、医院合规获益、保司成本下降，一举三得。</a:t>
            </a:r>
          </a:p>
          <a:p>
            <a:pPr/>
            <a:endParaRPr lang="zh-CN" dirty="0"/>
          </a:p>
          <a:p>
            <a:pPr/>
            <a:r>
              <a:rPr lang="zh-CN" dirty="0"/>
              <a:t>第二个，“心脏病 AI 密文风险诊断模型”。针对多院数据难共享、安全风险高、基层诊断能力不均、真实世界研究难开展四大痛点：医院 A、B、C 接入平台，原始数据留在本院，在院内完成加密处理；再把密文数据送入可信数据空间的隐私计算环境，多方安全融合、联合建模。现在这个模型既辅助临床医生做心脏病风险预测、赋能基层诊疗，也合规支撑了跨院真实世界研究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再往前看一步：我们不仅要在国内医院之间协同，更要跟港澳、跟国际顶尖科研机构做跨境联合研究，而数据出境管得更严，怎么办？</a:t>
            </a:r>
          </a:p>
          <a:p>
            <a:pPr/>
            <a:endParaRPr lang="zh-CN" dirty="0"/>
          </a:p>
          <a:p>
            <a:pPr/>
            <a:r>
              <a:rPr lang="zh-CN" dirty="0"/>
              <a:t>“TREMAC + 可信数据空间”天生就是破解跨境医工科研难题的金钥匙。国际上广泛使用 TRE 标准，国内正在推广可信数据空间标准。用这套融合架构，内地数据留在内地机房，港澳和海外数据留在当地，不做敏感的原始数据跨境搬运，只做“跨境身份互认、规则互认、任务跨境分发、合规结果跨境共享”，就能在符合国家数据出境安全监管的前提下，把大湾区乃至全球的医疗科研网络连成一体！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各位领导、各位专家：TREMAC 与可信数据空间的融合，归根结底是给实验室和医院打造一套“既能干得成大事，又能睡得着觉”的科研基座。</a:t>
            </a:r>
          </a:p>
          <a:p>
            <a:pPr/>
            <a:endParaRPr lang="zh-CN" dirty="0"/>
          </a:p>
          <a:p>
            <a:pPr/>
            <a:r>
              <a:rPr lang="zh-CN" dirty="0"/>
              <a:t>第一，数据稳稳留在本地，守住各家的核心资产。</a:t>
            </a:r>
          </a:p>
          <a:p>
            <a:pPr/>
            <a:endParaRPr lang="zh-CN" dirty="0"/>
          </a:p>
          <a:p>
            <a:pPr/>
            <a:r>
              <a:rPr lang="zh-CN" dirty="0"/>
              <a:t>第二，患者隐私全栈保护，不触碰法律与伦理红线。</a:t>
            </a:r>
          </a:p>
          <a:p>
            <a:pPr/>
            <a:endParaRPr lang="zh-CN" dirty="0"/>
          </a:p>
          <a:p>
            <a:pPr/>
            <a:r>
              <a:rPr lang="zh-CN" dirty="0"/>
              <a:t>第三，每一次数据使用清晰可控，数据持有方握着总开关。</a:t>
            </a:r>
          </a:p>
          <a:p>
            <a:pPr/>
            <a:endParaRPr lang="zh-CN" dirty="0"/>
          </a:p>
          <a:p>
            <a:pPr/>
            <a:r>
              <a:rPr lang="zh-CN" dirty="0"/>
              <a:t>最终，把各家医院和科研机构连接成网，一起做出具有国际影响力的大科研、大成果！</a:t>
            </a:r>
          </a:p>
          <a:p>
            <a:pPr/>
            <a:endParaRPr lang="zh-CN" dirty="0"/>
          </a:p>
          <a:p>
            <a:pPr/>
            <a:r>
              <a:rPr lang="zh-CN" dirty="0"/>
              <a:t>我的汇报就到这里，谢谢大家！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tre_mac_td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tre_mac_td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field"/>
          <p:cNvSpPr/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F2F6FF"/>
          </a:solidFill>
          <a:ln>
            <a:noFill/>
          </a:ln>
        </p:spPr>
      </p:sp>
      <p:sp>
        <p:nvSpPr>
          <p:cNvPr id="3" name="cover-field-edge"/>
          <p:cNvSpPr/>
          <p:nvPr/>
        </p:nvSpPr>
        <p:spPr>
          <a:xfrm>
            <a:off x="7239000" y="0"/>
            <a:ext cx="19050" cy="6858000"/>
          </a:xfrm>
          <a:prstGeom prst="rect">
            <a:avLst/>
          </a:prstGeom>
          <a:solidFill>
            <a:srgbClr val="DCE6FF"/>
          </a:solidFill>
          <a:ln>
            <a:noFill/>
          </a:ln>
        </p:spPr>
      </p:sp>
      <p:grpSp>
        <p:nvGrpSpPr>
          <p:cNvPr id="6" name="cover-kicker"/>
          <p:cNvGrpSpPr/>
          <p:nvPr/>
        </p:nvGrpSpPr>
        <p:grpSpPr>
          <a:xfrm>
            <a:off x="609600" y="825500"/>
            <a:ext cx="3073357" cy="191643"/>
            <a:chOff x="609600" y="825500"/>
            <a:chExt cx="3073357" cy="191643"/>
          </a:xfrm>
        </p:grpSpPr>
        <p:sp>
          <p:nvSpPr>
            <p:cNvPr id="4" name="Rectangle 4"/>
            <p:cNvSpPr/>
            <p:nvPr/>
          </p:nvSpPr>
          <p:spPr>
            <a:xfrm>
              <a:off x="609600" y="838200"/>
              <a:ext cx="57150" cy="5715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76097" y="825500"/>
              <a:ext cx="290686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80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TREMAC × TRUSTED DATA SPACE</a:t>
              </a:r>
            </a:p>
          </p:txBody>
        </p:sp>
      </p:grpSp>
      <p:grpSp>
        <p:nvGrpSpPr>
          <p:cNvPr id="9" name="cover-title"/>
          <p:cNvGrpSpPr/>
          <p:nvPr/>
        </p:nvGrpSpPr>
        <p:grpSpPr>
          <a:xfrm>
            <a:off x="590550" y="1384300"/>
            <a:ext cx="6574412" cy="1517650"/>
            <a:chOff x="590550" y="1384300"/>
            <a:chExt cx="6574412" cy="1517650"/>
          </a:xfrm>
        </p:grpSpPr>
        <p:sp>
          <p:nvSpPr>
            <p:cNvPr id="7" name="TextBox 7"/>
            <p:cNvSpPr txBox="1"/>
            <p:nvPr/>
          </p:nvSpPr>
          <p:spPr>
            <a:xfrm>
              <a:off x="590550" y="1384300"/>
              <a:ext cx="657441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TREMAC</a:t>
              </a:r>
              <a:r>
                <a:rPr lang="zh-CN" sz="420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 xml:space="preserve"> 与可信数据空间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0550" y="2082800"/>
              <a:ext cx="343052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技术融合探索</a:t>
              </a:r>
            </a:p>
          </p:txBody>
        </p:sp>
      </p:grpSp>
      <p:grpSp>
        <p:nvGrpSpPr>
          <p:cNvPr id="12" name="cover-subtitle"/>
          <p:cNvGrpSpPr/>
          <p:nvPr/>
        </p:nvGrpSpPr>
        <p:grpSpPr>
          <a:xfrm>
            <a:off x="601218" y="3111500"/>
            <a:ext cx="3792855" cy="555625"/>
            <a:chOff x="601218" y="3111500"/>
            <a:chExt cx="3792855" cy="555625"/>
          </a:xfrm>
        </p:grpSpPr>
        <p:sp>
          <p:nvSpPr>
            <p:cNvPr id="10" name="TextBox 10"/>
            <p:cNvSpPr txBox="1"/>
            <p:nvPr/>
          </p:nvSpPr>
          <p:spPr>
            <a:xfrm>
              <a:off x="601218" y="3111500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435C"/>
                  </a:solidFill>
                  <a:latin typeface="+mn-lt"/>
                  <a:ea typeface="+mn-ea"/>
                  <a:cs typeface="+mn-cs"/>
                </a:rPr>
                <a:t>从可信研究环境，到可信科研协同网络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3638550"/>
              <a:ext cx="533400" cy="28575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</p:grpSp>
      <p:grpSp>
        <p:nvGrpSpPr>
          <p:cNvPr id="25" name="cover-anchors"/>
          <p:cNvGrpSpPr/>
          <p:nvPr/>
        </p:nvGrpSpPr>
        <p:grpSpPr>
          <a:xfrm>
            <a:off x="609600" y="4070350"/>
            <a:ext cx="3786975" cy="931069"/>
            <a:chOff x="609600" y="4070350"/>
            <a:chExt cx="3786975" cy="931069"/>
          </a:xfrm>
        </p:grpSpPr>
        <p:sp>
          <p:nvSpPr>
            <p:cNvPr id="13" name="Rectangle 13"/>
            <p:cNvSpPr/>
            <p:nvPr/>
          </p:nvSpPr>
          <p:spPr>
            <a:xfrm>
              <a:off x="609600" y="4095750"/>
              <a:ext cx="28575" cy="28575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6285" y="407035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数据在本地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238" y="4298950"/>
              <a:ext cx="81993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数据主权属地化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29000" y="4095750"/>
              <a:ext cx="28575" cy="28575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575685" y="40703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隐私保护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76638" y="4298950"/>
              <a:ext cx="70416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全栈隐私内生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4629150"/>
              <a:ext cx="28575" cy="28575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6285" y="460375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可管控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238" y="4832350"/>
              <a:ext cx="81993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细粒度使用控制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429000" y="4629150"/>
              <a:ext cx="28575" cy="28575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575685" y="460375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能做大科研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76638" y="4832350"/>
              <a:ext cx="81993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跨域协同大科研</a:t>
              </a:r>
            </a:p>
          </p:txBody>
        </p:sp>
      </p:grpSp>
      <p:grpSp>
        <p:nvGrpSpPr>
          <p:cNvPr id="30" name="cover-speaker"/>
          <p:cNvGrpSpPr/>
          <p:nvPr/>
        </p:nvGrpSpPr>
        <p:grpSpPr>
          <a:xfrm>
            <a:off x="603885" y="5600700"/>
            <a:ext cx="6101715" cy="784225"/>
            <a:chOff x="603885" y="5600700"/>
            <a:chExt cx="6101715" cy="784225"/>
          </a:xfrm>
        </p:grpSpPr>
        <p:sp>
          <p:nvSpPr>
            <p:cNvPr id="26" name="Line 26"/>
            <p:cNvSpPr/>
            <p:nvPr/>
          </p:nvSpPr>
          <p:spPr>
            <a:xfrm>
              <a:off x="609600" y="56007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9525">
              <a:solidFill>
                <a:srgbClr val="DDE5F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3885" y="574675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中国电子云　李化名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4838" y="6000750"/>
              <a:ext cx="1557384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广州实验室 × 澳门科技大学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4838" y="6223000"/>
              <a:ext cx="9770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8A99B0"/>
                  </a:solidFill>
                  <a:latin typeface="+mn-lt"/>
                  <a:ea typeface="+mn-ea"/>
                  <a:cs typeface="+mn-cs"/>
                </a:rPr>
                <a:t>主题汇报 · 内部交流</a:t>
              </a:r>
            </a:p>
          </p:txBody>
        </p:sp>
      </p:grpSp>
      <p:grpSp>
        <p:nvGrpSpPr>
          <p:cNvPr id="73" name="cover-network"/>
          <p:cNvGrpSpPr/>
          <p:nvPr/>
        </p:nvGrpSpPr>
        <p:grpSpPr>
          <a:xfrm>
            <a:off x="7810500" y="1047750"/>
            <a:ext cx="3714750" cy="4572000"/>
            <a:chOff x="7810500" y="1047750"/>
            <a:chExt cx="3714750" cy="4572000"/>
          </a:xfrm>
        </p:grpSpPr>
        <p:sp>
          <p:nvSpPr>
            <p:cNvPr id="31" name="Rectangle 31"/>
            <p:cNvSpPr/>
            <p:nvPr/>
          </p:nvSpPr>
          <p:spPr>
            <a:xfrm>
              <a:off x="7810500" y="1047750"/>
              <a:ext cx="3714750" cy="4572000"/>
            </a:xfrm>
            <a:prstGeom prst="rect">
              <a:avLst/>
            </a:prstGeom>
            <a:noFill/>
            <a:ln w="9525">
              <a:solidFill>
                <a:srgbClr val="D8E4FF"/>
              </a:solidFill>
              <a:prstDash val="dash"/>
            </a:ln>
          </p:spPr>
        </p:sp>
        <p:sp>
          <p:nvSpPr>
            <p:cNvPr id="32" name="Freeform 32"/>
            <p:cNvSpPr/>
            <p:nvPr/>
          </p:nvSpPr>
          <p:spPr>
            <a:xfrm>
              <a:off x="7810500" y="10477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285750"/>
                  </a:moveTo>
                  <a:lnTo>
                    <a:pt x="0" y="0"/>
                  </a:ln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0058FF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953750" y="10477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285750"/>
                  </a:moveTo>
                  <a:lnTo>
                    <a:pt x="285750" y="0"/>
                  </a:ln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0058FF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810500" y="533400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0"/>
                  </a:moveTo>
                  <a:lnTo>
                    <a:pt x="0" y="285750"/>
                  </a:lnTo>
                  <a:lnTo>
                    <a:pt x="285750" y="285750"/>
                  </a:lnTo>
                </a:path>
              </a:pathLst>
            </a:custGeom>
            <a:noFill/>
            <a:ln w="14288">
              <a:solidFill>
                <a:srgbClr val="0058FF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0953750" y="533400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0"/>
                  </a:moveTo>
                  <a:lnTo>
                    <a:pt x="285750" y="285750"/>
                  </a:lnTo>
                  <a:lnTo>
                    <a:pt x="0" y="285750"/>
                  </a:lnTo>
                </a:path>
              </a:pathLst>
            </a:custGeom>
            <a:noFill/>
            <a:ln w="14288">
              <a:solidFill>
                <a:srgbClr val="0058FF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8048625" y="1714500"/>
              <a:ext cx="3238500" cy="3238500"/>
            </a:xfrm>
            <a:prstGeom prst="ellipse">
              <a:avLst/>
            </a:prstGeom>
            <a:noFill/>
            <a:ln w="9525">
              <a:solidFill>
                <a:srgbClr val="D9E5FF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8601075" y="2266950"/>
              <a:ext cx="2133600" cy="2133600"/>
            </a:xfrm>
            <a:prstGeom prst="ellipse">
              <a:avLst/>
            </a:prstGeom>
            <a:noFill/>
            <a:ln w="9525">
              <a:solidFill>
                <a:srgbClr val="E4ECFF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9382125" y="3333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9525">
              <a:solidFill>
                <a:srgbClr val="C9D9FF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9667875" y="30480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C9D9FF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8420100" y="1752600"/>
              <a:ext cx="1247775" cy="1581150"/>
            </a:xfrm>
            <a:custGeom>
              <a:avLst/>
              <a:gdLst/>
              <a:ahLst/>
              <a:cxnLst/>
              <a:rect l="l" t="t" r="r" b="b"/>
              <a:pathLst>
                <a:path w="1247775" h="1581150">
                  <a:moveTo>
                    <a:pt x="1247775" y="15811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58FF">
                  <a:alpha val="28000"/>
                </a:srgbClr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9667875" y="2371725"/>
              <a:ext cx="1323975" cy="962025"/>
            </a:xfrm>
            <a:custGeom>
              <a:avLst/>
              <a:gdLst/>
              <a:ahLst/>
              <a:cxnLst/>
              <a:rect l="l" t="t" r="r" b="b"/>
              <a:pathLst>
                <a:path w="1323975" h="962025">
                  <a:moveTo>
                    <a:pt x="0" y="962025"/>
                  </a:moveTo>
                  <a:lnTo>
                    <a:pt x="1323975" y="0"/>
                  </a:lnTo>
                </a:path>
              </a:pathLst>
            </a:custGeom>
            <a:noFill/>
            <a:ln w="9525">
              <a:solidFill>
                <a:srgbClr val="0058FF">
                  <a:alpha val="28000"/>
                </a:srgb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9667875" y="3333750"/>
              <a:ext cx="1466850" cy="1085850"/>
            </a:xfrm>
            <a:custGeom>
              <a:avLst/>
              <a:gdLst/>
              <a:ahLst/>
              <a:cxnLst/>
              <a:rect l="l" t="t" r="r" b="b"/>
              <a:pathLst>
                <a:path w="1466850" h="1085850">
                  <a:moveTo>
                    <a:pt x="0" y="0"/>
                  </a:moveTo>
                  <a:lnTo>
                    <a:pt x="1466850" y="1085850"/>
                  </a:lnTo>
                </a:path>
              </a:pathLst>
            </a:custGeom>
            <a:noFill/>
            <a:ln w="9525">
              <a:solidFill>
                <a:srgbClr val="0058FF">
                  <a:alpha val="28000"/>
                </a:srgbClr>
              </a:solidFill>
              <a:custDash>
                <a:ds d="600000" sp="400000"/>
              </a:custDash>
            </a:ln>
          </p:spPr>
        </p:sp>
        <p:sp>
          <p:nvSpPr>
            <p:cNvPr id="43" name="Line 43"/>
            <p:cNvSpPr/>
            <p:nvPr/>
          </p:nvSpPr>
          <p:spPr>
            <a:xfrm>
              <a:off x="9086850" y="3333750"/>
              <a:ext cx="581025" cy="2038350"/>
            </a:xfrm>
            <a:custGeom>
              <a:avLst/>
              <a:gdLst/>
              <a:ahLst/>
              <a:cxnLst/>
              <a:rect l="l" t="t" r="r" b="b"/>
              <a:pathLst>
                <a:path w="581025" h="2038350">
                  <a:moveTo>
                    <a:pt x="581025" y="0"/>
                  </a:moveTo>
                  <a:lnTo>
                    <a:pt x="0" y="2038350"/>
                  </a:lnTo>
                </a:path>
              </a:pathLst>
            </a:custGeom>
            <a:noFill/>
            <a:ln w="9525">
              <a:solidFill>
                <a:srgbClr val="0058FF">
                  <a:alpha val="28000"/>
                </a:srgbClr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8277225" y="3333750"/>
              <a:ext cx="1390650" cy="895350"/>
            </a:xfrm>
            <a:custGeom>
              <a:avLst/>
              <a:gdLst/>
              <a:ahLst/>
              <a:cxnLst/>
              <a:rect l="l" t="t" r="r" b="b"/>
              <a:pathLst>
                <a:path w="1390650" h="895350">
                  <a:moveTo>
                    <a:pt x="1390650" y="0"/>
                  </a:moveTo>
                  <a:lnTo>
                    <a:pt x="0" y="895350"/>
                  </a:lnTo>
                </a:path>
              </a:pathLst>
            </a:custGeom>
            <a:noFill/>
            <a:ln w="9525">
              <a:solidFill>
                <a:srgbClr val="0058FF">
                  <a:alpha val="28000"/>
                </a:srgbClr>
              </a:solidFill>
              <a:custDash>
                <a:ds d="600000" sp="400000"/>
              </a:custDash>
            </a:ln>
          </p:spPr>
        </p:sp>
        <p:sp>
          <p:nvSpPr>
            <p:cNvPr id="45" name="Rectangle 45"/>
            <p:cNvSpPr/>
            <p:nvPr/>
          </p:nvSpPr>
          <p:spPr>
            <a:xfrm>
              <a:off x="8191500" y="1524000"/>
              <a:ext cx="457200" cy="4572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058FF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8356600" y="1681162"/>
              <a:ext cx="127000" cy="142875"/>
              <a:chOff x="8356600" y="1681162"/>
              <a:chExt cx="127000" cy="14287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356600" y="1681162"/>
                <a:ext cx="1270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47625">
                    <a:moveTo>
                      <a:pt x="0" y="23812"/>
                    </a:moveTo>
                    <a:cubicBezTo>
                      <a:pt x="0" y="36964"/>
                      <a:pt x="28430" y="47625"/>
                      <a:pt x="63500" y="47625"/>
                    </a:cubicBezTo>
                    <a:cubicBezTo>
                      <a:pt x="98570" y="47625"/>
                      <a:pt x="127000" y="36964"/>
                      <a:pt x="127000" y="23812"/>
                    </a:cubicBezTo>
                    <a:cubicBezTo>
                      <a:pt x="127000" y="10661"/>
                      <a:pt x="98570" y="0"/>
                      <a:pt x="63500" y="0"/>
                    </a:cubicBezTo>
                    <a:cubicBezTo>
                      <a:pt x="28430" y="0"/>
                      <a:pt x="0" y="10661"/>
                      <a:pt x="0" y="23812"/>
                    </a:cubicBezTo>
                  </a:path>
                </a:pathLst>
              </a:custGeom>
              <a:noFill/>
              <a:ln w="15875">
                <a:solidFill>
                  <a:srgbClr val="0058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56600" y="1704975"/>
                <a:ext cx="127000" cy="71437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71437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60776"/>
                      <a:pt x="28430" y="71437"/>
                      <a:pt x="63500" y="71437"/>
                    </a:cubicBezTo>
                    <a:cubicBezTo>
                      <a:pt x="98570" y="71437"/>
                      <a:pt x="127000" y="60776"/>
                      <a:pt x="127000" y="47625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5875">
                <a:solidFill>
                  <a:srgbClr val="0058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56600" y="1752600"/>
                <a:ext cx="127000" cy="71437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71437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60776"/>
                      <a:pt x="28430" y="71437"/>
                      <a:pt x="63500" y="71437"/>
                    </a:cubicBezTo>
                    <a:cubicBezTo>
                      <a:pt x="98570" y="71437"/>
                      <a:pt x="127000" y="60776"/>
                      <a:pt x="127000" y="47625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5875">
                <a:solidFill>
                  <a:srgbClr val="0058FF"/>
                </a:solidFill>
              </a:ln>
            </p:spPr>
          </p:sp>
        </p:grpSp>
        <p:sp>
          <p:nvSpPr>
            <p:cNvPr id="50" name="Rectangle 50"/>
            <p:cNvSpPr/>
            <p:nvPr/>
          </p:nvSpPr>
          <p:spPr>
            <a:xfrm>
              <a:off x="10763250" y="2143125"/>
              <a:ext cx="457200" cy="4572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058FF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10928350" y="2300287"/>
              <a:ext cx="127000" cy="142875"/>
              <a:chOff x="10928350" y="2300287"/>
              <a:chExt cx="127000" cy="14287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10928350" y="2300287"/>
                <a:ext cx="1270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47625">
                    <a:moveTo>
                      <a:pt x="0" y="23812"/>
                    </a:moveTo>
                    <a:cubicBezTo>
                      <a:pt x="0" y="36964"/>
                      <a:pt x="28430" y="47625"/>
                      <a:pt x="63500" y="47625"/>
                    </a:cubicBezTo>
                    <a:cubicBezTo>
                      <a:pt x="98570" y="47625"/>
                      <a:pt x="127000" y="36964"/>
                      <a:pt x="127000" y="23812"/>
                    </a:cubicBezTo>
                    <a:cubicBezTo>
                      <a:pt x="127000" y="10661"/>
                      <a:pt x="98570" y="0"/>
                      <a:pt x="63500" y="0"/>
                    </a:cubicBezTo>
                    <a:cubicBezTo>
                      <a:pt x="28430" y="0"/>
                      <a:pt x="0" y="10661"/>
                      <a:pt x="0" y="23812"/>
                    </a:cubicBezTo>
                  </a:path>
                </a:pathLst>
              </a:custGeom>
              <a:noFill/>
              <a:ln w="15875">
                <a:solidFill>
                  <a:srgbClr val="0058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0928350" y="2324100"/>
                <a:ext cx="127000" cy="71437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71437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60776"/>
                      <a:pt x="28430" y="71437"/>
                      <a:pt x="63500" y="71437"/>
                    </a:cubicBezTo>
                    <a:cubicBezTo>
                      <a:pt x="98570" y="71437"/>
                      <a:pt x="127000" y="60776"/>
                      <a:pt x="127000" y="47625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5875">
                <a:solidFill>
                  <a:srgbClr val="0058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0928350" y="2371725"/>
                <a:ext cx="127000" cy="71437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71437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60776"/>
                      <a:pt x="28430" y="71437"/>
                      <a:pt x="63500" y="71437"/>
                    </a:cubicBezTo>
                    <a:cubicBezTo>
                      <a:pt x="98570" y="71437"/>
                      <a:pt x="127000" y="60776"/>
                      <a:pt x="127000" y="47625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5875">
                <a:solidFill>
                  <a:srgbClr val="0058FF"/>
                </a:solidFill>
              </a:ln>
            </p:spPr>
          </p:sp>
        </p:grpSp>
        <p:sp>
          <p:nvSpPr>
            <p:cNvPr id="55" name="Rectangle 55"/>
            <p:cNvSpPr/>
            <p:nvPr/>
          </p:nvSpPr>
          <p:spPr>
            <a:xfrm>
              <a:off x="10906125" y="4191000"/>
              <a:ext cx="457200" cy="4572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058FF"/>
              </a:solidFill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11071225" y="4348162"/>
              <a:ext cx="127000" cy="142875"/>
              <a:chOff x="11071225" y="4348162"/>
              <a:chExt cx="127000" cy="14287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11071225" y="4348162"/>
                <a:ext cx="1270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47625">
                    <a:moveTo>
                      <a:pt x="0" y="23812"/>
                    </a:moveTo>
                    <a:cubicBezTo>
                      <a:pt x="0" y="36964"/>
                      <a:pt x="28430" y="47625"/>
                      <a:pt x="63500" y="47625"/>
                    </a:cubicBezTo>
                    <a:cubicBezTo>
                      <a:pt x="98570" y="47625"/>
                      <a:pt x="127000" y="36964"/>
                      <a:pt x="127000" y="23812"/>
                    </a:cubicBezTo>
                    <a:cubicBezTo>
                      <a:pt x="127000" y="10661"/>
                      <a:pt x="98570" y="0"/>
                      <a:pt x="63500" y="0"/>
                    </a:cubicBezTo>
                    <a:cubicBezTo>
                      <a:pt x="28430" y="0"/>
                      <a:pt x="0" y="10661"/>
                      <a:pt x="0" y="23812"/>
                    </a:cubicBezTo>
                  </a:path>
                </a:pathLst>
              </a:custGeom>
              <a:noFill/>
              <a:ln w="15875">
                <a:solidFill>
                  <a:srgbClr val="0058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1071225" y="4371975"/>
                <a:ext cx="127000" cy="71437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71437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60776"/>
                      <a:pt x="28430" y="71437"/>
                      <a:pt x="63500" y="71437"/>
                    </a:cubicBezTo>
                    <a:cubicBezTo>
                      <a:pt x="98570" y="71437"/>
                      <a:pt x="127000" y="60776"/>
                      <a:pt x="127000" y="47625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5875">
                <a:solidFill>
                  <a:srgbClr val="0058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1071225" y="4419600"/>
                <a:ext cx="127000" cy="71437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71437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60776"/>
                      <a:pt x="28430" y="71437"/>
                      <a:pt x="63500" y="71437"/>
                    </a:cubicBezTo>
                    <a:cubicBezTo>
                      <a:pt x="98570" y="71437"/>
                      <a:pt x="127000" y="60776"/>
                      <a:pt x="127000" y="47625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5875">
                <a:solidFill>
                  <a:srgbClr val="0058FF"/>
                </a:solidFill>
              </a:ln>
            </p:spPr>
          </p:sp>
        </p:grpSp>
        <p:sp>
          <p:nvSpPr>
            <p:cNvPr id="60" name="Rectangle 60"/>
            <p:cNvSpPr/>
            <p:nvPr/>
          </p:nvSpPr>
          <p:spPr>
            <a:xfrm>
              <a:off x="8858250" y="5143500"/>
              <a:ext cx="457200" cy="4572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058FF"/>
              </a:solidFill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9023350" y="5300662"/>
              <a:ext cx="127000" cy="142875"/>
              <a:chOff x="9023350" y="5300662"/>
              <a:chExt cx="127000" cy="14287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9023350" y="5300662"/>
                <a:ext cx="1270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47625">
                    <a:moveTo>
                      <a:pt x="0" y="23812"/>
                    </a:moveTo>
                    <a:cubicBezTo>
                      <a:pt x="0" y="36964"/>
                      <a:pt x="28430" y="47625"/>
                      <a:pt x="63500" y="47625"/>
                    </a:cubicBezTo>
                    <a:cubicBezTo>
                      <a:pt x="98570" y="47625"/>
                      <a:pt x="127000" y="36964"/>
                      <a:pt x="127000" y="23812"/>
                    </a:cubicBezTo>
                    <a:cubicBezTo>
                      <a:pt x="127000" y="10661"/>
                      <a:pt x="98570" y="0"/>
                      <a:pt x="63500" y="0"/>
                    </a:cubicBezTo>
                    <a:cubicBezTo>
                      <a:pt x="28430" y="0"/>
                      <a:pt x="0" y="10661"/>
                      <a:pt x="0" y="23812"/>
                    </a:cubicBezTo>
                  </a:path>
                </a:pathLst>
              </a:custGeom>
              <a:noFill/>
              <a:ln w="15875">
                <a:solidFill>
                  <a:srgbClr val="0058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023350" y="5324475"/>
                <a:ext cx="127000" cy="71437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71437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60776"/>
                      <a:pt x="28430" y="71437"/>
                      <a:pt x="63500" y="71437"/>
                    </a:cubicBezTo>
                    <a:cubicBezTo>
                      <a:pt x="98570" y="71437"/>
                      <a:pt x="127000" y="60776"/>
                      <a:pt x="127000" y="47625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5875">
                <a:solidFill>
                  <a:srgbClr val="0058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9023350" y="5372100"/>
                <a:ext cx="127000" cy="71437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71437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60776"/>
                      <a:pt x="28430" y="71437"/>
                      <a:pt x="63500" y="71437"/>
                    </a:cubicBezTo>
                    <a:cubicBezTo>
                      <a:pt x="98570" y="71437"/>
                      <a:pt x="127000" y="60776"/>
                      <a:pt x="127000" y="47625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5875">
                <a:solidFill>
                  <a:srgbClr val="0058FF"/>
                </a:solidFill>
              </a:ln>
            </p:spPr>
          </p:sp>
        </p:grpSp>
        <p:sp>
          <p:nvSpPr>
            <p:cNvPr id="65" name="Rectangle 65"/>
            <p:cNvSpPr/>
            <p:nvPr/>
          </p:nvSpPr>
          <p:spPr>
            <a:xfrm>
              <a:off x="8048625" y="4000500"/>
              <a:ext cx="457200" cy="4572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058FF"/>
              </a:solidFill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8213725" y="4157662"/>
              <a:ext cx="127000" cy="142875"/>
              <a:chOff x="8213725" y="4157662"/>
              <a:chExt cx="127000" cy="14287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8213725" y="4157662"/>
                <a:ext cx="1270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47625">
                    <a:moveTo>
                      <a:pt x="0" y="23812"/>
                    </a:moveTo>
                    <a:cubicBezTo>
                      <a:pt x="0" y="36964"/>
                      <a:pt x="28430" y="47625"/>
                      <a:pt x="63500" y="47625"/>
                    </a:cubicBezTo>
                    <a:cubicBezTo>
                      <a:pt x="98570" y="47625"/>
                      <a:pt x="127000" y="36964"/>
                      <a:pt x="127000" y="23812"/>
                    </a:cubicBezTo>
                    <a:cubicBezTo>
                      <a:pt x="127000" y="10661"/>
                      <a:pt x="98570" y="0"/>
                      <a:pt x="63500" y="0"/>
                    </a:cubicBezTo>
                    <a:cubicBezTo>
                      <a:pt x="28430" y="0"/>
                      <a:pt x="0" y="10661"/>
                      <a:pt x="0" y="23812"/>
                    </a:cubicBezTo>
                  </a:path>
                </a:pathLst>
              </a:custGeom>
              <a:noFill/>
              <a:ln w="15875">
                <a:solidFill>
                  <a:srgbClr val="0058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213725" y="4181475"/>
                <a:ext cx="127000" cy="71437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71437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60776"/>
                      <a:pt x="28430" y="71437"/>
                      <a:pt x="63500" y="71437"/>
                    </a:cubicBezTo>
                    <a:cubicBezTo>
                      <a:pt x="98570" y="71437"/>
                      <a:pt x="127000" y="60776"/>
                      <a:pt x="127000" y="47625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5875">
                <a:solidFill>
                  <a:srgbClr val="0058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213725" y="4229100"/>
                <a:ext cx="127000" cy="71437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71437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60776"/>
                      <a:pt x="28430" y="71437"/>
                      <a:pt x="63500" y="71437"/>
                    </a:cubicBezTo>
                    <a:cubicBezTo>
                      <a:pt x="98570" y="71437"/>
                      <a:pt x="127000" y="60776"/>
                      <a:pt x="127000" y="47625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5875">
                <a:solidFill>
                  <a:srgbClr val="0058FF"/>
                </a:solidFill>
              </a:ln>
            </p:spPr>
          </p:sp>
        </p:grpSp>
        <p:sp>
          <p:nvSpPr>
            <p:cNvPr id="70" name="Rectangle 70"/>
            <p:cNvSpPr/>
            <p:nvPr/>
          </p:nvSpPr>
          <p:spPr>
            <a:xfrm>
              <a:off x="9305925" y="2971800"/>
              <a:ext cx="723900" cy="7239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501447" y="3194050"/>
              <a:ext cx="3328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spc="75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TDS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360218" y="3425825"/>
              <a:ext cx="61531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可信数据空间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97408" y="444500"/>
            <a:ext cx="8101584" cy="986917"/>
            <a:chOff x="597408" y="444500"/>
            <a:chExt cx="8101584" cy="986917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9183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80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01 / POLICY CONTEXT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7408" y="774700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可信数据空间，已成为国家数据基础设施的核心技术路线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123" y="1181100"/>
              <a:ext cx="38038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从顶层制度到行动计划，合规跨院协同有明确路径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731729" y="577850"/>
            <a:ext cx="855434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b="1" spc="112" dirty="0">
                <a:solidFill>
                  <a:srgbClr val="9AA8BD"/>
                </a:solidFill>
                <a:latin typeface="+mn-lt"/>
                <a:ea typeface="+mn-ea"/>
                <a:cs typeface="+mn-cs"/>
              </a:rPr>
              <a:t>TREMAC / TDS</a:t>
            </a:r>
          </a:p>
        </p:txBody>
      </p:sp>
      <p:grpSp>
        <p:nvGrpSpPr>
          <p:cNvPr id="20" name="policy-timeline"/>
          <p:cNvGrpSpPr/>
          <p:nvPr/>
        </p:nvGrpSpPr>
        <p:grpSpPr>
          <a:xfrm>
            <a:off x="857250" y="1955800"/>
            <a:ext cx="10458450" cy="925512"/>
            <a:chOff x="857250" y="1955800"/>
            <a:chExt cx="10458450" cy="925512"/>
          </a:xfrm>
        </p:grpSpPr>
        <p:sp>
          <p:nvSpPr>
            <p:cNvPr id="7" name="Line 7"/>
            <p:cNvSpPr/>
            <p:nvPr/>
          </p:nvSpPr>
          <p:spPr>
            <a:xfrm>
              <a:off x="857250" y="2286000"/>
              <a:ext cx="10458450" cy="1"/>
            </a:xfrm>
            <a:prstGeom prst="line">
              <a:avLst/>
            </a:prstGeom>
            <a:noFill/>
            <a:ln w="11430">
              <a:solidFill>
                <a:srgbClr val="0058FF">
                  <a:alpha val="55000"/>
                </a:srgbClr>
              </a:solidFill>
              <a:tailEnd type="triangle" w="lg" len="lg"/>
            </a:ln>
          </p:spPr>
        </p:sp>
        <p:sp>
          <p:nvSpPr>
            <p:cNvPr id="8" name="Ellipse 8"/>
            <p:cNvSpPr/>
            <p:nvPr/>
          </p:nvSpPr>
          <p:spPr>
            <a:xfrm>
              <a:off x="2114550" y="2209800"/>
              <a:ext cx="152400" cy="152400"/>
            </a:xfrm>
            <a:prstGeom prst="ellipse">
              <a:avLst/>
            </a:prstGeom>
            <a:solidFill>
              <a:srgbClr val="0058FF"/>
            </a:solidFill>
            <a:ln w="28575">
              <a:solidFill>
                <a:srgbClr val="FFFFFF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6019800" y="2209800"/>
              <a:ext cx="152400" cy="152400"/>
            </a:xfrm>
            <a:prstGeom prst="ellipse">
              <a:avLst/>
            </a:prstGeom>
            <a:solidFill>
              <a:srgbClr val="0058FF"/>
            </a:solidFill>
            <a:ln w="28575">
              <a:solidFill>
                <a:srgbClr val="FFFFFF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9925050" y="2209800"/>
              <a:ext cx="152400" cy="152400"/>
            </a:xfrm>
            <a:prstGeom prst="ellipse">
              <a:avLst/>
            </a:prstGeom>
            <a:solidFill>
              <a:srgbClr val="0058FF"/>
            </a:solidFill>
            <a:ln w="28575">
              <a:solidFill>
                <a:srgbClr val="FFFF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50066" y="1955800"/>
              <a:ext cx="4813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spc="75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顶层制度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55316" y="1955800"/>
              <a:ext cx="4813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spc="75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基础设施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60566" y="1955800"/>
              <a:ext cx="4813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spc="75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空间行动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08099" y="24511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数据二十条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85639" y="245110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国家数据基础设施建设指引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90889" y="245110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可信数据空间发展行动计划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80198" y="2705100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数据领域的基础性制度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46026" y="2705100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国家数据局统筹布局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511856" y="2705100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明确核心技术路线</a:t>
              </a:r>
            </a:p>
          </p:txBody>
        </p:sp>
      </p:grpSp>
      <p:grpSp>
        <p:nvGrpSpPr>
          <p:cNvPr id="31" name="capability-trust"/>
          <p:cNvGrpSpPr/>
          <p:nvPr/>
        </p:nvGrpSpPr>
        <p:grpSpPr>
          <a:xfrm>
            <a:off x="609600" y="3238500"/>
            <a:ext cx="3505200" cy="2247900"/>
            <a:chOff x="609600" y="3238500"/>
            <a:chExt cx="3505200" cy="2247900"/>
          </a:xfrm>
        </p:grpSpPr>
        <p:sp>
          <p:nvSpPr>
            <p:cNvPr id="21" name="Rectangle 21"/>
            <p:cNvSpPr/>
            <p:nvPr/>
          </p:nvSpPr>
          <p:spPr>
            <a:xfrm>
              <a:off x="609600" y="3238500"/>
              <a:ext cx="3505200" cy="2247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9600" y="3238500"/>
              <a:ext cx="3505200" cy="381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2960" y="3346450"/>
              <a:ext cx="49508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C9D9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3675941" y="3462338"/>
              <a:ext cx="217008" cy="200025"/>
              <a:chOff x="3675941" y="3462338"/>
              <a:chExt cx="217008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3675941" y="3462338"/>
                <a:ext cx="217008" cy="198314"/>
              </a:xfrm>
              <a:custGeom>
                <a:avLst/>
                <a:gdLst/>
                <a:ahLst/>
                <a:cxnLst/>
                <a:rect l="l" t="t" r="r" b="b"/>
                <a:pathLst>
                  <a:path w="217008" h="198314">
                    <a:moveTo>
                      <a:pt x="109009" y="198314"/>
                    </a:moveTo>
                    <a:cubicBezTo>
                      <a:pt x="39394" y="176735"/>
                      <a:pt x="0" y="103262"/>
                      <a:pt x="20553" y="33338"/>
                    </a:cubicBezTo>
                    <a:cubicBezTo>
                      <a:pt x="55175" y="34922"/>
                      <a:pt x="89053" y="22965"/>
                      <a:pt x="115010" y="0"/>
                    </a:cubicBezTo>
                    <a:cubicBezTo>
                      <a:pt x="140967" y="22965"/>
                      <a:pt x="174845" y="34922"/>
                      <a:pt x="209466" y="33338"/>
                    </a:cubicBezTo>
                    <a:cubicBezTo>
                      <a:pt x="217008" y="58998"/>
                      <a:pt x="216660" y="86333"/>
                      <a:pt x="208466" y="111792"/>
                    </a:cubicBezTo>
                  </a:path>
                </a:pathLst>
              </a:custGeom>
              <a:noFill/>
              <a:ln w="22225">
                <a:solidFill>
                  <a:srgbClr val="0058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824288" y="361791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058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30580" y="38417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可信管控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3438" y="4133850"/>
              <a:ext cx="166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共识规则 · 数字合约 · 使用控制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838200" y="44005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8EEF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2866" y="4521200"/>
              <a:ext cx="2277618" cy="6435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让医院对自己的数据拥有绝对控制权：</a:t>
              </a:r>
              <a:b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谁能用、怎么用、用到什么程度，</a:t>
              </a:r>
              <a:b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由规则和技术共同说了算。</a:t>
              </a:r>
            </a:p>
          </p:txBody>
        </p:sp>
      </p:grpSp>
      <p:grpSp>
        <p:nvGrpSpPr>
          <p:cNvPr id="48" name="capability-interaction"/>
          <p:cNvGrpSpPr/>
          <p:nvPr/>
        </p:nvGrpSpPr>
        <p:grpSpPr>
          <a:xfrm>
            <a:off x="4343400" y="3238500"/>
            <a:ext cx="3505200" cy="2247900"/>
            <a:chOff x="4343400" y="3238500"/>
            <a:chExt cx="3505200" cy="2247900"/>
          </a:xfrm>
        </p:grpSpPr>
        <p:sp>
          <p:nvSpPr>
            <p:cNvPr id="32" name="Rectangle 32"/>
            <p:cNvSpPr/>
            <p:nvPr/>
          </p:nvSpPr>
          <p:spPr>
            <a:xfrm>
              <a:off x="4343400" y="3238500"/>
              <a:ext cx="3505200" cy="2247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343400" y="3238500"/>
              <a:ext cx="3505200" cy="381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556760" y="3346450"/>
              <a:ext cx="49508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C9D9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7424738" y="3462338"/>
              <a:ext cx="200025" cy="211138"/>
              <a:chOff x="7424738" y="3462338"/>
              <a:chExt cx="200025" cy="211138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458075" y="3462338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66675"/>
                    </a:moveTo>
                    <a:cubicBezTo>
                      <a:pt x="0" y="103499"/>
                      <a:pt x="29851" y="133350"/>
                      <a:pt x="66675" y="133350"/>
                    </a:cubicBezTo>
                    <a:cubicBezTo>
                      <a:pt x="103499" y="133350"/>
                      <a:pt x="133350" y="103499"/>
                      <a:pt x="133350" y="66675"/>
                    </a:cubicBezTo>
                    <a:cubicBezTo>
                      <a:pt x="133350" y="29851"/>
                      <a:pt x="103499" y="0"/>
                      <a:pt x="66675" y="0"/>
                    </a:cubicBezTo>
                    <a:cubicBezTo>
                      <a:pt x="29851" y="0"/>
                      <a:pt x="0" y="29851"/>
                      <a:pt x="0" y="66675"/>
                    </a:cubicBezTo>
                  </a:path>
                </a:pathLst>
              </a:custGeom>
              <a:noFill/>
              <a:ln w="22225">
                <a:solidFill>
                  <a:srgbClr val="0058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524750" y="3462338"/>
                <a:ext cx="222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133350">
                    <a:moveTo>
                      <a:pt x="0" y="0"/>
                    </a:moveTo>
                    <a:cubicBezTo>
                      <a:pt x="14813" y="3700"/>
                      <a:pt x="22225" y="25926"/>
                      <a:pt x="22225" y="66675"/>
                    </a:cubicBezTo>
                    <a:cubicBezTo>
                      <a:pt x="22225" y="107425"/>
                      <a:pt x="14813" y="129650"/>
                      <a:pt x="0" y="133350"/>
                    </a:cubicBezTo>
                  </a:path>
                </a:pathLst>
              </a:custGeom>
              <a:noFill/>
              <a:ln w="22225">
                <a:solidFill>
                  <a:srgbClr val="0058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502525" y="3462338"/>
                <a:ext cx="222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133350">
                    <a:moveTo>
                      <a:pt x="22225" y="0"/>
                    </a:moveTo>
                    <a:cubicBezTo>
                      <a:pt x="7412" y="3700"/>
                      <a:pt x="0" y="25926"/>
                      <a:pt x="0" y="66675"/>
                    </a:cubicBezTo>
                    <a:cubicBezTo>
                      <a:pt x="0" y="107425"/>
                      <a:pt x="7412" y="129650"/>
                      <a:pt x="22225" y="133350"/>
                    </a:cubicBezTo>
                  </a:path>
                </a:pathLst>
              </a:custGeom>
              <a:noFill/>
              <a:ln w="22225">
                <a:solidFill>
                  <a:srgbClr val="0058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458075" y="3529013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22225">
                <a:solidFill>
                  <a:srgbClr val="0058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424738" y="3651251"/>
                <a:ext cx="777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9525">
                    <a:moveTo>
                      <a:pt x="0" y="0"/>
                    </a:moveTo>
                    <a:lnTo>
                      <a:pt x="77788" y="0"/>
                    </a:lnTo>
                  </a:path>
                </a:pathLst>
              </a:custGeom>
              <a:noFill/>
              <a:ln w="22225">
                <a:solidFill>
                  <a:srgbClr val="0058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546975" y="3651251"/>
                <a:ext cx="777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9525">
                    <a:moveTo>
                      <a:pt x="0" y="0"/>
                    </a:moveTo>
                    <a:lnTo>
                      <a:pt x="77788" y="0"/>
                    </a:lnTo>
                  </a:path>
                </a:pathLst>
              </a:custGeom>
              <a:noFill/>
              <a:ln w="22225">
                <a:solidFill>
                  <a:srgbClr val="0058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502525" y="3629026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rgbClr val="0058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524750" y="3595688"/>
                <a:ext cx="952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8">
                    <a:moveTo>
                      <a:pt x="0" y="0"/>
                    </a:moveTo>
                    <a:lnTo>
                      <a:pt x="0" y="33338"/>
                    </a:lnTo>
                  </a:path>
                </a:pathLst>
              </a:custGeom>
              <a:noFill/>
              <a:ln w="22225">
                <a:solidFill>
                  <a:srgbClr val="0058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4564380" y="38417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资源交互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67238" y="4133850"/>
              <a:ext cx="11996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标准连接器 · 目录互联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572000" y="44005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8EEF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566666" y="4521200"/>
              <a:ext cx="2010918" cy="6435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用标准连接器把数据孤岛连成网；</a:t>
              </a:r>
              <a:b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但连网不等于搬空医院库房，</a:t>
              </a:r>
              <a:b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原始数据仍然留在本地。</a:t>
              </a:r>
            </a:p>
          </p:txBody>
        </p:sp>
      </p:grpSp>
      <p:grpSp>
        <p:nvGrpSpPr>
          <p:cNvPr id="63" name="capability-cocreation"/>
          <p:cNvGrpSpPr/>
          <p:nvPr/>
        </p:nvGrpSpPr>
        <p:grpSpPr>
          <a:xfrm>
            <a:off x="8077200" y="3238500"/>
            <a:ext cx="3505200" cy="2247900"/>
            <a:chOff x="8077200" y="3238500"/>
            <a:chExt cx="3505200" cy="2247900"/>
          </a:xfrm>
        </p:grpSpPr>
        <p:sp>
          <p:nvSpPr>
            <p:cNvPr id="49" name="Rectangle 49"/>
            <p:cNvSpPr/>
            <p:nvPr/>
          </p:nvSpPr>
          <p:spPr>
            <a:xfrm>
              <a:off x="8077200" y="3238500"/>
              <a:ext cx="3505200" cy="2247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077200" y="3238500"/>
              <a:ext cx="3505200" cy="381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290560" y="3346450"/>
              <a:ext cx="49508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C9D9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11158538" y="3462338"/>
              <a:ext cx="200025" cy="200026"/>
              <a:chOff x="11158538" y="3462338"/>
              <a:chExt cx="200025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11236325" y="35512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rgbClr val="0058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1214100" y="3629026"/>
                <a:ext cx="88900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33338">
                    <a:moveTo>
                      <a:pt x="0" y="33338"/>
                    </a:move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66675" y="0"/>
                    </a:lnTo>
                    <a:cubicBezTo>
                      <a:pt x="78950" y="0"/>
                      <a:pt x="88900" y="9950"/>
                      <a:pt x="88900" y="22225"/>
                    </a:cubicBezTo>
                    <a:lnTo>
                      <a:pt x="88900" y="33338"/>
                    </a:lnTo>
                  </a:path>
                </a:pathLst>
              </a:custGeom>
              <a:noFill/>
              <a:ln w="22225">
                <a:solidFill>
                  <a:srgbClr val="0058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291888" y="34623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rgbClr val="0058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314113" y="3540125"/>
                <a:ext cx="44450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33338">
                    <a:moveTo>
                      <a:pt x="0" y="0"/>
                    </a:moveTo>
                    <a:lnTo>
                      <a:pt x="22225" y="0"/>
                    </a:lnTo>
                    <a:cubicBezTo>
                      <a:pt x="34500" y="0"/>
                      <a:pt x="44450" y="9950"/>
                      <a:pt x="44450" y="22225"/>
                    </a:cubicBezTo>
                    <a:lnTo>
                      <a:pt x="44450" y="33338"/>
                    </a:lnTo>
                  </a:path>
                </a:pathLst>
              </a:custGeom>
              <a:noFill/>
              <a:ln w="22225">
                <a:solidFill>
                  <a:srgbClr val="0058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1180763" y="34623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rgbClr val="0058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1158538" y="3540125"/>
                <a:ext cx="44450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33338">
                    <a:moveTo>
                      <a:pt x="0" y="33338"/>
                    </a:move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rgbClr val="0058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8298180" y="38417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价值共创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01038" y="4133850"/>
              <a:ext cx="11996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多主体协同 · 权益分配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8305800" y="44005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8EEF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00466" y="4521200"/>
              <a:ext cx="2410968" cy="4244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医院、高校、实验室、药企与算法团队</a:t>
              </a:r>
              <a:b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协同做科研，成果按贡献清楚分配权益。</a:t>
              </a:r>
            </a:p>
          </p:txBody>
        </p:sp>
      </p:grpSp>
      <p:grpSp>
        <p:nvGrpSpPr>
          <p:cNvPr id="67" name="page-takeaway"/>
          <p:cNvGrpSpPr/>
          <p:nvPr/>
        </p:nvGrpSpPr>
        <p:grpSpPr>
          <a:xfrm>
            <a:off x="609600" y="5715000"/>
            <a:ext cx="10972800" cy="419100"/>
            <a:chOff x="609600" y="5715000"/>
            <a:chExt cx="10972800" cy="419100"/>
          </a:xfrm>
        </p:grpSpPr>
        <p:sp>
          <p:nvSpPr>
            <p:cNvPr id="64" name="Rectangle 64"/>
            <p:cNvSpPr/>
            <p:nvPr/>
          </p:nvSpPr>
          <p:spPr>
            <a:xfrm>
              <a:off x="609600" y="5715000"/>
              <a:ext cx="10972800" cy="419100"/>
            </a:xfrm>
            <a:prstGeom prst="rect">
              <a:avLst/>
            </a:prstGeom>
            <a:solidFill>
              <a:srgbClr val="F2F6FF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09600" y="5715000"/>
              <a:ext cx="38100" cy="4191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32485" y="5842000"/>
              <a:ext cx="5288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不是私下拷硬盘，而是用国家标准的基础设施，守住安全红线、支撑科研创新。</a:t>
              </a:r>
            </a:p>
          </p:txBody>
        </p:sp>
      </p:grpSp>
      <p:grpSp>
        <p:nvGrpSpPr>
          <p:cNvPr id="71" name="page-footer"/>
          <p:cNvGrpSpPr/>
          <p:nvPr/>
        </p:nvGrpSpPr>
        <p:grpSpPr>
          <a:xfrm>
            <a:off x="604838" y="6419850"/>
            <a:ext cx="10982325" cy="253683"/>
            <a:chOff x="604838" y="6419850"/>
            <a:chExt cx="10982325" cy="253683"/>
          </a:xfrm>
        </p:grpSpPr>
        <p:sp>
          <p:nvSpPr>
            <p:cNvPr id="68" name="Line 68"/>
            <p:cNvSpPr/>
            <p:nvPr/>
          </p:nvSpPr>
          <p:spPr>
            <a:xfrm>
              <a:off x="609600" y="6419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EF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04838" y="6518275"/>
              <a:ext cx="185003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AA8BD"/>
                  </a:solidFill>
                  <a:latin typeface="+mn-lt"/>
                  <a:ea typeface="+mn-ea"/>
                  <a:cs typeface="+mn-cs"/>
                </a:rPr>
                <a:t>TREMAC × 可信数据空间技术融合探索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248602" y="6518275"/>
              <a:ext cx="33856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dirty="0">
                  <a:solidFill>
                    <a:srgbClr val="9AA8BD"/>
                  </a:solidFill>
                  <a:latin typeface="+mn-lt"/>
                  <a:ea typeface="+mn-ea"/>
                  <a:cs typeface="+mn-cs"/>
                </a:rPr>
                <a:t>02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96646" y="444500"/>
            <a:ext cx="5661655" cy="986917"/>
            <a:chOff x="596646" y="444500"/>
            <a:chExt cx="5661655" cy="986917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6985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80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02 / CONVERGENCE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749300"/>
              <a:ext cx="56616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TRE 管“怎么算”，TDS 管“怎么流通”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123" y="1181100"/>
              <a:ext cx="34592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两条路径在医疗科研场景交汇，能力层级互补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731729" y="577850"/>
            <a:ext cx="855434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b="1" spc="112" dirty="0">
                <a:solidFill>
                  <a:srgbClr val="9AA8BD"/>
                </a:solidFill>
                <a:latin typeface="+mn-lt"/>
                <a:ea typeface="+mn-ea"/>
                <a:cs typeface="+mn-cs"/>
              </a:rPr>
              <a:t>TREMAC / TDS</a:t>
            </a:r>
          </a:p>
        </p:txBody>
      </p:sp>
      <p:grpSp>
        <p:nvGrpSpPr>
          <p:cNvPr id="19" name="tre-evolution"/>
          <p:cNvGrpSpPr/>
          <p:nvPr/>
        </p:nvGrpSpPr>
        <p:grpSpPr>
          <a:xfrm>
            <a:off x="569633" y="1835150"/>
            <a:ext cx="4745317" cy="1204119"/>
            <a:chOff x="569633" y="1835150"/>
            <a:chExt cx="4745317" cy="1204119"/>
          </a:xfrm>
        </p:grpSpPr>
        <p:sp>
          <p:nvSpPr>
            <p:cNvPr id="7" name="TextBox 7"/>
            <p:cNvSpPr txBox="1"/>
            <p:nvPr/>
          </p:nvSpPr>
          <p:spPr>
            <a:xfrm>
              <a:off x="599694" y="1835150"/>
              <a:ext cx="51100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TRE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4838" y="2165350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可信研究环境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762000" y="2495550"/>
              <a:ext cx="4552950" cy="1"/>
            </a:xfrm>
            <a:prstGeom prst="line">
              <a:avLst/>
            </a:prstGeom>
            <a:noFill/>
            <a:ln w="14288">
              <a:solidFill>
                <a:srgbClr val="0058FF"/>
              </a:solidFill>
              <a:tailEnd type="triangle" w="lg" len="lg"/>
            </a:ln>
          </p:spPr>
        </p:sp>
        <p:sp>
          <p:nvSpPr>
            <p:cNvPr id="10" name="Ellipse 10"/>
            <p:cNvSpPr/>
            <p:nvPr/>
          </p:nvSpPr>
          <p:spPr>
            <a:xfrm>
              <a:off x="1047750" y="2447925"/>
              <a:ext cx="95250" cy="95250"/>
            </a:xfrm>
            <a:prstGeom prst="ellipse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809875" y="2447925"/>
              <a:ext cx="95250" cy="95250"/>
            </a:xfrm>
            <a:prstGeom prst="ellipse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476750" y="2447925"/>
              <a:ext cx="95250" cy="95250"/>
            </a:xfrm>
            <a:prstGeom prst="ellipse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5312" y="263525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封闭安全实验室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52088" y="2635250"/>
              <a:ext cx="8108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云化 AI 训练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65663" y="26352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联邦化协同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9633" y="2870200"/>
              <a:ext cx="10514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隔离计算与成果审核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31758" y="2870200"/>
              <a:ext cx="10514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云上训练与受控研究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82860" y="2870200"/>
              <a:ext cx="128303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多节点互联、跨机构分析</a:t>
              </a:r>
            </a:p>
          </p:txBody>
        </p:sp>
      </p:grpSp>
      <p:grpSp>
        <p:nvGrpSpPr>
          <p:cNvPr id="24" name="convergence-mark"/>
          <p:cNvGrpSpPr/>
          <p:nvPr/>
        </p:nvGrpSpPr>
        <p:grpSpPr>
          <a:xfrm>
            <a:off x="5695264" y="1943100"/>
            <a:ext cx="801472" cy="1487043"/>
            <a:chOff x="5695264" y="1943100"/>
            <a:chExt cx="801472" cy="1487043"/>
          </a:xfrm>
        </p:grpSpPr>
        <p:sp>
          <p:nvSpPr>
            <p:cNvPr id="20" name="Line 20"/>
            <p:cNvSpPr/>
            <p:nvPr/>
          </p:nvSpPr>
          <p:spPr>
            <a:xfrm>
              <a:off x="6096000" y="1943100"/>
              <a:ext cx="9525" cy="1200150"/>
            </a:xfrm>
            <a:custGeom>
              <a:avLst/>
              <a:gdLst/>
              <a:ahLst/>
              <a:cxnLst/>
              <a:rect l="l" t="t" r="r" b="b"/>
              <a:pathLst>
                <a:path w="9525" h="1200150">
                  <a:moveTo>
                    <a:pt x="0" y="0"/>
                  </a:moveTo>
                  <a:lnTo>
                    <a:pt x="0" y="1200150"/>
                  </a:lnTo>
                </a:path>
              </a:pathLst>
            </a:custGeom>
            <a:noFill/>
            <a:ln w="9525">
              <a:solidFill>
                <a:srgbClr val="0058FF">
                  <a:alpha val="50000"/>
                </a:srgbClr>
              </a:solidFill>
              <a:prstDash val="dash"/>
            </a:ln>
          </p:spPr>
        </p:sp>
        <p:sp>
          <p:nvSpPr>
            <p:cNvPr id="21" name="Rectangle 21"/>
            <p:cNvSpPr/>
            <p:nvPr/>
          </p:nvSpPr>
          <p:spPr>
            <a:xfrm rot="2700000">
              <a:off x="6019800" y="2476500"/>
              <a:ext cx="152400" cy="1524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75801" y="2089150"/>
              <a:ext cx="2403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spc="75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交汇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95264" y="32385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医疗科研场景</a:t>
              </a:r>
            </a:p>
          </p:txBody>
        </p:sp>
      </p:grpSp>
      <p:grpSp>
        <p:nvGrpSpPr>
          <p:cNvPr id="37" name="tds-evolution"/>
          <p:cNvGrpSpPr/>
          <p:nvPr/>
        </p:nvGrpSpPr>
        <p:grpSpPr>
          <a:xfrm>
            <a:off x="6808508" y="1835150"/>
            <a:ext cx="4754842" cy="1204119"/>
            <a:chOff x="6808508" y="1835150"/>
            <a:chExt cx="4754842" cy="1204119"/>
          </a:xfrm>
        </p:grpSpPr>
        <p:sp>
          <p:nvSpPr>
            <p:cNvPr id="25" name="TextBox 25"/>
            <p:cNvSpPr txBox="1"/>
            <p:nvPr/>
          </p:nvSpPr>
          <p:spPr>
            <a:xfrm>
              <a:off x="6809994" y="1835150"/>
              <a:ext cx="54229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TDS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15138" y="2165350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7C8CA6"/>
                  </a:solidFill>
                  <a:latin typeface="+mn-lt"/>
                  <a:ea typeface="+mn-ea"/>
                  <a:cs typeface="+mn-cs"/>
                </a:rPr>
                <a:t>可信数据空间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7010400" y="2495550"/>
              <a:ext cx="4552950" cy="1"/>
            </a:xfrm>
            <a:prstGeom prst="line">
              <a:avLst/>
            </a:prstGeom>
            <a:noFill/>
            <a:ln w="14288">
              <a:solidFill>
                <a:srgbClr val="0058FF"/>
              </a:solidFill>
              <a:tailEnd type="triangle" w="lg" len="lg"/>
            </a:ln>
          </p:spPr>
        </p:sp>
        <p:sp>
          <p:nvSpPr>
            <p:cNvPr id="28" name="Ellipse 28"/>
            <p:cNvSpPr/>
            <p:nvPr/>
          </p:nvSpPr>
          <p:spPr>
            <a:xfrm>
              <a:off x="7286625" y="2447925"/>
              <a:ext cx="95250" cy="95250"/>
            </a:xfrm>
            <a:prstGeom prst="ellipse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9048750" y="2447925"/>
              <a:ext cx="95250" cy="95250"/>
            </a:xfrm>
            <a:prstGeom prst="ellipse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0763250" y="2447925"/>
              <a:ext cx="95250" cy="95250"/>
            </a:xfrm>
            <a:prstGeom prst="ellipse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04863" y="26352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数据目录共享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66988" y="26352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可信数据空间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52164" y="26352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跨空间互认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08508" y="2870200"/>
              <a:ext cx="10514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目录发布与供需发现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17320" y="2870200"/>
              <a:ext cx="115811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2024 · 规则与使用控制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31820" y="2870200"/>
              <a:ext cx="115811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2025 · 身份、规则互认</a:t>
              </a:r>
            </a:p>
          </p:txBody>
        </p:sp>
      </p:grpSp>
      <p:grpSp>
        <p:nvGrpSpPr>
          <p:cNvPr id="43" name="tre-scope"/>
          <p:cNvGrpSpPr/>
          <p:nvPr/>
        </p:nvGrpSpPr>
        <p:grpSpPr>
          <a:xfrm>
            <a:off x="600456" y="3771900"/>
            <a:ext cx="5343144" cy="1743869"/>
            <a:chOff x="600456" y="3771900"/>
            <a:chExt cx="5343144" cy="1743869"/>
          </a:xfrm>
        </p:grpSpPr>
        <p:sp>
          <p:nvSpPr>
            <p:cNvPr id="38" name="Rectangle 38"/>
            <p:cNvSpPr/>
            <p:nvPr/>
          </p:nvSpPr>
          <p:spPr>
            <a:xfrm>
              <a:off x="609600" y="3771900"/>
              <a:ext cx="5334000" cy="1905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4647" y="3924300"/>
              <a:ext cx="176975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TRE｜环境 · 研究 · 计算 · 输出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0456" y="4184650"/>
              <a:ext cx="24381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解决“敏感数据怎么算”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4456" y="4521200"/>
              <a:ext cx="3088767" cy="636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01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遵循国际五安全原则：研究员在虚拟桌面内完成分析，</a:t>
              </a:r>
              <a:br>
                <a:rPr lang="zh-CN" sz="101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1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原始病历不出环境，只能导出经审查的统计表、</a:t>
              </a:r>
              <a:br>
                <a:rPr lang="zh-CN" sz="101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1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图表或模型参数。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4838" y="5346700"/>
              <a:ext cx="206619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原始病历不出环境 · 只导出审查后的结果</a:t>
              </a:r>
            </a:p>
          </p:txBody>
        </p:sp>
      </p:grpSp>
      <p:grpSp>
        <p:nvGrpSpPr>
          <p:cNvPr id="49" name="tds-scope"/>
          <p:cNvGrpSpPr/>
          <p:nvPr/>
        </p:nvGrpSpPr>
        <p:grpSpPr>
          <a:xfrm>
            <a:off x="6239256" y="3771900"/>
            <a:ext cx="5343144" cy="1743869"/>
            <a:chOff x="6239256" y="3771900"/>
            <a:chExt cx="5343144" cy="1743869"/>
          </a:xfrm>
        </p:grpSpPr>
        <p:sp>
          <p:nvSpPr>
            <p:cNvPr id="44" name="Rectangle 44"/>
            <p:cNvSpPr/>
            <p:nvPr/>
          </p:nvSpPr>
          <p:spPr>
            <a:xfrm>
              <a:off x="6248400" y="3771900"/>
              <a:ext cx="5334000" cy="1905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43447" y="3924300"/>
              <a:ext cx="178548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TDS｜连接 · 规则 · 流通 · 价值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39256" y="4184650"/>
              <a:ext cx="21958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解决“数据怎么流通”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43256" y="4521200"/>
              <a:ext cx="2703957" cy="417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01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十几家医院各有一间保密实验室，如何连起来、</a:t>
              </a:r>
              <a:br>
                <a:rPr lang="zh-CN" sz="101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1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签联合研究合约、监管履约、分配收益？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43638" y="5346700"/>
              <a:ext cx="235900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多院互联 · 联合研究合约 · 履约监管 · 收益分配</a:t>
              </a:r>
            </a:p>
          </p:txBody>
        </p:sp>
      </p:grpSp>
      <p:grpSp>
        <p:nvGrpSpPr>
          <p:cNvPr id="53" name="page-takeaway"/>
          <p:cNvGrpSpPr/>
          <p:nvPr/>
        </p:nvGrpSpPr>
        <p:grpSpPr>
          <a:xfrm>
            <a:off x="609600" y="5791200"/>
            <a:ext cx="10972800" cy="419100"/>
            <a:chOff x="609600" y="5791200"/>
            <a:chExt cx="10972800" cy="419100"/>
          </a:xfrm>
        </p:grpSpPr>
        <p:sp>
          <p:nvSpPr>
            <p:cNvPr id="50" name="Rectangle 50"/>
            <p:cNvSpPr/>
            <p:nvPr/>
          </p:nvSpPr>
          <p:spPr>
            <a:xfrm>
              <a:off x="609600" y="5791200"/>
              <a:ext cx="10972800" cy="419100"/>
            </a:xfrm>
            <a:prstGeom prst="rect">
              <a:avLst/>
            </a:prstGeom>
            <a:solidFill>
              <a:srgbClr val="F2F6FF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9600" y="5791200"/>
              <a:ext cx="38100" cy="4191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2485" y="5918200"/>
              <a:ext cx="4412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TRE + TDS：从单点安全研究环境，升级为</a:t>
              </a:r>
              <a:r>
                <a:rPr lang="zh-CN" sz="112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跨机构科研协作网络</a:t>
              </a:r>
              <a:r>
                <a:rPr lang="zh-CN" sz="11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7" name="page-footer"/>
          <p:cNvGrpSpPr/>
          <p:nvPr/>
        </p:nvGrpSpPr>
        <p:grpSpPr>
          <a:xfrm>
            <a:off x="604838" y="6419850"/>
            <a:ext cx="10982325" cy="253683"/>
            <a:chOff x="604838" y="6419850"/>
            <a:chExt cx="10982325" cy="253683"/>
          </a:xfrm>
        </p:grpSpPr>
        <p:sp>
          <p:nvSpPr>
            <p:cNvPr id="54" name="Line 54"/>
            <p:cNvSpPr/>
            <p:nvPr/>
          </p:nvSpPr>
          <p:spPr>
            <a:xfrm>
              <a:off x="609600" y="6419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EF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04838" y="6518275"/>
              <a:ext cx="185003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AA8BD"/>
                  </a:solidFill>
                  <a:latin typeface="+mn-lt"/>
                  <a:ea typeface="+mn-ea"/>
                  <a:cs typeface="+mn-cs"/>
                </a:rPr>
                <a:t>TREMAC × 可信数据空间技术融合探索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48602" y="6518275"/>
              <a:ext cx="33856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dirty="0">
                  <a:solidFill>
                    <a:srgbClr val="9AA8BD"/>
                  </a:solidFill>
                  <a:latin typeface="+mn-lt"/>
                  <a:ea typeface="+mn-ea"/>
                  <a:cs typeface="+mn-cs"/>
                </a:rPr>
                <a:t>03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97408" y="444500"/>
            <a:ext cx="6809232" cy="986917"/>
            <a:chOff x="597408" y="444500"/>
            <a:chExt cx="6809232" cy="986917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21108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80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03 / OPERATING MODEL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7408" y="774700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五步闭环：数据不出域，跨机构科研照样跑起来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123" y="1181100"/>
              <a:ext cx="557761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资源跨机构发现 · 授权按项目协同 · 计算在可信环境执行 · 结果经审查共享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731729" y="577850"/>
            <a:ext cx="855434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b="1" spc="112" dirty="0">
                <a:solidFill>
                  <a:srgbClr val="9AA8BD"/>
                </a:solidFill>
                <a:latin typeface="+mn-lt"/>
                <a:ea typeface="+mn-ea"/>
                <a:cs typeface="+mn-cs"/>
              </a:rPr>
              <a:t>TREMAC / TDS</a:t>
            </a:r>
          </a:p>
        </p:txBody>
      </p:sp>
      <p:grpSp>
        <p:nvGrpSpPr>
          <p:cNvPr id="28" name="five-step-loop"/>
          <p:cNvGrpSpPr/>
          <p:nvPr/>
        </p:nvGrpSpPr>
        <p:grpSpPr>
          <a:xfrm>
            <a:off x="603885" y="1800225"/>
            <a:ext cx="10978515" cy="1139507"/>
            <a:chOff x="603885" y="1800225"/>
            <a:chExt cx="10978515" cy="1139507"/>
          </a:xfrm>
        </p:grpSpPr>
        <p:sp>
          <p:nvSpPr>
            <p:cNvPr id="7" name="Line 7"/>
            <p:cNvSpPr/>
            <p:nvPr/>
          </p:nvSpPr>
          <p:spPr>
            <a:xfrm>
              <a:off x="609600" y="1905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DDE5F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800225"/>
              <a:ext cx="209550" cy="20955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46117" y="1851025"/>
              <a:ext cx="1365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885" y="216535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主体接入与资源发布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4838" y="2393950"/>
              <a:ext cx="1442085" cy="364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94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连接器接入，只发布目录，</a:t>
              </a:r>
              <a:br>
                <a:rPr lang="zh-CN" sz="94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4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不上传任何原始数据。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857500" y="1800225"/>
              <a:ext cx="209550" cy="20955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94017" y="1851025"/>
              <a:ext cx="1365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51785" y="216535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项目申请与供需匹配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52738" y="2393950"/>
              <a:ext cx="1442085" cy="364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94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牵头方提出需求，在目录中</a:t>
              </a:r>
              <a:br>
                <a:rPr lang="zh-CN" sz="94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4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匹配多家医院。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105400" y="1800225"/>
              <a:ext cx="209550" cy="20955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141917" y="1851025"/>
              <a:ext cx="1365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99685" y="216535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规则约定与授权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00638" y="2393950"/>
              <a:ext cx="1800225" cy="364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94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数字合约写清人员、期限、工具、</a:t>
              </a:r>
              <a:br>
                <a:rPr lang="zh-CN" sz="94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4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输出与责任边界。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53300" y="1800225"/>
              <a:ext cx="209550" cy="20955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89817" y="1851025"/>
              <a:ext cx="1365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47585" y="2165350"/>
              <a:ext cx="12861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进入 TRE 开展计算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48538" y="2393950"/>
              <a:ext cx="1680845" cy="364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94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数据不脱离医院控制，研究员</a:t>
              </a:r>
              <a:br>
                <a:rPr lang="zh-CN" sz="94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4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在受控环境分析、训练与验证。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601200" y="1800225"/>
              <a:ext cx="209550" cy="20955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37717" y="1851025"/>
              <a:ext cx="1365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95485" y="216535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输出审查与成果交付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596438" y="2393950"/>
              <a:ext cx="1442085" cy="5457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94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风险披露审查后导出；</a:t>
              </a:r>
              <a:br>
                <a:rPr lang="zh-CN" sz="94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4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履约存证、计量与评价支撑</a:t>
              </a:r>
              <a:br>
                <a:rPr lang="zh-CN" sz="94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4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收益分配。</a:t>
              </a:r>
            </a:p>
          </p:txBody>
        </p:sp>
      </p:grpSp>
      <p:grpSp>
        <p:nvGrpSpPr>
          <p:cNvPr id="57" name="architecture"/>
          <p:cNvGrpSpPr/>
          <p:nvPr/>
        </p:nvGrpSpPr>
        <p:grpSpPr>
          <a:xfrm>
            <a:off x="603885" y="3708400"/>
            <a:ext cx="10978515" cy="2082800"/>
            <a:chOff x="603885" y="3708400"/>
            <a:chExt cx="10978515" cy="2082800"/>
          </a:xfrm>
        </p:grpSpPr>
        <p:sp>
          <p:nvSpPr>
            <p:cNvPr id="29" name="TextBox 29"/>
            <p:cNvSpPr txBox="1"/>
            <p:nvPr/>
          </p:nvSpPr>
          <p:spPr>
            <a:xfrm>
              <a:off x="603885" y="370840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跨机构联合研究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05038" y="3733800"/>
              <a:ext cx="20540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多中心课题 / 联合建模 / 真实世界研究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4000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5F3"/>
              </a:solidFill>
            </a:ln>
          </p:spPr>
        </p:sp>
        <p:sp>
          <p:nvSpPr>
            <p:cNvPr id="32" name="Line 32"/>
            <p:cNvSpPr/>
            <p:nvPr/>
          </p:nvSpPr>
          <p:spPr>
            <a:xfrm flipV="1">
              <a:off x="9906000" y="4038600"/>
              <a:ext cx="1" cy="209550"/>
            </a:xfrm>
            <a:prstGeom prst="line">
              <a:avLst/>
            </a:prstGeom>
            <a:noFill/>
            <a:ln w="14288">
              <a:solidFill>
                <a:srgbClr val="0058FF"/>
              </a:solidFill>
              <a:tailEnd type="triangle" w="lg" len="lg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053638" y="4108450"/>
              <a:ext cx="966673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仅合规汇总结果上浮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09600" y="4267200"/>
              <a:ext cx="10972800" cy="609600"/>
            </a:xfrm>
            <a:prstGeom prst="rect">
              <a:avLst/>
            </a:prstGeom>
            <a:solidFill>
              <a:srgbClr val="F2F6FF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09600" y="4267200"/>
              <a:ext cx="38100" cy="6096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1723" y="4343400"/>
              <a:ext cx="208071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可信数据空间协同服务平台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438" y="4603750"/>
              <a:ext cx="165719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机构接入连接器 + 中心服务平台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31954" y="4514850"/>
              <a:ext cx="19266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身份 · 目录 · 项目 · 授权 · 任务 · 审计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2362200" y="48768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9525">
              <a:solidFill>
                <a:srgbClr val="0058FF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6096000" y="48768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9525">
              <a:solidFill>
                <a:srgbClr val="0058FF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9829800" y="48768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9525">
              <a:solidFill>
                <a:srgbClr val="0058FF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9600" y="5105400"/>
              <a:ext cx="350520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9600" y="5105400"/>
              <a:ext cx="28575" cy="6858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33056" y="5207000"/>
              <a:ext cx="137462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A 医院｜临床诊疗数据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3438" y="5422900"/>
              <a:ext cx="128112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原始数据 100% 留在本地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3438" y="5594350"/>
              <a:ext cx="1540606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本地 TRE 受控工作区 → 输出审查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343400" y="5105400"/>
              <a:ext cx="350520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4343400" y="5105400"/>
              <a:ext cx="28575" cy="6858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566856" y="5207000"/>
              <a:ext cx="136572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B 医院｜医学影像数据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67238" y="5422900"/>
              <a:ext cx="128112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原始数据 100% 留在本地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567238" y="5594350"/>
              <a:ext cx="1540606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本地 TRE 受控工作区 → 输出审查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077200" y="5105400"/>
              <a:ext cx="350520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077200" y="5105400"/>
              <a:ext cx="28575" cy="6858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300656" y="5207000"/>
              <a:ext cx="136326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C 机构｜科研队列数据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01038" y="5422900"/>
              <a:ext cx="128112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原始数据 100% 留在本地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01038" y="5594350"/>
              <a:ext cx="1540606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本地 TRE 受控工作区 → 输出审查</a:t>
              </a:r>
            </a:p>
          </p:txBody>
        </p:sp>
      </p:grpSp>
      <p:grpSp>
        <p:nvGrpSpPr>
          <p:cNvPr id="59" name="page-takeaway"/>
          <p:cNvGrpSpPr/>
          <p:nvPr/>
        </p:nvGrpSpPr>
        <p:grpSpPr>
          <a:xfrm>
            <a:off x="603694" y="6051550"/>
            <a:ext cx="4071950" cy="227362"/>
            <a:chOff x="603694" y="6051550"/>
            <a:chExt cx="4071950" cy="227362"/>
          </a:xfrm>
        </p:grpSpPr>
        <p:sp>
          <p:nvSpPr>
            <p:cNvPr id="58" name="TextBox 58"/>
            <p:cNvSpPr txBox="1"/>
            <p:nvPr/>
          </p:nvSpPr>
          <p:spPr>
            <a:xfrm>
              <a:off x="603694" y="6051550"/>
              <a:ext cx="407195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原始数据一步没出自家大门，跨机构科研却高效跑起来了。</a:t>
              </a:r>
            </a:p>
          </p:txBody>
        </p:sp>
      </p:grpSp>
      <p:grpSp>
        <p:nvGrpSpPr>
          <p:cNvPr id="63" name="page-footer"/>
          <p:cNvGrpSpPr/>
          <p:nvPr/>
        </p:nvGrpSpPr>
        <p:grpSpPr>
          <a:xfrm>
            <a:off x="604838" y="6419850"/>
            <a:ext cx="10982325" cy="253683"/>
            <a:chOff x="604838" y="6419850"/>
            <a:chExt cx="10982325" cy="253683"/>
          </a:xfrm>
        </p:grpSpPr>
        <p:sp>
          <p:nvSpPr>
            <p:cNvPr id="60" name="Line 60"/>
            <p:cNvSpPr/>
            <p:nvPr/>
          </p:nvSpPr>
          <p:spPr>
            <a:xfrm>
              <a:off x="609600" y="6419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EF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4838" y="6518275"/>
              <a:ext cx="185003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AA8BD"/>
                  </a:solidFill>
                  <a:latin typeface="+mn-lt"/>
                  <a:ea typeface="+mn-ea"/>
                  <a:cs typeface="+mn-cs"/>
                </a:rPr>
                <a:t>TREMAC × 可信数据空间技术融合探索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48602" y="6518275"/>
              <a:ext cx="33856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dirty="0">
                  <a:solidFill>
                    <a:srgbClr val="9AA8BD"/>
                  </a:solidFill>
                  <a:latin typeface="+mn-lt"/>
                  <a:ea typeface="+mn-ea"/>
                  <a:cs typeface="+mn-cs"/>
                </a:rPr>
                <a:t>04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96646" y="444500"/>
            <a:ext cx="6886859" cy="986917"/>
            <a:chOff x="596646" y="444500"/>
            <a:chExt cx="6886859" cy="986917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244404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80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04 / KEY TECHNOLOGIES · 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749300"/>
              <a:ext cx="68868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先解决“敢不敢供”：认得准、找得到、管得住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123" y="1181100"/>
              <a:ext cx="38038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五项关键技术的前三项，打通数据供给与授权链路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731729" y="577850"/>
            <a:ext cx="855434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b="1" spc="112" dirty="0">
                <a:solidFill>
                  <a:srgbClr val="9AA8BD"/>
                </a:solidFill>
                <a:latin typeface="+mn-lt"/>
                <a:ea typeface="+mn-ea"/>
                <a:cs typeface="+mn-cs"/>
              </a:rPr>
              <a:t>TREMAC / TDS</a:t>
            </a:r>
          </a:p>
        </p:txBody>
      </p:sp>
      <p:grpSp>
        <p:nvGrpSpPr>
          <p:cNvPr id="22" name="tech-nav"/>
          <p:cNvGrpSpPr/>
          <p:nvPr/>
        </p:nvGrpSpPr>
        <p:grpSpPr>
          <a:xfrm>
            <a:off x="609600" y="1504950"/>
            <a:ext cx="10972800" cy="342900"/>
            <a:chOff x="609600" y="1504950"/>
            <a:chExt cx="10972800" cy="342900"/>
          </a:xfrm>
        </p:grpSpPr>
        <p:sp>
          <p:nvSpPr>
            <p:cNvPr id="7" name="Rectangle 7"/>
            <p:cNvSpPr/>
            <p:nvPr/>
          </p:nvSpPr>
          <p:spPr>
            <a:xfrm>
              <a:off x="609600" y="1504950"/>
              <a:ext cx="1981200" cy="3429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7238" y="1635125"/>
              <a:ext cx="12567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4697" y="1609725"/>
              <a:ext cx="4056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认得准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57500" y="1504950"/>
              <a:ext cx="1981200" cy="3429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005138" y="1635125"/>
              <a:ext cx="12567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52597" y="1609725"/>
              <a:ext cx="4056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找得到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105400" y="1504950"/>
              <a:ext cx="1981200" cy="3429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53038" y="1635125"/>
              <a:ext cx="12567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00497" y="1609725"/>
              <a:ext cx="4056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管得住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353300" y="1504950"/>
              <a:ext cx="1981200" cy="342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00938" y="1635125"/>
              <a:ext cx="12567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B4C0D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48397" y="1609725"/>
              <a:ext cx="4056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8A99B0"/>
                  </a:solidFill>
                  <a:latin typeface="+mn-lt"/>
                  <a:ea typeface="+mn-ea"/>
                  <a:cs typeface="+mn-cs"/>
                </a:rPr>
                <a:t>送不出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601200" y="1504950"/>
              <a:ext cx="1981200" cy="342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48838" y="1635125"/>
              <a:ext cx="12567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B4C0D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96297" y="1609725"/>
              <a:ext cx="4056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8A99B0"/>
                  </a:solidFill>
                  <a:latin typeface="+mn-lt"/>
                  <a:ea typeface="+mn-ea"/>
                  <a:cs typeface="+mn-cs"/>
                </a:rPr>
                <a:t>算得了</a:t>
              </a:r>
            </a:p>
          </p:txBody>
        </p:sp>
      </p:grpSp>
      <p:grpSp>
        <p:nvGrpSpPr>
          <p:cNvPr id="37" name="tech-identity"/>
          <p:cNvGrpSpPr/>
          <p:nvPr/>
        </p:nvGrpSpPr>
        <p:grpSpPr>
          <a:xfrm>
            <a:off x="609600" y="2190750"/>
            <a:ext cx="3505200" cy="3143250"/>
            <a:chOff x="609600" y="2190750"/>
            <a:chExt cx="3505200" cy="3143250"/>
          </a:xfrm>
        </p:grpSpPr>
        <p:sp>
          <p:nvSpPr>
            <p:cNvPr id="23" name="Rectangle 23"/>
            <p:cNvSpPr/>
            <p:nvPr/>
          </p:nvSpPr>
          <p:spPr>
            <a:xfrm>
              <a:off x="609600" y="2190750"/>
              <a:ext cx="3505200" cy="3143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" y="2190750"/>
              <a:ext cx="3505200" cy="381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3247" y="2425700"/>
              <a:ext cx="1616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3707401" y="2395461"/>
              <a:ext cx="214358" cy="233439"/>
              <a:chOff x="3707401" y="2395461"/>
              <a:chExt cx="214358" cy="233439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3897629" y="2451100"/>
                <a:ext cx="2413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4130" h="114300">
                    <a:moveTo>
                      <a:pt x="0" y="0"/>
                    </a:moveTo>
                    <a:cubicBezTo>
                      <a:pt x="11487" y="19065"/>
                      <a:pt x="16395" y="41374"/>
                      <a:pt x="13970" y="63500"/>
                    </a:cubicBezTo>
                    <a:lnTo>
                      <a:pt x="13970" y="76200"/>
                    </a:lnTo>
                    <a:cubicBezTo>
                      <a:pt x="13955" y="89571"/>
                      <a:pt x="17459" y="102711"/>
                      <a:pt x="24130" y="114300"/>
                    </a:cubicBezTo>
                  </a:path>
                </a:pathLst>
              </a:custGeom>
              <a:noFill/>
              <a:ln w="25400">
                <a:solidFill>
                  <a:srgbClr val="0058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759200" y="2451100"/>
                <a:ext cx="1270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39700">
                    <a:moveTo>
                      <a:pt x="0" y="50800"/>
                    </a:moveTo>
                    <a:cubicBezTo>
                      <a:pt x="0" y="22744"/>
                      <a:pt x="22744" y="0"/>
                      <a:pt x="50800" y="0"/>
                    </a:cubicBezTo>
                    <a:cubicBezTo>
                      <a:pt x="78856" y="0"/>
                      <a:pt x="101600" y="22744"/>
                      <a:pt x="101600" y="50800"/>
                    </a:cubicBezTo>
                    <a:lnTo>
                      <a:pt x="101600" y="63500"/>
                    </a:lnTo>
                    <a:cubicBezTo>
                      <a:pt x="101600" y="90979"/>
                      <a:pt x="110512" y="117716"/>
                      <a:pt x="127000" y="139700"/>
                    </a:cubicBezTo>
                  </a:path>
                </a:pathLst>
              </a:custGeom>
              <a:noFill/>
              <a:ln w="25400">
                <a:solidFill>
                  <a:srgbClr val="0058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809959" y="2501900"/>
                <a:ext cx="3179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31790" h="127000">
                    <a:moveTo>
                      <a:pt x="41" y="0"/>
                    </a:moveTo>
                    <a:lnTo>
                      <a:pt x="41" y="25400"/>
                    </a:lnTo>
                    <a:cubicBezTo>
                      <a:pt x="0" y="61714"/>
                      <a:pt x="11080" y="97170"/>
                      <a:pt x="31790" y="127000"/>
                    </a:cubicBezTo>
                  </a:path>
                </a:pathLst>
              </a:custGeom>
              <a:noFill/>
              <a:ln w="25400">
                <a:solidFill>
                  <a:srgbClr val="0058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3759200" y="2552700"/>
                <a:ext cx="2286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" h="76200">
                    <a:moveTo>
                      <a:pt x="0" y="0"/>
                    </a:moveTo>
                    <a:cubicBezTo>
                      <a:pt x="3108" y="26541"/>
                      <a:pt x="10845" y="52331"/>
                      <a:pt x="22860" y="76200"/>
                    </a:cubicBezTo>
                  </a:path>
                </a:pathLst>
              </a:custGeom>
              <a:noFill/>
              <a:ln w="25400">
                <a:solidFill>
                  <a:srgbClr val="0058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3707401" y="2395461"/>
                <a:ext cx="153399" cy="208038"/>
              </a:xfrm>
              <a:custGeom>
                <a:avLst/>
                <a:gdLst/>
                <a:ahLst/>
                <a:cxnLst/>
                <a:rect l="l" t="t" r="r" b="b"/>
                <a:pathLst>
                  <a:path w="153399" h="208038">
                    <a:moveTo>
                      <a:pt x="12429" y="208038"/>
                    </a:moveTo>
                    <a:cubicBezTo>
                      <a:pt x="3860" y="179213"/>
                      <a:pt x="0" y="149194"/>
                      <a:pt x="999" y="119139"/>
                    </a:cubicBezTo>
                    <a:lnTo>
                      <a:pt x="999" y="106439"/>
                    </a:lnTo>
                    <a:cubicBezTo>
                      <a:pt x="900" y="70091"/>
                      <a:pt x="20226" y="36460"/>
                      <a:pt x="51679" y="18243"/>
                    </a:cubicBezTo>
                    <a:cubicBezTo>
                      <a:pt x="83132" y="26"/>
                      <a:pt x="121921" y="0"/>
                      <a:pt x="153399" y="18174"/>
                    </a:cubicBezTo>
                  </a:path>
                </a:pathLst>
              </a:custGeom>
              <a:noFill/>
              <a:ln w="25400">
                <a:solidFill>
                  <a:srgbClr val="0058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827532" y="281305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认得准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3247" y="32004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融合身份认证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38200" y="34861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8EEF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2866" y="3606800"/>
              <a:ext cx="2010918" cy="6435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权威 CA 数字证书 + 区块链 DID：</a:t>
              </a:r>
              <a:b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权威签发、链上存证、跨域互认。</a:t>
              </a:r>
              <a:b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一次认证，所有机构互认。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438" y="4724400"/>
              <a:ext cx="1824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10 家医院，不再有 10 套账号体系</a:t>
              </a:r>
            </a:p>
          </p:txBody>
        </p:sp>
      </p:grpSp>
      <p:grpSp>
        <p:nvGrpSpPr>
          <p:cNvPr id="49" name="tech-retrieval"/>
          <p:cNvGrpSpPr/>
          <p:nvPr/>
        </p:nvGrpSpPr>
        <p:grpSpPr>
          <a:xfrm>
            <a:off x="4343400" y="2190750"/>
            <a:ext cx="3505200" cy="3143250"/>
            <a:chOff x="4343400" y="2190750"/>
            <a:chExt cx="3505200" cy="3143250"/>
          </a:xfrm>
        </p:grpSpPr>
        <p:sp>
          <p:nvSpPr>
            <p:cNvPr id="38" name="Rectangle 38"/>
            <p:cNvSpPr/>
            <p:nvPr/>
          </p:nvSpPr>
          <p:spPr>
            <a:xfrm>
              <a:off x="4343400" y="2190750"/>
              <a:ext cx="3505200" cy="3143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4343400" y="2190750"/>
              <a:ext cx="3505200" cy="381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567047" y="2425700"/>
              <a:ext cx="1616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7429500" y="2400300"/>
              <a:ext cx="228600" cy="228600"/>
              <a:chOff x="7429500" y="2400300"/>
              <a:chExt cx="228600" cy="2286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429500" y="2400300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88900"/>
                    </a:moveTo>
                    <a:cubicBezTo>
                      <a:pt x="0" y="137998"/>
                      <a:pt x="39802" y="177800"/>
                      <a:pt x="88900" y="177800"/>
                    </a:cubicBezTo>
                    <a:cubicBezTo>
                      <a:pt x="137998" y="177800"/>
                      <a:pt x="177800" y="137998"/>
                      <a:pt x="177800" y="88900"/>
                    </a:cubicBezTo>
                    <a:cubicBezTo>
                      <a:pt x="177800" y="39802"/>
                      <a:pt x="137998" y="0"/>
                      <a:pt x="88900" y="0"/>
                    </a:cubicBezTo>
                    <a:cubicBezTo>
                      <a:pt x="39802" y="0"/>
                      <a:pt x="0" y="39802"/>
                      <a:pt x="0" y="88900"/>
                    </a:cubicBezTo>
                  </a:path>
                </a:pathLst>
              </a:custGeom>
              <a:noFill/>
              <a:ln w="25400">
                <a:solidFill>
                  <a:srgbClr val="0058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581900" y="25527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76200" y="762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0058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4561332" y="281305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找得到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67047" y="32004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智能检索推荐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572000" y="34861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8EEF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566666" y="3606800"/>
              <a:ext cx="1939429" cy="6435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大模型 RAG + 医学知识图谱：</a:t>
              </a:r>
              <a:b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医生输入“COPD + 肺功能下降 +</a:t>
              </a:r>
              <a:b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近 3 年”，直接推荐脱敏病例集。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567238" y="4724400"/>
              <a:ext cx="17160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慢阻肺 = COPD，语义自动对齐</a:t>
              </a:r>
            </a:p>
          </p:txBody>
        </p:sp>
      </p:grpSp>
      <p:grpSp>
        <p:nvGrpSpPr>
          <p:cNvPr id="63" name="tech-contract"/>
          <p:cNvGrpSpPr/>
          <p:nvPr/>
        </p:nvGrpSpPr>
        <p:grpSpPr>
          <a:xfrm>
            <a:off x="8077200" y="2190750"/>
            <a:ext cx="3505200" cy="3143250"/>
            <a:chOff x="8077200" y="2190750"/>
            <a:chExt cx="3505200" cy="3143250"/>
          </a:xfrm>
        </p:grpSpPr>
        <p:sp>
          <p:nvSpPr>
            <p:cNvPr id="50" name="Rectangle 50"/>
            <p:cNvSpPr/>
            <p:nvPr/>
          </p:nvSpPr>
          <p:spPr>
            <a:xfrm>
              <a:off x="8077200" y="2190750"/>
              <a:ext cx="3505200" cy="3143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077200" y="2190750"/>
              <a:ext cx="3505200" cy="381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00847" y="2425700"/>
              <a:ext cx="1616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11163300" y="2400300"/>
              <a:ext cx="203200" cy="241299"/>
              <a:chOff x="11163300" y="2400300"/>
              <a:chExt cx="203200" cy="241299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11303000" y="24003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25400">
                <a:solidFill>
                  <a:srgbClr val="0058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188700" y="240030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0" y="63500"/>
                    </a:move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199"/>
                    </a:lnTo>
                    <a:cubicBezTo>
                      <a:pt x="177800" y="217227"/>
                      <a:pt x="166428" y="228599"/>
                      <a:pt x="152400" y="228599"/>
                    </a:cubicBezTo>
                    <a:lnTo>
                      <a:pt x="88900" y="228599"/>
                    </a:lnTo>
                  </a:path>
                </a:pathLst>
              </a:custGeom>
              <a:noFill/>
              <a:ln w="25400">
                <a:solidFill>
                  <a:srgbClr val="0058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163300" y="25019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rgbClr val="0058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1163300" y="2578099"/>
                <a:ext cx="762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63500">
                    <a:moveTo>
                      <a:pt x="19050" y="0"/>
                    </a:moveTo>
                    <a:lnTo>
                      <a:pt x="0" y="63500"/>
                    </a:lnTo>
                    <a:lnTo>
                      <a:pt x="38100" y="44450"/>
                    </a:lnTo>
                    <a:lnTo>
                      <a:pt x="76200" y="63500"/>
                    </a:lnTo>
                    <a:lnTo>
                      <a:pt x="57150" y="0"/>
                    </a:lnTo>
                  </a:path>
                </a:pathLst>
              </a:custGeom>
              <a:noFill/>
              <a:ln w="25400">
                <a:solidFill>
                  <a:srgbClr val="0058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8295132" y="281305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管得住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00847" y="320040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数字合约与使用控制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8305800" y="34861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8EEF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300466" y="3606800"/>
              <a:ext cx="1899584" cy="6435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规则写进区块链数字合约，</a:t>
              </a:r>
              <a:b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使用控制引擎强制执行：</a:t>
              </a:r>
              <a:b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仅限研究用途、限 100 次调用。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301038" y="4724400"/>
              <a:ext cx="16486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付没付钱 · 能不能用 · 用多少次</a:t>
              </a:r>
            </a:p>
          </p:txBody>
        </p:sp>
      </p:grpSp>
      <p:grpSp>
        <p:nvGrpSpPr>
          <p:cNvPr id="67" name="page-takeaway"/>
          <p:cNvGrpSpPr/>
          <p:nvPr/>
        </p:nvGrpSpPr>
        <p:grpSpPr>
          <a:xfrm>
            <a:off x="609600" y="5715000"/>
            <a:ext cx="10972800" cy="381000"/>
            <a:chOff x="609600" y="5715000"/>
            <a:chExt cx="10972800" cy="381000"/>
          </a:xfrm>
        </p:grpSpPr>
        <p:sp>
          <p:nvSpPr>
            <p:cNvPr id="64" name="Rectangle 64"/>
            <p:cNvSpPr/>
            <p:nvPr/>
          </p:nvSpPr>
          <p:spPr>
            <a:xfrm>
              <a:off x="609600" y="5715000"/>
              <a:ext cx="10972800" cy="381000"/>
            </a:xfrm>
            <a:prstGeom prst="rect">
              <a:avLst/>
            </a:prstGeom>
            <a:solidFill>
              <a:srgbClr val="F2F6FF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09600" y="5715000"/>
              <a:ext cx="38100" cy="3810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32676" y="5822950"/>
              <a:ext cx="4557863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身份是入口，检索是桥梁，合约是开关——让数据“供得出、管得住”。</a:t>
              </a:r>
            </a:p>
          </p:txBody>
        </p:sp>
      </p:grpSp>
      <p:grpSp>
        <p:nvGrpSpPr>
          <p:cNvPr id="71" name="page-footer"/>
          <p:cNvGrpSpPr/>
          <p:nvPr/>
        </p:nvGrpSpPr>
        <p:grpSpPr>
          <a:xfrm>
            <a:off x="604838" y="6419850"/>
            <a:ext cx="10982325" cy="253683"/>
            <a:chOff x="604838" y="6419850"/>
            <a:chExt cx="10982325" cy="253683"/>
          </a:xfrm>
        </p:grpSpPr>
        <p:sp>
          <p:nvSpPr>
            <p:cNvPr id="68" name="Line 68"/>
            <p:cNvSpPr/>
            <p:nvPr/>
          </p:nvSpPr>
          <p:spPr>
            <a:xfrm>
              <a:off x="609600" y="6419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EF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04838" y="6518275"/>
              <a:ext cx="185003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AA8BD"/>
                  </a:solidFill>
                  <a:latin typeface="+mn-lt"/>
                  <a:ea typeface="+mn-ea"/>
                  <a:cs typeface="+mn-cs"/>
                </a:rPr>
                <a:t>TREMAC × 可信数据空间技术融合探索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248602" y="6518275"/>
              <a:ext cx="33856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dirty="0">
                  <a:solidFill>
                    <a:srgbClr val="9AA8BD"/>
                  </a:solidFill>
                  <a:latin typeface="+mn-lt"/>
                  <a:ea typeface="+mn-ea"/>
                  <a:cs typeface="+mn-cs"/>
                </a:rPr>
                <a:t>05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96646" y="444500"/>
            <a:ext cx="5513735" cy="986917"/>
            <a:chOff x="596646" y="444500"/>
            <a:chExt cx="5513735" cy="986917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244404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80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05 / KEY TECHNOLOGIES · 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749300"/>
              <a:ext cx="55137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再解决“敢不敢算”：送不出、算得了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123" y="1181100"/>
              <a:ext cx="432079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权限批了以后，数据仍需防带走、防滥用，并能联合建模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731729" y="577850"/>
            <a:ext cx="855434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b="1" spc="112" dirty="0">
                <a:solidFill>
                  <a:srgbClr val="9AA8BD"/>
                </a:solidFill>
                <a:latin typeface="+mn-lt"/>
                <a:ea typeface="+mn-ea"/>
                <a:cs typeface="+mn-cs"/>
              </a:rPr>
              <a:t>TREMAC / TDS</a:t>
            </a:r>
          </a:p>
        </p:txBody>
      </p:sp>
      <p:grpSp>
        <p:nvGrpSpPr>
          <p:cNvPr id="22" name="tech-nav"/>
          <p:cNvGrpSpPr/>
          <p:nvPr/>
        </p:nvGrpSpPr>
        <p:grpSpPr>
          <a:xfrm>
            <a:off x="609600" y="1504950"/>
            <a:ext cx="10972800" cy="342900"/>
            <a:chOff x="609600" y="1504950"/>
            <a:chExt cx="10972800" cy="342900"/>
          </a:xfrm>
        </p:grpSpPr>
        <p:sp>
          <p:nvSpPr>
            <p:cNvPr id="7" name="Rectangle 7"/>
            <p:cNvSpPr/>
            <p:nvPr/>
          </p:nvSpPr>
          <p:spPr>
            <a:xfrm>
              <a:off x="609600" y="1504950"/>
              <a:ext cx="1981200" cy="342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7238" y="1635125"/>
              <a:ext cx="12567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B4C0D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4697" y="1609725"/>
              <a:ext cx="4056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8A99B0"/>
                  </a:solidFill>
                  <a:latin typeface="+mn-lt"/>
                  <a:ea typeface="+mn-ea"/>
                  <a:cs typeface="+mn-cs"/>
                </a:rPr>
                <a:t>认得准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57500" y="1504950"/>
              <a:ext cx="1981200" cy="342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005138" y="1635125"/>
              <a:ext cx="12567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B4C0D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52597" y="1609725"/>
              <a:ext cx="4056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8A99B0"/>
                  </a:solidFill>
                  <a:latin typeface="+mn-lt"/>
                  <a:ea typeface="+mn-ea"/>
                  <a:cs typeface="+mn-cs"/>
                </a:rPr>
                <a:t>找得到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105400" y="1504950"/>
              <a:ext cx="1981200" cy="342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53038" y="1635125"/>
              <a:ext cx="12567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B4C0D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00497" y="1609725"/>
              <a:ext cx="4056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8A99B0"/>
                  </a:solidFill>
                  <a:latin typeface="+mn-lt"/>
                  <a:ea typeface="+mn-ea"/>
                  <a:cs typeface="+mn-cs"/>
                </a:rPr>
                <a:t>管得住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353300" y="1504950"/>
              <a:ext cx="1981200" cy="3429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00938" y="1635125"/>
              <a:ext cx="12567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48397" y="1609725"/>
              <a:ext cx="4056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送不出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601200" y="1504950"/>
              <a:ext cx="1981200" cy="3429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48838" y="1635125"/>
              <a:ext cx="12567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96297" y="1609725"/>
              <a:ext cx="4056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算得了</a:t>
              </a:r>
            </a:p>
          </p:txBody>
        </p:sp>
      </p:grpSp>
      <p:grpSp>
        <p:nvGrpSpPr>
          <p:cNvPr id="46" name="tech-delivery"/>
          <p:cNvGrpSpPr/>
          <p:nvPr/>
        </p:nvGrpSpPr>
        <p:grpSpPr>
          <a:xfrm>
            <a:off x="609600" y="2190750"/>
            <a:ext cx="5334000" cy="3314700"/>
            <a:chOff x="609600" y="2190750"/>
            <a:chExt cx="5334000" cy="3314700"/>
          </a:xfrm>
        </p:grpSpPr>
        <p:sp>
          <p:nvSpPr>
            <p:cNvPr id="23" name="Rectangle 23"/>
            <p:cNvSpPr/>
            <p:nvPr/>
          </p:nvSpPr>
          <p:spPr>
            <a:xfrm>
              <a:off x="609600" y="2190750"/>
              <a:ext cx="5334000" cy="3314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" y="2190750"/>
              <a:ext cx="5334000" cy="381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3247" y="2406650"/>
              <a:ext cx="1616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5600700" y="2413000"/>
              <a:ext cx="228599" cy="212724"/>
              <a:chOff x="5600700" y="2413000"/>
              <a:chExt cx="228599" cy="212724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5600700" y="2413000"/>
                <a:ext cx="228599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524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215899" y="0"/>
                    </a:lnTo>
                    <a:cubicBezTo>
                      <a:pt x="222913" y="0"/>
                      <a:pt x="228599" y="5686"/>
                      <a:pt x="228599" y="12700"/>
                    </a:cubicBezTo>
                    <a:lnTo>
                      <a:pt x="228599" y="139700"/>
                    </a:lnTo>
                    <a:cubicBezTo>
                      <a:pt x="228599" y="146714"/>
                      <a:pt x="222913" y="152400"/>
                      <a:pt x="215899" y="152400"/>
                    </a:cubicBezTo>
                    <a:lnTo>
                      <a:pt x="12700" y="152400"/>
                    </a:lnTo>
                    <a:cubicBezTo>
                      <a:pt x="5686" y="152400"/>
                      <a:pt x="0" y="146714"/>
                      <a:pt x="0" y="1397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rgbClr val="0058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651500" y="2616199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25400">
                <a:solidFill>
                  <a:srgbClr val="0058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676900" y="2565399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rgbClr val="0058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753100" y="2565399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rgbClr val="0058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827532" y="281305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送不出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3247" y="3200400"/>
              <a:ext cx="19995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安全数据交付 · 云桌面 + 数据沙箱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838200" y="34861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E8EEF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8200" y="3714750"/>
              <a:ext cx="1524000" cy="723900"/>
            </a:xfrm>
            <a:prstGeom prst="rect">
              <a:avLst/>
            </a:prstGeom>
            <a:solidFill>
              <a:srgbClr val="F2F6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7738" y="3886200"/>
              <a:ext cx="895325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服务端真实数据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7738" y="4089400"/>
              <a:ext cx="1092108" cy="2809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050"/>
                </a:lnSpc>
              </a:pPr>
              <a:r>
                <a:rPr lang="zh-CN" sz="75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数据沙箱 · 容器 / 虚拟化 /</a:t>
              </a:r>
              <a:br>
                <a:rPr lang="zh-CN" sz="75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75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SGX 硬件隔离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2400300" y="4076700"/>
              <a:ext cx="800100" cy="1"/>
            </a:xfrm>
            <a:prstGeom prst="line">
              <a:avLst/>
            </a:prstGeom>
            <a:noFill/>
            <a:ln w="14288">
              <a:solidFill>
                <a:srgbClr val="0058FF"/>
              </a:solidFill>
              <a:tailEnd type="triangle" w="lg" len="lg"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529713" y="3879850"/>
              <a:ext cx="541274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加密像素流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276600" y="3714750"/>
              <a:ext cx="1981200" cy="723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405188" y="3886200"/>
              <a:ext cx="642239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研究员屏幕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405188" y="4089400"/>
              <a:ext cx="1225353" cy="2809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050"/>
                </a:lnSpc>
              </a:pPr>
              <a:r>
                <a:rPr lang="zh-CN" sz="75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云桌面 · 只见画面，不见数据</a:t>
              </a:r>
              <a:br>
                <a:rPr lang="zh-CN" sz="75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75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真实数据只在服务端运行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3438" y="4679950"/>
              <a:ext cx="81507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× 禁止复制粘贴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395538" y="4679950"/>
              <a:ext cx="82312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× U 盘自动禁用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090988" y="4679950"/>
              <a:ext cx="81507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× 截屏溯源水印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1723" y="5105400"/>
              <a:ext cx="187787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可用不可见 · 终端不落地</a:t>
              </a:r>
            </a:p>
          </p:txBody>
        </p:sp>
      </p:grpSp>
      <p:grpSp>
        <p:nvGrpSpPr>
          <p:cNvPr id="76" name="tech-computation"/>
          <p:cNvGrpSpPr/>
          <p:nvPr/>
        </p:nvGrpSpPr>
        <p:grpSpPr>
          <a:xfrm>
            <a:off x="6248400" y="2190750"/>
            <a:ext cx="5334000" cy="3314700"/>
            <a:chOff x="6248400" y="2190750"/>
            <a:chExt cx="5334000" cy="3314700"/>
          </a:xfrm>
        </p:grpSpPr>
        <p:sp>
          <p:nvSpPr>
            <p:cNvPr id="47" name="Rectangle 47"/>
            <p:cNvSpPr/>
            <p:nvPr/>
          </p:nvSpPr>
          <p:spPr>
            <a:xfrm>
              <a:off x="6248400" y="2190750"/>
              <a:ext cx="5334000" cy="3314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48400" y="2190750"/>
              <a:ext cx="5334000" cy="381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72047" y="2406650"/>
              <a:ext cx="1616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11264900" y="2413000"/>
              <a:ext cx="177800" cy="203199"/>
              <a:chOff x="11264900" y="2413000"/>
              <a:chExt cx="177800" cy="203199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1264900" y="25653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rgbClr val="0058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1264900" y="24130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rgbClr val="0058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1391900" y="24892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rgbClr val="0058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1290300" y="2463800"/>
                <a:ext cx="9525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600">
                    <a:moveTo>
                      <a:pt x="0" y="0"/>
                    </a:moveTo>
                    <a:lnTo>
                      <a:pt x="0" y="101600"/>
                    </a:lnTo>
                  </a:path>
                </a:pathLst>
              </a:custGeom>
              <a:noFill/>
              <a:ln w="25400">
                <a:solidFill>
                  <a:srgbClr val="0058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290300" y="2463800"/>
                <a:ext cx="1016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0800">
                    <a:moveTo>
                      <a:pt x="0" y="0"/>
                    </a:moveTo>
                    <a:cubicBezTo>
                      <a:pt x="0" y="28056"/>
                      <a:pt x="22744" y="50800"/>
                      <a:pt x="50800" y="50800"/>
                    </a:cubicBezTo>
                    <a:lnTo>
                      <a:pt x="101600" y="50800"/>
                    </a:lnTo>
                  </a:path>
                </a:pathLst>
              </a:custGeom>
              <a:noFill/>
              <a:ln w="25400">
                <a:solidFill>
                  <a:srgbClr val="0058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466332" y="281305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算得了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72047" y="3200400"/>
              <a:ext cx="320791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安全数据计算 · 联邦学习 / MPC / 差分隐私 / 同态加密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6477000" y="34861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E8EEF8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7981950" y="3981450"/>
              <a:ext cx="361950" cy="171450"/>
            </a:xfrm>
            <a:prstGeom prst="line">
              <a:avLst/>
            </a:prstGeom>
            <a:noFill/>
            <a:ln w="12382">
              <a:solidFill>
                <a:srgbClr val="0058FF"/>
              </a:solidFill>
              <a:tailEnd type="triangle" w="lg" len="lg"/>
            </a:ln>
          </p:spPr>
        </p:sp>
        <p:sp>
          <p:nvSpPr>
            <p:cNvPr id="60" name="Line 60"/>
            <p:cNvSpPr/>
            <p:nvPr/>
          </p:nvSpPr>
          <p:spPr>
            <a:xfrm flipV="1">
              <a:off x="7981950" y="4400550"/>
              <a:ext cx="361950" cy="304800"/>
            </a:xfrm>
            <a:prstGeom prst="line">
              <a:avLst/>
            </a:prstGeom>
            <a:noFill/>
            <a:ln w="12382">
              <a:solidFill>
                <a:srgbClr val="0058FF"/>
              </a:solidFill>
              <a:tailEnd type="triangle" w="lg" len="lg"/>
            </a:ln>
          </p:spPr>
        </p:sp>
        <p:sp>
          <p:nvSpPr>
            <p:cNvPr id="61" name="Line 61"/>
            <p:cNvSpPr/>
            <p:nvPr/>
          </p:nvSpPr>
          <p:spPr>
            <a:xfrm flipH="1" flipV="1">
              <a:off x="9486900" y="4286250"/>
              <a:ext cx="457200" cy="95250"/>
            </a:xfrm>
            <a:prstGeom prst="line">
              <a:avLst/>
            </a:prstGeom>
            <a:noFill/>
            <a:ln w="12382">
              <a:solidFill>
                <a:srgbClr val="0058FF"/>
              </a:solidFill>
              <a:tailEnd type="triangle" w="lg" len="lg"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858000" y="3657600"/>
              <a:ext cx="1143000" cy="419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67538" y="3733800"/>
              <a:ext cx="3771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医院 A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967538" y="3892550"/>
              <a:ext cx="678586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1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本地数据不出院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858000" y="4629150"/>
              <a:ext cx="1143000" cy="419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967538" y="4705350"/>
              <a:ext cx="3692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医院 B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967538" y="4864100"/>
              <a:ext cx="678586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1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本地数据不出院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944100" y="4171950"/>
              <a:ext cx="1143000" cy="419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053638" y="4248150"/>
              <a:ext cx="3670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医院 C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053638" y="4406900"/>
              <a:ext cx="678586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1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本地数据不出院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343900" y="3962400"/>
              <a:ext cx="1143000" cy="59055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646592" y="40957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全局模型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719477" y="4292600"/>
              <a:ext cx="391846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行业模型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325714" y="4965700"/>
              <a:ext cx="1179373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只交换加密后的模型参数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470523" y="514350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数据不动模型动</a:t>
              </a:r>
            </a:p>
          </p:txBody>
        </p:sp>
      </p:grpSp>
      <p:grpSp>
        <p:nvGrpSpPr>
          <p:cNvPr id="80" name="page-takeaway"/>
          <p:cNvGrpSpPr/>
          <p:nvPr/>
        </p:nvGrpSpPr>
        <p:grpSpPr>
          <a:xfrm>
            <a:off x="609600" y="5715000"/>
            <a:ext cx="10972800" cy="381000"/>
            <a:chOff x="609600" y="5715000"/>
            <a:chExt cx="10972800" cy="381000"/>
          </a:xfrm>
        </p:grpSpPr>
        <p:sp>
          <p:nvSpPr>
            <p:cNvPr id="77" name="Rectangle 77"/>
            <p:cNvSpPr/>
            <p:nvPr/>
          </p:nvSpPr>
          <p:spPr>
            <a:xfrm>
              <a:off x="609600" y="5715000"/>
              <a:ext cx="10972800" cy="381000"/>
            </a:xfrm>
            <a:prstGeom prst="rect">
              <a:avLst/>
            </a:prstGeom>
            <a:solidFill>
              <a:srgbClr val="F2F6FF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09600" y="5715000"/>
              <a:ext cx="38100" cy="3810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32676" y="5822950"/>
              <a:ext cx="4115660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云桌面管住“看”，联邦计算管住“算”——原始数据始终不出院。</a:t>
              </a:r>
            </a:p>
          </p:txBody>
        </p:sp>
      </p:grpSp>
      <p:grpSp>
        <p:nvGrpSpPr>
          <p:cNvPr id="84" name="page-footer"/>
          <p:cNvGrpSpPr/>
          <p:nvPr/>
        </p:nvGrpSpPr>
        <p:grpSpPr>
          <a:xfrm>
            <a:off x="604838" y="6419850"/>
            <a:ext cx="10982325" cy="253683"/>
            <a:chOff x="604838" y="6419850"/>
            <a:chExt cx="10982325" cy="253683"/>
          </a:xfrm>
        </p:grpSpPr>
        <p:sp>
          <p:nvSpPr>
            <p:cNvPr id="81" name="Line 81"/>
            <p:cNvSpPr/>
            <p:nvPr/>
          </p:nvSpPr>
          <p:spPr>
            <a:xfrm>
              <a:off x="609600" y="6419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EF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04838" y="6518275"/>
              <a:ext cx="185003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AA8BD"/>
                  </a:solidFill>
                  <a:latin typeface="+mn-lt"/>
                  <a:ea typeface="+mn-ea"/>
                  <a:cs typeface="+mn-cs"/>
                </a:rPr>
                <a:t>TREMAC × 可信数据空间技术融合探索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248602" y="6518275"/>
              <a:ext cx="33856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dirty="0">
                  <a:solidFill>
                    <a:srgbClr val="9AA8BD"/>
                  </a:solidFill>
                  <a:latin typeface="+mn-lt"/>
                  <a:ea typeface="+mn-ea"/>
                  <a:cs typeface="+mn-cs"/>
                </a:rPr>
                <a:t>06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97408" y="444500"/>
            <a:ext cx="7257129" cy="986917"/>
            <a:chOff x="597408" y="444500"/>
            <a:chExt cx="7257129" cy="986917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27582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80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06 / EVIDENCE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7408" y="774700"/>
              <a:ext cx="72571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数据不合并，模型不降智：效果达成度 82%–133%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123" y="1181100"/>
              <a:ext cx="397616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异步本地更新的模型融合技术，同时守住安全与效果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731729" y="577850"/>
            <a:ext cx="855434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b="1" spc="112" dirty="0">
                <a:solidFill>
                  <a:srgbClr val="9AA8BD"/>
                </a:solidFill>
                <a:latin typeface="+mn-lt"/>
                <a:ea typeface="+mn-ea"/>
                <a:cs typeface="+mn-cs"/>
              </a:rPr>
              <a:t>TREMAC / TDS</a:t>
            </a:r>
          </a:p>
        </p:txBody>
      </p:sp>
      <p:grpSp>
        <p:nvGrpSpPr>
          <p:cNvPr id="25" name="fusion-route"/>
          <p:cNvGrpSpPr/>
          <p:nvPr/>
        </p:nvGrpSpPr>
        <p:grpSpPr>
          <a:xfrm>
            <a:off x="604456" y="1866900"/>
            <a:ext cx="4539044" cy="3290475"/>
            <a:chOff x="604456" y="1866900"/>
            <a:chExt cx="4539044" cy="3290475"/>
          </a:xfrm>
        </p:grpSpPr>
        <p:sp>
          <p:nvSpPr>
            <p:cNvPr id="7" name="TextBox 7"/>
            <p:cNvSpPr txBox="1"/>
            <p:nvPr/>
          </p:nvSpPr>
          <p:spPr>
            <a:xfrm>
              <a:off x="604838" y="1866900"/>
              <a:ext cx="5244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75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技术路线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333500" y="2000250"/>
              <a:ext cx="3048000" cy="55245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18285" y="21082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全局行业模型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19238" y="2349500"/>
              <a:ext cx="139926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升级后下发各院 · 模型共同成长</a:t>
              </a:r>
            </a:p>
          </p:txBody>
        </p:sp>
        <p:sp>
          <p:nvSpPr>
            <p:cNvPr id="11" name="Line 11"/>
            <p:cNvSpPr/>
            <p:nvPr/>
          </p:nvSpPr>
          <p:spPr>
            <a:xfrm flipV="1">
              <a:off x="2857500" y="2609850"/>
              <a:ext cx="1" cy="247650"/>
            </a:xfrm>
            <a:prstGeom prst="line">
              <a:avLst/>
            </a:prstGeom>
            <a:noFill/>
            <a:ln w="14288">
              <a:solidFill>
                <a:srgbClr val="0058FF"/>
              </a:solidFill>
              <a:tailEnd type="triangle" w="lg" len="lg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333500" y="2857500"/>
              <a:ext cx="3048000" cy="609600"/>
            </a:xfrm>
            <a:prstGeom prst="rect">
              <a:avLst/>
            </a:prstGeom>
            <a:solidFill>
              <a:srgbClr val="F2F6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18285" y="296545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梯度融合器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19238" y="3194050"/>
              <a:ext cx="941638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定期同步 · 异步更新</a:t>
              </a:r>
            </a:p>
          </p:txBody>
        </p:sp>
        <p:sp>
          <p:nvSpPr>
            <p:cNvPr id="15" name="Line 15"/>
            <p:cNvSpPr/>
            <p:nvPr/>
          </p:nvSpPr>
          <p:spPr>
            <a:xfrm flipV="1">
              <a:off x="1657350" y="3505200"/>
              <a:ext cx="1" cy="400050"/>
            </a:xfrm>
            <a:prstGeom prst="line">
              <a:avLst/>
            </a:prstGeom>
            <a:noFill/>
            <a:ln w="14288">
              <a:solidFill>
                <a:srgbClr val="0058FF"/>
              </a:solidFill>
              <a:tailEnd type="triangle" w="lg" len="lg"/>
            </a:ln>
          </p:spPr>
        </p:sp>
        <p:sp>
          <p:nvSpPr>
            <p:cNvPr id="16" name="Line 16"/>
            <p:cNvSpPr/>
            <p:nvPr/>
          </p:nvSpPr>
          <p:spPr>
            <a:xfrm flipV="1">
              <a:off x="4095750" y="3505200"/>
              <a:ext cx="1" cy="400050"/>
            </a:xfrm>
            <a:prstGeom prst="line">
              <a:avLst/>
            </a:prstGeom>
            <a:noFill/>
            <a:ln w="14288">
              <a:solidFill>
                <a:srgbClr val="0058FF"/>
              </a:solidFill>
              <a:tailEnd type="triangle" w="lg" len="lg"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09600" y="3905250"/>
              <a:ext cx="20955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5147" y="4038600"/>
              <a:ext cx="10698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A 医院｜私域数据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5338" y="4241800"/>
              <a:ext cx="977074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本地训练 → 本地梯度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048000" y="3905250"/>
              <a:ext cx="20955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233547" y="4038600"/>
              <a:ext cx="106122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B 医院｜私域数据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33738" y="4241800"/>
              <a:ext cx="977074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本地训练 → 本地梯度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4838" y="4660900"/>
              <a:ext cx="203017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各院仅共享加密梯度，不共享任何原始数据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4456" y="4959350"/>
              <a:ext cx="240949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数据不出域 · 价值可流转 · 模型共同成长</a:t>
              </a:r>
            </a:p>
          </p:txBody>
        </p:sp>
      </p:grpSp>
      <p:grpSp>
        <p:nvGrpSpPr>
          <p:cNvPr id="51" name="fusion-score"/>
          <p:cNvGrpSpPr/>
          <p:nvPr/>
        </p:nvGrpSpPr>
        <p:grpSpPr>
          <a:xfrm>
            <a:off x="5710238" y="1866900"/>
            <a:ext cx="5854042" cy="3368358"/>
            <a:chOff x="5710238" y="1866900"/>
            <a:chExt cx="5854042" cy="3368358"/>
          </a:xfrm>
        </p:grpSpPr>
        <p:sp>
          <p:nvSpPr>
            <p:cNvPr id="26" name="TextBox 26"/>
            <p:cNvSpPr txBox="1"/>
            <p:nvPr/>
          </p:nvSpPr>
          <p:spPr>
            <a:xfrm>
              <a:off x="5710238" y="1866900"/>
              <a:ext cx="2951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75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方案 B ÷ 方案 A｜方案 A 全量合并 = 100% 基准</a:t>
              </a:r>
            </a:p>
          </p:txBody>
        </p:sp>
        <p:grpSp>
          <p:nvGrpSpPr>
            <p:cNvPr id="50" name="fusion-score-chartArea"/>
            <p:cNvGrpSpPr/>
            <p:nvPr/>
          </p:nvGrpSpPr>
          <p:grpSpPr>
            <a:xfrm>
              <a:off x="6040318" y="2286000"/>
              <a:ext cx="5523962" cy="2949258"/>
              <a:chOff x="6040318" y="2286000"/>
              <a:chExt cx="5523962" cy="2949258"/>
            </a:xfrm>
          </p:grpSpPr>
          <p:sp>
            <p:nvSpPr>
              <p:cNvPr id="27" name="Line 27"/>
              <p:cNvSpPr/>
              <p:nvPr/>
            </p:nvSpPr>
            <p:spPr>
              <a:xfrm>
                <a:off x="7429500" y="2286000"/>
                <a:ext cx="9525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0">
                    <a:moveTo>
                      <a:pt x="0" y="0"/>
                    </a:moveTo>
                    <a:lnTo>
                      <a:pt x="0" y="2667000"/>
                    </a:lnTo>
                  </a:path>
                </a:pathLst>
              </a:custGeom>
              <a:noFill/>
              <a:ln w="9525">
                <a:solidFill>
                  <a:srgbClr val="DDE5F3"/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8858250" y="2286000"/>
                <a:ext cx="9525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0">
                    <a:moveTo>
                      <a:pt x="0" y="0"/>
                    </a:moveTo>
                    <a:lnTo>
                      <a:pt x="0" y="2667000"/>
                    </a:lnTo>
                  </a:path>
                </a:pathLst>
              </a:custGeom>
              <a:noFill/>
              <a:ln w="9525">
                <a:solidFill>
                  <a:srgbClr val="E8EEF8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10287000" y="2286000"/>
                <a:ext cx="9525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0">
                    <a:moveTo>
                      <a:pt x="0" y="0"/>
                    </a:moveTo>
                    <a:lnTo>
                      <a:pt x="0" y="2667000"/>
                    </a:lnTo>
                  </a:path>
                </a:pathLst>
              </a:custGeom>
              <a:noFill/>
              <a:ln w="9525">
                <a:solidFill>
                  <a:srgbClr val="E8EEF8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11430000" y="2286000"/>
                <a:ext cx="9525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0">
                    <a:moveTo>
                      <a:pt x="0" y="0"/>
                    </a:moveTo>
                    <a:lnTo>
                      <a:pt x="0" y="2667000"/>
                    </a:lnTo>
                  </a:path>
                </a:pathLst>
              </a:custGeom>
              <a:noFill/>
              <a:ln w="9525">
                <a:solidFill>
                  <a:srgbClr val="E8EEF8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10287000" y="2362200"/>
                <a:ext cx="9525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14600">
                    <a:moveTo>
                      <a:pt x="0" y="0"/>
                    </a:moveTo>
                    <a:lnTo>
                      <a:pt x="0" y="2514600"/>
                    </a:lnTo>
                  </a:path>
                </a:pathLst>
              </a:custGeom>
              <a:noFill/>
              <a:ln w="9525">
                <a:solidFill>
                  <a:srgbClr val="8A99B0"/>
                </a:solidFill>
                <a:prstDash val="dash"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339388" y="2330450"/>
                <a:ext cx="485030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A99B0"/>
                    </a:solidFill>
                    <a:latin typeface="+mn-lt"/>
                    <a:ea typeface="+mn-ea"/>
                    <a:cs typeface="+mn-cs"/>
                  </a:rPr>
                  <a:t>100% 基准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7429500" y="4953000"/>
                <a:ext cx="400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00500" h="9525">
                    <a:moveTo>
                      <a:pt x="0" y="0"/>
                    </a:moveTo>
                    <a:lnTo>
                      <a:pt x="4000500" y="0"/>
                    </a:lnTo>
                  </a:path>
                </a:pathLst>
              </a:custGeom>
              <a:noFill/>
              <a:ln w="9525">
                <a:solidFill>
                  <a:srgbClr val="B4C0D2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352553" y="5080000"/>
                <a:ext cx="153895" cy="155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90" dirty="0">
                    <a:solidFill>
                      <a:srgbClr val="8A99B0"/>
                    </a:solidFill>
                    <a:latin typeface="+mn-lt"/>
                    <a:ea typeface="+mn-ea"/>
                    <a:cs typeface="+mn-cs"/>
                  </a:rPr>
                  <a:t>0%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752636" y="5080000"/>
                <a:ext cx="211228" cy="155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90" dirty="0">
                    <a:solidFill>
                      <a:srgbClr val="8A99B0"/>
                    </a:solidFill>
                    <a:latin typeface="+mn-lt"/>
                    <a:ea typeface="+mn-ea"/>
                    <a:cs typeface="+mn-cs"/>
                  </a:rPr>
                  <a:t>50%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0152719" y="5080000"/>
                <a:ext cx="268561" cy="155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90" dirty="0">
                    <a:solidFill>
                      <a:srgbClr val="8A99B0"/>
                    </a:solidFill>
                    <a:latin typeface="+mn-lt"/>
                    <a:ea typeface="+mn-ea"/>
                    <a:cs typeface="+mn-cs"/>
                  </a:rPr>
                  <a:t>100%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95719" y="5080000"/>
                <a:ext cx="268561" cy="155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90" dirty="0">
                    <a:solidFill>
                      <a:srgbClr val="8A99B0"/>
                    </a:solidFill>
                    <a:latin typeface="+mn-lt"/>
                    <a:ea typeface="+mn-ea"/>
                    <a:cs typeface="+mn-cs"/>
                  </a:rPr>
                  <a:t>140%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040318" y="2603500"/>
                <a:ext cx="1298694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60" dirty="0">
                    <a:solidFill>
                      <a:srgbClr val="4A5A72"/>
                    </a:solidFill>
                    <a:latin typeface="+mn-lt"/>
                    <a:ea typeface="+mn-ea"/>
                    <a:cs typeface="+mn-cs"/>
                  </a:rPr>
                  <a:t>medical_zh 中文医疗对话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7429500" y="2552700"/>
                <a:ext cx="2653189" cy="228600"/>
              </a:xfrm>
              <a:prstGeom prst="rect">
                <a:avLst/>
              </a:prstGeom>
              <a:solidFill>
                <a:srgbClr val="0058FF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9579293" y="2603500"/>
                <a:ext cx="407669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6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92.85%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294765" y="3222625"/>
                <a:ext cx="1044248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60" dirty="0">
                    <a:solidFill>
                      <a:srgbClr val="4A5A72"/>
                    </a:solidFill>
                    <a:latin typeface="+mn-lt"/>
                    <a:ea typeface="+mn-ea"/>
                    <a:cs typeface="+mn-cs"/>
                  </a:rPr>
                  <a:t>多任务 / 预训练语料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7429500" y="3171825"/>
                <a:ext cx="3091815" cy="228600"/>
              </a:xfrm>
              <a:prstGeom prst="rect">
                <a:avLst/>
              </a:prstGeom>
              <a:solidFill>
                <a:srgbClr val="0058FF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017443" y="3222625"/>
                <a:ext cx="407669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6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108.2%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360900" y="3841750"/>
                <a:ext cx="978112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60" dirty="0">
                    <a:solidFill>
                      <a:srgbClr val="4A5A72"/>
                    </a:solidFill>
                    <a:latin typeface="+mn-lt"/>
                    <a:ea typeface="+mn-ea"/>
                    <a:cs typeface="+mn-cs"/>
                  </a:rPr>
                  <a:t>14B / 8B / 4B 模型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10515600" y="3790950"/>
                <a:ext cx="714375" cy="228600"/>
              </a:xfrm>
              <a:prstGeom prst="rect">
                <a:avLst/>
              </a:prstGeom>
              <a:solidFill>
                <a:srgbClr val="7FA6FF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9776397" y="3841750"/>
                <a:ext cx="667765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60" b="1" dirty="0">
                    <a:solidFill>
                      <a:srgbClr val="0A1B33"/>
                    </a:solidFill>
                    <a:latin typeface="+mn-lt"/>
                    <a:ea typeface="+mn-ea"/>
                    <a:cs typeface="+mn-cs"/>
                  </a:rPr>
                  <a:t>108%–133%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519075" y="4460875"/>
                <a:ext cx="819937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60" dirty="0">
                    <a:solidFill>
                      <a:srgbClr val="4A5A72"/>
                    </a:solidFill>
                    <a:latin typeface="+mn-lt"/>
                    <a:ea typeface="+mn-ea"/>
                    <a:cs typeface="+mn-cs"/>
                  </a:rPr>
                  <a:t>综合效果达成度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9772650" y="4410075"/>
                <a:ext cx="1457325" cy="228600"/>
              </a:xfrm>
              <a:prstGeom prst="rect">
                <a:avLst/>
              </a:prstGeom>
              <a:solidFill>
                <a:srgbClr val="C9D9FF"/>
              </a:solidFill>
              <a:ln w="9525">
                <a:solidFill>
                  <a:srgbClr val="0058FF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9100040" y="4460875"/>
                <a:ext cx="601172" cy="169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60" b="1" dirty="0">
                    <a:solidFill>
                      <a:srgbClr val="0A1B33"/>
                    </a:solidFill>
                    <a:latin typeface="+mn-lt"/>
                    <a:ea typeface="+mn-ea"/>
                    <a:cs typeface="+mn-cs"/>
                  </a:rPr>
                  <a:t>82%–133%</a:t>
                </a:r>
              </a:p>
            </p:txBody>
          </p:sp>
        </p:grpSp>
      </p:grpSp>
      <p:grpSp>
        <p:nvGrpSpPr>
          <p:cNvPr id="55" name="chart-note"/>
          <p:cNvGrpSpPr/>
          <p:nvPr/>
        </p:nvGrpSpPr>
        <p:grpSpPr>
          <a:xfrm>
            <a:off x="5710238" y="5518150"/>
            <a:ext cx="2550770" cy="484188"/>
            <a:chOff x="5710238" y="5518150"/>
            <a:chExt cx="2550770" cy="484188"/>
          </a:xfrm>
        </p:grpSpPr>
        <p:sp>
          <p:nvSpPr>
            <p:cNvPr id="52" name="TextBox 52"/>
            <p:cNvSpPr txBox="1"/>
            <p:nvPr/>
          </p:nvSpPr>
          <p:spPr>
            <a:xfrm>
              <a:off x="5710238" y="5518150"/>
              <a:ext cx="243026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方案 A：两家各 64 万条样本合并为 128 万条训练；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710238" y="5670550"/>
              <a:ext cx="2550770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方案 B：数据不合并，各院本地训练后再做梯度融合。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710238" y="5854700"/>
              <a:ext cx="230795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AA8BD"/>
                  </a:solidFill>
                  <a:latin typeface="+mn-lt"/>
                  <a:ea typeface="+mn-ea"/>
                  <a:cs typeface="+mn-cs"/>
                </a:rPr>
                <a:t>数据来源：项目实测 · 不同数据集、任务与参数尺寸</a:t>
              </a:r>
            </a:p>
          </p:txBody>
        </p:sp>
      </p:grpSp>
      <p:grpSp>
        <p:nvGrpSpPr>
          <p:cNvPr id="59" name="page-footer"/>
          <p:cNvGrpSpPr/>
          <p:nvPr/>
        </p:nvGrpSpPr>
        <p:grpSpPr>
          <a:xfrm>
            <a:off x="604838" y="6419850"/>
            <a:ext cx="10982325" cy="253683"/>
            <a:chOff x="604838" y="6419850"/>
            <a:chExt cx="10982325" cy="253683"/>
          </a:xfrm>
        </p:grpSpPr>
        <p:sp>
          <p:nvSpPr>
            <p:cNvPr id="56" name="Line 56"/>
            <p:cNvSpPr/>
            <p:nvPr/>
          </p:nvSpPr>
          <p:spPr>
            <a:xfrm>
              <a:off x="609600" y="6419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EF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04838" y="6518275"/>
              <a:ext cx="185003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AA8BD"/>
                  </a:solidFill>
                  <a:latin typeface="+mn-lt"/>
                  <a:ea typeface="+mn-ea"/>
                  <a:cs typeface="+mn-cs"/>
                </a:rPr>
                <a:t>TREMAC × 可信数据空间技术融合探索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248602" y="6518275"/>
              <a:ext cx="33856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dirty="0">
                  <a:solidFill>
                    <a:srgbClr val="9AA8BD"/>
                  </a:solidFill>
                  <a:latin typeface="+mn-lt"/>
                  <a:ea typeface="+mn-ea"/>
                  <a:cs typeface="+mn-cs"/>
                </a:rPr>
                <a:t>07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97408" y="444500"/>
            <a:ext cx="8315071" cy="986917"/>
            <a:chOff x="597408" y="444500"/>
            <a:chExt cx="8315071" cy="986917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26486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80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07 / PRACTICE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7408" y="774700"/>
              <a:ext cx="83150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两个跑通的标杆：统一授权商保理赔、心脏病 AI 密文诊断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123" y="1181100"/>
              <a:ext cx="34592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都建在深圳数据基础设施与可信数据空间之上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731729" y="577850"/>
            <a:ext cx="855434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b="1" spc="112" dirty="0">
                <a:solidFill>
                  <a:srgbClr val="9AA8BD"/>
                </a:solidFill>
                <a:latin typeface="+mn-lt"/>
                <a:ea typeface="+mn-ea"/>
                <a:cs typeface="+mn-cs"/>
              </a:rPr>
              <a:t>TREMAC / TDS</a:t>
            </a:r>
          </a:p>
        </p:txBody>
      </p:sp>
      <p:grpSp>
        <p:nvGrpSpPr>
          <p:cNvPr id="21" name="case-insurance"/>
          <p:cNvGrpSpPr/>
          <p:nvPr/>
        </p:nvGrpSpPr>
        <p:grpSpPr>
          <a:xfrm>
            <a:off x="602361" y="1762125"/>
            <a:ext cx="5341239" cy="2774950"/>
            <a:chOff x="602361" y="1762125"/>
            <a:chExt cx="5341239" cy="2774950"/>
          </a:xfrm>
        </p:grpSpPr>
        <p:sp>
          <p:nvSpPr>
            <p:cNvPr id="7" name="Rectangle 7"/>
            <p:cNvSpPr/>
            <p:nvPr/>
          </p:nvSpPr>
          <p:spPr>
            <a:xfrm>
              <a:off x="609600" y="1762125"/>
              <a:ext cx="5334000" cy="1905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4838" y="1936750"/>
              <a:ext cx="15125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75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CASE 01 / 深圳 · 商保直付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2361" y="2184400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统一授权，让个人医疗数据合规流通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2686050"/>
              <a:ext cx="1524000" cy="400050"/>
            </a:xfrm>
            <a:prstGeom prst="rect">
              <a:avLst/>
            </a:prstGeom>
            <a:solidFill>
              <a:srgbClr val="F2F6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0478" y="2832100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采集端（挂号）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152650" y="2886075"/>
              <a:ext cx="114300" cy="1"/>
            </a:xfrm>
            <a:prstGeom prst="line">
              <a:avLst/>
            </a:prstGeom>
            <a:noFill/>
            <a:ln w="14288">
              <a:solidFill>
                <a:srgbClr val="0058FF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286000" y="2686050"/>
              <a:ext cx="1066800" cy="40005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572322" y="281940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统一授权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371850" y="2886075"/>
              <a:ext cx="114300" cy="1"/>
            </a:xfrm>
            <a:prstGeom prst="line">
              <a:avLst/>
            </a:prstGeom>
            <a:noFill/>
            <a:ln w="14288">
              <a:solidFill>
                <a:srgbClr val="0058FF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505200" y="2686050"/>
              <a:ext cx="1828800" cy="400050"/>
            </a:xfrm>
            <a:prstGeom prst="rect">
              <a:avLst/>
            </a:prstGeom>
            <a:solidFill>
              <a:srgbClr val="F2F6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918090" y="2832100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使用端（线上理赔）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4838" y="3371850"/>
              <a:ext cx="22885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拉通 HIS / 卫健委人口健康平台 / 保险公司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4838" y="3689350"/>
              <a:ext cx="2276062" cy="374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4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按“准许成本 + 合理收益”为医院建立定价与</a:t>
              </a:r>
              <a:br>
                <a:rPr lang="zh-CN" sz="94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4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收益分配机制，让医院合规获益。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4838" y="4375150"/>
              <a:ext cx="16939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采集端 + 使用端双重个人统一授权</a:t>
              </a:r>
            </a:p>
          </p:txBody>
        </p:sp>
      </p:grpSp>
      <p:grpSp>
        <p:nvGrpSpPr>
          <p:cNvPr id="39" name="case-cardio"/>
          <p:cNvGrpSpPr/>
          <p:nvPr/>
        </p:nvGrpSpPr>
        <p:grpSpPr>
          <a:xfrm>
            <a:off x="6241161" y="1762125"/>
            <a:ext cx="5341239" cy="2492057"/>
            <a:chOff x="6241161" y="1762125"/>
            <a:chExt cx="5341239" cy="2492057"/>
          </a:xfrm>
        </p:grpSpPr>
        <p:sp>
          <p:nvSpPr>
            <p:cNvPr id="22" name="Rectangle 22"/>
            <p:cNvSpPr/>
            <p:nvPr/>
          </p:nvSpPr>
          <p:spPr>
            <a:xfrm>
              <a:off x="6248400" y="1762125"/>
              <a:ext cx="5334000" cy="1905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43638" y="1936750"/>
              <a:ext cx="19782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75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CASE 02 / 心脏病 AI 密文风险诊断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41161" y="2184400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原始数据不出院，密文联合建模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248400" y="2686050"/>
              <a:ext cx="1219200" cy="400050"/>
            </a:xfrm>
            <a:prstGeom prst="rect">
              <a:avLst/>
            </a:prstGeom>
            <a:solidFill>
              <a:srgbClr val="F2F6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01179" y="2832100"/>
              <a:ext cx="91364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医院 A / B / C 接入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7486650" y="2886075"/>
              <a:ext cx="114300" cy="1"/>
            </a:xfrm>
            <a:prstGeom prst="line">
              <a:avLst/>
            </a:prstGeom>
            <a:noFill/>
            <a:ln w="14288">
              <a:solidFill>
                <a:srgbClr val="0058FF"/>
              </a:solidFill>
              <a:tailEnd type="triangle" w="lg" len="lg"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20000" y="2686050"/>
              <a:ext cx="971550" cy="400050"/>
            </a:xfrm>
            <a:prstGeom prst="rect">
              <a:avLst/>
            </a:prstGeom>
            <a:solidFill>
              <a:srgbClr val="F2F6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888313" y="2832100"/>
              <a:ext cx="434924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院内加密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610600" y="2886075"/>
              <a:ext cx="114300" cy="1"/>
            </a:xfrm>
            <a:prstGeom prst="line">
              <a:avLst/>
            </a:prstGeom>
            <a:noFill/>
            <a:ln w="14288">
              <a:solidFill>
                <a:srgbClr val="0058FF"/>
              </a:solidFill>
              <a:tailEnd type="triangle" w="lg" len="lg"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743950" y="2686050"/>
              <a:ext cx="1238250" cy="40005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39263" y="2832100"/>
              <a:ext cx="647624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隐私计算环境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10001250" y="2886075"/>
              <a:ext cx="114300" cy="1"/>
            </a:xfrm>
            <a:prstGeom prst="line">
              <a:avLst/>
            </a:prstGeom>
            <a:noFill/>
            <a:ln w="14288">
              <a:solidFill>
                <a:srgbClr val="0058FF"/>
              </a:solidFill>
              <a:tailEnd type="triangle" w="lg" len="lg"/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134600" y="2686050"/>
              <a:ext cx="1447800" cy="400050"/>
            </a:xfrm>
            <a:prstGeom prst="rect">
              <a:avLst/>
            </a:prstGeom>
            <a:solidFill>
              <a:srgbClr val="F2F6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641038" y="2832100"/>
              <a:ext cx="434924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联合建模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43638" y="3251200"/>
              <a:ext cx="291771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多方安全融合 → 临床风险预测 / 基层赋能 / 真实世界研究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43638" y="3562350"/>
              <a:ext cx="34375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A7A92"/>
                  </a:solidFill>
                  <a:latin typeface="+mn-lt"/>
                  <a:ea typeface="+mn-ea"/>
                  <a:cs typeface="+mn-cs"/>
                </a:rPr>
                <a:t>四大痛点：多院共享难 · 安全风险高 · 基层能力不均 · 研究难开展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43638" y="3879850"/>
              <a:ext cx="2516505" cy="374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4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原始数据留在本院，在院内完成加密；密文</a:t>
              </a:r>
              <a:br>
                <a:rPr lang="zh-CN" sz="94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40" dirty="0">
                  <a:solidFill>
                    <a:srgbClr val="4A5A72"/>
                  </a:solidFill>
                  <a:latin typeface="+mn-lt"/>
                  <a:ea typeface="+mn-ea"/>
                  <a:cs typeface="+mn-cs"/>
                </a:rPr>
                <a:t>进入隐私计算环境，多方安全融合、联合建模。</a:t>
              </a:r>
            </a:p>
          </p:txBody>
        </p:sp>
      </p:grpSp>
      <p:grpSp>
        <p:nvGrpSpPr>
          <p:cNvPr id="52" name="case-metrics"/>
          <p:cNvGrpSpPr/>
          <p:nvPr/>
        </p:nvGrpSpPr>
        <p:grpSpPr>
          <a:xfrm>
            <a:off x="609600" y="4876800"/>
            <a:ext cx="10972800" cy="819150"/>
            <a:chOff x="609600" y="4876800"/>
            <a:chExt cx="10972800" cy="819150"/>
          </a:xfrm>
        </p:grpSpPr>
        <p:sp>
          <p:nvSpPr>
            <p:cNvPr id="40" name="Rectangle 40"/>
            <p:cNvSpPr/>
            <p:nvPr/>
          </p:nvSpPr>
          <p:spPr>
            <a:xfrm>
              <a:off x="609600" y="4876800"/>
              <a:ext cx="10972800" cy="819150"/>
            </a:xfrm>
            <a:prstGeom prst="rect">
              <a:avLst/>
            </a:prstGeom>
            <a:solidFill>
              <a:srgbClr val="F2F6FF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9600" y="4876800"/>
              <a:ext cx="38100" cy="81915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27532" y="5022850"/>
              <a:ext cx="869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300 万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438" y="5384800"/>
              <a:ext cx="1073023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覆盖公立医院就诊人群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037332" y="5022850"/>
              <a:ext cx="7072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14 万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043238" y="5384800"/>
              <a:ext cx="434924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住院人群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132832" y="5022850"/>
              <a:ext cx="9899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28 分钟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138738" y="5384800"/>
              <a:ext cx="860323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门诊平均理赔时长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28332" y="5022850"/>
              <a:ext cx="8273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2 小时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34238" y="5384800"/>
              <a:ext cx="647624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住院最快理赔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323832" y="5022850"/>
              <a:ext cx="5917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50%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29738" y="5384800"/>
              <a:ext cx="647624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保险机构降本</a:t>
              </a:r>
            </a:p>
          </p:txBody>
        </p:sp>
      </p:grpSp>
      <p:grpSp>
        <p:nvGrpSpPr>
          <p:cNvPr id="54" name="case-source"/>
          <p:cNvGrpSpPr/>
          <p:nvPr/>
        </p:nvGrpSpPr>
        <p:grpSpPr>
          <a:xfrm>
            <a:off x="604838" y="5899150"/>
            <a:ext cx="2936123" cy="155258"/>
            <a:chOff x="604838" y="5899150"/>
            <a:chExt cx="2936123" cy="155258"/>
          </a:xfrm>
        </p:grpSpPr>
        <p:sp>
          <p:nvSpPr>
            <p:cNvPr id="53" name="TextBox 53"/>
            <p:cNvSpPr txBox="1"/>
            <p:nvPr/>
          </p:nvSpPr>
          <p:spPr>
            <a:xfrm>
              <a:off x="604838" y="5899150"/>
              <a:ext cx="2936123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AA8BD"/>
                  </a:solidFill>
                  <a:latin typeface="+mn-lt"/>
                  <a:ea typeface="+mn-ea"/>
                  <a:cs typeface="+mn-cs"/>
                </a:rPr>
                <a:t>数据来源：公开报道 · 南山区公共数据授权运营“商保直付”通道</a:t>
              </a:r>
            </a:p>
          </p:txBody>
        </p:sp>
      </p:grpSp>
      <p:grpSp>
        <p:nvGrpSpPr>
          <p:cNvPr id="58" name="page-footer"/>
          <p:cNvGrpSpPr/>
          <p:nvPr/>
        </p:nvGrpSpPr>
        <p:grpSpPr>
          <a:xfrm>
            <a:off x="604838" y="6419850"/>
            <a:ext cx="10982325" cy="253683"/>
            <a:chOff x="604838" y="6419850"/>
            <a:chExt cx="10982325" cy="253683"/>
          </a:xfrm>
        </p:grpSpPr>
        <p:sp>
          <p:nvSpPr>
            <p:cNvPr id="55" name="Line 55"/>
            <p:cNvSpPr/>
            <p:nvPr/>
          </p:nvSpPr>
          <p:spPr>
            <a:xfrm>
              <a:off x="609600" y="6419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EF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4838" y="6518275"/>
              <a:ext cx="185003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AA8BD"/>
                  </a:solidFill>
                  <a:latin typeface="+mn-lt"/>
                  <a:ea typeface="+mn-ea"/>
                  <a:cs typeface="+mn-cs"/>
                </a:rPr>
                <a:t>TREMAC × 可信数据空间技术融合探索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248602" y="6518275"/>
              <a:ext cx="33856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dirty="0">
                  <a:solidFill>
                    <a:srgbClr val="9AA8BD"/>
                  </a:solidFill>
                  <a:latin typeface="+mn-lt"/>
                  <a:ea typeface="+mn-ea"/>
                  <a:cs typeface="+mn-cs"/>
                </a:rPr>
                <a:t>08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97408" y="444500"/>
            <a:ext cx="7778496" cy="986917"/>
            <a:chOff x="597408" y="444500"/>
            <a:chExt cx="7778496" cy="986917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7689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80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08 / CROSS-BORDER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7408" y="774700"/>
              <a:ext cx="77784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跨境联合研究：数据各自留在本地，成果合规跨境共享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3123" y="1181100"/>
              <a:ext cx="38566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TREMAC + 可信数据空间，破解跨境医工科研难题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731729" y="577850"/>
            <a:ext cx="855434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b="1" spc="112" dirty="0">
                <a:solidFill>
                  <a:srgbClr val="9AA8BD"/>
                </a:solidFill>
                <a:latin typeface="+mn-lt"/>
                <a:ea typeface="+mn-ea"/>
                <a:cs typeface="+mn-cs"/>
              </a:rPr>
              <a:t>TREMAC / TDS</a:t>
            </a:r>
          </a:p>
        </p:txBody>
      </p:sp>
      <p:grpSp>
        <p:nvGrpSpPr>
          <p:cNvPr id="55" name="cross-border-architecture"/>
          <p:cNvGrpSpPr/>
          <p:nvPr/>
        </p:nvGrpSpPr>
        <p:grpSpPr>
          <a:xfrm>
            <a:off x="604838" y="1905000"/>
            <a:ext cx="10977562" cy="3384232"/>
            <a:chOff x="604838" y="1905000"/>
            <a:chExt cx="10977562" cy="3384232"/>
          </a:xfrm>
        </p:grpSpPr>
        <p:sp>
          <p:nvSpPr>
            <p:cNvPr id="7" name="Rectangle 7"/>
            <p:cNvSpPr/>
            <p:nvPr/>
          </p:nvSpPr>
          <p:spPr>
            <a:xfrm>
              <a:off x="1143000" y="1905000"/>
              <a:ext cx="228600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295400" y="2124075"/>
              <a:ext cx="152400" cy="171450"/>
              <a:chOff x="1295400" y="2124075"/>
              <a:chExt cx="152400" cy="1714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95400" y="2124075"/>
                <a:ext cx="1524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57150">
                    <a:moveTo>
                      <a:pt x="0" y="28575"/>
                    </a:moveTo>
                    <a:cubicBezTo>
                      <a:pt x="0" y="44357"/>
                      <a:pt x="34116" y="57150"/>
                      <a:pt x="76200" y="57150"/>
                    </a:cubicBezTo>
                    <a:cubicBezTo>
                      <a:pt x="118284" y="57150"/>
                      <a:pt x="152400" y="44357"/>
                      <a:pt x="152400" y="28575"/>
                    </a:cubicBezTo>
                    <a:cubicBezTo>
                      <a:pt x="152400" y="12793"/>
                      <a:pt x="118284" y="0"/>
                      <a:pt x="76200" y="0"/>
                    </a:cubicBezTo>
                    <a:cubicBezTo>
                      <a:pt x="34116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0058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95400" y="215265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0058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295400" y="220980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0058F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594485" y="20510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内地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95438" y="2260600"/>
              <a:ext cx="860323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数据留在内地机房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953000" y="1905000"/>
              <a:ext cx="228600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5105400" y="2124075"/>
              <a:ext cx="152400" cy="171450"/>
              <a:chOff x="5105400" y="2124075"/>
              <a:chExt cx="152400" cy="17145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5105400" y="2124075"/>
                <a:ext cx="1524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57150">
                    <a:moveTo>
                      <a:pt x="0" y="28575"/>
                    </a:moveTo>
                    <a:cubicBezTo>
                      <a:pt x="0" y="44357"/>
                      <a:pt x="34116" y="57150"/>
                      <a:pt x="76200" y="57150"/>
                    </a:cubicBezTo>
                    <a:cubicBezTo>
                      <a:pt x="118284" y="57150"/>
                      <a:pt x="152400" y="44357"/>
                      <a:pt x="152400" y="28575"/>
                    </a:cubicBezTo>
                    <a:cubicBezTo>
                      <a:pt x="152400" y="12793"/>
                      <a:pt x="118284" y="0"/>
                      <a:pt x="76200" y="0"/>
                    </a:cubicBezTo>
                    <a:cubicBezTo>
                      <a:pt x="34116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0058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105400" y="215265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0058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105400" y="220980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0058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5404485" y="20510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港澳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05438" y="2260600"/>
              <a:ext cx="647624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数据留在当地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763000" y="1905000"/>
              <a:ext cx="228600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915400" y="2124075"/>
              <a:ext cx="152400" cy="171450"/>
              <a:chOff x="8915400" y="2124075"/>
              <a:chExt cx="152400" cy="17145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915400" y="2124075"/>
                <a:ext cx="1524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57150">
                    <a:moveTo>
                      <a:pt x="0" y="28575"/>
                    </a:moveTo>
                    <a:cubicBezTo>
                      <a:pt x="0" y="44357"/>
                      <a:pt x="34116" y="57150"/>
                      <a:pt x="76200" y="57150"/>
                    </a:cubicBezTo>
                    <a:cubicBezTo>
                      <a:pt x="118284" y="57150"/>
                      <a:pt x="152400" y="44357"/>
                      <a:pt x="152400" y="28575"/>
                    </a:cubicBezTo>
                    <a:cubicBezTo>
                      <a:pt x="152400" y="12793"/>
                      <a:pt x="118284" y="0"/>
                      <a:pt x="76200" y="0"/>
                    </a:cubicBezTo>
                    <a:cubicBezTo>
                      <a:pt x="34116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0058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915400" y="215265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0058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915400" y="220980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0058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9214485" y="205105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海外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15438" y="2260600"/>
              <a:ext cx="647624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数据留在当地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2286000" y="2590800"/>
              <a:ext cx="1104900" cy="647700"/>
            </a:xfrm>
            <a:custGeom>
              <a:avLst/>
              <a:gdLst/>
              <a:ahLst/>
              <a:cxnLst/>
              <a:rect l="l" t="t" r="r" b="b"/>
              <a:pathLst>
                <a:path w="1104900" h="647700">
                  <a:moveTo>
                    <a:pt x="0" y="0"/>
                  </a:moveTo>
                  <a:lnTo>
                    <a:pt x="1104900" y="647700"/>
                  </a:lnTo>
                </a:path>
              </a:pathLst>
            </a:custGeom>
            <a:noFill/>
            <a:ln w="9525">
              <a:solidFill>
                <a:srgbClr val="0058FF">
                  <a:alpha val="55000"/>
                </a:srgbClr>
              </a:solidFill>
              <a:custDash>
                <a:ds d="500000" sp="400000"/>
              </a:custDash>
            </a:ln>
          </p:spPr>
        </p:sp>
        <p:sp>
          <p:nvSpPr>
            <p:cNvPr id="29" name="Line 29"/>
            <p:cNvSpPr/>
            <p:nvPr/>
          </p:nvSpPr>
          <p:spPr>
            <a:xfrm>
              <a:off x="6096000" y="2590800"/>
              <a:ext cx="9525" cy="647700"/>
            </a:xfrm>
            <a:custGeom>
              <a:avLst/>
              <a:gdLst/>
              <a:ahLst/>
              <a:cxnLst/>
              <a:rect l="l" t="t" r="r" b="b"/>
              <a:pathLst>
                <a:path w="9525"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noFill/>
            <a:ln w="9525">
              <a:solidFill>
                <a:srgbClr val="0058FF">
                  <a:alpha val="55000"/>
                </a:srgbClr>
              </a:solidFill>
              <a:custDash>
                <a:ds d="500000" sp="400000"/>
              </a:custDash>
            </a:ln>
          </p:spPr>
        </p:sp>
        <p:sp>
          <p:nvSpPr>
            <p:cNvPr id="30" name="Line 30"/>
            <p:cNvSpPr/>
            <p:nvPr/>
          </p:nvSpPr>
          <p:spPr>
            <a:xfrm>
              <a:off x="8801100" y="2590800"/>
              <a:ext cx="1104900" cy="647700"/>
            </a:xfrm>
            <a:custGeom>
              <a:avLst/>
              <a:gdLst/>
              <a:ahLst/>
              <a:cxnLst/>
              <a:rect l="l" t="t" r="r" b="b"/>
              <a:pathLst>
                <a:path w="1104900" h="647700">
                  <a:moveTo>
                    <a:pt x="1104900" y="0"/>
                  </a:moveTo>
                  <a:lnTo>
                    <a:pt x="0" y="647700"/>
                  </a:lnTo>
                </a:path>
              </a:pathLst>
            </a:custGeom>
            <a:noFill/>
            <a:ln w="9525">
              <a:solidFill>
                <a:srgbClr val="0058FF">
                  <a:alpha val="55000"/>
                </a:srgbClr>
              </a:solidFill>
              <a:custDash>
                <a:ds d="500000" sp="400000"/>
              </a:custDash>
            </a:ln>
          </p:spPr>
        </p:sp>
        <p:sp>
          <p:nvSpPr>
            <p:cNvPr id="31" name="Ellipse 31"/>
            <p:cNvSpPr/>
            <p:nvPr/>
          </p:nvSpPr>
          <p:spPr>
            <a:xfrm>
              <a:off x="2247900" y="2552700"/>
              <a:ext cx="76200" cy="76200"/>
            </a:xfrm>
            <a:prstGeom prst="ellipse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057900" y="2552700"/>
              <a:ext cx="76200" cy="76200"/>
            </a:xfrm>
            <a:prstGeom prst="ellipse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9867900" y="2552700"/>
              <a:ext cx="76200" cy="76200"/>
            </a:xfrm>
            <a:prstGeom prst="ellipse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667000" y="3238500"/>
              <a:ext cx="6858000" cy="8001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888742" y="341630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可信数据空间枢纽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890838" y="3689350"/>
              <a:ext cx="192382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FFFFFF">
                      <a:alphaMod val="85000"/>
                    </a:srgbClr>
                  </a:solidFill>
                  <a:latin typeface="+mn-lt"/>
                  <a:ea typeface="+mn-ea"/>
                  <a:cs typeface="+mn-cs"/>
                </a:rPr>
                <a:t>不做原始数据跨境搬运，只共享合规结果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96894" y="3594100"/>
              <a:ext cx="1104269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dirty="0">
                  <a:solidFill>
                    <a:srgbClr val="FFFFFF">
                      <a:alphaMod val="85000"/>
                    </a:srgbClr>
                  </a:solidFill>
                  <a:latin typeface="+mn-lt"/>
                  <a:ea typeface="+mn-ea"/>
                  <a:cs typeface="+mn-cs"/>
                </a:rPr>
                <a:t>身份 · 规则 · 任务 · 结果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9600" y="4476750"/>
              <a:ext cx="2628900" cy="419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9600" y="4476750"/>
              <a:ext cx="28575" cy="4191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7238" y="4578350"/>
              <a:ext cx="12567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2416" y="46069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身份互认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390900" y="4476750"/>
              <a:ext cx="2628900" cy="419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3390900" y="4476750"/>
              <a:ext cx="28575" cy="4191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538538" y="4578350"/>
              <a:ext cx="12567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823716" y="46069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规则互认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172200" y="4476750"/>
              <a:ext cx="2628900" cy="419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172200" y="4476750"/>
              <a:ext cx="28575" cy="4191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19838" y="4578350"/>
              <a:ext cx="12567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05016" y="46069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任务跨境分发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953500" y="4476750"/>
              <a:ext cx="2628900" cy="419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E5F3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953500" y="4476750"/>
              <a:ext cx="28575" cy="41910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101138" y="4578350"/>
              <a:ext cx="12567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86316" y="46069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合规结果共享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4838" y="5105400"/>
              <a:ext cx="1781124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符合国家数据出境安全监管要求</a:t>
              </a:r>
            </a:p>
          </p:txBody>
        </p:sp>
      </p:grpSp>
      <p:grpSp>
        <p:nvGrpSpPr>
          <p:cNvPr id="59" name="cross-border-note"/>
          <p:cNvGrpSpPr/>
          <p:nvPr/>
        </p:nvGrpSpPr>
        <p:grpSpPr>
          <a:xfrm>
            <a:off x="609600" y="5657850"/>
            <a:ext cx="10972800" cy="438150"/>
            <a:chOff x="609600" y="5657850"/>
            <a:chExt cx="10972800" cy="438150"/>
          </a:xfrm>
        </p:grpSpPr>
        <p:sp>
          <p:nvSpPr>
            <p:cNvPr id="56" name="Rectangle 56"/>
            <p:cNvSpPr/>
            <p:nvPr/>
          </p:nvSpPr>
          <p:spPr>
            <a:xfrm>
              <a:off x="609600" y="5657850"/>
              <a:ext cx="10972800" cy="438150"/>
            </a:xfrm>
            <a:prstGeom prst="rect">
              <a:avLst/>
            </a:prstGeom>
            <a:solidFill>
              <a:srgbClr val="F2F6FF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9600" y="5657850"/>
              <a:ext cx="38100" cy="43815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32485" y="5794375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数据不出境，科研可协同——这是跨境医工科研的可行解。</a:t>
              </a:r>
            </a:p>
          </p:txBody>
        </p:sp>
      </p:grpSp>
      <p:grpSp>
        <p:nvGrpSpPr>
          <p:cNvPr id="63" name="page-footer"/>
          <p:cNvGrpSpPr/>
          <p:nvPr/>
        </p:nvGrpSpPr>
        <p:grpSpPr>
          <a:xfrm>
            <a:off x="604838" y="6419850"/>
            <a:ext cx="10982325" cy="253683"/>
            <a:chOff x="604838" y="6419850"/>
            <a:chExt cx="10982325" cy="253683"/>
          </a:xfrm>
        </p:grpSpPr>
        <p:sp>
          <p:nvSpPr>
            <p:cNvPr id="60" name="Line 60"/>
            <p:cNvSpPr/>
            <p:nvPr/>
          </p:nvSpPr>
          <p:spPr>
            <a:xfrm>
              <a:off x="609600" y="6419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8EEF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4838" y="6518275"/>
              <a:ext cx="185003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AA8BD"/>
                  </a:solidFill>
                  <a:latin typeface="+mn-lt"/>
                  <a:ea typeface="+mn-ea"/>
                  <a:cs typeface="+mn-cs"/>
                </a:rPr>
                <a:t>TREMAC × 可信数据空间技术融合探索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48602" y="6518275"/>
              <a:ext cx="33856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dirty="0">
                  <a:solidFill>
                    <a:srgbClr val="9AA8BD"/>
                  </a:solidFill>
                  <a:latin typeface="+mn-lt"/>
                  <a:ea typeface="+mn-ea"/>
                  <a:cs typeface="+mn-cs"/>
                </a:rPr>
                <a:t>09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-field"/>
          <p:cNvSpPr/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0058FF"/>
          </a:solidFill>
          <a:ln>
            <a:noFill/>
          </a:ln>
        </p:spPr>
      </p:sp>
      <p:grpSp>
        <p:nvGrpSpPr>
          <p:cNvPr id="5" name="closing-kicker"/>
          <p:cNvGrpSpPr/>
          <p:nvPr/>
        </p:nvGrpSpPr>
        <p:grpSpPr>
          <a:xfrm>
            <a:off x="609600" y="444500"/>
            <a:ext cx="1352593" cy="191643"/>
            <a:chOff x="609600" y="444500"/>
            <a:chExt cx="1352593" cy="191643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57150" cy="57150"/>
            </a:xfrm>
            <a:prstGeom prst="rect">
              <a:avLst/>
            </a:prstGeom>
            <a:solidFill>
              <a:srgbClr val="0058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6097" y="444500"/>
              <a:ext cx="11860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80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09 / CLOSING</a:t>
              </a:r>
            </a:p>
          </p:txBody>
        </p:sp>
      </p:grpSp>
      <p:grpSp>
        <p:nvGrpSpPr>
          <p:cNvPr id="7" name="closing-title"/>
          <p:cNvGrpSpPr/>
          <p:nvPr/>
        </p:nvGrpSpPr>
        <p:grpSpPr>
          <a:xfrm>
            <a:off x="593598" y="1225550"/>
            <a:ext cx="4032504" cy="1130427"/>
            <a:chOff x="593598" y="1225550"/>
            <a:chExt cx="4032504" cy="1130427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1225550"/>
              <a:ext cx="4032504" cy="1130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zh-CN" sz="315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让医院既干得成大事，</a:t>
              </a:r>
              <a:br>
                <a:rPr lang="zh-CN" sz="315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315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也睡得着觉</a:t>
              </a:r>
            </a:p>
          </p:txBody>
        </p:sp>
      </p:grpSp>
      <p:grpSp>
        <p:nvGrpSpPr>
          <p:cNvPr id="9" name="closing-subtitle"/>
          <p:cNvGrpSpPr/>
          <p:nvPr/>
        </p:nvGrpSpPr>
        <p:grpSpPr>
          <a:xfrm>
            <a:off x="602742" y="2482850"/>
            <a:ext cx="3382767" cy="264033"/>
            <a:chOff x="602742" y="2482850"/>
            <a:chExt cx="3382767" cy="264033"/>
          </a:xfrm>
        </p:grpSpPr>
        <p:sp>
          <p:nvSpPr>
            <p:cNvPr id="8" name="TextBox 8"/>
            <p:cNvSpPr txBox="1"/>
            <p:nvPr/>
          </p:nvSpPr>
          <p:spPr>
            <a:xfrm>
              <a:off x="602742" y="2482850"/>
              <a:ext cx="33827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TREMAC × 可信数据空间 = 可信科研基座</a:t>
              </a:r>
            </a:p>
          </p:txBody>
        </p:sp>
      </p:grpSp>
      <p:grpSp>
        <p:nvGrpSpPr>
          <p:cNvPr id="26" name="closing-anchors"/>
          <p:cNvGrpSpPr/>
          <p:nvPr/>
        </p:nvGrpSpPr>
        <p:grpSpPr>
          <a:xfrm>
            <a:off x="604838" y="3105150"/>
            <a:ext cx="6291262" cy="1800225"/>
            <a:chOff x="604838" y="3105150"/>
            <a:chExt cx="6291262" cy="1800225"/>
          </a:xfrm>
        </p:grpSpPr>
        <p:sp>
          <p:nvSpPr>
            <p:cNvPr id="10" name="TextBox 10"/>
            <p:cNvSpPr txBox="1"/>
            <p:nvPr/>
          </p:nvSpPr>
          <p:spPr>
            <a:xfrm>
              <a:off x="604838" y="3143250"/>
              <a:ext cx="1489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6023" y="3105150"/>
              <a:ext cx="8745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数据在本地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86038" y="3143250"/>
              <a:ext cx="1148410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守住各家的核心资产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340995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E8EEF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4838" y="3638550"/>
              <a:ext cx="1489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360045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隐私保护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86038" y="3638550"/>
              <a:ext cx="1274953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不触碰法律与伦理红线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390525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E8EEF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4838" y="4133850"/>
              <a:ext cx="1489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4095750"/>
              <a:ext cx="5298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可管控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86038" y="4133850"/>
              <a:ext cx="1274953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数据持有方握着总开关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" y="440055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E8EEF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4838" y="4629150"/>
              <a:ext cx="1489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58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591050"/>
              <a:ext cx="8745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A1B33"/>
                  </a:solidFill>
                  <a:latin typeface="+mn-lt"/>
                  <a:ea typeface="+mn-ea"/>
                  <a:cs typeface="+mn-cs"/>
                </a:rPr>
                <a:t>能做大科研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86038" y="4629150"/>
              <a:ext cx="1528039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6B85"/>
                  </a:solidFill>
                  <a:latin typeface="+mn-lt"/>
                  <a:ea typeface="+mn-ea"/>
                  <a:cs typeface="+mn-cs"/>
                </a:rPr>
                <a:t>连接成网，做出国际影响力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09600" y="489585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E8EEF8"/>
              </a:solidFill>
            </a:ln>
          </p:spPr>
        </p:sp>
      </p:grpSp>
      <p:grpSp>
        <p:nvGrpSpPr>
          <p:cNvPr id="28" name="closing-mark"/>
          <p:cNvGrpSpPr/>
          <p:nvPr/>
        </p:nvGrpSpPr>
        <p:grpSpPr>
          <a:xfrm>
            <a:off x="604838" y="5911850"/>
            <a:ext cx="2216393" cy="147638"/>
            <a:chOff x="604838" y="5911850"/>
            <a:chExt cx="2216393" cy="147638"/>
          </a:xfrm>
        </p:grpSpPr>
        <p:sp>
          <p:nvSpPr>
            <p:cNvPr id="27" name="TextBox 27"/>
            <p:cNvSpPr txBox="1"/>
            <p:nvPr/>
          </p:nvSpPr>
          <p:spPr>
            <a:xfrm>
              <a:off x="604838" y="5911850"/>
              <a:ext cx="221639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b="1" spc="135" dirty="0">
                  <a:solidFill>
                    <a:srgbClr val="9AA8BD"/>
                  </a:solidFill>
                  <a:latin typeface="+mn-lt"/>
                  <a:ea typeface="+mn-ea"/>
                  <a:cs typeface="+mn-cs"/>
                </a:rPr>
                <a:t>TREMAC × TRUSTED DATA SPACE</a:t>
              </a:r>
            </a:p>
          </p:txBody>
        </p:sp>
      </p:grpSp>
      <p:grpSp>
        <p:nvGrpSpPr>
          <p:cNvPr id="36" name="closing-network"/>
          <p:cNvGrpSpPr/>
          <p:nvPr/>
        </p:nvGrpSpPr>
        <p:grpSpPr>
          <a:xfrm>
            <a:off x="9353550" y="1352550"/>
            <a:ext cx="1390650" cy="1295400"/>
            <a:chOff x="9353550" y="1352550"/>
            <a:chExt cx="1390650" cy="1295400"/>
          </a:xfrm>
        </p:grpSpPr>
        <p:sp>
          <p:nvSpPr>
            <p:cNvPr id="29" name="Line 29"/>
            <p:cNvSpPr/>
            <p:nvPr/>
          </p:nvSpPr>
          <p:spPr>
            <a:xfrm>
              <a:off x="9525000" y="1524000"/>
              <a:ext cx="857250" cy="381000"/>
            </a:xfrm>
            <a:custGeom>
              <a:avLst/>
              <a:gdLst/>
              <a:ahLst/>
              <a:cxnLst/>
              <a:rect l="l" t="t" r="r" b="b"/>
              <a:pathLst>
                <a:path w="857250" h="381000">
                  <a:moveTo>
                    <a:pt x="0" y="0"/>
                  </a:moveTo>
                  <a:lnTo>
                    <a:pt x="857250" y="381000"/>
                  </a:lnTo>
                </a:path>
              </a:pathLst>
            </a:custGeom>
            <a:noFill/>
            <a:ln w="9525">
              <a:solidFill>
                <a:srgbClr val="FFFFFF">
                  <a:alpha val="25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525000" y="1905000"/>
              <a:ext cx="857250" cy="476250"/>
            </a:xfrm>
            <a:custGeom>
              <a:avLst/>
              <a:gdLst/>
              <a:ahLst/>
              <a:cxnLst/>
              <a:rect l="l" t="t" r="r" b="b"/>
              <a:pathLst>
                <a:path w="857250" h="476250">
                  <a:moveTo>
                    <a:pt x="857250" y="0"/>
                  </a:moveTo>
                  <a:lnTo>
                    <a:pt x="0" y="476250"/>
                  </a:lnTo>
                </a:path>
              </a:pathLst>
            </a:custGeom>
            <a:noFill/>
            <a:ln w="9525">
              <a:solidFill>
                <a:srgbClr val="FFFFFF">
                  <a:alpha val="25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9525000" y="2362200"/>
              <a:ext cx="1047750" cy="95250"/>
            </a:xfrm>
            <a:custGeom>
              <a:avLst/>
              <a:gdLst/>
              <a:ahLst/>
              <a:cxnLst/>
              <a:rect l="l" t="t" r="r" b="b"/>
              <a:pathLst>
                <a:path w="1047750" h="95250">
                  <a:moveTo>
                    <a:pt x="0" y="0"/>
                  </a:moveTo>
                  <a:lnTo>
                    <a:pt x="1047750" y="95250"/>
                  </a:lnTo>
                </a:path>
              </a:pathLst>
            </a:custGeom>
            <a:noFill/>
            <a:ln w="9525">
              <a:solidFill>
                <a:srgbClr val="FFFFFF">
                  <a:alpha val="25000"/>
                </a:srgbClr>
              </a:solidFill>
              <a:prstDash val="dash"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353550" y="1352550"/>
              <a:ext cx="342900" cy="342900"/>
            </a:xfrm>
            <a:prstGeom prst="rect">
              <a:avLst/>
            </a:prstGeom>
            <a:noFill/>
            <a:ln w="9525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210800" y="1733550"/>
              <a:ext cx="342900" cy="342900"/>
            </a:xfrm>
            <a:prstGeom prst="rect">
              <a:avLst/>
            </a:prstGeom>
            <a:noFill/>
            <a:ln w="9525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9353550" y="2190750"/>
              <a:ext cx="342900" cy="342900"/>
            </a:xfrm>
            <a:prstGeom prst="rect">
              <a:avLst/>
            </a:prstGeom>
            <a:solidFill>
              <a:srgbClr val="FFFFFF">
                <a:alpha val="18000"/>
              </a:srgbClr>
            </a:solidFill>
            <a:ln w="9525">
              <a:solidFill>
                <a:srgbClr val="FFFFFF">
                  <a:alpha val="60000"/>
                </a:srgbClr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401300" y="2305050"/>
              <a:ext cx="342900" cy="342900"/>
            </a:xfrm>
            <a:prstGeom prst="rect">
              <a:avLst/>
            </a:prstGeom>
            <a:noFill/>
            <a:ln w="9525">
              <a:solidFill>
                <a:srgbClr val="FFFFFF">
                  <a:alpha val="40000"/>
                </a:srgbClr>
              </a:solidFill>
            </a:ln>
          </p:spPr>
        </p:sp>
      </p:grpSp>
      <p:grpSp>
        <p:nvGrpSpPr>
          <p:cNvPr id="40" name="closing-statement"/>
          <p:cNvGrpSpPr/>
          <p:nvPr/>
        </p:nvGrpSpPr>
        <p:grpSpPr>
          <a:xfrm>
            <a:off x="7609332" y="2679700"/>
            <a:ext cx="2565654" cy="920750"/>
            <a:chOff x="7609332" y="2679700"/>
            <a:chExt cx="2565654" cy="920750"/>
          </a:xfrm>
        </p:grpSpPr>
        <p:sp>
          <p:nvSpPr>
            <p:cNvPr id="37" name="TextBox 37"/>
            <p:cNvSpPr txBox="1"/>
            <p:nvPr/>
          </p:nvSpPr>
          <p:spPr>
            <a:xfrm>
              <a:off x="7612380" y="26797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>
                      <a:alphaMod val="82000"/>
                    </a:srgbClr>
                  </a:solidFill>
                  <a:latin typeface="+mn-lt"/>
                  <a:ea typeface="+mn-ea"/>
                  <a:cs typeface="+mn-cs"/>
                </a:rPr>
                <a:t>从可信研究环境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09332" y="302260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到可信科研协同网络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20000" y="3581400"/>
              <a:ext cx="533400" cy="19050"/>
            </a:xfrm>
            <a:prstGeom prst="rect">
              <a:avLst/>
            </a:prstGeom>
            <a:solidFill>
              <a:srgbClr val="FFFFFF">
                <a:alpha val="70000"/>
              </a:srgbClr>
            </a:solidFill>
            <a:ln>
              <a:noFill/>
            </a:ln>
          </p:spPr>
        </p:sp>
      </p:grpSp>
      <p:grpSp>
        <p:nvGrpSpPr>
          <p:cNvPr id="42" name="closing-thanks"/>
          <p:cNvGrpSpPr/>
          <p:nvPr/>
        </p:nvGrpSpPr>
        <p:grpSpPr>
          <a:xfrm>
            <a:off x="7604760" y="4108450"/>
            <a:ext cx="1645920" cy="586740"/>
            <a:chOff x="7604760" y="4108450"/>
            <a:chExt cx="1645920" cy="586740"/>
          </a:xfrm>
        </p:grpSpPr>
        <p:sp>
          <p:nvSpPr>
            <p:cNvPr id="41" name="TextBox 41"/>
            <p:cNvSpPr txBox="1"/>
            <p:nvPr/>
          </p:nvSpPr>
          <p:spPr>
            <a:xfrm>
              <a:off x="7604760" y="410845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谢谢大家</a:t>
              </a:r>
            </a:p>
          </p:txBody>
        </p:sp>
      </p:grpSp>
      <p:grpSp>
        <p:nvGrpSpPr>
          <p:cNvPr id="46" name="closing-speaker"/>
          <p:cNvGrpSpPr/>
          <p:nvPr/>
        </p:nvGrpSpPr>
        <p:grpSpPr>
          <a:xfrm>
            <a:off x="7614666" y="5524500"/>
            <a:ext cx="4196334" cy="593725"/>
            <a:chOff x="7614666" y="5524500"/>
            <a:chExt cx="4196334" cy="593725"/>
          </a:xfrm>
        </p:grpSpPr>
        <p:sp>
          <p:nvSpPr>
            <p:cNvPr id="43" name="Line 43"/>
            <p:cNvSpPr/>
            <p:nvPr/>
          </p:nvSpPr>
          <p:spPr>
            <a:xfrm>
              <a:off x="7620000" y="55245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614666" y="572135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中国电子云　李化名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15238" y="5956300"/>
              <a:ext cx="135978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广州实验室 × 澳门科技大学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tre_mac_tds">
  <a:themeElements>
    <a:clrScheme name="tre_mac_td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re_mac_tds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e_mac_td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re_mac_tds">
  <a:themeElements>
    <a:clrScheme name="tre_mac_td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re_mac_tds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e_mac_td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2026-10-21T09:52:10Z</dcterms:created>
  <dcterms:modified xsi:type="dcterms:W3CDTF">2026-10-21T09:52:10Z</dcterms:modified>
  <cp:category/>
  <cp:contentStatus/>
</cp:coreProperties>
</file>